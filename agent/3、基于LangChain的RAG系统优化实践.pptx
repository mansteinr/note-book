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9" r:id="rId5"/>
    <p:sldId id="394" r:id="rId6"/>
    <p:sldId id="395" r:id="rId7"/>
    <p:sldId id="396" r:id="rId8"/>
    <p:sldId id="277" r:id="rId9"/>
    <p:sldId id="258" r:id="rId10"/>
    <p:sldId id="257" r:id="rId11"/>
    <p:sldId id="262" r:id="rId12"/>
    <p:sldId id="363" r:id="rId13"/>
    <p:sldId id="364" r:id="rId14"/>
    <p:sldId id="365" r:id="rId15"/>
    <p:sldId id="366" r:id="rId16"/>
    <p:sldId id="367" r:id="rId17"/>
    <p:sldId id="368" r:id="rId18"/>
    <p:sldId id="369" r:id="rId19"/>
    <p:sldId id="329" r:id="rId20"/>
    <p:sldId id="290" r:id="rId21"/>
    <p:sldId id="293" r:id="rId22"/>
    <p:sldId id="397" r:id="rId23"/>
    <p:sldId id="298" r:id="rId24"/>
    <p:sldId id="295" r:id="rId25"/>
    <p:sldId id="334" r:id="rId26"/>
    <p:sldId id="383" r:id="rId27"/>
    <p:sldId id="381" r:id="rId28"/>
    <p:sldId id="370" r:id="rId29"/>
    <p:sldId id="382" r:id="rId30"/>
    <p:sldId id="408" r:id="rId31"/>
    <p:sldId id="371" r:id="rId32"/>
    <p:sldId id="384" r:id="rId33"/>
    <p:sldId id="372" r:id="rId34"/>
    <p:sldId id="385" r:id="rId35"/>
    <p:sldId id="386" r:id="rId36"/>
    <p:sldId id="399" r:id="rId37"/>
    <p:sldId id="388" r:id="rId38"/>
    <p:sldId id="374" r:id="rId39"/>
    <p:sldId id="405" r:id="rId40"/>
    <p:sldId id="389" r:id="rId41"/>
    <p:sldId id="390" r:id="rId42"/>
    <p:sldId id="391" r:id="rId43"/>
    <p:sldId id="392" r:id="rId44"/>
    <p:sldId id="393" r:id="rId45"/>
    <p:sldId id="387" r:id="rId46"/>
    <p:sldId id="373" r:id="rId47"/>
    <p:sldId id="400" r:id="rId48"/>
    <p:sldId id="398" r:id="rId49"/>
    <p:sldId id="375" r:id="rId50"/>
    <p:sldId id="376" r:id="rId51"/>
    <p:sldId id="401" r:id="rId52"/>
    <p:sldId id="409" r:id="rId53"/>
    <p:sldId id="377" r:id="rId5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914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1371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18288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22860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2743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3200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3657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6331" autoAdjust="0"/>
  </p:normalViewPr>
  <p:slideViewPr>
    <p:cSldViewPr snapToGrid="0">
      <p:cViewPr varScale="1">
        <p:scale>
          <a:sx n="56" d="100"/>
          <a:sy n="56" d="100"/>
        </p:scale>
        <p:origin x="7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Shape 67"/>
          <p:cNvSpPr>
            <a:spLocks noGrp="1" noRot="1" noChangeAspect="1"/>
          </p:cNvSpPr>
          <p:nvPr>
            <p:ph type="sldImg"/>
          </p:nvPr>
        </p:nvSpPr>
        <p:spPr>
          <a:xfrm>
            <a:off x="1143000" y="685800"/>
            <a:ext cx="4572000" cy="3429000"/>
          </a:xfrm>
          <a:prstGeom prst="rect">
            <a:avLst/>
          </a:prstGeom>
        </p:spPr>
        <p:txBody>
          <a:bodyPr/>
          <a:lstStyle/>
          <a:p/>
        </p:txBody>
      </p:sp>
      <p:sp>
        <p:nvSpPr>
          <p:cNvPr id="68" name="Shape 68"/>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mn-lt"/>
        <a:ea typeface="+mn-ea"/>
        <a:cs typeface="+mn-cs"/>
        <a:sym typeface="Helvetica Neue" panose="02000503000000020004"/>
      </a:defRPr>
    </a:lvl1pPr>
    <a:lvl2pPr indent="228600" defTabSz="457200" latinLnBrk="0">
      <a:lnSpc>
        <a:spcPct val="118000"/>
      </a:lnSpc>
      <a:defRPr sz="2200">
        <a:latin typeface="+mn-lt"/>
        <a:ea typeface="+mn-ea"/>
        <a:cs typeface="+mn-cs"/>
        <a:sym typeface="Helvetica Neue" panose="02000503000000020004"/>
      </a:defRPr>
    </a:lvl2pPr>
    <a:lvl3pPr indent="457200" defTabSz="457200" latinLnBrk="0">
      <a:lnSpc>
        <a:spcPct val="118000"/>
      </a:lnSpc>
      <a:defRPr sz="2200">
        <a:latin typeface="+mn-lt"/>
        <a:ea typeface="+mn-ea"/>
        <a:cs typeface="+mn-cs"/>
        <a:sym typeface="Helvetica Neue" panose="02000503000000020004"/>
      </a:defRPr>
    </a:lvl3pPr>
    <a:lvl4pPr indent="685800" defTabSz="457200" latinLnBrk="0">
      <a:lnSpc>
        <a:spcPct val="118000"/>
      </a:lnSpc>
      <a:defRPr sz="2200">
        <a:latin typeface="+mn-lt"/>
        <a:ea typeface="+mn-ea"/>
        <a:cs typeface="+mn-cs"/>
        <a:sym typeface="Helvetica Neue" panose="02000503000000020004"/>
      </a:defRPr>
    </a:lvl4pPr>
    <a:lvl5pPr indent="914400" defTabSz="457200" latinLnBrk="0">
      <a:lnSpc>
        <a:spcPct val="118000"/>
      </a:lnSpc>
      <a:defRPr sz="2200">
        <a:latin typeface="+mn-lt"/>
        <a:ea typeface="+mn-ea"/>
        <a:cs typeface="+mn-cs"/>
        <a:sym typeface="Helvetica Neue" panose="02000503000000020004"/>
      </a:defRPr>
    </a:lvl5pPr>
    <a:lvl6pPr indent="1143000" defTabSz="457200" latinLnBrk="0">
      <a:lnSpc>
        <a:spcPct val="118000"/>
      </a:lnSpc>
      <a:defRPr sz="2200">
        <a:latin typeface="+mn-lt"/>
        <a:ea typeface="+mn-ea"/>
        <a:cs typeface="+mn-cs"/>
        <a:sym typeface="Helvetica Neue" panose="02000503000000020004"/>
      </a:defRPr>
    </a:lvl6pPr>
    <a:lvl7pPr indent="1371600" defTabSz="457200" latinLnBrk="0">
      <a:lnSpc>
        <a:spcPct val="118000"/>
      </a:lnSpc>
      <a:defRPr sz="2200">
        <a:latin typeface="+mn-lt"/>
        <a:ea typeface="+mn-ea"/>
        <a:cs typeface="+mn-cs"/>
        <a:sym typeface="Helvetica Neue" panose="02000503000000020004"/>
      </a:defRPr>
    </a:lvl7pPr>
    <a:lvl8pPr indent="1600200" defTabSz="457200" latinLnBrk="0">
      <a:lnSpc>
        <a:spcPct val="118000"/>
      </a:lnSpc>
      <a:defRPr sz="2200">
        <a:latin typeface="+mn-lt"/>
        <a:ea typeface="+mn-ea"/>
        <a:cs typeface="+mn-cs"/>
        <a:sym typeface="Helvetica Neue" panose="02000503000000020004"/>
      </a:defRPr>
    </a:lvl8pPr>
    <a:lvl9pPr indent="1828800" defTabSz="457200" latinLnBrk="0">
      <a:lnSpc>
        <a:spcPct val="118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zhuanlan.zhihu.com/p/13479479700" TargetMode="External"/><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r>
              <a:rPr lang="en-US" altLang="zh-CN" sz="2400">
                <a:latin typeface="微软雅黑 Light" panose="020B0502040204020203" pitchFamily="34" charset="-122"/>
                <a:ea typeface="微软雅黑 Light" panose="020B0502040204020203" pitchFamily="34" charset="-122"/>
                <a:hlinkClick r:id="rId3"/>
              </a:rPr>
              <a:t>https://zhuanlan.zhihu.com/p/13479479700</a:t>
            </a:r>
            <a:r>
              <a:rPr lang="en-US" altLang="zh-CN" sz="2400">
                <a:latin typeface="微软雅黑 Light" panose="020B0502040204020203" pitchFamily="34" charset="-122"/>
                <a:ea typeface="微软雅黑 Light" panose="020B0502040204020203" pitchFamily="34" charset="-122"/>
              </a:rPr>
              <a:t> </a:t>
            </a:r>
            <a:endParaRPr lang="en-US" altLang="zh-CN" sz="2400">
              <a:latin typeface="微软雅黑 Light" panose="020B0502040204020203" pitchFamily="34" charset="-122"/>
              <a:ea typeface="微软雅黑 Light" panose="020B0502040204020203" pitchFamily="34" charset="-122"/>
            </a:endParaRPr>
          </a:p>
          <a:p>
            <a:r>
              <a:rPr lang="en-US" altLang="zh-CN" sz="2400">
                <a:latin typeface="微软雅黑 Light" panose="020B0502040204020203" pitchFamily="34" charset="-122"/>
                <a:ea typeface="微软雅黑 Light" panose="020B0502040204020203" pitchFamily="34" charset="-122"/>
                <a:sym typeface="Wingdings" panose="05000000000000000000" pitchFamily="2" charset="2"/>
              </a:rPr>
              <a:t>https://www.woshipm.com/it/6151782.html</a:t>
            </a:r>
            <a:endParaRPr lang="en-US" altLang="zh-CN" sz="2400">
              <a:latin typeface="微软雅黑 Light" panose="020B0502040204020203" pitchFamily="34" charset="-122"/>
              <a:ea typeface="微软雅黑 Light" panose="020B0502040204020203" pitchFamily="34" charset="-122"/>
              <a:sym typeface="Wingdings" panose="05000000000000000000" pitchFamily="2" charset="2"/>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标题">
    <p:bg>
      <p:bgPr>
        <a:solidFill>
          <a:srgbClr val="000000"/>
        </a:solidFill>
        <a:effectLst/>
      </p:bgPr>
    </p:bg>
    <p:spTree>
      <p:nvGrpSpPr>
        <p:cNvPr id="1" name=""/>
        <p:cNvGrpSpPr/>
        <p:nvPr/>
      </p:nvGrpSpPr>
      <p:grpSpPr>
        <a:xfrm>
          <a:off x="0" y="0"/>
          <a:ext cx="0" cy="0"/>
          <a:chOff x="0" y="0"/>
          <a:chExt cx="0" cy="0"/>
        </a:xfrm>
      </p:grpSpPr>
      <p:pic>
        <p:nvPicPr>
          <p:cNvPr id="19" name="wallhaven-rdvvlq.jpg" descr="wallhaven-rdvvlq.jpg"/>
          <p:cNvPicPr>
            <a:picLocks noChangeAspect="1"/>
          </p:cNvPicPr>
          <p:nvPr/>
        </p:nvPicPr>
        <p:blipFill>
          <a:blip r:embed="rId2">
            <a:alphaModFix amt="73715"/>
          </a:blip>
          <a:stretch>
            <a:fillRect/>
          </a:stretch>
        </p:blipFill>
        <p:spPr>
          <a:xfrm>
            <a:off x="-1" y="8708"/>
            <a:ext cx="24384001" cy="13698584"/>
          </a:xfrm>
          <a:prstGeom prst="rect">
            <a:avLst/>
          </a:prstGeom>
          <a:ln w="12700">
            <a:miter lim="400000"/>
            <a:headEnd/>
            <a:tailEnd/>
          </a:ln>
        </p:spPr>
      </p:pic>
      <p:pic>
        <p:nvPicPr>
          <p:cNvPr id="20" name="未命名.png" descr="未命名.png"/>
          <p:cNvPicPr>
            <a:picLocks noChangeAspect="1"/>
          </p:cNvPicPr>
          <p:nvPr/>
        </p:nvPicPr>
        <p:blipFill>
          <a:blip r:embed="rId3"/>
          <a:stretch>
            <a:fillRect/>
          </a:stretch>
        </p:blipFill>
        <p:spPr>
          <a:xfrm>
            <a:off x="20477455" y="411980"/>
            <a:ext cx="1750700" cy="461019"/>
          </a:xfrm>
          <a:prstGeom prst="rect">
            <a:avLst/>
          </a:prstGeom>
          <a:ln w="12700">
            <a:miter lim="400000"/>
            <a:headEnd/>
            <a:tailEnd/>
          </a:ln>
        </p:spPr>
      </p:pic>
      <p:pic>
        <p:nvPicPr>
          <p:cNvPr id="21" name="未命名2.png" descr="未命名2.png"/>
          <p:cNvPicPr>
            <a:picLocks noChangeAspect="1"/>
          </p:cNvPicPr>
          <p:nvPr/>
        </p:nvPicPr>
        <p:blipFill>
          <a:blip r:embed="rId4"/>
          <a:stretch>
            <a:fillRect/>
          </a:stretch>
        </p:blipFill>
        <p:spPr>
          <a:xfrm>
            <a:off x="22201103" y="-81128"/>
            <a:ext cx="1929647" cy="1447235"/>
          </a:xfrm>
          <a:prstGeom prst="rect">
            <a:avLst/>
          </a:prstGeom>
          <a:ln w="12700">
            <a:miter lim="400000"/>
            <a:headEnd/>
            <a:tailEnd/>
          </a:ln>
        </p:spPr>
      </p:pic>
      <p:sp>
        <p:nvSpPr>
          <p:cNvPr id="22"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29" name="正文级别 1…"/>
          <p:cNvSpPr txBox="1">
            <a:spLocks noGrp="1"/>
          </p:cNvSpPr>
          <p:nvPr>
            <p:ph type="body" idx="1" hasCustomPrompt="1"/>
          </p:nvPr>
        </p:nvSpPr>
        <p:spPr>
          <a:prstGeom prst="rect">
            <a:avLst/>
          </a:prstGeom>
        </p:spPr>
        <p:txBody>
          <a:bodyPr/>
          <a:lstStyle/>
          <a:p>
            <a:r>
              <a:t>幻灯片项目符号文本</a:t>
            </a:r>
          </a:p>
          <a:p>
            <a:pPr lvl="1"/>
          </a:p>
          <a:p>
            <a:pPr lvl="2"/>
          </a:p>
          <a:p>
            <a:pPr lvl="3"/>
          </a:p>
          <a:p>
            <a:pPr lvl="4"/>
          </a:p>
        </p:txBody>
      </p:sp>
      <p:sp>
        <p:nvSpPr>
          <p:cNvPr id="3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p:cSld name="标题">
    <p:bg>
      <p:bgPr>
        <a:solidFill>
          <a:srgbClr val="000000"/>
        </a:solidFill>
        <a:effectLst/>
      </p:bgPr>
    </p:bg>
    <p:spTree>
      <p:nvGrpSpPr>
        <p:cNvPr id="1" name=""/>
        <p:cNvGrpSpPr/>
        <p:nvPr/>
      </p:nvGrpSpPr>
      <p:grpSpPr>
        <a:xfrm>
          <a:off x="0" y="0"/>
          <a:ext cx="0" cy="0"/>
          <a:chOff x="0" y="0"/>
          <a:chExt cx="0" cy="0"/>
        </a:xfrm>
      </p:grpSpPr>
      <p:pic>
        <p:nvPicPr>
          <p:cNvPr id="37" name="wallhaven-qzqvp7.png" descr="wallhaven-qzqvp7.png"/>
          <p:cNvPicPr>
            <a:picLocks noChangeAspect="1"/>
          </p:cNvPicPr>
          <p:nvPr/>
        </p:nvPicPr>
        <p:blipFill>
          <a:blip r:embed="rId2">
            <a:alphaModFix amt="68948"/>
          </a:blip>
          <a:stretch>
            <a:fillRect/>
          </a:stretch>
        </p:blipFill>
        <p:spPr>
          <a:xfrm>
            <a:off x="-496866" y="-2093472"/>
            <a:ext cx="25377732" cy="16918490"/>
          </a:xfrm>
          <a:prstGeom prst="rect">
            <a:avLst/>
          </a:prstGeom>
          <a:ln w="12700">
            <a:miter lim="400000"/>
            <a:headEnd/>
            <a:tailEnd/>
          </a:ln>
        </p:spPr>
      </p:pic>
      <p:pic>
        <p:nvPicPr>
          <p:cNvPr id="38" name="未命名.png" descr="未命名.png"/>
          <p:cNvPicPr>
            <a:picLocks noChangeAspect="1"/>
          </p:cNvPicPr>
          <p:nvPr/>
        </p:nvPicPr>
        <p:blipFill>
          <a:blip r:embed="rId3"/>
          <a:stretch>
            <a:fillRect/>
          </a:stretch>
        </p:blipFill>
        <p:spPr>
          <a:xfrm>
            <a:off x="20477455" y="411980"/>
            <a:ext cx="1750701" cy="461019"/>
          </a:xfrm>
          <a:prstGeom prst="rect">
            <a:avLst/>
          </a:prstGeom>
          <a:ln w="12700">
            <a:miter lim="400000"/>
            <a:headEnd/>
            <a:tailEnd/>
          </a:ln>
        </p:spPr>
      </p:pic>
      <p:pic>
        <p:nvPicPr>
          <p:cNvPr id="39" name="未命名2.png" descr="未命名2.png"/>
          <p:cNvPicPr>
            <a:picLocks noChangeAspect="1"/>
          </p:cNvPicPr>
          <p:nvPr/>
        </p:nvPicPr>
        <p:blipFill>
          <a:blip r:embed="rId4"/>
          <a:stretch>
            <a:fillRect/>
          </a:stretch>
        </p:blipFill>
        <p:spPr>
          <a:xfrm>
            <a:off x="22201103" y="-81128"/>
            <a:ext cx="1929648" cy="1447235"/>
          </a:xfrm>
          <a:prstGeom prst="rect">
            <a:avLst/>
          </a:prstGeom>
          <a:ln w="12700">
            <a:miter lim="400000"/>
            <a:headEnd/>
            <a:tailEnd/>
          </a:ln>
        </p:spPr>
      </p:pic>
      <p:sp>
        <p:nvSpPr>
          <p:cNvPr id="40" name="幻灯片标题"/>
          <p:cNvSpPr txBox="1">
            <a:spLocks noGrp="1"/>
          </p:cNvSpPr>
          <p:nvPr>
            <p:ph type="title" hasCustomPrompt="1"/>
          </p:nvPr>
        </p:nvSpPr>
        <p:spPr>
          <a:xfrm>
            <a:off x="5746308" y="5399214"/>
            <a:ext cx="13119984" cy="2187118"/>
          </a:xfrm>
          <a:prstGeom prst="rect">
            <a:avLst/>
          </a:prstGeom>
        </p:spPr>
        <p:txBody>
          <a:bodyPr anchor="ctr"/>
          <a:lstStyle>
            <a:lvl1pPr algn="ctr" defTabSz="2438400">
              <a:lnSpc>
                <a:spcPct val="80000"/>
              </a:lnSpc>
              <a:defRPr sz="10000" spc="-200">
                <a:solidFill>
                  <a:srgbClr val="FFFFFF"/>
                </a:solidFill>
              </a:defRPr>
            </a:lvl1pPr>
          </a:lstStyle>
          <a:p>
            <a:r>
              <a:t>幻灯片标题</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p:cSld name="内容">
    <p:spTree>
      <p:nvGrpSpPr>
        <p:cNvPr id="1" name=""/>
        <p:cNvGrpSpPr/>
        <p:nvPr/>
      </p:nvGrpSpPr>
      <p:grpSpPr>
        <a:xfrm>
          <a:off x="0" y="0"/>
          <a:ext cx="0" cy="0"/>
          <a:chOff x="0" y="0"/>
          <a:chExt cx="0" cy="0"/>
        </a:xfrm>
      </p:grpSpPr>
      <p:pic>
        <p:nvPicPr>
          <p:cNvPr id="48" name="未命名.jpg" descr="未命名.jpg"/>
          <p:cNvPicPr>
            <a:picLocks noChangeAspect="1"/>
          </p:cNvPicPr>
          <p:nvPr/>
        </p:nvPicPr>
        <p:blipFill>
          <a:blip r:embed="rId2">
            <a:alphaModFix amt="80028"/>
          </a:blip>
          <a:stretch>
            <a:fillRect/>
          </a:stretch>
        </p:blipFill>
        <p:spPr>
          <a:xfrm>
            <a:off x="19841111" y="430850"/>
            <a:ext cx="1636706" cy="737026"/>
          </a:xfrm>
          <a:prstGeom prst="rect">
            <a:avLst/>
          </a:prstGeom>
          <a:ln w="12700">
            <a:miter lim="400000"/>
            <a:headEnd/>
            <a:tailEnd/>
          </a:ln>
        </p:spPr>
      </p:pic>
      <p:pic>
        <p:nvPicPr>
          <p:cNvPr id="49" name="未命名.jpg" descr="未命名.jpg"/>
          <p:cNvPicPr>
            <a:picLocks noChangeAspect="1"/>
          </p:cNvPicPr>
          <p:nvPr/>
        </p:nvPicPr>
        <p:blipFill>
          <a:blip r:embed="rId3">
            <a:alphaModFix amt="80000"/>
          </a:blip>
          <a:stretch>
            <a:fillRect/>
          </a:stretch>
        </p:blipFill>
        <p:spPr>
          <a:xfrm>
            <a:off x="21688890" y="597552"/>
            <a:ext cx="2015020" cy="530623"/>
          </a:xfrm>
          <a:prstGeom prst="rect">
            <a:avLst/>
          </a:prstGeom>
          <a:ln w="12700">
            <a:miter lim="400000"/>
            <a:headEnd/>
            <a:tailEnd/>
          </a:ln>
        </p:spPr>
      </p:pic>
      <p:sp>
        <p:nvSpPr>
          <p:cNvPr id="50" name="线条"/>
          <p:cNvSpPr/>
          <p:nvPr/>
        </p:nvSpPr>
        <p:spPr>
          <a:xfrm>
            <a:off x="581148" y="1527029"/>
            <a:ext cx="23221704" cy="1"/>
          </a:xfrm>
          <a:prstGeom prst="line">
            <a:avLst/>
          </a:prstGeom>
          <a:ln w="25400">
            <a:solidFill>
              <a:srgbClr val="7F9191"/>
            </a:solidFill>
            <a:miter lim="400000"/>
          </a:ln>
        </p:spPr>
        <p:txBody>
          <a:bodyPr lIns="50800" tIns="50800" rIns="50800" bIns="50800" anchor="ctr"/>
          <a:lstStyle/>
          <a:p/>
        </p:txBody>
      </p:sp>
      <p:sp>
        <p:nvSpPr>
          <p:cNvPr id="51" name="幻灯片标题"/>
          <p:cNvSpPr txBox="1">
            <a:spLocks noGrp="1"/>
          </p:cNvSpPr>
          <p:nvPr>
            <p:ph type="title" hasCustomPrompt="1"/>
          </p:nvPr>
        </p:nvSpPr>
        <p:spPr>
          <a:xfrm>
            <a:off x="1243044" y="374169"/>
            <a:ext cx="10477501" cy="977388"/>
          </a:xfrm>
          <a:prstGeom prst="rect">
            <a:avLst/>
          </a:prstGeom>
        </p:spPr>
        <p:txBody>
          <a:bodyPr anchor="ctr"/>
          <a:lstStyle>
            <a:lvl1pPr>
              <a:defRPr>
                <a:solidFill>
                  <a:srgbClr val="3D3D3D"/>
                </a:solidFill>
              </a:defRPr>
            </a:lvl1pPr>
          </a:lstStyle>
          <a:p>
            <a:r>
              <a:t>幻灯片标题</a:t>
            </a:r>
          </a:p>
        </p:txBody>
      </p:sp>
      <p:pic>
        <p:nvPicPr>
          <p:cNvPr id="52" name="20250308172252.png" descr="20250308172252.png"/>
          <p:cNvPicPr>
            <a:picLocks noChangeAspect="1"/>
          </p:cNvPicPr>
          <p:nvPr/>
        </p:nvPicPr>
        <p:blipFill>
          <a:blip r:embed="rId4">
            <a:alphaModFix amt="53471"/>
          </a:blip>
          <a:srcRect b="52457"/>
          <a:stretch>
            <a:fillRect/>
          </a:stretch>
        </p:blipFill>
        <p:spPr>
          <a:xfrm>
            <a:off x="18329327" y="12979486"/>
            <a:ext cx="5829796" cy="530650"/>
          </a:xfrm>
          <a:prstGeom prst="rect">
            <a:avLst/>
          </a:prstGeom>
          <a:ln w="12700">
            <a:miter lim="400000"/>
            <a:headEnd/>
            <a:tailEnd/>
          </a:ln>
        </p:spPr>
      </p:pic>
      <p:sp>
        <p:nvSpPr>
          <p:cNvPr id="53" name="矩形"/>
          <p:cNvSpPr/>
          <p:nvPr/>
        </p:nvSpPr>
        <p:spPr>
          <a:xfrm>
            <a:off x="569800" y="494350"/>
            <a:ext cx="269381" cy="737026"/>
          </a:xfrm>
          <a:prstGeom prst="rect">
            <a:avLst/>
          </a:prstGeom>
          <a:solidFill>
            <a:srgbClr val="414141"/>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panose="02000503000000020004"/>
                <a:ea typeface="Helvetica Neue Medium" panose="02000503000000020004"/>
                <a:cs typeface="Helvetica Neue Medium" panose="02000503000000020004"/>
                <a:sym typeface="Helvetica Neue Medium" panose="02000503000000020004"/>
              </a:defRPr>
            </a:pPr>
          </a:p>
        </p:txBody>
      </p:sp>
      <p:sp>
        <p:nvSpPr>
          <p:cNvPr id="5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sp>
        <p:nvSpPr>
          <p:cNvPr id="6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6.jpeg"/><Relationship Id="rId8" Type="http://schemas.openxmlformats.org/officeDocument/2006/relationships/image" Target="../media/image5.jpeg"/><Relationship Id="rId7" Type="http://schemas.openxmlformats.org/officeDocument/2006/relationships/image" Target="../media/image1.jpeg"/><Relationship Id="rId6" Type="http://schemas.openxmlformats.org/officeDocument/2006/relationships/image" Target="../media/image7.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20250308172252.png" descr="20250308172252.png"/>
          <p:cNvPicPr>
            <a:picLocks noChangeAspect="1"/>
          </p:cNvPicPr>
          <p:nvPr/>
        </p:nvPicPr>
        <p:blipFill>
          <a:blip r:embed="rId6">
            <a:alphaModFix amt="53471"/>
          </a:blip>
          <a:srcRect b="52457"/>
          <a:stretch>
            <a:fillRect/>
          </a:stretch>
        </p:blipFill>
        <p:spPr>
          <a:xfrm>
            <a:off x="18329327" y="12979486"/>
            <a:ext cx="5829796" cy="530650"/>
          </a:xfrm>
          <a:prstGeom prst="rect">
            <a:avLst/>
          </a:prstGeom>
          <a:ln w="12700">
            <a:miter lim="400000"/>
            <a:headEnd/>
            <a:tailEnd/>
          </a:ln>
        </p:spPr>
      </p:pic>
      <p:pic>
        <p:nvPicPr>
          <p:cNvPr id="3" name="wallhaven-rdvvlq.jpg" descr="wallhaven-rdvvlq.jpg"/>
          <p:cNvPicPr>
            <a:picLocks noChangeAspect="1"/>
          </p:cNvPicPr>
          <p:nvPr/>
        </p:nvPicPr>
        <p:blipFill>
          <a:blip r:embed="rId7"/>
          <a:srcRect l="51258" t="79" r="120" b="91"/>
          <a:stretch>
            <a:fillRect/>
          </a:stretch>
        </p:blipFill>
        <p:spPr>
          <a:xfrm>
            <a:off x="-3362115" y="-131565"/>
            <a:ext cx="12119241" cy="13979130"/>
          </a:xfrm>
          <a:custGeom>
            <a:avLst/>
            <a:gdLst/>
            <a:ahLst/>
            <a:cxnLst>
              <a:cxn ang="0">
                <a:pos x="wd2" y="hd2"/>
              </a:cxn>
              <a:cxn ang="5400000">
                <a:pos x="wd2" y="hd2"/>
              </a:cxn>
              <a:cxn ang="10800000">
                <a:pos x="wd2" y="hd2"/>
              </a:cxn>
              <a:cxn ang="16200000">
                <a:pos x="wd2" y="hd2"/>
              </a:cxn>
            </a:cxnLst>
            <a:rect l="0" t="0" r="r" b="b"/>
            <a:pathLst>
              <a:path w="21042" h="21600" extrusionOk="0">
                <a:moveTo>
                  <a:pt x="18981" y="0"/>
                </a:moveTo>
                <a:lnTo>
                  <a:pt x="0" y="40"/>
                </a:lnTo>
                <a:lnTo>
                  <a:pt x="0" y="21600"/>
                </a:lnTo>
                <a:lnTo>
                  <a:pt x="18464" y="21600"/>
                </a:lnTo>
                <a:cubicBezTo>
                  <a:pt x="19187" y="20932"/>
                  <a:pt x="19470" y="19979"/>
                  <a:pt x="19213" y="19080"/>
                </a:cubicBezTo>
                <a:cubicBezTo>
                  <a:pt x="18981" y="18273"/>
                  <a:pt x="18317" y="17557"/>
                  <a:pt x="18425" y="16720"/>
                </a:cubicBezTo>
                <a:cubicBezTo>
                  <a:pt x="18575" y="15561"/>
                  <a:pt x="20094" y="14917"/>
                  <a:pt x="20234" y="13755"/>
                </a:cubicBezTo>
                <a:cubicBezTo>
                  <a:pt x="20419" y="12209"/>
                  <a:pt x="18254" y="11381"/>
                  <a:pt x="18043" y="9903"/>
                </a:cubicBezTo>
                <a:cubicBezTo>
                  <a:pt x="17839" y="8471"/>
                  <a:pt x="19494" y="7572"/>
                  <a:pt x="20268" y="6333"/>
                </a:cubicBezTo>
                <a:cubicBezTo>
                  <a:pt x="21600" y="4201"/>
                  <a:pt x="21238" y="1468"/>
                  <a:pt x="18981" y="0"/>
                </a:cubicBezTo>
                <a:close/>
              </a:path>
            </a:pathLst>
          </a:custGeom>
          <a:ln w="12700">
            <a:miter lim="400000"/>
            <a:headEnd/>
            <a:tailEnd/>
          </a:ln>
        </p:spPr>
      </p:pic>
      <p:grpSp>
        <p:nvGrpSpPr>
          <p:cNvPr id="7" name="成组"/>
          <p:cNvGrpSpPr/>
          <p:nvPr/>
        </p:nvGrpSpPr>
        <p:grpSpPr>
          <a:xfrm>
            <a:off x="2356553" y="5489648"/>
            <a:ext cx="2146301" cy="2334715"/>
            <a:chOff x="0" y="0"/>
            <a:chExt cx="2146300" cy="2334713"/>
          </a:xfrm>
        </p:grpSpPr>
        <p:sp>
          <p:nvSpPr>
            <p:cNvPr id="4" name="目录"/>
            <p:cNvSpPr txBox="1"/>
            <p:nvPr/>
          </p:nvSpPr>
          <p:spPr>
            <a:xfrm>
              <a:off x="0" y="0"/>
              <a:ext cx="2146300" cy="1524001"/>
            </a:xfrm>
            <a:prstGeom prst="rect">
              <a:avLst/>
            </a:prstGeom>
            <a:noFill/>
            <a:ln w="12700" cap="flat">
              <a:noFill/>
              <a:miter lim="400000"/>
            </a:ln>
            <a:effectLst/>
          </p:spPr>
          <p:txBody>
            <a:bodyPr wrap="none" lIns="50800" tIns="50800" rIns="50800" bIns="50800" numCol="1" anchor="ctr">
              <a:spAutoFit/>
            </a:bodyPr>
            <a:lstStyle>
              <a:lvl1pPr>
                <a:defRPr sz="8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t>目录</a:t>
              </a:r>
            </a:p>
          </p:txBody>
        </p:sp>
        <p:sp>
          <p:nvSpPr>
            <p:cNvPr id="5" name="线条"/>
            <p:cNvSpPr/>
            <p:nvPr/>
          </p:nvSpPr>
          <p:spPr>
            <a:xfrm>
              <a:off x="167770" y="1506240"/>
              <a:ext cx="1810760" cy="1"/>
            </a:xfrm>
            <a:prstGeom prst="line">
              <a:avLst/>
            </a:prstGeom>
            <a:noFill/>
            <a:ln w="25400" cap="flat">
              <a:solidFill>
                <a:srgbClr val="FFFFFF"/>
              </a:solidFill>
              <a:prstDash val="solid"/>
              <a:miter lim="400000"/>
            </a:ln>
            <a:effectLst/>
          </p:spPr>
          <p:txBody>
            <a:bodyPr wrap="square" lIns="50800" tIns="50800" rIns="50800" bIns="50800" numCol="1" anchor="ctr">
              <a:noAutofit/>
            </a:bodyPr>
            <a:lstStyle/>
            <a:p/>
          </p:txBody>
        </p:sp>
        <p:sp>
          <p:nvSpPr>
            <p:cNvPr id="6" name="Content"/>
            <p:cNvSpPr txBox="1"/>
            <p:nvPr/>
          </p:nvSpPr>
          <p:spPr>
            <a:xfrm>
              <a:off x="90169" y="1521913"/>
              <a:ext cx="1965961" cy="812801"/>
            </a:xfrm>
            <a:prstGeom prst="rect">
              <a:avLst/>
            </a:prstGeom>
            <a:noFill/>
            <a:ln w="12700" cap="flat">
              <a:noFill/>
              <a:miter lim="400000"/>
            </a:ln>
            <a:effectLst/>
          </p:spPr>
          <p:txBody>
            <a:bodyPr wrap="none" lIns="50800" tIns="50800" rIns="50800" bIns="50800" numCol="1" anchor="ctr">
              <a:spAutoFit/>
            </a:bodyPr>
            <a:lstStyle>
              <a:lvl1pPr>
                <a:defRPr sz="4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Content</a:t>
              </a:r>
            </a:p>
          </p:txBody>
        </p:sp>
      </p:grpSp>
      <p:sp>
        <p:nvSpPr>
          <p:cNvPr id="8" name="正文级别 1…"/>
          <p:cNvSpPr txBox="1">
            <a:spLocks noGrp="1"/>
          </p:cNvSpPr>
          <p:nvPr>
            <p:ph type="body" idx="1" hasCustomPrompt="1"/>
          </p:nvPr>
        </p:nvSpPr>
        <p:spPr>
          <a:xfrm>
            <a:off x="10258676" y="2729994"/>
            <a:ext cx="21971001" cy="8256012"/>
          </a:xfrm>
          <a:prstGeom prst="rect">
            <a:avLst/>
          </a:prstGeom>
          <a:ln w="12700">
            <a:miter lim="400000"/>
          </a:ln>
        </p:spPr>
        <p:txBody>
          <a:bodyPr lIns="50800" tIns="50800" rIns="50800" bIns="50800" anchor="ctr">
            <a:normAutofit/>
          </a:bodyPr>
          <a:lstStyle/>
          <a:p>
            <a:r>
              <a:t>幻灯片项目符号文本</a:t>
            </a:r>
          </a:p>
          <a:p>
            <a:pPr lvl="1"/>
          </a:p>
          <a:p>
            <a:pPr lvl="2"/>
          </a:p>
          <a:p>
            <a:pPr lvl="3"/>
          </a:p>
          <a:p>
            <a:pPr lvl="4"/>
          </a:p>
        </p:txBody>
      </p:sp>
      <p:pic>
        <p:nvPicPr>
          <p:cNvPr id="9" name="未命名.jpg" descr="未命名.jpg"/>
          <p:cNvPicPr>
            <a:picLocks noChangeAspect="1"/>
          </p:cNvPicPr>
          <p:nvPr/>
        </p:nvPicPr>
        <p:blipFill>
          <a:blip r:embed="rId8">
            <a:alphaModFix amt="80028"/>
          </a:blip>
          <a:stretch>
            <a:fillRect/>
          </a:stretch>
        </p:blipFill>
        <p:spPr>
          <a:xfrm>
            <a:off x="19841111" y="430850"/>
            <a:ext cx="1636706" cy="737026"/>
          </a:xfrm>
          <a:prstGeom prst="rect">
            <a:avLst/>
          </a:prstGeom>
          <a:ln w="12700">
            <a:miter lim="400000"/>
            <a:headEnd/>
            <a:tailEnd/>
          </a:ln>
        </p:spPr>
      </p:pic>
      <p:pic>
        <p:nvPicPr>
          <p:cNvPr id="10" name="未命名.jpg" descr="未命名.jpg"/>
          <p:cNvPicPr>
            <a:picLocks noChangeAspect="1"/>
          </p:cNvPicPr>
          <p:nvPr/>
        </p:nvPicPr>
        <p:blipFill>
          <a:blip r:embed="rId9">
            <a:alphaModFix amt="80000"/>
          </a:blip>
          <a:stretch>
            <a:fillRect/>
          </a:stretch>
        </p:blipFill>
        <p:spPr>
          <a:xfrm>
            <a:off x="21688890" y="597552"/>
            <a:ext cx="2015020" cy="530623"/>
          </a:xfrm>
          <a:prstGeom prst="rect">
            <a:avLst/>
          </a:prstGeom>
          <a:ln w="12700">
            <a:miter lim="400000"/>
            <a:headEnd/>
            <a:tailEnd/>
          </a:ln>
        </p:spPr>
      </p:pic>
      <p:sp>
        <p:nvSpPr>
          <p:cNvPr id="11" name="幻灯片标题"/>
          <p:cNvSpPr txBox="1">
            <a:spLocks noGrp="1"/>
          </p:cNvSpPr>
          <p:nvPr>
            <p:ph type="title" hasCustomPrompt="1"/>
          </p:nvPr>
        </p:nvSpPr>
        <p:spPr>
          <a:xfrm>
            <a:off x="12763346" y="3944134"/>
            <a:ext cx="13118449" cy="983210"/>
          </a:xfrm>
          <a:prstGeom prst="rect">
            <a:avLst/>
          </a:prstGeom>
          <a:ln w="12700">
            <a:miter lim="400000"/>
          </a:ln>
        </p:spPr>
        <p:txBody>
          <a:bodyPr lIns="50800" tIns="50800" rIns="50800" bIns="50800">
            <a:normAutofit/>
          </a:bodyPr>
          <a:lstStyle/>
          <a:p>
            <a:r>
              <a:t>幻灯片标题</a:t>
            </a:r>
          </a:p>
        </p:txBody>
      </p:sp>
      <p:sp>
        <p:nvSpPr>
          <p:cNvPr id="12" name="幻灯片编号"/>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vl2pPr marL="0" marR="0" indent="457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2pPr>
      <a:lvl3pPr marL="0" marR="0" indent="914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3pPr>
      <a:lvl4pPr marL="0" marR="0" indent="1371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4pPr>
      <a:lvl5pPr marL="0" marR="0" indent="18288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5pPr>
      <a:lvl6pPr marL="0" marR="0" indent="22860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6pPr>
      <a:lvl7pPr marL="0" marR="0" indent="2743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7pPr>
      <a:lvl8pPr marL="0" marR="0" indent="3200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8pPr>
      <a:lvl9pPr marL="0" marR="0" indent="3657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9pPr>
    </p:titleStyle>
    <p:bodyStyle>
      <a:lvl1pPr marL="609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vl2pPr marL="1219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2pPr>
      <a:lvl3pPr marL="1828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3pPr>
      <a:lvl4pPr marL="2438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4pPr>
      <a:lvl5pPr marL="30480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5pPr>
      <a:lvl6pPr marL="3657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6pPr>
      <a:lvl7pPr marL="4267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7pPr>
      <a:lvl8pPr marL="4876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8pPr>
      <a:lvl9pPr marL="5486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9pPr>
    </p:bodyStyle>
    <p:other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4.xml"/><Relationship Id="rId2" Type="http://schemas.openxmlformats.org/officeDocument/2006/relationships/image" Target="../media/image30.png"/><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image" Target="../media/image3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4.xml"/><Relationship Id="rId2" Type="http://schemas.openxmlformats.org/officeDocument/2006/relationships/image" Target="../media/image34.png"/><Relationship Id="rId1" Type="http://schemas.openxmlformats.org/officeDocument/2006/relationships/image" Target="../media/image3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image" Target="../media/image37.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2199545" y="3507853"/>
            <a:ext cx="21405522" cy="4808518"/>
            <a:chOff x="-1473199" y="0"/>
            <a:chExt cx="21405520" cy="4808516"/>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300000000000000" charset="-122"/>
                  <a:ea typeface=".萍方-简" panose="020B0300000000000000" charset="-122"/>
                  <a:cs typeface=".萍方-简" panose="020B0300000000000000" charset="-122"/>
                </a:rPr>
                <a:t>智泊AI大模型实战课</a:t>
              </a:r>
              <a:endParaRPr>
                <a:latin typeface=".萍方-简" panose="020B0300000000000000" charset="-122"/>
                <a:ea typeface=".萍方-简" panose="020B0300000000000000" charset="-122"/>
                <a:cs typeface=".萍方-简" panose="020B0300000000000000" charset="-122"/>
              </a:endParaRPr>
            </a:p>
          </p:txBody>
        </p:sp>
        <p:sp>
          <p:nvSpPr>
            <p:cNvPr id="71" name="这里是本节课程的课题"/>
            <p:cNvSpPr txBox="1"/>
            <p:nvPr/>
          </p:nvSpPr>
          <p:spPr>
            <a:xfrm>
              <a:off x="-1473199" y="1891775"/>
              <a:ext cx="21405520" cy="291674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en-US" altLang="zh-CN">
                  <a:latin typeface=".萍方-简" panose="020B0300000000000000" charset="-122"/>
                  <a:ea typeface=".萍方-简" panose="020B0300000000000000" charset="-122"/>
                </a:rPr>
                <a:t>L2</a:t>
              </a:r>
              <a:r>
                <a:rPr lang="zh-CN" altLang="en-US">
                  <a:latin typeface=".萍方-简" panose="020B0300000000000000" charset="-122"/>
                  <a:ea typeface=".萍方-简" panose="020B0300000000000000" charset="-122"/>
                </a:rPr>
                <a:t>阶段：攻坚篇 </a:t>
              </a:r>
              <a:r>
                <a:rPr lang="en-US" altLang="zh-CN">
                  <a:latin typeface=".萍方-简" panose="020B0300000000000000" charset="-122"/>
                  <a:ea typeface=".萍方-简" panose="020B0300000000000000" charset="-122"/>
                </a:rPr>
                <a:t>| RAG</a:t>
              </a:r>
              <a:r>
                <a:rPr lang="zh-CN" altLang="en-US">
                  <a:latin typeface=".萍方-简" panose="020B0300000000000000" charset="-122"/>
                  <a:ea typeface=".萍方-简" panose="020B0300000000000000" charset="-122"/>
                </a:rPr>
                <a:t>开发实战工坊</a:t>
              </a:r>
              <a:endParaRPr lang="zh-CN">
                <a:latin typeface=".萍方-简" panose="020B0300000000000000" charset="-122"/>
                <a:ea typeface=".萍方-简" panose="020B03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t>大白</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本阶段课程安排</a:t>
            </a:r>
            <a:endParaRPr lang="zh-CN">
              <a:latin typeface=".萍方-简" panose="020B0300000000000000" charset="-122"/>
              <a:ea typeface=".萍方-简" panose="020B0300000000000000" charset="-122"/>
            </a:endParaRPr>
          </a:p>
        </p:txBody>
      </p:sp>
      <p:graphicFrame>
        <p:nvGraphicFramePr>
          <p:cNvPr id="2" name="表格 1"/>
          <p:cNvGraphicFramePr>
            <a:graphicFrameLocks noGrp="1"/>
          </p:cNvGraphicFramePr>
          <p:nvPr/>
        </p:nvGraphicFramePr>
        <p:xfrm>
          <a:off x="3356568" y="1993570"/>
          <a:ext cx="17670863" cy="5844714"/>
        </p:xfrm>
        <a:graphic>
          <a:graphicData uri="http://schemas.openxmlformats.org/drawingml/2006/table">
            <a:tbl>
              <a:tblPr/>
              <a:tblGrid>
                <a:gridCol w="2117041"/>
                <a:gridCol w="15553822"/>
              </a:tblGrid>
              <a:tr h="1013466">
                <a:tc>
                  <a:txBody>
                    <a:bodyPr/>
                    <a:lstStyle/>
                    <a:p>
                      <a:pPr algn="ctr" fontAlgn="ctr"/>
                      <a:r>
                        <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rPr>
                        <a:t>章节</a:t>
                      </a:r>
                      <a:endPar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rPr>
                        <a:t>章节名称</a:t>
                      </a:r>
                      <a:endPar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1</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认知与项目实践</a:t>
                      </a:r>
                      <a:endPar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2</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LangChainV0.3</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从入门到精通</a:t>
                      </a:r>
                      <a:endPar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3</a:t>
                      </a:r>
                      <a:endPar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基于</a:t>
                      </a: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LangChain</a:t>
                      </a:r>
                      <a:r>
                        <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的</a:t>
                      </a: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RAG</a:t>
                      </a:r>
                      <a:r>
                        <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系统优化实践</a:t>
                      </a: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/Advanced RAG</a:t>
                      </a:r>
                      <a:endPar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4</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掌握</a:t>
                      </a: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应用评估技能和工具</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5</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开源项目综合应用</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6</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实战项目：通用文档智能问答系统商业化实战</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sp>
        <p:nvSpPr>
          <p:cNvPr id="4" name="TextBox 8"/>
          <p:cNvSpPr txBox="1"/>
          <p:nvPr/>
        </p:nvSpPr>
        <p:spPr>
          <a:xfrm>
            <a:off x="719665" y="8643492"/>
            <a:ext cx="23249467" cy="4316566"/>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上课说明：</a:t>
            </a:r>
            <a:endParaRPr lang="en-US" altLang="zh-CN" sz="3600">
              <a:latin typeface="微软雅黑 Light" panose="020B0502040204020203" pitchFamily="34" charset="-122"/>
              <a:ea typeface="微软雅黑 Light" panose="020B0502040204020203" pitchFamily="34" charset="-122"/>
            </a:endParaRPr>
          </a:p>
          <a:p>
            <a:r>
              <a:rPr lang="zh-CN" altLang="en-US" sz="3600" b="1">
                <a:solidFill>
                  <a:srgbClr val="FF0000"/>
                </a:solidFill>
                <a:latin typeface="微软雅黑" panose="020B0503020204020204" pitchFamily="34" charset="-122"/>
                <a:ea typeface="微软雅黑" panose="020B0503020204020204" pitchFamily="34" charset="-122"/>
              </a:rPr>
              <a:t>课程前置：计算机通识、</a:t>
            </a:r>
            <a:r>
              <a:rPr lang="en-US" altLang="zh-CN" sz="3600" b="1">
                <a:solidFill>
                  <a:srgbClr val="FF0000"/>
                </a:solidFill>
                <a:latin typeface="微软雅黑" panose="020B0503020204020204" pitchFamily="34" charset="-122"/>
                <a:ea typeface="微软雅黑" panose="020B0503020204020204" pitchFamily="34" charset="-122"/>
              </a:rPr>
              <a:t>Python</a:t>
            </a:r>
            <a:r>
              <a:rPr lang="zh-CN" altLang="en-US" sz="3600" b="1">
                <a:solidFill>
                  <a:srgbClr val="FF0000"/>
                </a:solidFill>
                <a:latin typeface="微软雅黑" panose="020B0503020204020204" pitchFamily="34" charset="-122"/>
                <a:ea typeface="微软雅黑" panose="020B0503020204020204" pitchFamily="34" charset="-122"/>
              </a:rPr>
              <a:t>语言基础知识、</a:t>
            </a:r>
            <a:r>
              <a:rPr lang="en-US" altLang="zh-CN" sz="3600" b="1">
                <a:solidFill>
                  <a:srgbClr val="FF0000"/>
                </a:solidFill>
                <a:latin typeface="微软雅黑" panose="020B0503020204020204" pitchFamily="34" charset="-122"/>
                <a:ea typeface="微软雅黑" panose="020B0503020204020204" pitchFamily="34" charset="-122"/>
              </a:rPr>
              <a:t>PyCharm</a:t>
            </a:r>
            <a:r>
              <a:rPr lang="zh-CN" altLang="en-US" sz="3600" b="1">
                <a:solidFill>
                  <a:srgbClr val="FF0000"/>
                </a:solidFill>
                <a:latin typeface="微软雅黑" panose="020B0503020204020204" pitchFamily="34" charset="-122"/>
                <a:ea typeface="微软雅黑" panose="020B0503020204020204" pitchFamily="34" charset="-122"/>
              </a:rPr>
              <a:t>基本使用、</a:t>
            </a:r>
            <a:r>
              <a:rPr lang="en-US" altLang="zh-CN" sz="3600" b="1">
                <a:solidFill>
                  <a:srgbClr val="FF0000"/>
                </a:solidFill>
                <a:latin typeface="微软雅黑" panose="020B0503020204020204" pitchFamily="34" charset="-122"/>
                <a:ea typeface="微软雅黑" panose="020B0503020204020204" pitchFamily="34" charset="-122"/>
              </a:rPr>
              <a:t>L1</a:t>
            </a:r>
            <a:r>
              <a:rPr lang="zh-CN" altLang="en-US" sz="3600" b="1">
                <a:solidFill>
                  <a:srgbClr val="FF0000"/>
                </a:solidFill>
                <a:latin typeface="微软雅黑" panose="020B0503020204020204" pitchFamily="34" charset="-122"/>
                <a:ea typeface="微软雅黑" panose="020B0503020204020204" pitchFamily="34" charset="-122"/>
              </a:rPr>
              <a:t>阶段学习等等。</a:t>
            </a:r>
            <a:endParaRPr lang="en-US" altLang="zh-CN" sz="3600" b="1">
              <a:solidFill>
                <a:srgbClr val="FF0000"/>
              </a:solidFill>
              <a:latin typeface="微软雅黑" panose="020B0503020204020204" pitchFamily="34" charset="-122"/>
              <a:ea typeface="微软雅黑" panose="020B0503020204020204" pitchFamily="34" charset="-122"/>
            </a:endParaRPr>
          </a:p>
          <a:p>
            <a:r>
              <a:rPr lang="en-US" altLang="zh-CN" sz="3600">
                <a:latin typeface="微软雅黑 Light" panose="020B0502040204020203" pitchFamily="34" charset="-122"/>
                <a:ea typeface="微软雅黑 Light" panose="020B0502040204020203" pitchFamily="34" charset="-122"/>
              </a:rPr>
              <a:t>1</a:t>
            </a:r>
            <a:r>
              <a:rPr lang="zh-CN" altLang="en-US" sz="3600">
                <a:latin typeface="微软雅黑 Light" panose="020B0502040204020203" pitchFamily="34" charset="-122"/>
                <a:ea typeface="微软雅黑 Light" panose="020B0502040204020203" pitchFamily="34" charset="-122"/>
              </a:rPr>
              <a:t>、一个知识点如果大部分同学明白，不会重复讲解，未明白的同学请看视频、笔记、请教同学或老师。</a:t>
            </a:r>
            <a:endParaRPr lang="en-US" altLang="zh-CN" sz="3600">
              <a:latin typeface="微软雅黑 Light" panose="020B0502040204020203" pitchFamily="34" charset="-122"/>
              <a:ea typeface="微软雅黑 Light" panose="020B0502040204020203" pitchFamily="34" charset="-122"/>
            </a:endParaRPr>
          </a:p>
          <a:p>
            <a:r>
              <a:rPr lang="en-US" altLang="zh-CN" sz="3600">
                <a:latin typeface="微软雅黑 Light" panose="020B0502040204020203" pitchFamily="34" charset="-122"/>
                <a:ea typeface="微软雅黑 Light" panose="020B0502040204020203" pitchFamily="34" charset="-122"/>
              </a:rPr>
              <a:t>2</a:t>
            </a:r>
            <a:r>
              <a:rPr lang="zh-CN" altLang="en-US" sz="3600">
                <a:latin typeface="微软雅黑 Light" panose="020B0502040204020203" pitchFamily="34" charset="-122"/>
                <a:ea typeface="微软雅黑 Light" panose="020B0502040204020203" pitchFamily="34" charset="-122"/>
              </a:rPr>
              <a:t>、以上为本阶段的章节安排，不是课时安排，如果一章内容在一次课内未讲完，则会顺延到后面的课程继续讲解，同理，一次课内也有可能讲述多个章节。</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本阶段上课须知</a:t>
            </a:r>
            <a:endParaRPr lang="zh-CN">
              <a:latin typeface=".萍方-简" panose="020B0300000000000000" charset="-122"/>
              <a:ea typeface=".萍方-简" panose="020B0300000000000000" charset="-122"/>
            </a:endParaRPr>
          </a:p>
        </p:txBody>
      </p:sp>
      <p:sp>
        <p:nvSpPr>
          <p:cNvPr id="4" name="TextBox 8"/>
          <p:cNvSpPr txBox="1"/>
          <p:nvPr/>
        </p:nvSpPr>
        <p:spPr>
          <a:xfrm>
            <a:off x="905931" y="1734692"/>
            <a:ext cx="23249467" cy="6167842"/>
          </a:xfrm>
          <a:prstGeom prst="rect">
            <a:avLst/>
          </a:prstGeom>
          <a:noFill/>
        </p:spPr>
        <p:txBody>
          <a:bodyPr wrap="square" rtlCol="0">
            <a:spAutoFit/>
          </a:bodyPr>
          <a:lstStyle/>
          <a:p>
            <a:r>
              <a:rPr lang="en-US" altLang="zh-CN" sz="3400">
                <a:latin typeface="微软雅黑 Light" panose="020B0502040204020203" pitchFamily="34" charset="-122"/>
                <a:ea typeface="微软雅黑 Light" panose="020B0502040204020203" pitchFamily="34" charset="-122"/>
              </a:rPr>
              <a:t>1</a:t>
            </a:r>
            <a:r>
              <a:rPr lang="zh-CN" altLang="en-US" sz="3400">
                <a:latin typeface="微软雅黑 Light" panose="020B0502040204020203" pitchFamily="34" charset="-122"/>
                <a:ea typeface="微软雅黑 Light" panose="020B0502040204020203" pitchFamily="34" charset="-122"/>
              </a:rPr>
              <a:t>、一个知识点如果大部分同学明白，不会重复讲解，未明白的同学请看视频、笔记、或企微中请教老师、同学。</a:t>
            </a:r>
            <a:endParaRPr lang="en-US" altLang="zh-CN" sz="3400">
              <a:latin typeface="微软雅黑 Light" panose="020B0502040204020203" pitchFamily="34" charset="-122"/>
              <a:ea typeface="微软雅黑 Light" panose="020B0502040204020203" pitchFamily="34" charset="-122"/>
            </a:endParaRPr>
          </a:p>
          <a:p>
            <a:r>
              <a:rPr lang="en-US" altLang="zh-CN" sz="3400">
                <a:latin typeface="微软雅黑 Light" panose="020B0502040204020203" pitchFamily="34" charset="-122"/>
                <a:ea typeface="微软雅黑 Light" panose="020B0502040204020203" pitchFamily="34" charset="-122"/>
              </a:rPr>
              <a:t>2</a:t>
            </a:r>
            <a:r>
              <a:rPr lang="zh-CN" altLang="en-US" sz="3400">
                <a:latin typeface="微软雅黑 Light" panose="020B0502040204020203" pitchFamily="34" charset="-122"/>
                <a:ea typeface="微软雅黑 Light" panose="020B0502040204020203" pitchFamily="34" charset="-122"/>
              </a:rPr>
              <a:t>、如果一个主线知识点相关的代码第一次出现，一般会手写，以后再出现时将直接使用。非主线知识点相关的代码有可能直接展示并简单讲解。</a:t>
            </a:r>
            <a:endParaRPr lang="en-US" altLang="zh-CN" sz="3400">
              <a:latin typeface="微软雅黑 Light" panose="020B0502040204020203" pitchFamily="34" charset="-122"/>
              <a:ea typeface="微软雅黑 Light" panose="020B0502040204020203" pitchFamily="34" charset="-122"/>
            </a:endParaRPr>
          </a:p>
          <a:p>
            <a:r>
              <a:rPr lang="en-US" altLang="zh-CN" sz="3400">
                <a:latin typeface="微软雅黑 Light" panose="020B0502040204020203" pitchFamily="34" charset="-122"/>
                <a:ea typeface="微软雅黑 Light" panose="020B0502040204020203" pitchFamily="34" charset="-122"/>
              </a:rPr>
              <a:t>3</a:t>
            </a:r>
            <a:r>
              <a:rPr lang="zh-CN" altLang="en-US" sz="3400">
                <a:latin typeface="微软雅黑 Light" panose="020B0502040204020203" pitchFamily="34" charset="-122"/>
                <a:ea typeface="微软雅黑 Light" panose="020B0502040204020203" pitchFamily="34" charset="-122"/>
              </a:rPr>
              <a:t>、</a:t>
            </a:r>
            <a:r>
              <a:rPr lang="zh-CN" altLang="en-US" sz="3400" b="1">
                <a:latin typeface="微软雅黑 Light" panose="020B0502040204020203" pitchFamily="34" charset="-122"/>
                <a:ea typeface="微软雅黑 Light" panose="020B0502040204020203" pitchFamily="34" charset="-122"/>
              </a:rPr>
              <a:t>本阶段将出现大量的知识点、代码和概念，请同学们做好准备！多复习，多动手，多思考，让自己具备独立动手解决问题的能力，这个能力也是企业在用人时重点考察的能力之一。</a:t>
            </a:r>
            <a:endParaRPr lang="en-US" altLang="zh-CN" sz="3400" b="1">
              <a:latin typeface="微软雅黑 Light" panose="020B0502040204020203" pitchFamily="34" charset="-122"/>
              <a:ea typeface="微软雅黑 Light" panose="020B0502040204020203" pitchFamily="34" charset="-122"/>
            </a:endParaRPr>
          </a:p>
          <a:p>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4</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、我只想做大模型产品经理之类的非开发岗，也要懂代码吗？</a:t>
            </a:r>
            <a:endParaRPr lang="en-US" altLang="zh-CN" sz="3400">
              <a:latin typeface="微软雅黑 Light" panose="020B0502040204020203" pitchFamily="34" charset="-122"/>
              <a:ea typeface="微软雅黑 Light" panose="020B0502040204020203" pitchFamily="34" charset="-122"/>
              <a:sym typeface="Wingdings" panose="05000000000000000000" pitchFamily="2" charset="2"/>
            </a:endParaRPr>
          </a:p>
          <a:p>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2024</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年</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12</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月</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7-8</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日，“人人都是产品经理”举办的</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2024 AI</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产品经理大会上汇聚腾讯、字节、京东、华为、阿里等行业巨头 </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16 </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位资深专家，对</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AI</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的发展趋势做一个汇总和深度总结：</a:t>
            </a:r>
            <a:endParaRPr lang="en-US" altLang="zh-CN" sz="3400">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5" name="图片 4"/>
          <p:cNvPicPr>
            <a:picLocks noChangeAspect="1"/>
          </p:cNvPicPr>
          <p:nvPr/>
        </p:nvPicPr>
        <p:blipFill>
          <a:blip r:embed="rId1"/>
          <a:stretch>
            <a:fillRect/>
          </a:stretch>
        </p:blipFill>
        <p:spPr>
          <a:xfrm>
            <a:off x="12530664" y="7750345"/>
            <a:ext cx="11463978" cy="5748273"/>
          </a:xfrm>
          <a:prstGeom prst="rect">
            <a:avLst/>
          </a:prstGeom>
        </p:spPr>
      </p:pic>
      <p:pic>
        <p:nvPicPr>
          <p:cNvPr id="6" name="图片 5"/>
          <p:cNvPicPr>
            <a:picLocks noChangeAspect="1"/>
          </p:cNvPicPr>
          <p:nvPr/>
        </p:nvPicPr>
        <p:blipFill>
          <a:blip r:embed="rId2"/>
          <a:stretch>
            <a:fillRect/>
          </a:stretch>
        </p:blipFill>
        <p:spPr>
          <a:xfrm>
            <a:off x="1243044" y="8049640"/>
            <a:ext cx="9255623" cy="5448978"/>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a:t>
            </a:r>
            <a:endParaRPr lang="zh-CN">
              <a:latin typeface=".萍方-简" panose="020B0300000000000000" charset="-122"/>
              <a:ea typeface=".萍方-简" panose="020B0300000000000000" charset="-122"/>
            </a:endParaRPr>
          </a:p>
        </p:txBody>
      </p:sp>
      <p:sp>
        <p:nvSpPr>
          <p:cNvPr id="4" name="TextBox 8"/>
          <p:cNvSpPr txBox="1"/>
          <p:nvPr/>
        </p:nvSpPr>
        <p:spPr>
          <a:xfrm>
            <a:off x="922864" y="1769012"/>
            <a:ext cx="23249467" cy="1666610"/>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上课环境说明：</a:t>
            </a:r>
            <a:r>
              <a:rPr lang="en-US" altLang="zh-CN" sz="3600">
                <a:latin typeface="微软雅黑 Light" panose="020B0502040204020203" pitchFamily="34" charset="-122"/>
                <a:ea typeface="微软雅黑 Light" panose="020B0502040204020203" pitchFamily="34" charset="-122"/>
              </a:rPr>
              <a:t>Python</a:t>
            </a:r>
            <a:r>
              <a:rPr lang="zh-CN" altLang="en-US" sz="3600">
                <a:latin typeface="微软雅黑 Light" panose="020B0502040204020203" pitchFamily="34" charset="-122"/>
                <a:ea typeface="微软雅黑 Light" panose="020B0502040204020203" pitchFamily="34" charset="-122"/>
              </a:rPr>
              <a:t>版本 </a:t>
            </a:r>
            <a:r>
              <a:rPr lang="en-US" altLang="zh-CN" sz="3600">
                <a:latin typeface="微软雅黑 Light" panose="020B0502040204020203" pitchFamily="34" charset="-122"/>
                <a:ea typeface="微软雅黑 Light" panose="020B0502040204020203" pitchFamily="34" charset="-122"/>
              </a:rPr>
              <a:t>3.11</a:t>
            </a:r>
            <a:endParaRPr lang="en-US" altLang="zh-CN" sz="3600">
              <a:latin typeface="微软雅黑 Light" panose="020B0502040204020203" pitchFamily="34" charset="-122"/>
              <a:ea typeface="微软雅黑 Light" panose="020B0502040204020203" pitchFamily="34" charset="-122"/>
            </a:endParaRPr>
          </a:p>
          <a:p>
            <a:r>
              <a:rPr lang="zh-CN" altLang="en-US" sz="3600">
                <a:latin typeface="微软雅黑 Light" panose="020B0502040204020203" pitchFamily="34" charset="-122"/>
                <a:ea typeface="微软雅黑 Light" panose="020B0502040204020203" pitchFamily="34" charset="-122"/>
              </a:rPr>
              <a:t>需要安装的</a:t>
            </a:r>
            <a:r>
              <a:rPr lang="en-US" altLang="zh-CN" sz="3600">
                <a:latin typeface="微软雅黑 Light" panose="020B0502040204020203" pitchFamily="34" charset="-122"/>
                <a:ea typeface="微软雅黑 Light" panose="020B0502040204020203" pitchFamily="34" charset="-122"/>
              </a:rPr>
              <a:t>Python</a:t>
            </a:r>
            <a:r>
              <a:rPr lang="zh-CN" altLang="en-US" sz="3600">
                <a:latin typeface="微软雅黑 Light" panose="020B0502040204020203" pitchFamily="34" charset="-122"/>
                <a:ea typeface="微软雅黑 Light" panose="020B0502040204020203" pitchFamily="34" charset="-122"/>
              </a:rPr>
              <a:t>库</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sp>
        <p:nvSpPr>
          <p:cNvPr id="2" name="TextBox 8"/>
          <p:cNvSpPr txBox="1"/>
          <p:nvPr/>
        </p:nvSpPr>
        <p:spPr>
          <a:xfrm>
            <a:off x="1929343" y="3596366"/>
            <a:ext cx="21557189" cy="590931"/>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直接使用提供的</a:t>
            </a:r>
            <a:r>
              <a:rPr lang="en-US" altLang="zh-CN" sz="3600">
                <a:latin typeface="微软雅黑 Light" panose="020B0502040204020203" pitchFamily="34" charset="-122"/>
                <a:ea typeface="微软雅黑 Light" panose="020B0502040204020203" pitchFamily="34" charset="-122"/>
              </a:rPr>
              <a:t>requirements.txt</a:t>
            </a:r>
            <a:r>
              <a:rPr lang="zh-CN" altLang="en-US" sz="3600">
                <a:latin typeface="微软雅黑 Light" panose="020B0502040204020203" pitchFamily="34" charset="-122"/>
                <a:ea typeface="微软雅黑 Light" panose="020B0502040204020203" pitchFamily="34" charset="-122"/>
              </a:rPr>
              <a:t>一次性安装，请</a:t>
            </a:r>
            <a:r>
              <a:rPr lang="zh-CN" altLang="en-US" sz="3600" b="1">
                <a:solidFill>
                  <a:schemeClr val="accent5">
                    <a:lumMod val="50000"/>
                  </a:schemeClr>
                </a:solidFill>
                <a:latin typeface="微软雅黑 Light" panose="020B0502040204020203" pitchFamily="34" charset="-122"/>
                <a:ea typeface="微软雅黑 Light" panose="020B0502040204020203" pitchFamily="34" charset="-122"/>
              </a:rPr>
              <a:t>在项目的虚拟环境中执行 </a:t>
            </a:r>
            <a:r>
              <a:rPr lang="en-US" altLang="zh-CN" sz="3600" b="1">
                <a:solidFill>
                  <a:schemeClr val="accent5">
                    <a:lumMod val="50000"/>
                  </a:schemeClr>
                </a:solidFill>
                <a:latin typeface="微软雅黑 Light" panose="020B0502040204020203" pitchFamily="34" charset="-122"/>
                <a:ea typeface="微软雅黑 Light" panose="020B0502040204020203" pitchFamily="34" charset="-122"/>
              </a:rPr>
              <a:t>pip install -r requirements.txt</a:t>
            </a:r>
            <a:endParaRPr lang="en-US" altLang="zh-CN" sz="3600" b="1">
              <a:solidFill>
                <a:schemeClr val="accent5">
                  <a:lumMod val="50000"/>
                </a:schemeClr>
              </a:solidFill>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11" name="图片 10"/>
          <p:cNvPicPr>
            <a:picLocks noChangeAspect="1"/>
          </p:cNvPicPr>
          <p:nvPr/>
        </p:nvPicPr>
        <p:blipFill>
          <a:blip r:embed="rId1"/>
          <a:stretch>
            <a:fillRect/>
          </a:stretch>
        </p:blipFill>
        <p:spPr>
          <a:xfrm>
            <a:off x="3124233" y="4348041"/>
            <a:ext cx="15245046" cy="8741426"/>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a:t>
            </a:r>
            <a:endParaRPr lang="zh-CN">
              <a:latin typeface=".萍方-简" panose="020B0300000000000000" charset="-122"/>
              <a:ea typeface=".萍方-简" panose="020B0300000000000000" charset="-122"/>
            </a:endParaRPr>
          </a:p>
        </p:txBody>
      </p:sp>
      <p:sp>
        <p:nvSpPr>
          <p:cNvPr id="4" name="TextBox 8"/>
          <p:cNvSpPr txBox="1"/>
          <p:nvPr/>
        </p:nvSpPr>
        <p:spPr>
          <a:xfrm>
            <a:off x="922865" y="1769012"/>
            <a:ext cx="22479002" cy="1089529"/>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各个大模型平台的</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请自行申请，喜欢哪个平台就用哪个平台</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建议阿里云百炼、腾讯混元</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。从安全角度考虑，</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 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统一放在操作系统的系统变量中，代码中读取</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也会统一到操作系统的系统变量中读取</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6" name="图片 5"/>
          <p:cNvPicPr>
            <a:picLocks noChangeAspect="1"/>
          </p:cNvPicPr>
          <p:nvPr/>
        </p:nvPicPr>
        <p:blipFill>
          <a:blip r:embed="rId1"/>
          <a:stretch>
            <a:fillRect/>
          </a:stretch>
        </p:blipFill>
        <p:spPr>
          <a:xfrm>
            <a:off x="602442" y="3964641"/>
            <a:ext cx="7257464" cy="9153070"/>
          </a:xfrm>
          <a:prstGeom prst="rect">
            <a:avLst/>
          </a:prstGeom>
        </p:spPr>
      </p:pic>
      <p:pic>
        <p:nvPicPr>
          <p:cNvPr id="8" name="图片 7"/>
          <p:cNvPicPr>
            <a:picLocks noChangeAspect="1"/>
          </p:cNvPicPr>
          <p:nvPr/>
        </p:nvPicPr>
        <p:blipFill>
          <a:blip r:embed="rId2"/>
          <a:stretch>
            <a:fillRect/>
          </a:stretch>
        </p:blipFill>
        <p:spPr>
          <a:xfrm>
            <a:off x="8012354" y="3959019"/>
            <a:ext cx="7416382" cy="9158692"/>
          </a:xfrm>
          <a:prstGeom prst="rect">
            <a:avLst/>
          </a:prstGeom>
        </p:spPr>
      </p:pic>
      <p:pic>
        <p:nvPicPr>
          <p:cNvPr id="10" name="图片 9"/>
          <p:cNvPicPr>
            <a:picLocks noChangeAspect="1"/>
          </p:cNvPicPr>
          <p:nvPr/>
        </p:nvPicPr>
        <p:blipFill>
          <a:blip r:embed="rId3"/>
          <a:stretch>
            <a:fillRect/>
          </a:stretch>
        </p:blipFill>
        <p:spPr>
          <a:xfrm>
            <a:off x="15581184" y="3959019"/>
            <a:ext cx="8523637" cy="4422247"/>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3672743" y="3507853"/>
            <a:ext cx="17038512" cy="4650775"/>
            <a:chOff x="-1" y="0"/>
            <a:chExt cx="17038510" cy="4650773"/>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300000000000000" charset="-122"/>
                  <a:ea typeface=".萍方-简" panose="020B0300000000000000" charset="-122"/>
                  <a:cs typeface=".萍方-简" panose="020B0300000000000000" charset="-122"/>
                </a:rPr>
                <a:t>智泊AI大模型实战课</a:t>
              </a:r>
              <a:endParaRPr>
                <a:latin typeface=".萍方-简" panose="020B0300000000000000" charset="-122"/>
                <a:ea typeface=".萍方-简" panose="020B0300000000000000" charset="-122"/>
                <a:cs typeface=".萍方-简" panose="020B0300000000000000" charset="-122"/>
              </a:endParaRPr>
            </a:p>
          </p:txBody>
        </p:sp>
        <p:sp>
          <p:nvSpPr>
            <p:cNvPr id="71" name="这里是本节课程的课题"/>
            <p:cNvSpPr txBox="1"/>
            <p:nvPr/>
          </p:nvSpPr>
          <p:spPr>
            <a:xfrm>
              <a:off x="-1" y="1551972"/>
              <a:ext cx="17038510" cy="309880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zh-CN" altLang="en-US">
                  <a:latin typeface=".萍方-简" panose="020B0300000000000000" charset="-122"/>
                  <a:ea typeface=".萍方-简" panose="020B0300000000000000" charset="-122"/>
                </a:rPr>
                <a:t>基于</a:t>
              </a:r>
              <a:r>
                <a:rPr lang="en-US" altLang="zh-CN">
                  <a:latin typeface=".萍方-简" panose="020B0300000000000000" charset="-122"/>
                  <a:ea typeface=".萍方-简" panose="020B0300000000000000" charset="-122"/>
                </a:rPr>
                <a:t>LangChain</a:t>
              </a:r>
              <a:r>
                <a:rPr lang="zh-CN" altLang="en-US">
                  <a:latin typeface=".萍方-简" panose="020B0300000000000000" charset="-122"/>
                  <a:ea typeface=".萍方-简" panose="020B0300000000000000" charset="-122"/>
                </a:rPr>
                <a:t>的</a:t>
              </a:r>
              <a:r>
                <a:rPr lang="en-US" altLang="zh-CN">
                  <a:latin typeface=".萍方-简" panose="020B0300000000000000" charset="-122"/>
                  <a:ea typeface=".萍方-简" panose="020B0300000000000000" charset="-122"/>
                </a:rPr>
                <a:t>RAG</a:t>
              </a:r>
              <a:r>
                <a:rPr lang="zh-CN" altLang="en-US">
                  <a:latin typeface=".萍方-简" panose="020B0300000000000000" charset="-122"/>
                  <a:ea typeface=".萍方-简" panose="020B0300000000000000" charset="-122"/>
                </a:rPr>
                <a:t>系统优化实践</a:t>
              </a:r>
              <a:endParaRPr lang="zh-CN" altLang="en-US">
                <a:latin typeface=".萍方-简" panose="020B0300000000000000" charset="-122"/>
                <a:ea typeface=".萍方-简" panose="020B0300000000000000" charset="-122"/>
              </a:endParaRPr>
            </a:p>
            <a:p>
              <a:endParaRPr lang="zh-CN">
                <a:latin typeface=".萍方-简" panose="020B0300000000000000" charset="-122"/>
                <a:ea typeface=".萍方-简" panose="020B03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t>大白</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这里是目录 1…"/>
          <p:cNvSpPr txBox="1">
            <a:spLocks noGrp="1"/>
          </p:cNvSpPr>
          <p:nvPr>
            <p:ph type="body" idx="1"/>
          </p:nvPr>
        </p:nvSpPr>
        <p:spPr>
          <a:xfrm>
            <a:off x="9415173" y="2250283"/>
            <a:ext cx="13829820" cy="9215433"/>
          </a:xfrm>
          <a:prstGeom prst="rect">
            <a:avLst/>
          </a:prstGeom>
        </p:spPr>
        <p:txBody>
          <a:bodyPr>
            <a:normAutofit/>
          </a:bodyPr>
          <a:lstStyle/>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RAG</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商业化痛点分析</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Advanced RAG</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概述</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Pre-Retrieval</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预检索</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优化索引</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Pre-Retrieval</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预检索</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查询优化</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检索优化</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Post-Retrieval</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后检索优化</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Advanced RAG</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实战</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金融助手</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en-US" altLang="zh-CN">
                <a:latin typeface=".萍方-简" panose="020B0300000000000000" charset="-122"/>
                <a:ea typeface=".萍方-简" panose="020B0300000000000000" charset="-122"/>
              </a:rPr>
              <a:t>RAG</a:t>
            </a:r>
            <a:r>
              <a:rPr lang="zh-CN" altLang="en-US">
                <a:latin typeface=".萍方-简" panose="020B0300000000000000" charset="-122"/>
                <a:ea typeface=".萍方-简" panose="020B0300000000000000" charset="-122"/>
              </a:rPr>
              <a:t>商业化痛点分析</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商业化痛点分析</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 name="图片 1"/>
          <p:cNvPicPr>
            <a:picLocks noChangeAspect="1"/>
          </p:cNvPicPr>
          <p:nvPr/>
        </p:nvPicPr>
        <p:blipFill>
          <a:blip r:embed="rId1"/>
          <a:stretch>
            <a:fillRect/>
          </a:stretch>
        </p:blipFill>
        <p:spPr>
          <a:xfrm>
            <a:off x="1376809" y="2046817"/>
            <a:ext cx="22108668" cy="10517716"/>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商业化痛点分析</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0" y="1725725"/>
            <a:ext cx="24384000" cy="8955647"/>
          </a:xfrm>
          <a:prstGeom prst="rect">
            <a:avLst/>
          </a:prstGeom>
        </p:spPr>
      </p:pic>
      <p:sp>
        <p:nvSpPr>
          <p:cNvPr id="5" name="文本框 4"/>
          <p:cNvSpPr txBox="1"/>
          <p:nvPr/>
        </p:nvSpPr>
        <p:spPr>
          <a:xfrm>
            <a:off x="1112764" y="11002813"/>
            <a:ext cx="23271236" cy="179863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论文</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:《Seven Failure Points When Engineering a Retrieval Augmented Generation System》</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地址：</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https://arxiv.org/pdf/2401.05856</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具体痛点问题总结</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438184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sz="4000" b="1">
                <a:latin typeface=".萍方-简" panose="020B0300000000000000" charset="-122"/>
                <a:ea typeface=".萍方-简" panose="020B0300000000000000" charset="-122"/>
              </a:rPr>
              <a:t>Index Process</a:t>
            </a:r>
            <a:r>
              <a:rPr lang="zh-CN" altLang="en-US" sz="4000" b="1">
                <a:latin typeface=".萍方-简" panose="020B0300000000000000" charset="-122"/>
                <a:ea typeface=".萍方-简" panose="020B0300000000000000" charset="-122"/>
              </a:rPr>
              <a:t>（文本向量化构建索引的过程）</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MIssing Content(</a:t>
            </a:r>
            <a:r>
              <a:rPr lang="zh-CN" altLang="en-US" sz="3600">
                <a:latin typeface=".萍方-简" panose="020B0300000000000000" charset="-122"/>
                <a:ea typeface=".萍方-简" panose="020B0300000000000000" charset="-122"/>
              </a:rPr>
              <a:t>内容缺失</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原本的文本中就没有问题的答案 </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文档加载准确性和效率： 比如</a:t>
            </a:r>
            <a:r>
              <a:rPr lang="en-US" altLang="zh-CN" sz="3600">
                <a:latin typeface=".萍方-简" panose="020B0300000000000000" charset="-122"/>
                <a:ea typeface=".萍方-简" panose="020B0300000000000000" charset="-122"/>
              </a:rPr>
              <a:t>pdf</a:t>
            </a:r>
            <a:r>
              <a:rPr lang="zh-CN" altLang="en-US" sz="3600">
                <a:latin typeface=".萍方-简" panose="020B0300000000000000" charset="-122"/>
                <a:ea typeface=".萍方-简" panose="020B0300000000000000" charset="-122"/>
              </a:rPr>
              <a:t>文件的加载，如何提取其中的有用文字信息和图片信息等</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文档切分的粒度： 文本切分的大小和位置会影响后面检索出来的上下文完整性和与大模型交互的</a:t>
            </a:r>
            <a:r>
              <a:rPr lang="en-US" altLang="zh-CN" sz="3600">
                <a:latin typeface=".萍方-简" panose="020B0300000000000000" charset="-122"/>
                <a:ea typeface=".萍方-简" panose="020B0300000000000000" charset="-122"/>
              </a:rPr>
              <a:t>token</a:t>
            </a:r>
            <a:r>
              <a:rPr lang="zh-CN" altLang="en-US" sz="3600">
                <a:latin typeface=".萍方-简" panose="020B0300000000000000" charset="-122"/>
                <a:ea typeface=".萍方-简" panose="020B0300000000000000" charset="-122"/>
              </a:rPr>
              <a:t>数量，怎么控制好文档切分的度，是个难题。</a:t>
            </a:r>
            <a:endParaRPr lang="zh-CN" altLang="en-US" sz="3600">
              <a:effectLst/>
              <a:latin typeface=".萍方-简" panose="020B0300000000000000" charset="-122"/>
              <a:ea typeface=".萍方-简" panose="020B0300000000000000" charset="-122"/>
            </a:endParaRPr>
          </a:p>
        </p:txBody>
      </p:sp>
      <p:sp>
        <p:nvSpPr>
          <p:cNvPr id="3" name="文本框 2"/>
          <p:cNvSpPr txBox="1"/>
          <p:nvPr/>
        </p:nvSpPr>
        <p:spPr>
          <a:xfrm>
            <a:off x="821051" y="6424938"/>
            <a:ext cx="21073747" cy="711028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sz="4000" b="1">
                <a:latin typeface=".萍方-简" panose="020B0300000000000000" charset="-122"/>
                <a:ea typeface=".萍方-简" panose="020B0300000000000000" charset="-122"/>
              </a:rPr>
              <a:t>Query Process</a:t>
            </a:r>
            <a:r>
              <a:rPr lang="zh-CN" altLang="en-US" sz="4000" b="1">
                <a:latin typeface=".萍方-简" panose="020B0300000000000000" charset="-122"/>
                <a:ea typeface=".萍方-简" panose="020B0300000000000000" charset="-122"/>
              </a:rPr>
              <a:t>（检索增强回答的过程中）</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Missed Top Ranked: </a:t>
            </a:r>
            <a:r>
              <a:rPr lang="zh-CN" altLang="en-US" sz="3600">
                <a:latin typeface=".萍方-简" panose="020B0300000000000000" charset="-122"/>
                <a:ea typeface=".萍方-简" panose="020B0300000000000000" charset="-122"/>
              </a:rPr>
              <a:t>错过排名靠前的文档</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Not in Context:  </a:t>
            </a:r>
            <a:r>
              <a:rPr lang="zh-CN" altLang="en-US" sz="3600">
                <a:latin typeface=".萍方-简" panose="020B0300000000000000" charset="-122"/>
                <a:ea typeface=".萍方-简" panose="020B0300000000000000" charset="-122"/>
              </a:rPr>
              <a:t>提取上下文与答案无关</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Wrong Format(</a:t>
            </a:r>
            <a:r>
              <a:rPr lang="zh-CN" altLang="en-US" sz="3600">
                <a:latin typeface=".萍方-简" panose="020B0300000000000000" charset="-122"/>
                <a:ea typeface=".萍方-简" panose="020B0300000000000000" charset="-122"/>
              </a:rPr>
              <a:t>格式错误</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例如需要</a:t>
            </a:r>
            <a:r>
              <a:rPr lang="en-US" altLang="zh-CN" sz="3600">
                <a:latin typeface=".萍方-简" panose="020B0300000000000000" charset="-122"/>
                <a:ea typeface=".萍方-简" panose="020B0300000000000000" charset="-122"/>
              </a:rPr>
              <a:t>Json</a:t>
            </a:r>
            <a:r>
              <a:rPr lang="zh-CN" altLang="en-US" sz="3600">
                <a:latin typeface=".萍方-简" panose="020B0300000000000000" charset="-122"/>
                <a:ea typeface=".萍方-简" panose="020B0300000000000000" charset="-122"/>
              </a:rPr>
              <a:t>，给了字符串</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Incomplete(</a:t>
            </a:r>
            <a:r>
              <a:rPr lang="zh-CN" altLang="en-US" sz="3600">
                <a:latin typeface=".萍方-简" panose="020B0300000000000000" charset="-122"/>
                <a:ea typeface=".萍方-简" panose="020B0300000000000000" charset="-122"/>
              </a:rPr>
              <a:t>答案不完整</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答案只回答了问题的一部分</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Not Extracted(</a:t>
            </a:r>
            <a:r>
              <a:rPr lang="zh-CN" altLang="en-US" sz="3600">
                <a:latin typeface=".萍方-简" panose="020B0300000000000000" charset="-122"/>
                <a:ea typeface=".萍方-简" panose="020B0300000000000000" charset="-122"/>
              </a:rPr>
              <a:t>未提取到答案</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提取的上下文中有答案，但大模型没有提取出来</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Incorrect Specificity: </a:t>
            </a:r>
            <a:r>
              <a:rPr lang="zh-CN" altLang="en-US" sz="3600">
                <a:latin typeface=".萍方-简" panose="020B0300000000000000" charset="-122"/>
                <a:ea typeface=".萍方-简" panose="020B0300000000000000" charset="-122"/>
              </a:rPr>
              <a:t>答案不够具体或过于具体</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48804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内容缺失</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增加相应知识库：将相应的知识文本加入到向量知识库中。</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数据清洗与增强：输入垃圾，那也必定输出垃圾。任何</a:t>
            </a:r>
            <a:r>
              <a:rPr lang="en-US" altLang="zh-CN" sz="3600">
                <a:latin typeface=".萍方-简" panose="020B0300000000000000" charset="-122"/>
                <a:ea typeface=".萍方-简" panose="020B0300000000000000" charset="-122"/>
              </a:rPr>
              <a:t>RAG</a:t>
            </a:r>
            <a:r>
              <a:rPr lang="zh-CN" altLang="en-US" sz="3600">
                <a:latin typeface=".萍方-简" panose="020B0300000000000000" charset="-122"/>
                <a:ea typeface=".萍方-简" panose="020B0300000000000000" charset="-122"/>
              </a:rPr>
              <a:t>工作流程想要获得优良表现，都必须先清洁数据。</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更好的</a:t>
            </a:r>
            <a:r>
              <a:rPr lang="en-US" altLang="zh-CN" sz="3600">
                <a:latin typeface=".萍方-简" panose="020B0300000000000000" charset="-122"/>
                <a:ea typeface=".萍方-简" panose="020B0300000000000000" charset="-122"/>
              </a:rPr>
              <a:t>Prompt</a:t>
            </a:r>
            <a:r>
              <a:rPr lang="zh-CN" altLang="en-US" sz="3600">
                <a:latin typeface=".萍方-简" panose="020B0300000000000000" charset="-122"/>
                <a:ea typeface=".萍方-简" panose="020B0300000000000000" charset="-122"/>
              </a:rPr>
              <a:t>设计：通过</a:t>
            </a:r>
            <a:r>
              <a:rPr lang="en-US" altLang="zh-CN" sz="3600">
                <a:latin typeface=".萍方-简" panose="020B0300000000000000" charset="-122"/>
                <a:ea typeface=".萍方-简" panose="020B0300000000000000" charset="-122"/>
              </a:rPr>
              <a:t>Prompts</a:t>
            </a:r>
            <a:r>
              <a:rPr lang="zh-CN" altLang="en-US" sz="3600">
                <a:latin typeface=".萍方-简" panose="020B0300000000000000" charset="-122"/>
                <a:ea typeface=".萍方-简" panose="020B0300000000000000" charset="-122"/>
              </a:rPr>
              <a:t>，比如让大模型在找不到答案的情况下，输出“根据当前知识库，无法回答该问题”等提示。</a:t>
            </a:r>
            <a:endParaRPr lang="zh-CN" altLang="en-US" sz="3600">
              <a:effectLst/>
              <a:latin typeface=".萍方-简" panose="020B0300000000000000" charset="-122"/>
              <a:ea typeface=".萍方-简" panose="020B0300000000000000" charset="-122"/>
            </a:endParaRPr>
          </a:p>
        </p:txBody>
      </p:sp>
      <p:sp>
        <p:nvSpPr>
          <p:cNvPr id="3" name="文本框 2"/>
          <p:cNvSpPr txBox="1"/>
          <p:nvPr/>
        </p:nvSpPr>
        <p:spPr>
          <a:xfrm>
            <a:off x="821051" y="8275092"/>
            <a:ext cx="21073747" cy="2807563"/>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文档加载准确性和效率</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优化文档读取器：一般知识库中的文档格式都不尽相同，针对每一类文档，涉及一个专门的读取器。</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数据清洗与增强</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960327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文档切分的粒度</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内容重叠分块：为了保持文本块之间语义上下文的连贯性，在分块时，保持文本块之间有一定的内容重叠。</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基于结构的分块：基于结构的分块方法利用文档的固有结构，如</a:t>
            </a:r>
            <a:r>
              <a:rPr lang="en-US" altLang="zh-CN" sz="3600">
                <a:latin typeface=".萍方-简" panose="020B0300000000000000" charset="-122"/>
                <a:ea typeface=".萍方-简" panose="020B0300000000000000" charset="-122"/>
              </a:rPr>
              <a:t>HTML</a:t>
            </a:r>
            <a:r>
              <a:rPr lang="zh-CN" altLang="en-US" sz="3600">
                <a:latin typeface=".萍方-简" panose="020B0300000000000000" charset="-122"/>
                <a:ea typeface=".萍方-简" panose="020B0300000000000000" charset="-122"/>
              </a:rPr>
              <a:t>或</a:t>
            </a:r>
            <a:r>
              <a:rPr lang="en-US" altLang="zh-CN" sz="3600">
                <a:latin typeface=".萍方-简" panose="020B0300000000000000" charset="-122"/>
                <a:ea typeface=".萍方-简" panose="020B0300000000000000" charset="-122"/>
              </a:rPr>
              <a:t>Markdown</a:t>
            </a:r>
            <a:r>
              <a:rPr lang="zh-CN" altLang="en-US" sz="3600">
                <a:latin typeface=".萍方-简" panose="020B0300000000000000" charset="-122"/>
                <a:ea typeface=".萍方-简" panose="020B0300000000000000" charset="-122"/>
              </a:rPr>
              <a:t>中的标题和段落，以保持内容的逻辑性和完整性。</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基于递归的分块：重复的利用分块规则不断细分文本块。比如先通过段落换行符（</a:t>
            </a:r>
            <a:r>
              <a:rPr lang="en-US" altLang="zh-CN" sz="3600">
                <a:latin typeface=".萍方-简" panose="020B0300000000000000" charset="-122"/>
                <a:ea typeface=".萍方-简" panose="020B0300000000000000" charset="-122"/>
              </a:rPr>
              <a:t>\n\n</a:t>
            </a:r>
            <a:r>
              <a:rPr lang="zh-CN" altLang="en-US" sz="3600">
                <a:latin typeface=".萍方-简" panose="020B0300000000000000" charset="-122"/>
                <a:ea typeface=".萍方-简" panose="020B0300000000000000" charset="-122"/>
              </a:rPr>
              <a:t>）进行分割。然后，检查这些块的大小。如果大小不超过一定阈值，则该块被保留。对于大小超过标准的块，使用单换行符（</a:t>
            </a:r>
            <a:r>
              <a:rPr lang="en-US" altLang="zh-CN" sz="3600">
                <a:latin typeface=".萍方-简" panose="020B0300000000000000" charset="-122"/>
                <a:ea typeface=".萍方-简" panose="020B0300000000000000" charset="-122"/>
              </a:rPr>
              <a:t>\n</a:t>
            </a:r>
            <a:r>
              <a:rPr lang="zh-CN" altLang="en-US" sz="3600">
                <a:latin typeface=".萍方-简" panose="020B0300000000000000" charset="-122"/>
                <a:ea typeface=".萍方-简" panose="020B0300000000000000" charset="-122"/>
              </a:rPr>
              <a:t>）再次分割。以此类推，不断根据块大小更新更小的分块规则（如空格，句号）。</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分块大小的选择：  </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不同的嵌入模型有其最佳输入大小。比如</a:t>
            </a:r>
            <a:r>
              <a:rPr lang="en-US" altLang="zh-CN" sz="3600">
                <a:latin typeface=".萍方-简" panose="020B0300000000000000" charset="-122"/>
                <a:ea typeface=".萍方-简" panose="020B0300000000000000" charset="-122"/>
              </a:rPr>
              <a:t>Openai</a:t>
            </a:r>
            <a:r>
              <a:rPr lang="zh-CN" altLang="en-US" sz="3600">
                <a:latin typeface=".萍方-简" panose="020B0300000000000000" charset="-122"/>
                <a:ea typeface=".萍方-简" panose="020B0300000000000000" charset="-122"/>
              </a:rPr>
              <a:t>的</a:t>
            </a:r>
            <a:r>
              <a:rPr lang="en-US" altLang="zh-CN" sz="3600">
                <a:latin typeface=".萍方-简" panose="020B0300000000000000" charset="-122"/>
                <a:ea typeface=".萍方-简" panose="020B0300000000000000" charset="-122"/>
              </a:rPr>
              <a:t>text-embedding-ada-002</a:t>
            </a:r>
            <a:r>
              <a:rPr lang="zh-CN" altLang="en-US" sz="3600">
                <a:latin typeface=".萍方-简" panose="020B0300000000000000" charset="-122"/>
                <a:ea typeface=".萍方-简" panose="020B0300000000000000" charset="-122"/>
              </a:rPr>
              <a:t>的模型在</a:t>
            </a:r>
            <a:r>
              <a:rPr lang="en-US" altLang="zh-CN" sz="3600">
                <a:latin typeface=".萍方-简" panose="020B0300000000000000" charset="-122"/>
                <a:ea typeface=".萍方-简" panose="020B0300000000000000" charset="-122"/>
              </a:rPr>
              <a:t>256 </a:t>
            </a:r>
            <a:r>
              <a:rPr lang="zh-CN" altLang="en-US" sz="3600">
                <a:latin typeface=".萍方-简" panose="020B0300000000000000" charset="-122"/>
                <a:ea typeface=".萍方-简" panose="020B0300000000000000" charset="-122"/>
              </a:rPr>
              <a:t>或 </a:t>
            </a:r>
            <a:r>
              <a:rPr lang="en-US" altLang="zh-CN" sz="3600">
                <a:latin typeface=".萍方-简" panose="020B0300000000000000" charset="-122"/>
                <a:ea typeface=".萍方-简" panose="020B0300000000000000" charset="-122"/>
              </a:rPr>
              <a:t>512</a:t>
            </a:r>
            <a:r>
              <a:rPr lang="zh-CN" altLang="en-US" sz="3600">
                <a:latin typeface=".萍方-简" panose="020B0300000000000000" charset="-122"/>
                <a:ea typeface=".萍方-简" panose="020B0300000000000000" charset="-122"/>
              </a:rPr>
              <a:t>大小的块上效果更好。  </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文档的类型和用户查询的长度及复杂性也是决定分块大小的重要因素。</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48804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错过排名靠前的文档</a:t>
            </a:r>
            <a:endParaRPr lang="en-US" altLang="zh-CN" sz="4000" b="1">
              <a:latin typeface=".萍方-简" panose="020B0300000000000000" charset="-122"/>
              <a:ea typeface=".萍方-简" panose="020B0300000000000000" charset="-122"/>
            </a:endParaRPr>
          </a:p>
          <a:p>
            <a:pPr>
              <a:buNone/>
            </a:pPr>
            <a:r>
              <a:rPr lang="zh-CN" altLang="en-US" sz="3600">
                <a:latin typeface=".萍方-简" panose="020B0300000000000000" charset="-122"/>
                <a:ea typeface=".萍方-简" panose="020B0300000000000000" charset="-122"/>
              </a:rPr>
              <a:t>外挂知识库中存在回答问题所需的知识，但是可能这个知识块与问题的向量相似度排名并不是靠前的，导致无法召回该知识块传给大模型，导致大模型始终无法得到正确的答案。 </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增加召回数量：增加召回的 </a:t>
            </a:r>
            <a:r>
              <a:rPr lang="en-US" altLang="zh-CN" sz="3600">
                <a:latin typeface=".萍方-简" panose="020B0300000000000000" charset="-122"/>
                <a:ea typeface=".萍方-简" panose="020B0300000000000000" charset="-122"/>
              </a:rPr>
              <a:t>topK </a:t>
            </a:r>
            <a:r>
              <a:rPr lang="zh-CN" altLang="en-US" sz="3600">
                <a:latin typeface=".萍方-简" panose="020B0300000000000000" charset="-122"/>
                <a:ea typeface=".萍方-简" panose="020B0300000000000000" charset="-122"/>
              </a:rPr>
              <a:t>数量，也就是说，例如原来召回前</a:t>
            </a:r>
            <a:r>
              <a:rPr lang="en-US" altLang="zh-CN" sz="3600">
                <a:latin typeface=".萍方-简" panose="020B0300000000000000" charset="-122"/>
                <a:ea typeface=".萍方-简" panose="020B0300000000000000" charset="-122"/>
              </a:rPr>
              <a:t>3</a:t>
            </a:r>
            <a:r>
              <a:rPr lang="zh-CN" altLang="en-US" sz="3600">
                <a:latin typeface=".萍方-简" panose="020B0300000000000000" charset="-122"/>
                <a:ea typeface=".萍方-简" panose="020B0300000000000000" charset="-122"/>
              </a:rPr>
              <a:t>个知识块，修改为召回前</a:t>
            </a:r>
            <a:r>
              <a:rPr lang="en-US" altLang="zh-CN" sz="3600">
                <a:latin typeface=".萍方-简" panose="020B0300000000000000" charset="-122"/>
                <a:ea typeface=".萍方-简" panose="020B0300000000000000" charset="-122"/>
              </a:rPr>
              <a:t>5</a:t>
            </a:r>
            <a:r>
              <a:rPr lang="zh-CN" altLang="en-US" sz="3600">
                <a:latin typeface=".萍方-简" panose="020B0300000000000000" charset="-122"/>
                <a:ea typeface=".萍方-简" panose="020B0300000000000000" charset="-122"/>
              </a:rPr>
              <a:t>个知识块。不过此种方法，因为知识块多了，不光会增加</a:t>
            </a:r>
            <a:r>
              <a:rPr lang="en-US" altLang="zh-CN" sz="3600">
                <a:latin typeface=".萍方-简" panose="020B0300000000000000" charset="-122"/>
                <a:ea typeface=".萍方-简" panose="020B0300000000000000" charset="-122"/>
              </a:rPr>
              <a:t>token</a:t>
            </a:r>
            <a:r>
              <a:rPr lang="zh-CN" altLang="en-US" sz="3600">
                <a:latin typeface=".萍方-简" panose="020B0300000000000000" charset="-122"/>
                <a:ea typeface=".萍方-简" panose="020B0300000000000000" charset="-122"/>
              </a:rPr>
              <a:t>消耗，也会增加大模型回答问题的干扰。</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重排（</a:t>
            </a:r>
            <a:r>
              <a:rPr lang="en-US" altLang="zh-CN" sz="3600">
                <a:latin typeface=".萍方-简" panose="020B0300000000000000" charset="-122"/>
                <a:ea typeface=".萍方-简" panose="020B0300000000000000" charset="-122"/>
              </a:rPr>
              <a:t>Reranking</a:t>
            </a:r>
            <a:r>
              <a:rPr lang="zh-CN" altLang="en-US" sz="3600">
                <a:latin typeface=".萍方-简" panose="020B0300000000000000" charset="-122"/>
                <a:ea typeface=".萍方-简" panose="020B0300000000000000" charset="-122"/>
              </a:rPr>
              <a:t>）</a:t>
            </a:r>
            <a:endParaRPr lang="zh-CN" altLang="en-US" sz="3600">
              <a:effectLst/>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3402541" y="7138235"/>
            <a:ext cx="17086792" cy="4905239"/>
          </a:xfrm>
          <a:prstGeom prst="rect">
            <a:avLst/>
          </a:prstGeom>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697327"/>
            <a:ext cx="21073747" cy="173188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提取上下文与答案无关</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a:t>
            </a:r>
            <a:r>
              <a:rPr lang="zh-CN" altLang="en-US" sz="3600">
                <a:latin typeface=".萍方-简" panose="020B0300000000000000" charset="-122"/>
                <a:ea typeface=".萍方-简" panose="020B0300000000000000" charset="-122"/>
              </a:rPr>
              <a:t>内容缺失 或 错过排名靠前的文档 的具体体现</a:t>
            </a:r>
            <a:endParaRPr lang="zh-CN" altLang="en-US" sz="3600">
              <a:effectLst/>
              <a:latin typeface=".萍方-简" panose="020B0300000000000000" charset="-122"/>
              <a:ea typeface=".萍方-简" panose="020B0300000000000000" charset="-122"/>
            </a:endParaRPr>
          </a:p>
        </p:txBody>
      </p:sp>
      <p:sp>
        <p:nvSpPr>
          <p:cNvPr id="3" name="文本框 2"/>
          <p:cNvSpPr txBox="1"/>
          <p:nvPr/>
        </p:nvSpPr>
        <p:spPr>
          <a:xfrm>
            <a:off x="821051" y="4329625"/>
            <a:ext cx="22360682" cy="3883243"/>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格式错误</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Prompt</a:t>
            </a:r>
            <a:r>
              <a:rPr lang="zh-CN" altLang="en-US" sz="3600">
                <a:latin typeface=".萍方-简" panose="020B0300000000000000" charset="-122"/>
                <a:ea typeface=".萍方-简" panose="020B0300000000000000" charset="-122"/>
              </a:rPr>
              <a:t>调优优化</a:t>
            </a:r>
            <a:r>
              <a:rPr lang="en-US" altLang="zh-CN" sz="3600">
                <a:latin typeface=".萍方-简" panose="020B0300000000000000" charset="-122"/>
                <a:ea typeface=".萍方-简" panose="020B0300000000000000" charset="-122"/>
              </a:rPr>
              <a:t>Prompt</a:t>
            </a:r>
            <a:r>
              <a:rPr lang="zh-CN" altLang="en-US" sz="3600">
                <a:latin typeface=".萍方-简" panose="020B0300000000000000" charset="-122"/>
                <a:ea typeface=".萍方-简" panose="020B0300000000000000" charset="-122"/>
              </a:rPr>
              <a:t>逐渐让大模型返回正确的格式。</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进行结果格式验证，例如使用</a:t>
            </a:r>
            <a:r>
              <a:rPr lang="en-US" altLang="zh-CN" sz="3600">
                <a:latin typeface=".萍方-简" panose="020B0300000000000000" charset="-122"/>
                <a:ea typeface=".萍方-简" panose="020B0300000000000000" charset="-122"/>
              </a:rPr>
              <a:t>LangChain</a:t>
            </a:r>
            <a:r>
              <a:rPr lang="zh-CN" altLang="en-US" sz="3600">
                <a:latin typeface=".萍方-简" panose="020B0300000000000000" charset="-122"/>
                <a:ea typeface=".萍方-简" panose="020B0300000000000000" charset="-122"/>
              </a:rPr>
              <a:t>中的</a:t>
            </a:r>
            <a:r>
              <a:rPr lang="en-US" altLang="zh-CN" sz="3600">
                <a:latin typeface=".萍方-简" panose="020B0300000000000000" charset="-122"/>
                <a:ea typeface=".萍方-简" panose="020B0300000000000000" charset="-122"/>
              </a:rPr>
              <a:t>PydanticOutputParser</a:t>
            </a:r>
            <a:r>
              <a:rPr lang="zh-CN" altLang="en-US" sz="3600">
                <a:latin typeface=".萍方-简" panose="020B0300000000000000" charset="-122"/>
                <a:ea typeface=".萍方-简" panose="020B0300000000000000" charset="-122"/>
              </a:rPr>
              <a:t>类来校验输出格式。</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Auto-Fixing</a:t>
            </a:r>
            <a:r>
              <a:rPr lang="zh-CN" altLang="en-US" sz="3600">
                <a:latin typeface=".萍方-简" panose="020B0300000000000000" charset="-122"/>
                <a:ea typeface=".萍方-简" panose="020B0300000000000000" charset="-122"/>
              </a:rPr>
              <a:t>自修复：对不符合要求的格式进行自动修复</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优化</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21052" y="1883590"/>
            <a:ext cx="21073747" cy="2230482"/>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答案不完整</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将问题分开提问一方面引导用户精简问题，一次只提问一个问题。 另一方面，针对用户的问题进行内部拆分处理，拆分成数个子问题，等子问题答案都找到后，再总结起来回复给用户</a:t>
            </a:r>
            <a:endParaRPr lang="zh-CN" altLang="en-US" sz="3600">
              <a:effectLst/>
              <a:latin typeface=".萍方-简" panose="020B0300000000000000" charset="-122"/>
              <a:ea typeface=".萍方-简" panose="020B0300000000000000" charset="-122"/>
            </a:endParaRPr>
          </a:p>
        </p:txBody>
      </p:sp>
      <p:sp>
        <p:nvSpPr>
          <p:cNvPr id="3" name="文本框 2"/>
          <p:cNvSpPr txBox="1"/>
          <p:nvPr/>
        </p:nvSpPr>
        <p:spPr>
          <a:xfrm>
            <a:off x="821051" y="4646105"/>
            <a:ext cx="22360682" cy="173188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未提取到答案</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提示压缩技术</a:t>
            </a:r>
            <a:endParaRPr lang="zh-CN" altLang="en-US" sz="3600">
              <a:effectLst/>
              <a:latin typeface=".萍方-简" panose="020B0300000000000000" charset="-122"/>
              <a:ea typeface=".萍方-简" panose="020B0300000000000000" charset="-122"/>
            </a:endParaRPr>
          </a:p>
        </p:txBody>
      </p:sp>
      <p:sp>
        <p:nvSpPr>
          <p:cNvPr id="4" name="文本框 3"/>
          <p:cNvSpPr txBox="1"/>
          <p:nvPr/>
        </p:nvSpPr>
        <p:spPr>
          <a:xfrm>
            <a:off x="821051" y="7169176"/>
            <a:ext cx="22360682" cy="173188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答案太具体或太笼统</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提示词改善 或者 提升基座大模型能力</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en-US" altLang="zh-CN">
                <a:latin typeface=".萍方-简" panose="020B0300000000000000" charset="-122"/>
                <a:ea typeface=".萍方-简" panose="020B0300000000000000" charset="-122"/>
              </a:rPr>
              <a:t>Advanced RAG</a:t>
            </a:r>
            <a:r>
              <a:rPr lang="zh-CN" altLang="en-US">
                <a:latin typeface=".萍方-简" panose="020B0300000000000000" charset="-122"/>
                <a:ea typeface=".萍方-简" panose="020B0300000000000000" charset="-122"/>
              </a:rPr>
              <a:t>概述</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Advanced RAG</a:t>
            </a:r>
            <a:r>
              <a:rPr lang="zh-CN" altLang="en-US" b="1">
                <a:latin typeface=".萍方-简" panose="020B0300000000000000" charset="-122"/>
                <a:ea typeface=".萍方-简" panose="020B0300000000000000" charset="-122"/>
                <a:cs typeface=".萍方-简" panose="020B0300000000000000" charset="-122"/>
              </a:rPr>
              <a:t>概述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5" name="图片 4"/>
          <p:cNvPicPr>
            <a:picLocks noChangeAspect="1"/>
          </p:cNvPicPr>
          <p:nvPr/>
        </p:nvPicPr>
        <p:blipFill>
          <a:blip r:embed="rId1"/>
          <a:stretch>
            <a:fillRect/>
          </a:stretch>
        </p:blipFill>
        <p:spPr>
          <a:xfrm>
            <a:off x="1073711" y="1911991"/>
            <a:ext cx="21617678" cy="10889603"/>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Advanced RAG</a:t>
            </a:r>
            <a:r>
              <a:rPr lang="zh-CN" altLang="en-US" b="1">
                <a:latin typeface=".萍方-简" panose="020B0300000000000000" charset="-122"/>
                <a:ea typeface=".萍方-简" panose="020B0300000000000000" charset="-122"/>
                <a:cs typeface=".萍方-简" panose="020B0300000000000000" charset="-122"/>
              </a:rPr>
              <a:t>概述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1243044" y="1887436"/>
            <a:ext cx="21556133" cy="1058799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indent="0">
              <a:buNone/>
            </a:pPr>
            <a:r>
              <a:rPr lang="en-US" altLang="zh-CN" sz="4200">
                <a:solidFill>
                  <a:schemeClr val="tx1"/>
                </a:solidFill>
                <a:latin typeface=".萍方-简" panose="020B0300000000000000" charset="-122"/>
                <a:ea typeface=".萍方-简" panose="020B0300000000000000" charset="-122"/>
              </a:rPr>
              <a:t>Advanced RAG</a:t>
            </a:r>
            <a:r>
              <a:rPr lang="zh-CN" altLang="en-US" sz="4200">
                <a:solidFill>
                  <a:schemeClr val="tx1"/>
                </a:solidFill>
                <a:latin typeface=".萍方-简" panose="020B0300000000000000" charset="-122"/>
                <a:ea typeface=".萍方-简" panose="020B0300000000000000" charset="-122"/>
              </a:rPr>
              <a:t>重点聚焦在检索增强，即优化</a:t>
            </a:r>
            <a:r>
              <a:rPr lang="en-US" altLang="zh-CN" sz="4200">
                <a:solidFill>
                  <a:schemeClr val="tx1"/>
                </a:solidFill>
                <a:latin typeface=".萍方-简" panose="020B0300000000000000" charset="-122"/>
                <a:ea typeface=".萍方-简" panose="020B0300000000000000" charset="-122"/>
              </a:rPr>
              <a:t>Retrieval</a:t>
            </a:r>
            <a:r>
              <a:rPr lang="zh-CN" altLang="en-US" sz="4200">
                <a:solidFill>
                  <a:schemeClr val="tx1"/>
                </a:solidFill>
                <a:latin typeface=".萍方-简" panose="020B0300000000000000" charset="-122"/>
                <a:ea typeface=".萍方-简" panose="020B0300000000000000" charset="-122"/>
              </a:rPr>
              <a:t>阶段。增加了</a:t>
            </a:r>
            <a:r>
              <a:rPr lang="en-US" altLang="zh-CN" sz="4200">
                <a:solidFill>
                  <a:schemeClr val="tx1"/>
                </a:solidFill>
                <a:latin typeface=".萍方-简" panose="020B0300000000000000" charset="-122"/>
                <a:ea typeface=".萍方-简" panose="020B0300000000000000" charset="-122"/>
              </a:rPr>
              <a:t>Pre-Retrieval</a:t>
            </a:r>
            <a:r>
              <a:rPr lang="zh-CN" altLang="en-US" sz="4200">
                <a:solidFill>
                  <a:schemeClr val="tx1"/>
                </a:solidFill>
                <a:latin typeface=".萍方-简" panose="020B0300000000000000" charset="-122"/>
                <a:ea typeface=".萍方-简" panose="020B0300000000000000" charset="-122"/>
              </a:rPr>
              <a:t>预检索和</a:t>
            </a:r>
            <a:r>
              <a:rPr lang="en-US" altLang="zh-CN" sz="4200">
                <a:solidFill>
                  <a:schemeClr val="tx1"/>
                </a:solidFill>
                <a:latin typeface=".萍方-简" panose="020B0300000000000000" charset="-122"/>
                <a:ea typeface=".萍方-简" panose="020B0300000000000000" charset="-122"/>
              </a:rPr>
              <a:t>Post-Retrieval</a:t>
            </a:r>
            <a:r>
              <a:rPr lang="zh-CN" altLang="en-US" sz="4200">
                <a:solidFill>
                  <a:schemeClr val="tx1"/>
                </a:solidFill>
                <a:latin typeface=".萍方-简" panose="020B0300000000000000" charset="-122"/>
                <a:ea typeface=".萍方-简" panose="020B0300000000000000" charset="-122"/>
              </a:rPr>
              <a:t>后检索阶段，同时对检索本身也有优化。</a:t>
            </a:r>
            <a:endParaRPr lang="en-US" altLang="zh-CN" sz="4200">
              <a:solidFill>
                <a:schemeClr val="tx1"/>
              </a:solidFill>
              <a:latin typeface=".萍方-简" panose="020B0300000000000000" charset="-122"/>
              <a:ea typeface=".萍方-简" panose="020B0300000000000000" charset="-122"/>
            </a:endParaRPr>
          </a:p>
          <a:p>
            <a:pPr marL="0" indent="0">
              <a:buNone/>
            </a:pPr>
            <a:r>
              <a:rPr lang="zh-CN" altLang="en-US" b="1">
                <a:solidFill>
                  <a:schemeClr val="tx1"/>
                </a:solidFill>
                <a:latin typeface=".萍方-简" panose="020B0300000000000000" charset="-122"/>
                <a:ea typeface=".萍方-简" panose="020B0300000000000000" charset="-122"/>
              </a:rPr>
              <a:t>预检索过程优化</a:t>
            </a:r>
            <a:r>
              <a:rPr lang="en-US" altLang="zh-CN" b="1">
                <a:solidFill>
                  <a:schemeClr val="tx1"/>
                </a:solidFill>
                <a:latin typeface=".萍方-简" panose="020B0300000000000000" charset="-122"/>
                <a:ea typeface=".萍方-简" panose="020B0300000000000000" charset="-122"/>
              </a:rPr>
              <a:t>/</a:t>
            </a:r>
            <a:r>
              <a:rPr lang="zh-CN" altLang="en-US" b="1">
                <a:solidFill>
                  <a:schemeClr val="tx1"/>
                </a:solidFill>
                <a:latin typeface=".萍方-简" panose="020B0300000000000000" charset="-122"/>
                <a:ea typeface=".萍方-简" panose="020B0300000000000000" charset="-122"/>
              </a:rPr>
              <a:t>检索前优化</a:t>
            </a:r>
            <a:endParaRPr lang="en-US" altLang="zh-CN" b="1">
              <a:solidFill>
                <a:schemeClr val="tx1"/>
              </a:solidFill>
              <a:latin typeface=".萍方-简" panose="020B0300000000000000" charset="-122"/>
              <a:ea typeface=".萍方-简" panose="020B0300000000000000" charset="-122"/>
            </a:endParaRPr>
          </a:p>
          <a:p>
            <a:pPr marL="0" indent="0">
              <a:buNone/>
            </a:pPr>
            <a:r>
              <a:rPr lang="zh-CN" altLang="en-US" sz="4000">
                <a:solidFill>
                  <a:schemeClr val="tx1"/>
                </a:solidFill>
                <a:latin typeface=".萍方-简" panose="020B0300000000000000" charset="-122"/>
                <a:ea typeface=".萍方-简" panose="020B0300000000000000" charset="-122"/>
              </a:rPr>
              <a:t>高级</a:t>
            </a:r>
            <a:r>
              <a:rPr lang="en-US" altLang="zh-CN" sz="4000">
                <a:solidFill>
                  <a:schemeClr val="tx1"/>
                </a:solidFill>
                <a:latin typeface=".萍方-简" panose="020B0300000000000000" charset="-122"/>
                <a:ea typeface=".萍方-简" panose="020B0300000000000000" charset="-122"/>
              </a:rPr>
              <a:t>RAG</a:t>
            </a:r>
            <a:r>
              <a:rPr lang="zh-CN" altLang="en-US" sz="4000">
                <a:solidFill>
                  <a:schemeClr val="tx1"/>
                </a:solidFill>
                <a:latin typeface=".萍方-简" panose="020B0300000000000000" charset="-122"/>
                <a:ea typeface=".萍方-简" panose="020B0300000000000000" charset="-122"/>
              </a:rPr>
              <a:t>着重优化了索引结构和查询的方式。优化索引旨在提高被索引内容的质量，包括增强数据颗粒度、优化索引结构、添加元数据、对齐优化等策略。查询优化的目标则是明确用户的原始问题，使其更适合检索任务，使用了查询重写、查询转换、查询扩展等技术。</a:t>
            </a:r>
            <a:endParaRPr lang="en-US" altLang="zh-CN" sz="4000">
              <a:solidFill>
                <a:schemeClr val="tx1"/>
              </a:solidFill>
              <a:latin typeface=".萍方-简" panose="020B0300000000000000" charset="-122"/>
              <a:ea typeface=".萍方-简" panose="020B0300000000000000" charset="-122"/>
            </a:endParaRPr>
          </a:p>
          <a:p>
            <a:pPr marL="0" indent="0">
              <a:buNone/>
            </a:pPr>
            <a:endParaRPr lang="zh-CN" altLang="en-US" b="1">
              <a:solidFill>
                <a:schemeClr val="tx1"/>
              </a:solidFill>
              <a:latin typeface=".萍方-简" panose="020B0300000000000000" charset="-122"/>
              <a:ea typeface=".萍方-简" panose="020B0300000000000000" charset="-122"/>
            </a:endParaRPr>
          </a:p>
          <a:p>
            <a:pPr marL="0" indent="0">
              <a:buNone/>
            </a:pPr>
            <a:r>
              <a:rPr lang="zh-CN" altLang="en-US" b="1">
                <a:solidFill>
                  <a:schemeClr val="tx1"/>
                </a:solidFill>
                <a:latin typeface=".萍方-简" panose="020B0300000000000000" charset="-122"/>
                <a:ea typeface=".萍方-简" panose="020B0300000000000000" charset="-122"/>
              </a:rPr>
              <a:t>检索优化</a:t>
            </a:r>
            <a:endParaRPr lang="en-US" altLang="zh-CN" b="1">
              <a:solidFill>
                <a:schemeClr val="tx1"/>
              </a:solidFill>
              <a:latin typeface=".萍方-简" panose="020B0300000000000000" charset="-122"/>
              <a:ea typeface=".萍方-简" panose="020B0300000000000000" charset="-122"/>
            </a:endParaRPr>
          </a:p>
          <a:p>
            <a:pPr marL="0" indent="0">
              <a:buNone/>
            </a:pPr>
            <a:r>
              <a:rPr lang="zh-CN" altLang="en-US" sz="4000">
                <a:solidFill>
                  <a:schemeClr val="tx1"/>
                </a:solidFill>
                <a:latin typeface=".萍方-简" panose="020B0300000000000000" charset="-122"/>
                <a:ea typeface=".萍方-简" panose="020B0300000000000000" charset="-122"/>
              </a:rPr>
              <a:t>检索阶段的目标是确定最相关的上下文。通常，检索基于向量搜索，它计算查询与索引数据之间的语义相似性。因此，大多数检索优化技术都围绕嵌入模型展开，比如微调嵌入模型，将嵌入模型定制为特定领域的上下文，特别是对于术语不断演化或罕见的领域。</a:t>
            </a:r>
            <a:endParaRPr lang="en-US" altLang="zh-CN" sz="4000">
              <a:solidFill>
                <a:schemeClr val="tx1"/>
              </a:solidFill>
              <a:latin typeface=".萍方-简" panose="020B0300000000000000" charset="-122"/>
              <a:ea typeface=".萍方-简" panose="020B0300000000000000" charset="-122"/>
            </a:endParaRPr>
          </a:p>
          <a:p>
            <a:pPr marL="0" indent="0">
              <a:buNone/>
            </a:pPr>
            <a:r>
              <a:rPr lang="zh-CN" altLang="en-US" sz="4000">
                <a:solidFill>
                  <a:schemeClr val="tx1"/>
                </a:solidFill>
                <a:latin typeface=".萍方-简" panose="020B0300000000000000" charset="-122"/>
                <a:ea typeface=".萍方-简" panose="020B0300000000000000" charset="-122"/>
              </a:rPr>
              <a:t>还有其他检索技术，例如混合搜索，通常是指将向量搜索与基于关键字的搜索相结合的概念。</a:t>
            </a:r>
            <a:endParaRPr lang="en-US" altLang="zh-CN" sz="4000">
              <a:solidFill>
                <a:schemeClr val="tx1"/>
              </a:solidFill>
              <a:latin typeface=".萍方-简" panose="020B0300000000000000" charset="-122"/>
              <a:ea typeface=".萍方-简" panose="020B0300000000000000" charset="-122"/>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Advanced RAG</a:t>
            </a:r>
            <a:r>
              <a:rPr lang="zh-CN" altLang="en-US" b="1">
                <a:latin typeface=".萍方-简" panose="020B0300000000000000" charset="-122"/>
                <a:ea typeface=".萍方-简" panose="020B0300000000000000" charset="-122"/>
                <a:cs typeface=".萍方-简" panose="020B0300000000000000" charset="-122"/>
              </a:rPr>
              <a:t>概述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908399" y="3086951"/>
            <a:ext cx="21556133" cy="539496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indent="0">
              <a:buNone/>
            </a:pPr>
            <a:r>
              <a:rPr lang="zh-CN" altLang="en-US" b="1">
                <a:solidFill>
                  <a:schemeClr val="tx1"/>
                </a:solidFill>
                <a:latin typeface=".萍方-简" panose="020B0300000000000000" charset="-122"/>
                <a:ea typeface=".萍方-简" panose="020B0300000000000000" charset="-122"/>
              </a:rPr>
              <a:t>后检索过程优化</a:t>
            </a:r>
            <a:r>
              <a:rPr lang="en-US" altLang="zh-CN" b="1">
                <a:solidFill>
                  <a:schemeClr val="tx1"/>
                </a:solidFill>
                <a:latin typeface=".萍方-简" panose="020B0300000000000000" charset="-122"/>
                <a:ea typeface=".萍方-简" panose="020B0300000000000000" charset="-122"/>
              </a:rPr>
              <a:t>/</a:t>
            </a:r>
            <a:r>
              <a:rPr lang="zh-CN" altLang="en-US" b="1">
                <a:solidFill>
                  <a:schemeClr val="tx1"/>
                </a:solidFill>
                <a:latin typeface=".萍方-简" panose="020B0300000000000000" charset="-122"/>
                <a:ea typeface=".萍方-简" panose="020B0300000000000000" charset="-122"/>
              </a:rPr>
              <a:t>检索后优化</a:t>
            </a:r>
            <a:endParaRPr lang="en-US" altLang="zh-CN" b="1">
              <a:solidFill>
                <a:schemeClr val="tx1"/>
              </a:solidFill>
              <a:latin typeface=".萍方-简" panose="020B0300000000000000" charset="-122"/>
              <a:ea typeface=".萍方-简" panose="020B0300000000000000" charset="-122"/>
            </a:endParaRPr>
          </a:p>
          <a:p>
            <a:pPr marL="0" indent="0">
              <a:buNone/>
            </a:pPr>
            <a:r>
              <a:rPr lang="zh-CN" altLang="en-US" sz="4200">
                <a:solidFill>
                  <a:schemeClr val="tx1"/>
                </a:solidFill>
                <a:latin typeface=".萍方-简" panose="020B0300000000000000" charset="-122"/>
                <a:ea typeface=".萍方-简" panose="020B0300000000000000" charset="-122"/>
              </a:rPr>
              <a:t>对于由问题检索得到的一系列上下文，后检索策略关注如何优化它们与查询问题的集成。</a:t>
            </a:r>
            <a:endParaRPr lang="en-US" altLang="zh-CN" sz="4200">
              <a:solidFill>
                <a:schemeClr val="tx1"/>
              </a:solidFill>
              <a:latin typeface=".萍方-简" panose="020B0300000000000000" charset="-122"/>
              <a:ea typeface=".萍方-简" panose="020B0300000000000000" charset="-122"/>
            </a:endParaRPr>
          </a:p>
          <a:p>
            <a:pPr marL="0" indent="0">
              <a:buNone/>
            </a:pPr>
            <a:r>
              <a:rPr lang="zh-CN" altLang="en-US" sz="4200">
                <a:solidFill>
                  <a:schemeClr val="tx1"/>
                </a:solidFill>
                <a:latin typeface=".萍方-简" panose="020B0300000000000000" charset="-122"/>
                <a:ea typeface=".萍方-简" panose="020B0300000000000000" charset="-122"/>
              </a:rPr>
              <a:t>这一过程主要包括重新排序和压缩上下文。重新排列检索到的信息，将最相关的内容予以定位标记，这种策略已经在</a:t>
            </a:r>
            <a:r>
              <a:rPr lang="en-US" altLang="zh-CN" sz="4200">
                <a:solidFill>
                  <a:schemeClr val="tx1"/>
                </a:solidFill>
                <a:latin typeface=".萍方-简" panose="020B0300000000000000" charset="-122"/>
                <a:ea typeface=".萍方-简" panose="020B0300000000000000" charset="-122"/>
              </a:rPr>
              <a:t>LlamaIndex2</a:t>
            </a:r>
            <a:r>
              <a:rPr lang="zh-CN" altLang="en-US" sz="4200">
                <a:solidFill>
                  <a:schemeClr val="tx1"/>
                </a:solidFill>
                <a:latin typeface=".萍方-简" panose="020B0300000000000000" charset="-122"/>
                <a:ea typeface=".萍方-简" panose="020B0300000000000000" charset="-122"/>
              </a:rPr>
              <a:t>、</a:t>
            </a:r>
            <a:r>
              <a:rPr lang="en-US" altLang="zh-CN" sz="4200">
                <a:solidFill>
                  <a:schemeClr val="tx1"/>
                </a:solidFill>
                <a:latin typeface=".萍方-简" panose="020B0300000000000000" charset="-122"/>
                <a:ea typeface=".萍方-简" panose="020B0300000000000000" charset="-122"/>
              </a:rPr>
              <a:t>LangChain</a:t>
            </a:r>
            <a:r>
              <a:rPr lang="zh-CN" altLang="en-US" sz="4200">
                <a:solidFill>
                  <a:schemeClr val="tx1"/>
                </a:solidFill>
                <a:latin typeface=".萍方-简" panose="020B0300000000000000" charset="-122"/>
                <a:ea typeface=".萍方-简" panose="020B0300000000000000" charset="-122"/>
              </a:rPr>
              <a:t>等框架中得以实施。</a:t>
            </a:r>
            <a:endParaRPr lang="en-US" altLang="zh-CN" sz="4200">
              <a:solidFill>
                <a:schemeClr val="tx1"/>
              </a:solidFill>
              <a:latin typeface=".萍方-简" panose="020B0300000000000000" charset="-122"/>
              <a:ea typeface=".萍方-简" panose="020B0300000000000000" charset="-122"/>
            </a:endParaRPr>
          </a:p>
          <a:p>
            <a:pPr marL="0" indent="0">
              <a:buNone/>
            </a:pPr>
            <a:r>
              <a:rPr lang="zh-CN" altLang="en-US" sz="4200">
                <a:solidFill>
                  <a:schemeClr val="tx1"/>
                </a:solidFill>
                <a:latin typeface=".萍方-简" panose="020B0300000000000000" charset="-122"/>
                <a:ea typeface=".萍方-简" panose="020B0300000000000000" charset="-122"/>
              </a:rPr>
              <a:t>有时直接将所有相关文档输入到大型语言模型（</a:t>
            </a:r>
            <a:r>
              <a:rPr lang="en-US" altLang="zh-CN" sz="4200">
                <a:solidFill>
                  <a:schemeClr val="tx1"/>
                </a:solidFill>
                <a:latin typeface=".萍方-简" panose="020B0300000000000000" charset="-122"/>
                <a:ea typeface=".萍方-简" panose="020B0300000000000000" charset="-122"/>
              </a:rPr>
              <a:t>LLMs</a:t>
            </a:r>
            <a:r>
              <a:rPr lang="zh-CN" altLang="en-US" sz="4200">
                <a:solidFill>
                  <a:schemeClr val="tx1"/>
                </a:solidFill>
                <a:latin typeface=".萍方-简" panose="020B0300000000000000" charset="-122"/>
                <a:ea typeface=".萍方-简" panose="020B0300000000000000" charset="-122"/>
              </a:rPr>
              <a:t>）可能导致信息过载，为了缓解这一点，后检索工作集中选择必要的信息，强调关键部分，并限制了了相应的上下文长度。</a:t>
            </a:r>
            <a:endParaRPr lang="zh-CN" altLang="en-US" sz="4200">
              <a:solidFill>
                <a:schemeClr val="tx1"/>
              </a:solidFill>
              <a:latin typeface=".萍方-简" panose="020B0300000000000000" charset="-122"/>
              <a:ea typeface=".萍方-简" panose="020B0300000000000000" charset="-122"/>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fontScale="90000"/>
          </a:bodyPr>
          <a:lstStyle/>
          <a:p>
            <a:r>
              <a:rPr lang="en-US" altLang="zh-CN">
                <a:latin typeface=".萍方-简" panose="020B0300000000000000" charset="-122"/>
                <a:ea typeface=".萍方-简" panose="020B0300000000000000" charset="-122"/>
              </a:rPr>
              <a:t>Pre-Retrieval</a:t>
            </a:r>
            <a:r>
              <a:rPr lang="zh-CN" altLang="en-US">
                <a:latin typeface=".萍方-简" panose="020B0300000000000000" charset="-122"/>
                <a:ea typeface=".萍方-简" panose="020B0300000000000000" charset="-122"/>
              </a:rPr>
              <a:t>预检索</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索引</a:t>
            </a:r>
            <a:r>
              <a:rPr lang="zh-CN" altLang="en-US">
                <a:latin typeface=".萍方-简" panose="020B0300000000000000" charset="-122"/>
                <a:ea typeface=".萍方-简" panose="020B0300000000000000" charset="-122"/>
                <a:sym typeface="+mn-ea"/>
              </a:rPr>
              <a:t>优化</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Pre-Retrieval</a:t>
            </a:r>
            <a:r>
              <a:rPr lang="zh-CN" altLang="en-US" b="1">
                <a:latin typeface=".萍方-简" panose="020B0300000000000000" charset="-122"/>
                <a:ea typeface=".萍方-简" panose="020B0300000000000000" charset="-122"/>
                <a:cs typeface=".萍方-简" panose="020B0300000000000000" charset="-122"/>
              </a:rPr>
              <a:t>预检索优化</a:t>
            </a:r>
            <a:endParaRPr lang="en-US" altLang="zh-CN" b="1">
              <a:latin typeface=".萍方-简" panose="020B0300000000000000" charset="-122"/>
              <a:ea typeface=".萍方-简" panose="020B0300000000000000" charset="-122"/>
              <a:cs typeface=".萍方-简" panose="020B0300000000000000" charset="-122"/>
            </a:endParaRPr>
          </a:p>
        </p:txBody>
      </p:sp>
      <p:sp>
        <p:nvSpPr>
          <p:cNvPr id="4" name="文本框 3"/>
          <p:cNvSpPr txBox="1"/>
          <p:nvPr/>
        </p:nvSpPr>
        <p:spPr>
          <a:xfrm>
            <a:off x="1529574" y="1899078"/>
            <a:ext cx="7834560" cy="494665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索引</a:t>
            </a:r>
            <a:r>
              <a:rPr lang="zh-CN" altLang="en-US" sz="4000" b="1">
                <a:latin typeface=".萍方-简" panose="020B0300000000000000" charset="-122"/>
                <a:ea typeface=".萍方-简" panose="020B0300000000000000" charset="-122"/>
                <a:sym typeface="+mn-ea"/>
              </a:rPr>
              <a:t>优化</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摘要索引</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父子索引</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假设性问题索引</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元数据索引</a:t>
            </a:r>
            <a:endParaRPr lang="zh-CN" altLang="en-US" sz="3600">
              <a:effectLst/>
              <a:latin typeface=".萍方-简" panose="020B0300000000000000" charset="-122"/>
              <a:ea typeface=".萍方-简" panose="020B0300000000000000" charset="-122"/>
            </a:endParaRPr>
          </a:p>
        </p:txBody>
      </p:sp>
      <p:sp>
        <p:nvSpPr>
          <p:cNvPr id="2" name="文本框 1"/>
          <p:cNvSpPr txBox="1"/>
          <p:nvPr/>
        </p:nvSpPr>
        <p:spPr>
          <a:xfrm>
            <a:off x="11102588" y="1867756"/>
            <a:ext cx="7834560" cy="3883243"/>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查询优化</a:t>
            </a:r>
            <a:endParaRPr lang="en-US" altLang="zh-CN" sz="4000" b="1">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Enrich</a:t>
            </a:r>
            <a:r>
              <a:rPr lang="zh-CN" altLang="en-US" sz="3600">
                <a:latin typeface=".萍方-简" panose="020B0300000000000000" charset="-122"/>
                <a:ea typeface=".萍方-简" panose="020B0300000000000000" charset="-122"/>
              </a:rPr>
              <a:t>完善问题</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Multi-Query </a:t>
            </a:r>
            <a:r>
              <a:rPr lang="zh-CN" altLang="en-US" sz="3600">
                <a:latin typeface=".萍方-简" panose="020B0300000000000000" charset="-122"/>
                <a:ea typeface=".萍方-简" panose="020B0300000000000000" charset="-122"/>
              </a:rPr>
              <a:t>多路召回</a:t>
            </a:r>
            <a:endParaRPr lang="en-US" altLang="zh-CN" sz="3600">
              <a:latin typeface=".萍方-简" panose="020B0300000000000000" charset="-122"/>
              <a:ea typeface=".萍方-简" panose="020B0300000000000000" charset="-122"/>
            </a:endParaRPr>
          </a:p>
          <a:p>
            <a:pPr>
              <a:buNone/>
            </a:pPr>
            <a:r>
              <a:rPr lang="en-US" altLang="zh-CN" sz="3600">
                <a:latin typeface=".萍方-简" panose="020B0300000000000000" charset="-122"/>
                <a:ea typeface=".萍方-简" panose="020B0300000000000000" charset="-122"/>
              </a:rPr>
              <a:t>- Decomposition </a:t>
            </a:r>
            <a:r>
              <a:rPr lang="zh-CN" altLang="en-US" sz="3600">
                <a:latin typeface=".萍方-简" panose="020B0300000000000000" charset="-122"/>
                <a:ea typeface=".萍方-简" panose="020B0300000000000000" charset="-122"/>
              </a:rPr>
              <a:t>问题分解</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摘要索引</a:t>
            </a:r>
            <a:endParaRPr lang="en-US" altLang="zh-CN"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3" y="1864848"/>
            <a:ext cx="22666823" cy="40066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在处理大量文档时，如何快速准确地找到所需信息是一个常见挑战。摘要索引可以用来处理半结构化数据，比如许多文档包含多种内容类型，包括文本和表格。这种半结构化数据对于传统 </a:t>
            </a:r>
            <a:r>
              <a:rPr lang="en-US" altLang="zh-CN">
                <a:latin typeface=".萍方-简" panose="020B0300000000000000" charset="-122"/>
                <a:ea typeface=".萍方-简" panose="020B0300000000000000" charset="-122"/>
              </a:rPr>
              <a:t>RAG </a:t>
            </a:r>
            <a:r>
              <a:rPr lang="zh-CN" altLang="en-US">
                <a:latin typeface=".萍方-简" panose="020B0300000000000000" charset="-122"/>
                <a:ea typeface=".萍方-简" panose="020B0300000000000000" charset="-122"/>
              </a:rPr>
              <a:t>来说可能具有挑战性，文本拆分可能会分解表，从而损坏检索中的数据；嵌入表可能会给语义相似性搜索带来挑战。</a:t>
            </a:r>
            <a:endParaRPr lang="zh-CN" altLang="en-US">
              <a:latin typeface=".萍方-简" panose="020B0300000000000000" charset="-122"/>
              <a:ea typeface=".萍方-简" panose="020B0300000000000000" charset="-122"/>
            </a:endParaRPr>
          </a:p>
        </p:txBody>
      </p:sp>
      <p:pic>
        <p:nvPicPr>
          <p:cNvPr id="2" name="图片 1"/>
          <p:cNvPicPr>
            <a:picLocks noChangeAspect="1"/>
          </p:cNvPicPr>
          <p:nvPr/>
        </p:nvPicPr>
        <p:blipFill>
          <a:blip r:embed="rId1"/>
          <a:stretch>
            <a:fillRect/>
          </a:stretch>
        </p:blipFill>
        <p:spPr>
          <a:xfrm>
            <a:off x="1243330" y="6058535"/>
            <a:ext cx="21325840" cy="6660515"/>
          </a:xfrm>
          <a:prstGeom prst="rect">
            <a:avLst/>
          </a:prstGeom>
        </p:spPr>
      </p:pic>
      <p:pic>
        <p:nvPicPr>
          <p:cNvPr id="3" name="图片 2"/>
          <p:cNvPicPr>
            <a:picLocks noChangeAspect="1"/>
          </p:cNvPicPr>
          <p:nvPr/>
        </p:nvPicPr>
        <p:blipFill>
          <a:blip r:embed="rId2"/>
          <a:stretch>
            <a:fillRect/>
          </a:stretch>
        </p:blipFill>
        <p:spPr>
          <a:xfrm>
            <a:off x="8263255" y="1699260"/>
            <a:ext cx="15646400" cy="10318115"/>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摘要索引</a:t>
            </a:r>
            <a:endParaRPr lang="en-US" altLang="zh-CN" b="1">
              <a:latin typeface=".萍方-简" panose="020B0300000000000000" charset="-122"/>
              <a:ea typeface=".萍方-简" panose="020B0300000000000000" charset="-122"/>
              <a:cs typeface=".萍方-简" panose="020B0300000000000000" charset="-122"/>
            </a:endParaRPr>
          </a:p>
        </p:txBody>
      </p:sp>
      <p:pic>
        <p:nvPicPr>
          <p:cNvPr id="4" name="图片 3"/>
          <p:cNvPicPr>
            <a:picLocks noChangeAspect="1"/>
          </p:cNvPicPr>
          <p:nvPr/>
        </p:nvPicPr>
        <p:blipFill>
          <a:blip r:embed="rId1"/>
          <a:stretch>
            <a:fillRect/>
          </a:stretch>
        </p:blipFill>
        <p:spPr>
          <a:xfrm>
            <a:off x="953135" y="1512570"/>
            <a:ext cx="21577300" cy="7324725"/>
          </a:xfrm>
          <a:prstGeom prst="rect">
            <a:avLst/>
          </a:prstGeom>
        </p:spPr>
      </p:pic>
      <p:sp>
        <p:nvSpPr>
          <p:cNvPr id="2" name="文本框 1"/>
          <p:cNvSpPr txBox="1"/>
          <p:nvPr/>
        </p:nvSpPr>
        <p:spPr>
          <a:xfrm>
            <a:off x="953135" y="8837930"/>
            <a:ext cx="22195790" cy="41275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a:noAutofit/>
          </a:bodyPr>
          <a:p>
            <a:pPr marL="0" marR="0" indent="0" algn="l" defTabSz="2438400" rtl="0" fontAlgn="auto" latinLnBrk="0" hangingPunct="0">
              <a:lnSpc>
                <a:spcPct val="90000"/>
              </a:lnSpc>
              <a:spcBef>
                <a:spcPts val="4500"/>
              </a:spcBef>
              <a:spcAft>
                <a:spcPts val="0"/>
              </a:spcAft>
              <a:buClrTx/>
              <a:buSzTx/>
              <a:buFontTx/>
              <a:buNone/>
            </a:pPr>
            <a:r>
              <a:rPr lang="zh-CN" altLang="en-US" sz="4400">
                <a:latin typeface=".萍方-简" panose="020B0300000000000000" charset="-122"/>
                <a:ea typeface=".萍方-简" panose="020B0300000000000000" charset="-122"/>
                <a:sym typeface="+mn-ea"/>
              </a:rPr>
              <a:t>基本思路：</a:t>
            </a:r>
            <a:endParaRPr lang="en-US" altLang="zh-CN" sz="4400">
              <a:latin typeface=".萍方-简" panose="020B0300000000000000" charset="-122"/>
              <a:ea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 </a:t>
            </a:r>
            <a:r>
              <a:rPr lang="zh-CN" altLang="en-US" sz="4400">
                <a:latin typeface=".萍方-简" panose="020B0300000000000000" charset="-122"/>
                <a:ea typeface=".萍方-简" panose="020B0300000000000000" charset="-122"/>
                <a:sym typeface="+mn-ea"/>
              </a:rPr>
              <a:t>让</a:t>
            </a:r>
            <a:r>
              <a:rPr lang="en-US" altLang="zh-CN" sz="4400">
                <a:latin typeface=".萍方-简" panose="020B0300000000000000" charset="-122"/>
                <a:ea typeface=".萍方-简" panose="020B0300000000000000" charset="-122"/>
                <a:sym typeface="+mn-ea"/>
              </a:rPr>
              <a:t>LLM</a:t>
            </a:r>
            <a:r>
              <a:rPr lang="zh-CN" altLang="en-US" sz="4400">
                <a:latin typeface=".萍方-简" panose="020B0300000000000000" charset="-122"/>
                <a:ea typeface=".萍方-简" panose="020B0300000000000000" charset="-122"/>
                <a:sym typeface="+mn-ea"/>
              </a:rPr>
              <a:t>为每个块生成</a:t>
            </a:r>
            <a:r>
              <a:rPr lang="en-US" altLang="zh-CN" sz="4400">
                <a:latin typeface=".萍方-简" panose="020B0300000000000000" charset="-122"/>
                <a:ea typeface=".萍方-简" panose="020B0300000000000000" charset="-122"/>
                <a:sym typeface="+mn-ea"/>
              </a:rPr>
              <a:t>summary</a:t>
            </a:r>
            <a:r>
              <a:rPr lang="zh-CN" altLang="en-US" sz="4400">
                <a:latin typeface=".萍方-简" panose="020B0300000000000000" charset="-122"/>
                <a:ea typeface=".萍方-简" panose="020B0300000000000000" charset="-122"/>
                <a:sym typeface="+mn-ea"/>
              </a:rPr>
              <a:t>，并作为</a:t>
            </a:r>
            <a:r>
              <a:rPr lang="en-US" altLang="zh-CN" sz="4400">
                <a:latin typeface=".萍方-简" panose="020B0300000000000000" charset="-122"/>
                <a:ea typeface=".萍方-简" panose="020B0300000000000000" charset="-122"/>
                <a:sym typeface="+mn-ea"/>
              </a:rPr>
              <a:t>embedding</a:t>
            </a:r>
            <a:r>
              <a:rPr lang="zh-CN" altLang="en-US" sz="4400">
                <a:latin typeface=".萍方-简" panose="020B0300000000000000" charset="-122"/>
                <a:ea typeface=".萍方-简" panose="020B0300000000000000" charset="-122"/>
                <a:sym typeface="+mn-ea"/>
              </a:rPr>
              <a:t>存到</a:t>
            </a:r>
            <a:r>
              <a:rPr lang="en-US" altLang="zh-CN" sz="4400">
                <a:latin typeface=".萍方-简" panose="020B0300000000000000" charset="-122"/>
                <a:ea typeface=".萍方-简" panose="020B0300000000000000" charset="-122"/>
                <a:sym typeface="+mn-ea"/>
              </a:rPr>
              <a:t>summary database</a:t>
            </a:r>
            <a:r>
              <a:rPr lang="zh-CN" altLang="en-US" sz="4400">
                <a:latin typeface=".萍方-简" panose="020B0300000000000000" charset="-122"/>
                <a:ea typeface=".萍方-简" panose="020B0300000000000000" charset="-122"/>
                <a:sym typeface="+mn-ea"/>
              </a:rPr>
              <a:t>中</a:t>
            </a:r>
            <a:endParaRPr lang="en-US" altLang="zh-CN" sz="4400">
              <a:latin typeface=".萍方-简" panose="020B0300000000000000" charset="-122"/>
              <a:ea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 </a:t>
            </a:r>
            <a:r>
              <a:rPr lang="zh-CN" altLang="en-US" sz="4400">
                <a:latin typeface=".萍方-简" panose="020B0300000000000000" charset="-122"/>
                <a:ea typeface=".萍方-简" panose="020B0300000000000000" charset="-122"/>
                <a:sym typeface="+mn-ea"/>
              </a:rPr>
              <a:t>在检索时，通过</a:t>
            </a:r>
            <a:r>
              <a:rPr lang="en-US" altLang="zh-CN" sz="4400">
                <a:latin typeface=".萍方-简" panose="020B0300000000000000" charset="-122"/>
                <a:ea typeface=".萍方-简" panose="020B0300000000000000" charset="-122"/>
                <a:sym typeface="+mn-ea"/>
              </a:rPr>
              <a:t>summary database</a:t>
            </a:r>
            <a:r>
              <a:rPr lang="zh-CN" altLang="en-US" sz="4400">
                <a:latin typeface=".萍方-简" panose="020B0300000000000000" charset="-122"/>
                <a:ea typeface=".萍方-简" panose="020B0300000000000000" charset="-122"/>
                <a:sym typeface="+mn-ea"/>
              </a:rPr>
              <a:t>找到最相关的</a:t>
            </a:r>
            <a:r>
              <a:rPr lang="en-US" altLang="zh-CN" sz="4400">
                <a:latin typeface=".萍方-简" panose="020B0300000000000000" charset="-122"/>
                <a:ea typeface=".萍方-简" panose="020B0300000000000000" charset="-122"/>
                <a:sym typeface="+mn-ea"/>
              </a:rPr>
              <a:t>summary</a:t>
            </a:r>
            <a:r>
              <a:rPr lang="zh-CN" altLang="en-US" sz="4400">
                <a:latin typeface=".萍方-简" panose="020B0300000000000000" charset="-122"/>
                <a:ea typeface=".萍方-简" panose="020B0300000000000000" charset="-122"/>
                <a:sym typeface="+mn-ea"/>
              </a:rPr>
              <a:t>，再回溯到原始文档中去</a:t>
            </a:r>
            <a:endParaRPr lang="en-US" altLang="zh-CN" sz="4400">
              <a:latin typeface=".萍方-简" panose="020B0300000000000000" charset="-122"/>
              <a:ea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 </a:t>
            </a:r>
            <a:r>
              <a:rPr lang="zh-CN" altLang="en-US" sz="4400">
                <a:latin typeface=".萍方-简" panose="020B0300000000000000" charset="-122"/>
                <a:ea typeface=".萍方-简" panose="020B0300000000000000" charset="-122"/>
                <a:sym typeface="+mn-ea"/>
              </a:rPr>
              <a:t>将原始文本块作为上下文发送给</a:t>
            </a:r>
            <a:r>
              <a:rPr lang="en-US" altLang="zh-CN" sz="4400">
                <a:latin typeface=".萍方-简" panose="020B0300000000000000" charset="-122"/>
                <a:ea typeface=".萍方-简" panose="020B0300000000000000" charset="-122"/>
                <a:sym typeface="+mn-ea"/>
              </a:rPr>
              <a:t>LLM</a:t>
            </a:r>
            <a:r>
              <a:rPr lang="zh-CN" altLang="en-US" sz="4400">
                <a:latin typeface=".萍方-简" panose="020B0300000000000000" charset="-122"/>
                <a:ea typeface=".萍方-简" panose="020B0300000000000000" charset="-122"/>
                <a:sym typeface="+mn-ea"/>
              </a:rPr>
              <a:t>以获取答案</a:t>
            </a:r>
            <a:endParaRPr kumimoji="0" lang="zh-CN" altLang="en-US" sz="4400" b="0" i="0" u="none" strike="noStrike" cap="none" spc="0" normalizeH="0" baseline="0">
              <a:ln>
                <a:noFill/>
              </a:ln>
              <a:solidFill>
                <a:srgbClr val="000000"/>
              </a:solidFill>
              <a:effectLst/>
              <a:uFillTx/>
              <a:latin typeface=".萍方-简" panose="020B0300000000000000" charset="-122"/>
              <a:ea typeface=".萍方-简" panose="020B0300000000000000" charset="-122"/>
              <a:cs typeface="+mn-cs"/>
              <a:sym typeface="+mn-ea"/>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摘要索引</a:t>
            </a:r>
            <a:r>
              <a:rPr lang="en-US" altLang="zh-CN" b="1">
                <a:latin typeface=".萍方-简" panose="020B0300000000000000" charset="-122"/>
                <a:ea typeface=".萍方-简" panose="020B0300000000000000" charset="-122"/>
                <a:cs typeface=".萍方-简" panose="020B0300000000000000" charset="-122"/>
              </a:rPr>
              <a:t>-</a:t>
            </a:r>
            <a:r>
              <a:rPr lang="zh-CN" altLang="en-US" b="1">
                <a:latin typeface=".萍方-简" panose="020B0300000000000000" charset="-122"/>
                <a:ea typeface=".萍方-简" panose="020B0300000000000000" charset="-122"/>
                <a:cs typeface=".萍方-简" panose="020B0300000000000000" charset="-122"/>
              </a:rPr>
              <a:t>使用场景</a:t>
            </a:r>
            <a:endParaRPr lang="zh-CN" altLang="en-US" b="1">
              <a:latin typeface=".萍方-简" panose="020B0300000000000000" charset="-122"/>
              <a:ea typeface=".萍方-简" panose="020B0300000000000000" charset="-122"/>
              <a:cs typeface=".萍方-简" panose="020B0300000000000000" charset="-122"/>
            </a:endParaRPr>
          </a:p>
        </p:txBody>
      </p:sp>
      <p:pic>
        <p:nvPicPr>
          <p:cNvPr id="3" name="图片 2"/>
          <p:cNvPicPr>
            <a:picLocks noChangeAspect="1"/>
          </p:cNvPicPr>
          <p:nvPr/>
        </p:nvPicPr>
        <p:blipFill>
          <a:blip r:embed="rId1"/>
          <a:stretch>
            <a:fillRect/>
          </a:stretch>
        </p:blipFill>
        <p:spPr>
          <a:xfrm>
            <a:off x="744220" y="2302510"/>
            <a:ext cx="22895560" cy="9180830"/>
          </a:xfrm>
          <a:prstGeom prst="rect">
            <a:avLst/>
          </a:prstGeom>
        </p:spPr>
      </p:pic>
      <p:sp>
        <p:nvSpPr>
          <p:cNvPr id="5" name="文本框 4"/>
          <p:cNvSpPr txBox="1"/>
          <p:nvPr/>
        </p:nvSpPr>
        <p:spPr>
          <a:xfrm>
            <a:off x="953135" y="12070715"/>
            <a:ext cx="22195790" cy="89471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a:noAutofit/>
          </a:bodyPr>
          <a:p>
            <a:pPr marL="0" marR="0" indent="0" algn="l" defTabSz="2438400" rtl="0" fontAlgn="auto" latinLnBrk="0" hangingPunct="0">
              <a:lnSpc>
                <a:spcPct val="90000"/>
              </a:lnSpc>
              <a:spcBef>
                <a:spcPts val="4500"/>
              </a:spcBef>
              <a:spcAft>
                <a:spcPts val="0"/>
              </a:spcAft>
              <a:buClrTx/>
              <a:buSzTx/>
              <a:buFontTx/>
              <a:buNone/>
            </a:pPr>
            <a:r>
              <a:rPr lang="zh-CN" altLang="en-US" sz="4400">
                <a:solidFill>
                  <a:srgbClr val="FF0000"/>
                </a:solidFill>
                <a:latin typeface=".萍方-简" panose="020B0300000000000000" charset="-122"/>
                <a:ea typeface=".萍方-简" panose="020B0300000000000000" charset="-122"/>
                <a:sym typeface="+mn-ea"/>
              </a:rPr>
              <a:t>注意：摘要质量非常重要，需要包含高价值表格关键信息，</a:t>
            </a:r>
            <a:r>
              <a:rPr kumimoji="0" lang="zh-CN" altLang="en-US" sz="4400" b="0" i="0" u="none" strike="noStrike" cap="none" spc="0" normalizeH="0" baseline="0">
                <a:ln>
                  <a:noFill/>
                </a:ln>
                <a:solidFill>
                  <a:srgbClr val="FF0000"/>
                </a:solidFill>
                <a:effectLst/>
                <a:uFillTx/>
                <a:latin typeface=".萍方-简" panose="020B0300000000000000" charset="-122"/>
                <a:ea typeface=".萍方-简" panose="020B0300000000000000" charset="-122"/>
                <a:cs typeface="+mn-cs"/>
                <a:sym typeface="+mn-ea"/>
              </a:rPr>
              <a:t>太过于简单，会丢失关键信息</a:t>
            </a:r>
            <a:endParaRPr kumimoji="0" lang="zh-CN" altLang="en-US" sz="4400" b="0" i="0" u="none" strike="noStrike" cap="none" spc="0" normalizeH="0" baseline="0">
              <a:ln>
                <a:noFill/>
              </a:ln>
              <a:solidFill>
                <a:srgbClr val="FF0000"/>
              </a:solidFill>
              <a:effectLst/>
              <a:uFillTx/>
              <a:latin typeface=".萍方-简" panose="020B0300000000000000" charset="-122"/>
              <a:ea typeface=".萍方-简" panose="020B0300000000000000" charset="-122"/>
              <a:cs typeface="+mn-cs"/>
              <a:sym typeface="+mn-ea"/>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父子索引</a:t>
            </a:r>
            <a:endParaRPr lang="en-US" altLang="zh-CN"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4" y="1712448"/>
            <a:ext cx="22666823" cy="582556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我们在利用大模型进行文档检索的时候，常常会有相互矛盾的需求，比如：</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1. </a:t>
            </a:r>
            <a:r>
              <a:rPr lang="zh-CN" altLang="en-US">
                <a:latin typeface=".萍方-简" panose="020B0300000000000000" charset="-122"/>
                <a:ea typeface=".萍方-简" panose="020B0300000000000000" charset="-122"/>
              </a:rPr>
              <a:t>你可能希望得到较小的文档块，以便它们</a:t>
            </a:r>
            <a:r>
              <a:rPr lang="en-US" altLang="zh-CN">
                <a:latin typeface=".萍方-简" panose="020B0300000000000000" charset="-122"/>
                <a:ea typeface=".萍方-简" panose="020B0300000000000000" charset="-122"/>
              </a:rPr>
              <a:t>Embedding</a:t>
            </a:r>
            <a:r>
              <a:rPr lang="zh-CN" altLang="en-US">
                <a:latin typeface=".萍方-简" panose="020B0300000000000000" charset="-122"/>
                <a:ea typeface=".萍方-简" panose="020B0300000000000000" charset="-122"/>
              </a:rPr>
              <a:t>以后能够最准确地反映出文档的含义，如果文档块太大，</a:t>
            </a:r>
            <a:r>
              <a:rPr lang="en-US" altLang="zh-CN">
                <a:latin typeface=".萍方-简" panose="020B0300000000000000" charset="-122"/>
                <a:ea typeface=".萍方-简" panose="020B0300000000000000" charset="-122"/>
              </a:rPr>
              <a:t>Embedding</a:t>
            </a:r>
            <a:r>
              <a:rPr lang="zh-CN" altLang="en-US">
                <a:latin typeface=".萍方-简" panose="020B0300000000000000" charset="-122"/>
                <a:ea typeface=".萍方-简" panose="020B0300000000000000" charset="-122"/>
              </a:rPr>
              <a:t>就失去了意义。</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2. </a:t>
            </a:r>
            <a:r>
              <a:rPr lang="zh-CN" altLang="en-US">
                <a:latin typeface=".萍方-简" panose="020B0300000000000000" charset="-122"/>
                <a:ea typeface=".萍方-简" panose="020B0300000000000000" charset="-122"/>
              </a:rPr>
              <a:t>你可能希望得到较大的文档块以保留较多的内容，然后将它们发送给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以便得到全面且正确的答案。</a:t>
            </a:r>
            <a:endParaRPr lang="zh-CN" altLang="en-US">
              <a:latin typeface=".萍方-简" panose="020B0300000000000000" charset="-122"/>
              <a:ea typeface=".萍方-简" panose="020B0300000000000000" charset="-122"/>
            </a:endParaRPr>
          </a:p>
        </p:txBody>
      </p:sp>
      <p:pic>
        <p:nvPicPr>
          <p:cNvPr id="2" name="图片 1" descr="1766214988932"/>
          <p:cNvPicPr>
            <a:picLocks noChangeAspect="1"/>
          </p:cNvPicPr>
          <p:nvPr/>
        </p:nvPicPr>
        <p:blipFill>
          <a:blip r:embed="rId1"/>
          <a:stretch>
            <a:fillRect/>
          </a:stretch>
        </p:blipFill>
        <p:spPr>
          <a:xfrm>
            <a:off x="514350" y="1506855"/>
            <a:ext cx="9408160" cy="10702925"/>
          </a:xfrm>
          <a:prstGeom prst="rect">
            <a:avLst/>
          </a:prstGeom>
        </p:spPr>
      </p:pic>
      <p:pic>
        <p:nvPicPr>
          <p:cNvPr id="5" name="图片 4" descr="1766215021557"/>
          <p:cNvPicPr>
            <a:picLocks noChangeAspect="1"/>
          </p:cNvPicPr>
          <p:nvPr/>
        </p:nvPicPr>
        <p:blipFill>
          <a:blip r:embed="rId2"/>
          <a:stretch>
            <a:fillRect/>
          </a:stretch>
        </p:blipFill>
        <p:spPr>
          <a:xfrm>
            <a:off x="8277225" y="1877695"/>
            <a:ext cx="15871825" cy="10634980"/>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父子索引</a:t>
            </a:r>
            <a:endParaRPr lang="en-US" altLang="zh-CN" b="1">
              <a:latin typeface=".萍方-简" panose="020B0300000000000000" charset="-122"/>
              <a:ea typeface=".萍方-简" panose="020B0300000000000000" charset="-122"/>
              <a:cs typeface=".萍方-简" panose="020B0300000000000000" charset="-122"/>
            </a:endParaRPr>
          </a:p>
        </p:txBody>
      </p:sp>
      <p:pic>
        <p:nvPicPr>
          <p:cNvPr id="4" name="图片 3"/>
          <p:cNvPicPr>
            <a:picLocks noChangeAspect="1"/>
          </p:cNvPicPr>
          <p:nvPr/>
        </p:nvPicPr>
        <p:blipFill>
          <a:blip r:embed="rId1"/>
          <a:stretch>
            <a:fillRect/>
          </a:stretch>
        </p:blipFill>
        <p:spPr>
          <a:xfrm>
            <a:off x="1235075" y="6018530"/>
            <a:ext cx="21950680" cy="6922135"/>
          </a:xfrm>
          <a:prstGeom prst="rect">
            <a:avLst/>
          </a:prstGeom>
        </p:spPr>
      </p:pic>
      <p:sp>
        <p:nvSpPr>
          <p:cNvPr id="3" name="文本框 2"/>
          <p:cNvSpPr txBox="1"/>
          <p:nvPr/>
        </p:nvSpPr>
        <p:spPr>
          <a:xfrm>
            <a:off x="858233" y="1598014"/>
            <a:ext cx="22666823" cy="47028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pPr marL="685800" indent="-685800">
              <a:buFontTx/>
              <a:buChar char="-"/>
            </a:pPr>
            <a:r>
              <a:rPr lang="zh-CN" altLang="en-US" sz="4000">
                <a:latin typeface=".萍方-简" panose="020B0300000000000000" charset="-122"/>
                <a:ea typeface=".萍方-简" panose="020B0300000000000000" charset="-122"/>
              </a:rPr>
              <a:t>文档被分割成一个层级化的块结构，随后用最小的叶子块进行索引</a:t>
            </a:r>
            <a:endParaRPr lang="en-US" altLang="zh-CN" sz="4000">
              <a:latin typeface=".萍方-简" panose="020B0300000000000000" charset="-122"/>
              <a:ea typeface=".萍方-简" panose="020B0300000000000000" charset="-122"/>
            </a:endParaRPr>
          </a:p>
          <a:p>
            <a:r>
              <a:rPr lang="en-US" altLang="zh-CN" sz="4000">
                <a:latin typeface=".萍方-简" panose="020B0300000000000000" charset="-122"/>
                <a:ea typeface=".萍方-简" panose="020B0300000000000000" charset="-122"/>
              </a:rPr>
              <a:t>- </a:t>
            </a:r>
            <a:r>
              <a:rPr lang="zh-CN" altLang="en-US" sz="4000">
                <a:latin typeface=".萍方-简" panose="020B0300000000000000" charset="-122"/>
                <a:ea typeface=".萍方-简" panose="020B0300000000000000" charset="-122"/>
              </a:rPr>
              <a:t>在检索过程中检索出</a:t>
            </a:r>
            <a:r>
              <a:rPr lang="en-US" altLang="zh-CN" sz="4000">
                <a:latin typeface=".萍方-简" panose="020B0300000000000000" charset="-122"/>
                <a:ea typeface=".萍方-简" panose="020B0300000000000000" charset="-122"/>
              </a:rPr>
              <a:t>top k</a:t>
            </a:r>
            <a:r>
              <a:rPr lang="zh-CN" altLang="en-US" sz="4000">
                <a:latin typeface=".萍方-简" panose="020B0300000000000000" charset="-122"/>
                <a:ea typeface=".萍方-简" panose="020B0300000000000000" charset="-122"/>
              </a:rPr>
              <a:t>个叶子块</a:t>
            </a:r>
            <a:endParaRPr lang="en-US" altLang="zh-CN" sz="4000">
              <a:latin typeface=".萍方-简" panose="020B0300000000000000" charset="-122"/>
              <a:ea typeface=".萍方-简" panose="020B0300000000000000" charset="-122"/>
            </a:endParaRPr>
          </a:p>
          <a:p>
            <a:r>
              <a:rPr lang="en-US" altLang="zh-CN" sz="4000">
                <a:latin typeface=".萍方-简" panose="020B0300000000000000" charset="-122"/>
                <a:ea typeface=".萍方-简" panose="020B0300000000000000" charset="-122"/>
              </a:rPr>
              <a:t>- </a:t>
            </a:r>
            <a:r>
              <a:rPr lang="zh-CN" altLang="en-US" sz="4000">
                <a:latin typeface=".萍方-简" panose="020B0300000000000000" charset="-122"/>
                <a:ea typeface=".萍方-简" panose="020B0300000000000000" charset="-122"/>
              </a:rPr>
              <a:t>如果存在</a:t>
            </a:r>
            <a:r>
              <a:rPr lang="en-US" altLang="zh-CN" sz="4000">
                <a:latin typeface=".萍方-简" panose="020B0300000000000000" charset="-122"/>
                <a:ea typeface=".萍方-简" panose="020B0300000000000000" charset="-122"/>
              </a:rPr>
              <a:t>n</a:t>
            </a:r>
            <a:r>
              <a:rPr lang="zh-CN" altLang="en-US" sz="4000">
                <a:latin typeface=".萍方-简" panose="020B0300000000000000" charset="-122"/>
                <a:ea typeface=".萍方-简" panose="020B0300000000000000" charset="-122"/>
              </a:rPr>
              <a:t>个叶子块都指向同一个更大的父块，那么我们就用这个父块来替换这些子块，并将其送入大模型用于生成答案。</a:t>
            </a:r>
            <a:endParaRPr lang="zh-CN" altLang="en-US" sz="4000">
              <a:latin typeface=".萍方-简" panose="020B0300000000000000" charset="-122"/>
              <a:ea typeface=".萍方-简" panose="020B0300000000000000" charset="-122"/>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父子索引</a:t>
            </a:r>
            <a:r>
              <a:rPr lang="en-US" altLang="zh-CN" b="1">
                <a:latin typeface=".萍方-简" panose="020B0300000000000000" charset="-122"/>
                <a:ea typeface=".萍方-简" panose="020B0300000000000000" charset="-122"/>
                <a:cs typeface=".萍方-简" panose="020B0300000000000000" charset="-122"/>
              </a:rPr>
              <a:t>-</a:t>
            </a:r>
            <a:r>
              <a:rPr lang="zh-CN" altLang="en-US" b="1">
                <a:latin typeface=".萍方-简" panose="020B0300000000000000" charset="-122"/>
                <a:ea typeface=".萍方-简" panose="020B0300000000000000" charset="-122"/>
                <a:cs typeface=".萍方-简" panose="020B0300000000000000" charset="-122"/>
              </a:rPr>
              <a:t>总结</a:t>
            </a:r>
            <a:endParaRPr lang="en-US" altLang="zh-CN" b="1">
              <a:latin typeface=".萍方-简" panose="020B0300000000000000" charset="-122"/>
              <a:ea typeface=".萍方-简" panose="020B0300000000000000" charset="-122"/>
              <a:cs typeface=".萍方-简" panose="020B0300000000000000" charset="-122"/>
            </a:endParaRPr>
          </a:p>
        </p:txBody>
      </p:sp>
      <p:pic>
        <p:nvPicPr>
          <p:cNvPr id="2" name="图片 1"/>
          <p:cNvPicPr>
            <a:picLocks noChangeAspect="1"/>
          </p:cNvPicPr>
          <p:nvPr/>
        </p:nvPicPr>
        <p:blipFill>
          <a:blip r:embed="rId1"/>
          <a:stretch>
            <a:fillRect/>
          </a:stretch>
        </p:blipFill>
        <p:spPr>
          <a:xfrm>
            <a:off x="615315" y="1867535"/>
            <a:ext cx="14316075" cy="7399020"/>
          </a:xfrm>
          <a:prstGeom prst="rect">
            <a:avLst/>
          </a:prstGeom>
        </p:spPr>
      </p:pic>
      <p:sp>
        <p:nvSpPr>
          <p:cNvPr id="5" name="文本框 4"/>
          <p:cNvSpPr txBox="1"/>
          <p:nvPr/>
        </p:nvSpPr>
        <p:spPr>
          <a:xfrm>
            <a:off x="4283710" y="10889615"/>
            <a:ext cx="17012920" cy="1555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a:noAutofit/>
          </a:bodyPr>
          <a:p>
            <a:pPr marL="0" marR="0" indent="0" algn="l" defTabSz="2438400" rtl="0" fontAlgn="auto" latinLnBrk="0" hangingPunct="0">
              <a:lnSpc>
                <a:spcPct val="90000"/>
              </a:lnSpc>
              <a:spcBef>
                <a:spcPts val="4500"/>
              </a:spcBef>
              <a:spcAft>
                <a:spcPts val="0"/>
              </a:spcAft>
              <a:buClrTx/>
              <a:buSzTx/>
              <a:buFontTx/>
              <a:buNone/>
            </a:pPr>
            <a:r>
              <a:rPr lang="zh-CN" altLang="en-US" sz="4400">
                <a:latin typeface=".萍方-简" panose="020B0300000000000000" charset="-122"/>
                <a:ea typeface=".萍方-简" panose="020B0300000000000000" charset="-122"/>
                <a:sym typeface="+mn-ea"/>
              </a:rPr>
              <a:t>父子索引技术：让</a:t>
            </a:r>
            <a:r>
              <a:rPr lang="en-US" altLang="zh-CN" sz="4400">
                <a:latin typeface=".萍方-简" panose="020B0300000000000000" charset="-122"/>
                <a:ea typeface=".萍方-简" panose="020B0300000000000000" charset="-122"/>
                <a:sym typeface="+mn-ea"/>
              </a:rPr>
              <a:t>RAG</a:t>
            </a:r>
            <a:r>
              <a:rPr lang="zh-CN" altLang="en-US" sz="4400">
                <a:latin typeface=".萍方-简" panose="020B0300000000000000" charset="-122"/>
                <a:ea typeface=".萍方-简" panose="020B0300000000000000" charset="-122"/>
                <a:sym typeface="+mn-ea"/>
              </a:rPr>
              <a:t>同时兼顾检索精度与上下文完整性的高阶策略</a:t>
            </a:r>
            <a:endParaRPr lang="zh-CN" altLang="en-US" sz="4400">
              <a:latin typeface=".萍方-简" panose="020B0300000000000000" charset="-122"/>
              <a:ea typeface=".萍方-简" panose="020B0300000000000000" charset="-122"/>
              <a:sym typeface="+mn-ea"/>
            </a:endParaRPr>
          </a:p>
          <a:p>
            <a:pPr marL="0" marR="0" indent="0" algn="l" defTabSz="2438400" rtl="0" fontAlgn="auto" latinLnBrk="0" hangingPunct="0">
              <a:lnSpc>
                <a:spcPct val="90000"/>
              </a:lnSpc>
              <a:spcBef>
                <a:spcPts val="4500"/>
              </a:spcBef>
              <a:spcAft>
                <a:spcPts val="0"/>
              </a:spcAft>
              <a:buClrTx/>
              <a:buSzTx/>
              <a:buFontTx/>
              <a:buNone/>
            </a:pPr>
            <a:endParaRPr kumimoji="0" lang="zh-CN" altLang="en-US" sz="4400" b="0" i="0" u="none" strike="noStrike" cap="none" spc="0" normalizeH="0" baseline="0">
              <a:ln>
                <a:noFill/>
              </a:ln>
              <a:solidFill>
                <a:srgbClr val="000000"/>
              </a:solidFill>
              <a:effectLst/>
              <a:uFillTx/>
              <a:latin typeface=".萍方-简" panose="020B0300000000000000" charset="-122"/>
              <a:ea typeface=".萍方-简" panose="020B0300000000000000" charset="-122"/>
              <a:cs typeface="+mn-cs"/>
              <a:sym typeface="+mn-ea"/>
            </a:endParaRPr>
          </a:p>
        </p:txBody>
      </p:sp>
      <p:sp>
        <p:nvSpPr>
          <p:cNvPr id="6" name="文本框 5"/>
          <p:cNvSpPr txBox="1"/>
          <p:nvPr/>
        </p:nvSpPr>
        <p:spPr>
          <a:xfrm>
            <a:off x="15133320" y="1867535"/>
            <a:ext cx="8488680" cy="7399020"/>
          </a:xfrm>
          <a:prstGeom prst="rect">
            <a:avLst/>
          </a:prstGeom>
        </p:spPr>
        <p:txBody>
          <a:bodyPr>
            <a:noAutofit/>
          </a:bodyPr>
          <a:p>
            <a:pPr marL="0">
              <a:spcBef>
                <a:spcPct val="0"/>
              </a:spcBef>
              <a:spcAft>
                <a:spcPct val="0"/>
              </a:spcAft>
              <a:buFont typeface="Arial" panose="020B0604020202020204"/>
            </a:pPr>
            <a:r>
              <a:rPr lang="zh-CN" altLang="en-US" sz="4400" b="0" i="0">
                <a:solidFill>
                  <a:srgbClr val="333333"/>
                </a:solidFill>
                <a:latin typeface=".萍方-简" panose="020B0300000000000000" charset="-122"/>
                <a:ea typeface=".萍方-简" panose="020B0300000000000000" charset="-122"/>
              </a:rPr>
              <a:t>注意事项：</a:t>
            </a:r>
            <a:endParaRPr lang="zh-CN" altLang="en-US" sz="4400" b="0" i="0">
              <a:solidFill>
                <a:srgbClr val="333333"/>
              </a:solidFill>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r>
              <a:rPr lang="zh-CN" altLang="en-US" sz="4400" b="0" i="0" kern="500">
                <a:solidFill>
                  <a:srgbClr val="333333"/>
                </a:solidFill>
                <a:uFillTx/>
                <a:latin typeface=".萍方-简" panose="020B0300000000000000" charset="-122"/>
                <a:ea typeface=".萍方-简" panose="020B0300000000000000" charset="-122"/>
              </a:rPr>
              <a:t>文档有清晰的结构层次</a:t>
            </a:r>
            <a:endParaRPr lang="zh-CN" altLang="en-US" sz="4400" b="0" i="0" kern="500">
              <a:solidFill>
                <a:srgbClr val="333333"/>
              </a:solidFill>
              <a:uFillTx/>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r>
              <a:rPr lang="zh-CN" altLang="en-US" sz="4400" b="0" i="0" kern="500">
                <a:solidFill>
                  <a:srgbClr val="333333"/>
                </a:solidFill>
                <a:uFillTx/>
                <a:latin typeface=".萍方-简" panose="020B0300000000000000" charset="-122"/>
                <a:ea typeface=".萍方-简" panose="020B0300000000000000" charset="-122"/>
              </a:rPr>
              <a:t>需要保持上下文的完整性</a:t>
            </a:r>
            <a:endParaRPr lang="zh-CN" altLang="en-US" sz="4400" b="0" i="0" kern="500">
              <a:solidFill>
                <a:srgbClr val="333333"/>
              </a:solidFill>
              <a:uFillTx/>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r>
              <a:rPr lang="zh-CN" altLang="en-US" sz="4400" b="0" i="0" kern="500">
                <a:solidFill>
                  <a:srgbClr val="333333"/>
                </a:solidFill>
                <a:uFillTx/>
                <a:latin typeface=".萍方-简" panose="020B0300000000000000" charset="-122"/>
                <a:ea typeface=".萍方-简" panose="020B0300000000000000" charset="-122"/>
              </a:rPr>
              <a:t>用户查询通常针对具体细节</a:t>
            </a:r>
            <a:endParaRPr lang="zh-CN" altLang="en-US" sz="4400" b="0" i="0" kern="500">
              <a:solidFill>
                <a:srgbClr val="333333"/>
              </a:solidFill>
              <a:uFillTx/>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r>
              <a:rPr lang="zh-CN" altLang="en-US" sz="4400" b="0" i="0" kern="500">
                <a:solidFill>
                  <a:srgbClr val="333333"/>
                </a:solidFill>
                <a:uFillTx/>
                <a:latin typeface=".萍方-简" panose="020B0300000000000000" charset="-122"/>
                <a:ea typeface=".萍方-简" panose="020B0300000000000000" charset="-122"/>
              </a:rPr>
              <a:t>信息碎片化可能造成误解</a:t>
            </a:r>
            <a:endParaRPr lang="zh-CN" altLang="en-US" sz="4400" b="0" i="0" kern="500">
              <a:solidFill>
                <a:srgbClr val="333333"/>
              </a:solidFill>
              <a:uFillTx/>
              <a:latin typeface=".萍方-简" panose="020B0300000000000000" charset="-122"/>
              <a:ea typeface=".萍方-简" panose="020B0300000000000000" charset="-122"/>
            </a:endParaRPr>
          </a:p>
          <a:p>
            <a:pPr marL="0" indent="0">
              <a:spcBef>
                <a:spcPct val="0"/>
              </a:spcBef>
              <a:spcAft>
                <a:spcPct val="0"/>
              </a:spcAft>
              <a:buFont typeface="Arial" panose="020B0604020202020204"/>
              <a:buChar char="•"/>
            </a:pPr>
            <a:endParaRPr lang="zh-CN" altLang="en-US" sz="4400" b="0" i="0">
              <a:solidFill>
                <a:srgbClr val="333333"/>
              </a:solidFill>
              <a:latin typeface=".萍方-简" panose="020B0300000000000000" charset="-122"/>
              <a:ea typeface=".萍方-简" panose="020B0300000000000000" charset="-122"/>
            </a:endParaRPr>
          </a:p>
          <a:p>
            <a:pPr marL="0">
              <a:spcBef>
                <a:spcPct val="0"/>
              </a:spcBef>
              <a:spcAft>
                <a:spcPct val="0"/>
              </a:spcAft>
              <a:buFont typeface="Arial" panose="020B0604020202020204"/>
            </a:pPr>
            <a:r>
              <a:rPr lang="zh-CN" altLang="en-US" sz="4400" b="1">
                <a:latin typeface=".萍方-简" panose="020B0300000000000000" charset="-122"/>
                <a:ea typeface=".萍方-简" panose="020B0300000000000000" charset="-122"/>
                <a:sym typeface="+mn-ea"/>
              </a:rPr>
              <a:t>应用场景</a:t>
            </a:r>
            <a:r>
              <a:rPr lang="zh-CN" altLang="en-US" sz="4400" b="0" i="0">
                <a:solidFill>
                  <a:srgbClr val="333333"/>
                </a:solidFill>
                <a:latin typeface=".萍方-简" panose="020B0300000000000000" charset="-122"/>
                <a:ea typeface=".萍方-简" panose="020B0300000000000000" charset="-122"/>
              </a:rPr>
              <a:t>：</a:t>
            </a:r>
            <a:endParaRPr lang="zh-CN" altLang="en-US" sz="4400" b="0" i="0">
              <a:solidFill>
                <a:srgbClr val="333333"/>
              </a:solidFill>
              <a:latin typeface=".萍方-简" panose="020B0300000000000000" charset="-122"/>
              <a:ea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1. </a:t>
            </a:r>
            <a:r>
              <a:rPr lang="zh-CN" altLang="en-US" sz="4400">
                <a:latin typeface=".萍方-简" panose="020B0300000000000000" charset="-122"/>
                <a:ea typeface=".萍方-简" panose="020B0300000000000000" charset="-122"/>
                <a:sym typeface="+mn-ea"/>
              </a:rPr>
              <a:t>技术文档检索（如</a:t>
            </a:r>
            <a:r>
              <a:rPr lang="en-US" altLang="zh-CN" sz="4400">
                <a:latin typeface=".萍方-简" panose="020B0300000000000000" charset="-122"/>
                <a:ea typeface=".萍方-简" panose="020B0300000000000000" charset="-122"/>
                <a:sym typeface="+mn-ea"/>
              </a:rPr>
              <a:t>API</a:t>
            </a:r>
            <a:r>
              <a:rPr lang="zh-CN" altLang="en-US" sz="4400">
                <a:latin typeface=".萍方-简" panose="020B0300000000000000" charset="-122"/>
                <a:ea typeface=".萍方-简" panose="020B0300000000000000" charset="-122"/>
                <a:sym typeface="+mn-ea"/>
              </a:rPr>
              <a:t>文档）</a:t>
            </a:r>
            <a:r>
              <a:rPr lang="en-US" altLang="zh-CN" sz="4400">
                <a:latin typeface=".萍方-简" panose="020B0300000000000000" charset="-122"/>
                <a:ea typeface=".萍方-简" panose="020B0300000000000000" charset="-122"/>
                <a:sym typeface="+mn-ea"/>
              </a:rPr>
              <a:t>      </a:t>
            </a:r>
            <a:endParaRPr lang="en-US" altLang="zh-CN" sz="4400">
              <a:latin typeface=".萍方-简" panose="020B0300000000000000" charset="-122"/>
              <a:ea typeface=".萍方-简" panose="020B0300000000000000" charset="-122"/>
              <a:sym typeface="+mn-ea"/>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2. </a:t>
            </a:r>
            <a:r>
              <a:rPr lang="zh-CN" altLang="en-US" sz="4400">
                <a:latin typeface=".萍方-简" panose="020B0300000000000000" charset="-122"/>
                <a:ea typeface=".萍方-简" panose="020B0300000000000000" charset="-122"/>
                <a:sym typeface="+mn-ea"/>
              </a:rPr>
              <a:t>书籍内容检索</a:t>
            </a:r>
            <a:endParaRPr kumimoji="0" lang="zh-CN" altLang="en-US" sz="4400" b="0" i="0" u="none" strike="noStrike" cap="none" spc="0" normalizeH="0" baseline="0">
              <a:ln>
                <a:noFill/>
              </a:ln>
              <a:solidFill>
                <a:srgbClr val="000000"/>
              </a:solidFill>
              <a:effectLst/>
              <a:uFillTx/>
              <a:latin typeface=".萍方-简" panose="020B0300000000000000" charset="-122"/>
              <a:ea typeface=".萍方-简" panose="020B0300000000000000" charset="-122"/>
              <a:cs typeface="+mn-cs"/>
              <a:sym typeface="+mn-ea"/>
            </a:endParaRPr>
          </a:p>
          <a:p>
            <a:pPr marL="0" marR="0" indent="0" algn="l" defTabSz="2438400" rtl="0" fontAlgn="auto" latinLnBrk="0" hangingPunct="0">
              <a:lnSpc>
                <a:spcPct val="90000"/>
              </a:lnSpc>
              <a:spcBef>
                <a:spcPts val="4500"/>
              </a:spcBef>
              <a:spcAft>
                <a:spcPts val="0"/>
              </a:spcAft>
              <a:buClrTx/>
              <a:buSzTx/>
              <a:buFontTx/>
              <a:buNone/>
            </a:pPr>
            <a:r>
              <a:rPr lang="en-US" altLang="zh-CN" sz="4400">
                <a:latin typeface=".萍方-简" panose="020B0300000000000000" charset="-122"/>
                <a:ea typeface=".萍方-简" panose="020B0300000000000000" charset="-122"/>
                <a:sym typeface="+mn-ea"/>
              </a:rPr>
              <a:t>3. </a:t>
            </a:r>
            <a:r>
              <a:rPr lang="zh-CN" altLang="en-US" sz="4400">
                <a:latin typeface=".萍方-简" panose="020B0300000000000000" charset="-122"/>
                <a:ea typeface=".萍方-简" panose="020B0300000000000000" charset="-122"/>
                <a:sym typeface="+mn-ea"/>
              </a:rPr>
              <a:t>代码库检索</a:t>
            </a:r>
            <a:endParaRPr kumimoji="0" lang="zh-CN" altLang="en-US" sz="4400" b="0" i="0" u="none" strike="noStrike" cap="none" spc="0" normalizeH="0" baseline="0">
              <a:ln>
                <a:noFill/>
              </a:ln>
              <a:solidFill>
                <a:srgbClr val="000000"/>
              </a:solidFill>
              <a:effectLst/>
              <a:uFillTx/>
              <a:latin typeface=".萍方-简" panose="020B0300000000000000" charset="-122"/>
              <a:ea typeface=".萍方-简" panose="020B0300000000000000" charset="-122"/>
              <a:cs typeface="+mn-cs"/>
              <a:sym typeface="+mn-ea"/>
            </a:endParaRPr>
          </a:p>
          <a:p>
            <a:pPr marL="0" indent="0">
              <a:spcBef>
                <a:spcPct val="0"/>
              </a:spcBef>
              <a:spcAft>
                <a:spcPct val="0"/>
              </a:spcAft>
              <a:buFont typeface="Arial" panose="020B0604020202020204"/>
              <a:buChar char="•"/>
            </a:pPr>
            <a:endParaRPr lang="zh-CN" altLang="en-US" sz="4400" b="0" i="0">
              <a:solidFill>
                <a:srgbClr val="333333"/>
              </a:solidFill>
              <a:latin typeface=".萍方-简" panose="020B0300000000000000" charset="-122"/>
              <a:ea typeface=".萍方-简" panose="020B0300000000000000" charset="-122"/>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假设性问题索引</a:t>
            </a:r>
            <a:endParaRPr lang="en-US" altLang="zh-CN"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4" y="1712448"/>
            <a:ext cx="22666823" cy="276473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假设性问题是一种提问方式，它基于一个或多个假设的情况或前提来提出问题。在对知识库中文档内容进行切片时，是可以以该切片为假设条件，利用</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预先设置几个候选的相关性问题的，也就是说，这几个候选的相关性问题是和切片的内容强相关的。</a:t>
            </a:r>
            <a:endParaRPr lang="zh-CN" altLang="en-US">
              <a:latin typeface=".萍方-简" panose="020B0300000000000000" charset="-122"/>
              <a:ea typeface=".萍方-简" panose="020B0300000000000000" charset="-122"/>
            </a:endParaRPr>
          </a:p>
        </p:txBody>
      </p:sp>
      <p:sp>
        <p:nvSpPr>
          <p:cNvPr id="3" name="文本框 2"/>
          <p:cNvSpPr txBox="1"/>
          <p:nvPr/>
        </p:nvSpPr>
        <p:spPr>
          <a:xfrm>
            <a:off x="1243044" y="6149059"/>
            <a:ext cx="22666823" cy="514413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pPr marL="685800" indent="-685800">
              <a:buFontTx/>
              <a:buChar char="-"/>
            </a:pPr>
            <a:r>
              <a:rPr lang="zh-CN" altLang="en-US">
                <a:latin typeface=".萍方-简" panose="020B0300000000000000" charset="-122"/>
                <a:ea typeface=".萍方-简" panose="020B0300000000000000" charset="-122"/>
              </a:rPr>
              <a:t>让</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为每个块生成</a:t>
            </a:r>
            <a:r>
              <a:rPr lang="en-US" altLang="zh-CN">
                <a:latin typeface=".萍方-简" panose="020B0300000000000000" charset="-122"/>
                <a:ea typeface=".萍方-简" panose="020B0300000000000000" charset="-122"/>
              </a:rPr>
              <a:t>3</a:t>
            </a:r>
            <a:r>
              <a:rPr lang="zh-CN" altLang="en-US">
                <a:latin typeface=".萍方-简" panose="020B0300000000000000" charset="-122"/>
                <a:ea typeface=".萍方-简" panose="020B0300000000000000" charset="-122"/>
              </a:rPr>
              <a:t>个假设性问题，并将这些问题以向量形式嵌入</a:t>
            </a:r>
            <a:endParaRPr lang="en-US" altLang="zh-CN">
              <a:latin typeface=".萍方-简" panose="020B0300000000000000" charset="-122"/>
              <a:ea typeface=".萍方-简" panose="020B0300000000000000" charset="-122"/>
            </a:endParaRPr>
          </a:p>
          <a:p>
            <a:pPr marL="685800" indent="-685800">
              <a:buFontTx/>
              <a:buChar char="-"/>
            </a:pPr>
            <a:r>
              <a:rPr lang="zh-CN" altLang="en-US">
                <a:latin typeface=".萍方-简" panose="020B0300000000000000" charset="-122"/>
                <a:ea typeface=".萍方-简" panose="020B0300000000000000" charset="-122"/>
              </a:rPr>
              <a:t>在运行时，针对这个问题向量的索引进行查询搜索（用问题向量替换文档的块向量）</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检索后将原始文本块作为上下文发送给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以获取答案</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假设性问题索引</a:t>
            </a:r>
            <a:endParaRPr lang="en-US" altLang="zh-CN" b="1">
              <a:latin typeface=".萍方-简" panose="020B0300000000000000" charset="-122"/>
              <a:ea typeface=".萍方-简" panose="020B0300000000000000" charset="-122"/>
              <a:cs typeface=".萍方-简" panose="020B0300000000000000" charset="-122"/>
            </a:endParaRPr>
          </a:p>
        </p:txBody>
      </p:sp>
      <p:pic>
        <p:nvPicPr>
          <p:cNvPr id="4" name="图片 3"/>
          <p:cNvPicPr>
            <a:picLocks noChangeAspect="1"/>
          </p:cNvPicPr>
          <p:nvPr/>
        </p:nvPicPr>
        <p:blipFill>
          <a:blip r:embed="rId1"/>
          <a:stretch>
            <a:fillRect/>
          </a:stretch>
        </p:blipFill>
        <p:spPr>
          <a:xfrm>
            <a:off x="1015471" y="1752071"/>
            <a:ext cx="22318662" cy="11107150"/>
          </a:xfrm>
          <a:prstGeom prst="rect">
            <a:avLst/>
          </a:prstGeom>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元数据索引</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524848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在企业复杂的知识密集型应用中，可能会面临几百个不同来源与类型的知识文档。如果只是简单地依赖传统的文本分割与 </a:t>
            </a:r>
            <a:r>
              <a:rPr lang="en-US" altLang="zh-CN">
                <a:latin typeface=".萍方-简" panose="020B0300000000000000" charset="-122"/>
                <a:ea typeface=".萍方-简" panose="020B0300000000000000" charset="-122"/>
              </a:rPr>
              <a:t>top-k </a:t>
            </a:r>
            <a:r>
              <a:rPr lang="zh-CN" altLang="en-US">
                <a:latin typeface=".萍方-简" panose="020B0300000000000000" charset="-122"/>
                <a:ea typeface=".萍方-简" panose="020B0300000000000000" charset="-122"/>
              </a:rPr>
              <a:t>检索，就会产生精度不足、知识相互干扰等问题，从而导致效果不佳。想象一下，你想在一个医学文献数据库中查找关于“糖尿病足”的资料，但数据库中也充斥着大量关于其他糖尿病并发症的信息。</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一个重要的优化方法是在大文档集下“分层”过滤与检索。比如元数据索引</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2" y="7694361"/>
            <a:ext cx="22666823" cy="143513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元数据是对文档的一种属性描述，假设我们使用一个存储了大量科技博客文章的向量数据库。每篇文章都关联了以下标签：</a:t>
            </a:r>
            <a:endParaRPr lang="zh-CN" altLang="en-US">
              <a:latin typeface=".萍方-简" panose="020B0300000000000000" charset="-122"/>
              <a:ea typeface=".萍方-简" panose="020B0300000000000000" charset="-122"/>
            </a:endParaRPr>
          </a:p>
        </p:txBody>
      </p:sp>
      <p:sp>
        <p:nvSpPr>
          <p:cNvPr id="5" name="文本框 4"/>
          <p:cNvSpPr txBox="1"/>
          <p:nvPr/>
        </p:nvSpPr>
        <p:spPr>
          <a:xfrm>
            <a:off x="1243042" y="9676655"/>
            <a:ext cx="22666823" cy="32540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topic: </a:t>
            </a:r>
            <a:r>
              <a:rPr lang="zh-CN" altLang="en-US">
                <a:latin typeface=".萍方-简" panose="020B0300000000000000" charset="-122"/>
                <a:ea typeface=".萍方-简" panose="020B0300000000000000" charset="-122"/>
              </a:rPr>
              <a:t>人工智能</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区块链</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云计算</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大数据  </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author: </a:t>
            </a:r>
            <a:r>
              <a:rPr lang="zh-CN" altLang="en-US">
                <a:latin typeface=".萍方-简" panose="020B0300000000000000" charset="-122"/>
                <a:ea typeface=".萍方-简" panose="020B0300000000000000" charset="-122"/>
              </a:rPr>
              <a:t>作者</a:t>
            </a:r>
            <a:r>
              <a:rPr lang="en-US" altLang="zh-CN">
                <a:latin typeface=".萍方-简" panose="020B0300000000000000" charset="-122"/>
                <a:ea typeface=".萍方-简" panose="020B0300000000000000" charset="-122"/>
              </a:rPr>
              <a:t>A, </a:t>
            </a:r>
            <a:r>
              <a:rPr lang="zh-CN" altLang="en-US">
                <a:latin typeface=".萍方-简" panose="020B0300000000000000" charset="-122"/>
                <a:ea typeface=".萍方-简" panose="020B0300000000000000" charset="-122"/>
              </a:rPr>
              <a:t>作者</a:t>
            </a:r>
            <a:r>
              <a:rPr lang="en-US" altLang="zh-CN">
                <a:latin typeface=".萍方-简" panose="020B0300000000000000" charset="-122"/>
                <a:ea typeface=".萍方-简" panose="020B0300000000000000" charset="-122"/>
              </a:rPr>
              <a:t>B, </a:t>
            </a:r>
            <a:r>
              <a:rPr lang="zh-CN" altLang="en-US">
                <a:latin typeface=".萍方-简" panose="020B0300000000000000" charset="-122"/>
                <a:ea typeface=".萍方-简" panose="020B0300000000000000" charset="-122"/>
              </a:rPr>
              <a:t>作者</a:t>
            </a:r>
            <a:r>
              <a:rPr lang="en-US" altLang="zh-CN">
                <a:latin typeface=".萍方-简" panose="020B0300000000000000" charset="-122"/>
                <a:ea typeface=".萍方-简" panose="020B0300000000000000" charset="-122"/>
              </a:rPr>
              <a:t>C  </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year: 2022, 2023, 2024</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元数据索引</a:t>
            </a:r>
            <a:endParaRPr lang="en-US" altLang="zh-CN" b="1">
              <a:latin typeface=".萍方-简" panose="020B0300000000000000" charset="-122"/>
              <a:ea typeface=".萍方-简" panose="020B0300000000000000" charset="-122"/>
              <a:cs typeface=".萍方-简" panose="020B0300000000000000" charset="-122"/>
            </a:endParaRPr>
          </a:p>
        </p:txBody>
      </p:sp>
      <p:sp>
        <p:nvSpPr>
          <p:cNvPr id="5" name="文本框 4"/>
          <p:cNvSpPr txBox="1"/>
          <p:nvPr/>
        </p:nvSpPr>
        <p:spPr>
          <a:xfrm>
            <a:off x="1243044" y="1932113"/>
            <a:ext cx="22666823" cy="449597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pPr marL="685800" indent="-685800">
              <a:buFontTx/>
              <a:buChar char="-"/>
            </a:pPr>
            <a:r>
              <a:rPr lang="zh-CN" altLang="en-US">
                <a:latin typeface=".萍方-简" panose="020B0300000000000000" charset="-122"/>
                <a:ea typeface=".萍方-简" panose="020B0300000000000000" charset="-122"/>
              </a:rPr>
              <a:t>定义元数据标签，如果文档本身没有，可以利用大模型推理出输入问题的元数据</a:t>
            </a:r>
            <a:endParaRPr lang="en-US" altLang="zh-CN">
              <a:latin typeface=".萍方-简" panose="020B0300000000000000" charset="-122"/>
              <a:ea typeface=".萍方-简" panose="020B0300000000000000" charset="-122"/>
            </a:endParaRPr>
          </a:p>
          <a:p>
            <a:pPr marL="685800" indent="-685800">
              <a:buFontTx/>
              <a:buChar char="-"/>
            </a:pPr>
            <a:r>
              <a:rPr lang="zh-CN" altLang="en-US">
                <a:latin typeface=".萍方-简" panose="020B0300000000000000" charset="-122"/>
                <a:ea typeface=".萍方-简" panose="020B0300000000000000" charset="-122"/>
              </a:rPr>
              <a:t>通过标签先对文档进行过滤</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结合向量检索进一步定位到最相关的前 </a:t>
            </a:r>
            <a:r>
              <a:rPr lang="en-US" altLang="zh-CN">
                <a:latin typeface=".萍方-简" panose="020B0300000000000000" charset="-122"/>
                <a:ea typeface=".萍方-简" panose="020B0300000000000000" charset="-122"/>
              </a:rPr>
              <a:t>K </a:t>
            </a:r>
            <a:r>
              <a:rPr lang="zh-CN" altLang="en-US">
                <a:latin typeface=".萍方-简" panose="020B0300000000000000" charset="-122"/>
                <a:ea typeface=".萍方-简" panose="020B0300000000000000" charset="-122"/>
              </a:rPr>
              <a:t>个知识块</a:t>
            </a:r>
            <a:endParaRPr lang="zh-CN" altLang="en-US">
              <a:latin typeface=".萍方-简" panose="020B0300000000000000" charset="-122"/>
              <a:ea typeface=".萍方-简" panose="020B0300000000000000" charset="-122"/>
            </a:endParaRPr>
          </a:p>
        </p:txBody>
      </p:sp>
      <p:sp>
        <p:nvSpPr>
          <p:cNvPr id="6" name="文本框 5"/>
          <p:cNvSpPr txBox="1"/>
          <p:nvPr/>
        </p:nvSpPr>
        <p:spPr>
          <a:xfrm>
            <a:off x="1243043" y="7008643"/>
            <a:ext cx="22666823"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LangChain </a:t>
            </a:r>
            <a:r>
              <a:rPr lang="zh-CN" altLang="en-US">
                <a:latin typeface=".萍方-简" panose="020B0300000000000000" charset="-122"/>
                <a:ea typeface=".萍方-简" panose="020B0300000000000000" charset="-122"/>
              </a:rPr>
              <a:t>中使用</a:t>
            </a:r>
            <a:r>
              <a:rPr lang="en-US" altLang="zh-CN">
                <a:latin typeface=".萍方-简" panose="020B0300000000000000" charset="-122"/>
                <a:ea typeface=".萍方-简" panose="020B0300000000000000" charset="-122"/>
              </a:rPr>
              <a:t>SelfQueryRetriever</a:t>
            </a:r>
            <a:r>
              <a:rPr lang="zh-CN" altLang="en-US">
                <a:latin typeface=".萍方-简" panose="020B0300000000000000" charset="-122"/>
                <a:ea typeface=".萍方-简" panose="020B0300000000000000" charset="-122"/>
              </a:rPr>
              <a:t>自查询检索器实现</a:t>
            </a:r>
            <a:endParaRPr lang="zh-CN" altLang="en-US">
              <a:latin typeface=".萍方-简" panose="020B0300000000000000" charset="-122"/>
              <a:ea typeface=".萍方-简" panose="020B0300000000000000" charset="-122"/>
            </a:endParaRPr>
          </a:p>
        </p:txBody>
      </p:sp>
      <p:pic>
        <p:nvPicPr>
          <p:cNvPr id="8" name="图片 7"/>
          <p:cNvPicPr>
            <a:picLocks noChangeAspect="1"/>
          </p:cNvPicPr>
          <p:nvPr/>
        </p:nvPicPr>
        <p:blipFill>
          <a:blip r:embed="rId1"/>
          <a:stretch>
            <a:fillRect/>
          </a:stretch>
        </p:blipFill>
        <p:spPr>
          <a:xfrm>
            <a:off x="1243043" y="8163983"/>
            <a:ext cx="21862010" cy="4552950"/>
          </a:xfrm>
          <a:prstGeom prst="rect">
            <a:avLst/>
          </a:prstGeom>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索引优化小结</a:t>
            </a:r>
            <a:endParaRPr lang="en-US" altLang="zh-CN" b="1">
              <a:latin typeface=".萍方-简" panose="020B0300000000000000" charset="-122"/>
              <a:ea typeface=".萍方-简" panose="020B0300000000000000" charset="-122"/>
              <a:cs typeface=".萍方-简" panose="020B0300000000000000" charset="-122"/>
            </a:endParaRPr>
          </a:p>
        </p:txBody>
      </p:sp>
      <p:graphicFrame>
        <p:nvGraphicFramePr>
          <p:cNvPr id="2" name="表格 1"/>
          <p:cNvGraphicFramePr>
            <a:graphicFrameLocks noGrp="1"/>
          </p:cNvGraphicFramePr>
          <p:nvPr/>
        </p:nvGraphicFramePr>
        <p:xfrm>
          <a:off x="1098020" y="1837266"/>
          <a:ext cx="22303847" cy="11015134"/>
        </p:xfrm>
        <a:graphic>
          <a:graphicData uri="http://schemas.openxmlformats.org/drawingml/2006/table">
            <a:tbl>
              <a:tblPr/>
              <a:tblGrid>
                <a:gridCol w="3545167"/>
                <a:gridCol w="8681472"/>
                <a:gridCol w="10077208"/>
              </a:tblGrid>
              <a:tr h="925922">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索引优化</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适用场景</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案例</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r>
              <a:tr h="2373194">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摘要索引</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适用于需要快速检索和生成简洁上下文的场景。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FFA"/>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在新闻资讯平台中，系统需要快速从海量新闻中提取关键信息，通过摘要索引可以迅速生成简洁的上下文，帮助用户快速了解新闻的核心内容。</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FFA"/>
                    </a:solidFill>
                  </a:tcPr>
                </a:tc>
              </a:tr>
              <a:tr h="2777766">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父子索引</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适用于需要确保语义完整性和层次化检索的场景。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2E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在法律检索系统中，用户查询法律条款时，父子索引通过分层检索精准查找相关内容，并召回对应大文档块确保上下文的完整性，避免因分块过细导致语义丢失。</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2E6"/>
                    </a:solidFill>
                  </a:tcPr>
                </a:tc>
              </a:tr>
              <a:tr h="2777766">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假设性问题索引</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适用于需要处理复杂查询和多样化表达的场景。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FFA"/>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在药品咨询系统中，用户查询症状时可能会问：“感冒了吃什么药？”。假设性问题索引通过为每种药品生成一系列假设性问题，帮助用户更准确地检索到相关信息。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FFA"/>
                    </a:solidFill>
                  </a:tcPr>
                </a:tc>
              </a:tr>
              <a:tr h="2160486">
                <a:tc>
                  <a:txBody>
                    <a:bodyPr/>
                    <a:lstStyle/>
                    <a:p>
                      <a:pPr fontAlgn="ctr" latinLnBrk="0"/>
                      <a:r>
                        <a:rPr lang="zh-CN" altLang="en-US" sz="3600" b="1" i="0">
                          <a:solidFill>
                            <a:srgbClr val="FFFFFF"/>
                          </a:solidFill>
                          <a:effectLst/>
                          <a:latin typeface=".萍方-简" panose="020B0300000000000000" charset="-122"/>
                          <a:ea typeface=".萍方-简" panose="020B0300000000000000" charset="-122"/>
                        </a:rPr>
                        <a:t>元数据索引</a:t>
                      </a:r>
                      <a:endParaRPr lang="zh-CN" altLang="en-US" sz="3600" b="1"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9A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适用于需要快速筛选和分类的场景。</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2E6"/>
                    </a:solidFill>
                  </a:tcPr>
                </a:tc>
                <a:tc>
                  <a:txBody>
                    <a:bodyPr/>
                    <a:lstStyle/>
                    <a:p>
                      <a:pPr fontAlgn="ctr" latinLnBrk="0"/>
                      <a:r>
                        <a:rPr lang="zh-CN" altLang="en-US" sz="3600" b="0" i="0">
                          <a:solidFill>
                            <a:srgbClr val="FFFFFF"/>
                          </a:solidFill>
                          <a:effectLst/>
                          <a:latin typeface=".萍方-简" panose="020B0300000000000000" charset="-122"/>
                          <a:ea typeface=".萍方-简" panose="020B0300000000000000" charset="-122"/>
                        </a:rPr>
                        <a:t>在电商推荐系统中，系统通过元数据索引快速筛选出符合用户偏好的商品信息，提高推荐效率和准确性。</a:t>
                      </a:r>
                      <a:endParaRPr lang="zh-CN" altLang="en-US" sz="3600" b="0" i="0">
                        <a:solidFill>
                          <a:srgbClr val="FFFFFF"/>
                        </a:solidFill>
                        <a:effectLst/>
                        <a:latin typeface=".萍方-简" panose="020B0300000000000000" charset="-122"/>
                        <a:ea typeface=".萍方-简" panose="020B0300000000000000" charset="-122"/>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92E6"/>
                    </a:solidFill>
                  </a:tcPr>
                </a:tc>
              </a:tr>
            </a:tbl>
          </a:graphicData>
        </a:graphic>
      </p:graphicFrame>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fontScale="90000"/>
          </a:bodyPr>
          <a:lstStyle/>
          <a:p>
            <a:r>
              <a:rPr lang="en-US" altLang="zh-CN">
                <a:latin typeface=".萍方-简" panose="020B0300000000000000" charset="-122"/>
                <a:ea typeface=".萍方-简" panose="020B0300000000000000" charset="-122"/>
              </a:rPr>
              <a:t>Pre-Retrieval</a:t>
            </a:r>
            <a:r>
              <a:rPr lang="zh-CN" altLang="en-US">
                <a:latin typeface=".萍方-简" panose="020B0300000000000000" charset="-122"/>
                <a:ea typeface=".萍方-简" panose="020B0300000000000000" charset="-122"/>
              </a:rPr>
              <a:t>预检索</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查询优化</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Enrich</a:t>
            </a:r>
            <a:r>
              <a:rPr lang="zh-CN" altLang="en-US" b="1">
                <a:latin typeface=".萍方-简" panose="020B0300000000000000" charset="-122"/>
                <a:ea typeface=".萍方-简" panose="020B0300000000000000" charset="-122"/>
                <a:cs typeface=".萍方-简" panose="020B0300000000000000" charset="-122"/>
              </a:rPr>
              <a:t>完善问题</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40066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我们希望实现让人们通过自然的口语对话来使用大模型应用。然而，在口语表达需求和意图时，人们往往会遇到一些问题。例如，表达过于简略或含糊，容易引发语义歧义，导致大模型产生误解；用户的问题可能包含许多隐含要素，但表达的信息却不足，只能通过多轮对话逐步补全；</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1" y="7282217"/>
            <a:ext cx="22666823" cy="143513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理想情况：通过大模型多次主动与用户沟通，不断收集信息，完善对用户真实意图的理解，补全执行用户需求所需的各项参数。</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Enrich</a:t>
            </a:r>
            <a:r>
              <a:rPr lang="zh-CN" altLang="en-US" b="1">
                <a:latin typeface=".萍方-简" panose="020B0300000000000000" charset="-122"/>
                <a:ea typeface=".萍方-简" panose="020B0300000000000000" charset="-122"/>
                <a:cs typeface=".萍方-简" panose="020B0300000000000000" charset="-122"/>
              </a:rPr>
              <a:t>完善问题</a:t>
            </a:r>
            <a:endParaRPr lang="en-US" altLang="zh-CN" b="1">
              <a:latin typeface=".萍方-简" panose="020B0300000000000000" charset="-122"/>
              <a:ea typeface=".萍方-简" panose="020B0300000000000000" charset="-122"/>
              <a:cs typeface=".萍方-简" panose="020B0300000000000000" charset="-122"/>
            </a:endParaRPr>
          </a:p>
        </p:txBody>
      </p:sp>
      <p:pic>
        <p:nvPicPr>
          <p:cNvPr id="12" name="图片 11"/>
          <p:cNvPicPr>
            <a:picLocks noChangeAspect="1"/>
          </p:cNvPicPr>
          <p:nvPr/>
        </p:nvPicPr>
        <p:blipFill>
          <a:blip r:embed="rId1"/>
          <a:stretch>
            <a:fillRect/>
          </a:stretch>
        </p:blipFill>
        <p:spPr>
          <a:xfrm>
            <a:off x="587416" y="2051580"/>
            <a:ext cx="23209167" cy="9937220"/>
          </a:xfrm>
          <a:prstGeom prst="rect">
            <a:avLst/>
          </a:prstGeom>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Enrich</a:t>
            </a:r>
            <a:r>
              <a:rPr lang="zh-CN" altLang="en-US" b="1">
                <a:latin typeface=".萍方-简" panose="020B0300000000000000" charset="-122"/>
                <a:ea typeface=".萍方-简" panose="020B0300000000000000" charset="-122"/>
                <a:cs typeface=".萍方-简" panose="020B0300000000000000" charset="-122"/>
              </a:rPr>
              <a:t>完善问题</a:t>
            </a:r>
            <a:endParaRPr lang="en-US" altLang="zh-CN" b="1">
              <a:latin typeface=".萍方-简" panose="020B0300000000000000" charset="-122"/>
              <a:ea typeface=".萍方-简" panose="020B0300000000000000" charset="-122"/>
              <a:cs typeface=".萍方-简" panose="020B0300000000000000" charset="-122"/>
            </a:endParaRPr>
          </a:p>
        </p:txBody>
      </p:sp>
      <p:pic>
        <p:nvPicPr>
          <p:cNvPr id="5" name="图片 4"/>
          <p:cNvPicPr>
            <a:picLocks noChangeAspect="1"/>
          </p:cNvPicPr>
          <p:nvPr/>
        </p:nvPicPr>
        <p:blipFill>
          <a:blip r:embed="rId1"/>
          <a:stretch>
            <a:fillRect/>
          </a:stretch>
        </p:blipFill>
        <p:spPr>
          <a:xfrm>
            <a:off x="1243044" y="1598491"/>
            <a:ext cx="9332941" cy="9940221"/>
          </a:xfrm>
          <a:prstGeom prst="rect">
            <a:avLst/>
          </a:prstGeom>
        </p:spPr>
      </p:pic>
      <p:pic>
        <p:nvPicPr>
          <p:cNvPr id="7" name="图片 6"/>
          <p:cNvPicPr>
            <a:picLocks noChangeAspect="1"/>
          </p:cNvPicPr>
          <p:nvPr/>
        </p:nvPicPr>
        <p:blipFill>
          <a:blip r:embed="rId2"/>
          <a:stretch>
            <a:fillRect/>
          </a:stretch>
        </p:blipFill>
        <p:spPr>
          <a:xfrm>
            <a:off x="11720545" y="3111889"/>
            <a:ext cx="11220091" cy="10068556"/>
          </a:xfrm>
          <a:prstGeom prst="rect">
            <a:avLst/>
          </a:prstGeom>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Multi-Query </a:t>
            </a:r>
            <a:r>
              <a:rPr lang="zh-CN" altLang="en-US" b="1">
                <a:latin typeface=".萍方-简" panose="020B0300000000000000" charset="-122"/>
                <a:ea typeface=".萍方-简" panose="020B0300000000000000" charset="-122"/>
                <a:cs typeface=".萍方-简" panose="020B0300000000000000" charset="-122"/>
              </a:rPr>
              <a:t>多路召回</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267701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当用户没有正确书写查询语句，或者</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不能够正确理解用户查询语句的含义时，此时</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生成的答案可能就不够完整和全面。</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1" y="5122888"/>
            <a:ext cx="22666823" cy="342952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当用户输入查询语句</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自然语言</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时，我们让大模型</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基于用户的问题再生成多个查询语句，这些生成的查询语句是对用户查询语句的补充，它们是从不同的视角来补充用户的查询语句，然后每条查询语句都会从向量数据库中检索到一批相关文档，最后所有的相关文档都会被喂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，这样</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就会生成比较完整和全面的答案。这样就可以避免因为查询语句的差异而导致结果不正确</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Multi-Query </a:t>
            </a:r>
            <a:r>
              <a:rPr lang="zh-CN" altLang="en-US" b="1">
                <a:latin typeface=".萍方-简" panose="020B0300000000000000" charset="-122"/>
                <a:ea typeface=".萍方-简" panose="020B0300000000000000" charset="-122"/>
                <a:cs typeface=".萍方-简" panose="020B0300000000000000" charset="-122"/>
              </a:rPr>
              <a:t>多路召回</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32540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利用 </a:t>
            </a:r>
            <a:r>
              <a:rPr lang="en-US" altLang="zh-CN">
                <a:latin typeface=".萍方-简" panose="020B0300000000000000" charset="-122"/>
                <a:ea typeface=".萍方-简" panose="020B0300000000000000" charset="-122"/>
              </a:rPr>
              <a:t>LLM </a:t>
            </a:r>
            <a:r>
              <a:rPr lang="zh-CN" altLang="en-US">
                <a:latin typeface=".萍方-简" panose="020B0300000000000000" charset="-122"/>
                <a:ea typeface=".萍方-简" panose="020B0300000000000000" charset="-122"/>
              </a:rPr>
              <a:t>生成 </a:t>
            </a:r>
            <a:r>
              <a:rPr lang="en-US" altLang="zh-CN">
                <a:latin typeface=".萍方-简" panose="020B0300000000000000" charset="-122"/>
                <a:ea typeface=".萍方-简" panose="020B0300000000000000" charset="-122"/>
              </a:rPr>
              <a:t>N </a:t>
            </a:r>
            <a:r>
              <a:rPr lang="zh-CN" altLang="en-US">
                <a:latin typeface=".萍方-简" panose="020B0300000000000000" charset="-122"/>
                <a:ea typeface=".萍方-简" panose="020B0300000000000000" charset="-122"/>
              </a:rPr>
              <a:t>个与原始查询相关的问题</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将所有问题（加上原始查询）发送给检索系统。</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通过这种方法，可以从向量库中检索到更多文档。</a:t>
            </a: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1842029" y="6275915"/>
            <a:ext cx="21407438" cy="6712071"/>
          </a:xfrm>
          <a:prstGeom prst="rect">
            <a:avLst/>
          </a:prstGeom>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Decomposition </a:t>
            </a:r>
            <a:r>
              <a:rPr lang="zh-CN" altLang="en-US" b="1">
                <a:latin typeface=".萍方-简" panose="020B0300000000000000" charset="-122"/>
                <a:ea typeface=".萍方-简" panose="020B0300000000000000" charset="-122"/>
                <a:cs typeface=".萍方-简" panose="020B0300000000000000" charset="-122"/>
              </a:rPr>
              <a:t>问题分解</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267701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如果用户的问题很复杂，大模型需要推理分解多个步骤才能完成，但是大模型不具备推理能力怎么办？</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1" y="5122888"/>
            <a:ext cx="22666823" cy="524848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可以用提示词工程中的</a:t>
            </a:r>
            <a:r>
              <a:rPr lang="en-US" altLang="zh-CN">
                <a:latin typeface=".萍方-简" panose="020B0300000000000000" charset="-122"/>
                <a:ea typeface=".萍方-简" panose="020B0300000000000000" charset="-122"/>
              </a:rPr>
              <a:t>CoT</a:t>
            </a:r>
            <a:r>
              <a:rPr lang="zh-CN" altLang="en-US">
                <a:latin typeface=".萍方-简" panose="020B0300000000000000" charset="-122"/>
                <a:ea typeface=".萍方-简" panose="020B0300000000000000" charset="-122"/>
              </a:rPr>
              <a:t>策略，把用户的问题拆成一个一个小问题来理解接下来可以使用并行与串行两个策略来执行子任务。</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并行执行是将每个子任务抛出去获得一个答案，然后再让大模型把所有子任务的答案汇总起来。</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串行是依次执行子任务，然后将前一个任务生成的答案作为后一个任务的提示词的一部分。</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Decomposition </a:t>
            </a:r>
            <a:r>
              <a:rPr lang="zh-CN" altLang="en-US" b="1">
                <a:latin typeface=".萍方-简" panose="020B0300000000000000" charset="-122"/>
                <a:ea typeface=".萍方-简" panose="020B0300000000000000" charset="-122"/>
                <a:cs typeface=".萍方-简" panose="020B0300000000000000" charset="-122"/>
              </a:rPr>
              <a:t>问题分解</a:t>
            </a:r>
            <a:endParaRPr lang="en-US" altLang="zh-CN" b="1">
              <a:latin typeface=".萍方-简" panose="020B0300000000000000" charset="-122"/>
              <a:ea typeface=".萍方-简" panose="020B0300000000000000" charset="-122"/>
              <a:cs typeface=".萍方-简" panose="020B0300000000000000" charset="-122"/>
            </a:endParaRPr>
          </a:p>
        </p:txBody>
      </p:sp>
      <p:pic>
        <p:nvPicPr>
          <p:cNvPr id="5" name="图片 4"/>
          <p:cNvPicPr>
            <a:picLocks noChangeAspect="1"/>
          </p:cNvPicPr>
          <p:nvPr/>
        </p:nvPicPr>
        <p:blipFill>
          <a:blip r:embed="rId1"/>
          <a:stretch>
            <a:fillRect/>
          </a:stretch>
        </p:blipFill>
        <p:spPr>
          <a:xfrm>
            <a:off x="992188" y="1784879"/>
            <a:ext cx="21850879" cy="11246198"/>
          </a:xfrm>
          <a:prstGeom prst="rect">
            <a:avLst/>
          </a:prstGeom>
        </p:spPr>
      </p:pic>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查询优化小结</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4" y="1949515"/>
            <a:ext cx="22666823" cy="6490367"/>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查询优化：查询优化的目标是提升用户意图理解的准确性，包括：</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Enrich</a:t>
            </a:r>
            <a:r>
              <a:rPr lang="zh-CN" altLang="en-US">
                <a:latin typeface=".萍方-简" panose="020B0300000000000000" charset="-122"/>
                <a:ea typeface=".萍方-简" panose="020B0300000000000000" charset="-122"/>
              </a:rPr>
              <a:t>完善问题：通过大模型引导完善用户问题，产生一个更利于系统理解的完善后的用户问题。</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多路召回（</a:t>
            </a:r>
            <a:r>
              <a:rPr lang="en-US" altLang="zh-CN">
                <a:latin typeface=".萍方-简" panose="020B0300000000000000" charset="-122"/>
                <a:ea typeface=".萍方-简" panose="020B0300000000000000" charset="-122"/>
              </a:rPr>
              <a:t>Multi-Query</a:t>
            </a:r>
            <a:r>
              <a:rPr lang="zh-CN" altLang="en-US">
                <a:latin typeface=".萍方-简" panose="020B0300000000000000" charset="-122"/>
                <a:ea typeface=".萍方-简" panose="020B0300000000000000" charset="-122"/>
              </a:rPr>
              <a:t>）针对用户问题生成多个相关问题，分别检索后汇总结果。</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问题分解（</a:t>
            </a:r>
            <a:r>
              <a:rPr lang="en-US" altLang="zh-CN">
                <a:latin typeface=".萍方-简" panose="020B0300000000000000" charset="-122"/>
                <a:ea typeface=".萍方-简" panose="020B0300000000000000" charset="-122"/>
              </a:rPr>
              <a:t>Decomposition</a:t>
            </a:r>
            <a:r>
              <a:rPr lang="zh-CN" altLang="en-US">
                <a:latin typeface=".萍方-简" panose="020B0300000000000000" charset="-122"/>
                <a:ea typeface=".萍方-简" panose="020B0300000000000000" charset="-122"/>
              </a:rPr>
              <a:t>）将复杂问题拆分为多个子问题，依次或同步解决所有子问题从而获取最终答案。</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zh-CN" altLang="en-US">
                <a:latin typeface=".萍方-简" panose="020B0300000000000000" charset="-122"/>
                <a:ea typeface=".萍方-简" panose="020B0300000000000000" charset="-122"/>
              </a:rPr>
              <a:t>检索优化</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混合检索</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混合检索</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2" y="1898715"/>
            <a:ext cx="22666823" cy="5737853"/>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混合检索的核心价值：取长补短，动态适配混合检索的</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本质是根据数据特性、查询需求和场景约束，动态组合多种检索技术：</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向量检索擅长捕捉语义相似性，但可能受限于向量空间的表示能力；</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关键词 </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全文检索适合精确匹配，但对自然语言表达不友好；</a:t>
            </a:r>
            <a:endParaRPr lang="en-US" altLang="zh-CN">
              <a:latin typeface=".萍方-简" panose="020B0300000000000000" charset="-122"/>
              <a:ea typeface=".萍方-简" panose="020B0300000000000000" charset="-122"/>
            </a:endParaRPr>
          </a:p>
          <a:p>
            <a:pPr marL="360045"/>
            <a:r>
              <a:rPr lang="en-US" altLang="zh-CN">
                <a:latin typeface=".萍方-简" panose="020B0300000000000000" charset="-122"/>
                <a:ea typeface=".萍方-简" panose="020B0300000000000000" charset="-122"/>
              </a:rPr>
              <a:t>SQL</a:t>
            </a:r>
            <a:r>
              <a:rPr lang="zh-CN" altLang="en-US">
                <a:latin typeface=".萍方-简" panose="020B0300000000000000" charset="-122"/>
                <a:ea typeface=".萍方-简" panose="020B0300000000000000" charset="-122"/>
              </a:rPr>
              <a:t>检索利用数据库，却难以应对非结构化文本。</a:t>
            </a:r>
            <a:endParaRPr lang="zh-CN" altLang="en-US">
              <a:latin typeface=".萍方-简" panose="020B0300000000000000" charset="-122"/>
              <a:ea typeface=".萍方-简" panose="020B0300000000000000" charset="-122"/>
            </a:endParaRPr>
          </a:p>
        </p:txBody>
      </p:sp>
      <p:sp>
        <p:nvSpPr>
          <p:cNvPr id="4" name="文本框 3"/>
          <p:cNvSpPr txBox="1"/>
          <p:nvPr/>
        </p:nvSpPr>
        <p:spPr>
          <a:xfrm>
            <a:off x="1243042" y="8418049"/>
            <a:ext cx="22666823" cy="32540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适用场景</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异构数据场景：处理多类型、多格式数据</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复杂查询场景：兼顾精确匹配与语义理解</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混合检索</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6212047"/>
            <a:ext cx="22666823"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1517095" y="6982386"/>
            <a:ext cx="21623867" cy="4066555"/>
          </a:xfrm>
          <a:prstGeom prst="rect">
            <a:avLst/>
          </a:prstGeom>
        </p:spPr>
      </p:pic>
      <p:pic>
        <p:nvPicPr>
          <p:cNvPr id="7" name="图片 6"/>
          <p:cNvPicPr>
            <a:picLocks noChangeAspect="1"/>
          </p:cNvPicPr>
          <p:nvPr/>
        </p:nvPicPr>
        <p:blipFill>
          <a:blip r:embed="rId2"/>
          <a:stretch>
            <a:fillRect/>
          </a:stretch>
        </p:blipFill>
        <p:spPr>
          <a:xfrm>
            <a:off x="1517094" y="11048941"/>
            <a:ext cx="21623867" cy="2033278"/>
          </a:xfrm>
          <a:prstGeom prst="rect">
            <a:avLst/>
          </a:prstGeom>
        </p:spPr>
      </p:pic>
      <p:sp>
        <p:nvSpPr>
          <p:cNvPr id="4" name="文本框 3"/>
          <p:cNvSpPr txBox="1"/>
          <p:nvPr/>
        </p:nvSpPr>
        <p:spPr>
          <a:xfrm>
            <a:off x="1243043" y="1716073"/>
            <a:ext cx="22666823" cy="32540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适用场景</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动态知识与实时性需求：融合静态知识与实时数据</a:t>
            </a:r>
            <a:endParaRPr lang="en-US" altLang="zh-CN">
              <a:latin typeface=".萍方-简" panose="020B0300000000000000" charset="-122"/>
              <a:ea typeface=".萍方-简" panose="020B0300000000000000" charset="-122"/>
            </a:endParaRPr>
          </a:p>
          <a:p>
            <a:pPr marL="360045"/>
            <a:r>
              <a:rPr lang="zh-CN" altLang="en-US">
                <a:latin typeface=".萍方-简" panose="020B0300000000000000" charset="-122"/>
                <a:ea typeface=".萍方-简" panose="020B0300000000000000" charset="-122"/>
              </a:rPr>
              <a:t>高准确率与召回率要求：医疗、法律等关键领域</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3007147" y="5155987"/>
            <a:ext cx="17600719" cy="2243879"/>
          </a:xfrm>
          <a:prstGeom prst="rect">
            <a:avLst/>
          </a:prstGeom>
        </p:spPr>
        <p:txBody>
          <a:bodyPr>
            <a:normAutofit/>
          </a:bodyPr>
          <a:lstStyle/>
          <a:p>
            <a:r>
              <a:rPr lang="en-US" altLang="zh-CN">
                <a:latin typeface=".萍方-简" panose="020B0300000000000000" charset="-122"/>
                <a:ea typeface=".萍方-简" panose="020B0300000000000000" charset="-122"/>
              </a:rPr>
              <a:t>Post-Retrieval</a:t>
            </a:r>
            <a:r>
              <a:rPr lang="zh-CN" altLang="en-US">
                <a:latin typeface=".萍方-简" panose="020B0300000000000000" charset="-122"/>
                <a:ea typeface=".萍方-简" panose="020B0300000000000000" charset="-122"/>
              </a:rPr>
              <a:t>后检索优化</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Post-Retrieval</a:t>
            </a:r>
            <a:r>
              <a:rPr lang="zh-CN" altLang="en-US" b="1">
                <a:latin typeface=".萍方-简" panose="020B0300000000000000" charset="-122"/>
                <a:ea typeface=".萍方-简" panose="020B0300000000000000" charset="-122"/>
                <a:cs typeface=".萍方-简" panose="020B0300000000000000" charset="-122"/>
              </a:rPr>
              <a:t>后检索</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3" y="1864848"/>
            <a:ext cx="22666823" cy="276473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与检索前处理相对应，这是在完成检索后对检索出的相关知识块做必要补充处理的阶段。比如，对检索的结果借助更专业的排序模型与算法进行重排序或者过滤掉一些不符合条件的知识块等，使得最需要、最合规的知识块处于上下文的最前端，这有助于提高大模型的输出质量。</a:t>
            </a:r>
            <a:endParaRPr lang="zh-CN" altLang="en-US">
              <a:latin typeface=".萍方-简" panose="020B0300000000000000" charset="-122"/>
              <a:ea typeface=".萍方-简" panose="020B0300000000000000" charset="-122"/>
            </a:endParaRPr>
          </a:p>
        </p:txBody>
      </p:sp>
      <p:sp>
        <p:nvSpPr>
          <p:cNvPr id="5" name="文本框 4"/>
          <p:cNvSpPr txBox="1"/>
          <p:nvPr/>
        </p:nvSpPr>
        <p:spPr>
          <a:xfrm>
            <a:off x="1243043" y="5410552"/>
            <a:ext cx="20590933" cy="2095317"/>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sz="5400" b="1">
                <a:latin typeface=".萍方-简" panose="020B0300000000000000" charset="-122"/>
                <a:ea typeface=".萍方-简" panose="020B0300000000000000" charset="-122"/>
              </a:rPr>
              <a:t>重排序</a:t>
            </a:r>
            <a:endParaRPr lang="en-US" altLang="zh-CN" sz="5400" b="1">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可以使用模型或者算法进行</a:t>
            </a:r>
            <a:endParaRPr lang="zh-CN" altLang="en-US">
              <a:latin typeface=".萍方-简" panose="020B0300000000000000" charset="-122"/>
              <a:ea typeface=".萍方-简" panose="020B0300000000000000" charset="-122"/>
            </a:endParaRPr>
          </a:p>
        </p:txBody>
      </p:sp>
      <p:sp>
        <p:nvSpPr>
          <p:cNvPr id="7" name="文本框 6"/>
          <p:cNvSpPr txBox="1"/>
          <p:nvPr/>
        </p:nvSpPr>
        <p:spPr>
          <a:xfrm>
            <a:off x="1243043" y="9086422"/>
            <a:ext cx="10662427" cy="350499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en-US" altLang="zh-CN" sz="5400" b="1">
                <a:latin typeface=".萍方-简" panose="020B0300000000000000" charset="-122"/>
                <a:ea typeface=".萍方-简" panose="020B0300000000000000" charset="-122"/>
              </a:rPr>
              <a:t>RAG-Fusion</a:t>
            </a:r>
            <a:endParaRPr lang="en-US" altLang="zh-CN" sz="5400" b="1">
              <a:latin typeface=".萍方-简" panose="020B0300000000000000" charset="-122"/>
              <a:ea typeface=".萍方-简" panose="020B0300000000000000" charset="-122"/>
            </a:endParaRPr>
          </a:p>
          <a:p>
            <a:pPr>
              <a:buNone/>
            </a:pPr>
            <a:endParaRPr lang="en-US" altLang="zh-CN" sz="5400" b="1">
              <a:latin typeface=".萍方-简" panose="020B0300000000000000" charset="-122"/>
              <a:ea typeface=".萍方-简" panose="020B0300000000000000" charset="-122"/>
            </a:endParaRPr>
          </a:p>
          <a:p>
            <a:pPr>
              <a:buNone/>
            </a:pPr>
            <a:r>
              <a:rPr lang="zh-CN" altLang="en-US" sz="5400" b="1">
                <a:effectLst/>
                <a:latin typeface=".萍方-简" panose="020B0300000000000000" charset="-122"/>
                <a:ea typeface=".萍方-简" panose="020B0300000000000000" charset="-122"/>
              </a:rPr>
              <a:t>上下文压缩和过滤</a:t>
            </a:r>
            <a:endParaRPr lang="zh-CN" altLang="en-US" sz="5400">
              <a:effectLst/>
              <a:latin typeface=".萍方-简" panose="020B0300000000000000" charset="-122"/>
              <a:ea typeface=".萍方-简" panose="020B0300000000000000" charset="-122"/>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RAG-Fusion</a:t>
            </a:r>
            <a:endParaRPr lang="en-US" altLang="zh-CN"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1" y="1676464"/>
            <a:ext cx="22666823" cy="267701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在多个查询检索后，会检索到大量的上下文，但并非所有上下文都与问题相关，有的不相关文档可能出现在文档前面，影响答案生成的准确性</a:t>
            </a:r>
            <a:endParaRPr lang="zh-CN" altLang="en-US">
              <a:latin typeface=".萍方-简" panose="020B0300000000000000" charset="-122"/>
              <a:ea typeface=".萍方-简" panose="020B0300000000000000" charset="-122"/>
            </a:endParaRPr>
          </a:p>
        </p:txBody>
      </p:sp>
      <p:sp>
        <p:nvSpPr>
          <p:cNvPr id="3" name="文本框 2"/>
          <p:cNvSpPr txBox="1"/>
          <p:nvPr/>
        </p:nvSpPr>
        <p:spPr>
          <a:xfrm>
            <a:off x="1243041" y="4678386"/>
            <a:ext cx="22666823" cy="400661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RAG-Fusion </a:t>
            </a:r>
            <a:r>
              <a:rPr lang="zh-CN" altLang="en-US">
                <a:latin typeface=".萍方-简" panose="020B0300000000000000" charset="-122"/>
                <a:ea typeface=".萍方-简" panose="020B0300000000000000" charset="-122"/>
              </a:rPr>
              <a:t>是一种搜索方法，通过使用多重查询生成和互惠排名融合（</a:t>
            </a:r>
            <a:r>
              <a:rPr lang="en-US" altLang="zh-CN">
                <a:latin typeface=".萍方-简" panose="020B0300000000000000" charset="-122"/>
                <a:ea typeface=".萍方-简" panose="020B0300000000000000" charset="-122"/>
              </a:rPr>
              <a:t>Reciprocal Rank Fusion</a:t>
            </a:r>
            <a:r>
              <a:rPr lang="zh-CN" altLang="en-US">
                <a:latin typeface=".萍方-简" panose="020B0300000000000000" charset="-122"/>
                <a:ea typeface=".萍方-简" panose="020B0300000000000000" charset="-122"/>
              </a:rPr>
              <a:t>）对搜索结果进行重新排序。在</a:t>
            </a:r>
            <a:r>
              <a:rPr lang="en-US" altLang="zh-CN">
                <a:latin typeface=".萍方-简" panose="020B0300000000000000" charset="-122"/>
                <a:ea typeface=".萍方-简" panose="020B0300000000000000" charset="-122"/>
              </a:rPr>
              <a:t>Multi Query</a:t>
            </a:r>
            <a:r>
              <a:rPr lang="zh-CN" altLang="en-US">
                <a:latin typeface=".萍方-简" panose="020B0300000000000000" charset="-122"/>
                <a:ea typeface=".萍方-简" panose="020B0300000000000000" charset="-122"/>
              </a:rPr>
              <a:t>的基础上，对其检索结果进行重新排序</a:t>
            </a:r>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即</a:t>
            </a:r>
            <a:r>
              <a:rPr lang="en-US" altLang="zh-CN">
                <a:latin typeface=".萍方-简" panose="020B0300000000000000" charset="-122"/>
                <a:ea typeface=".萍方-简" panose="020B0300000000000000" charset="-122"/>
              </a:rPr>
              <a:t>reranking)</a:t>
            </a:r>
            <a:r>
              <a:rPr lang="zh-CN" altLang="en-US">
                <a:latin typeface=".萍方-简" panose="020B0300000000000000" charset="-122"/>
                <a:ea typeface=".萍方-简" panose="020B0300000000000000" charset="-122"/>
              </a:rPr>
              <a:t>后输出</a:t>
            </a:r>
            <a:r>
              <a:rPr lang="en-US" altLang="zh-CN">
                <a:latin typeface=".萍方-简" panose="020B0300000000000000" charset="-122"/>
                <a:ea typeface=".萍方-简" panose="020B0300000000000000" charset="-122"/>
              </a:rPr>
              <a:t>Top K</a:t>
            </a:r>
            <a:r>
              <a:rPr lang="zh-CN" altLang="en-US">
                <a:latin typeface=".萍方-简" panose="020B0300000000000000" charset="-122"/>
                <a:ea typeface=".萍方-简" panose="020B0300000000000000" charset="-122"/>
              </a:rPr>
              <a:t>个最相关文档，最后将这</a:t>
            </a:r>
            <a:r>
              <a:rPr lang="en-US" altLang="zh-CN">
                <a:latin typeface=".萍方-简" panose="020B0300000000000000" charset="-122"/>
                <a:ea typeface=".萍方-简" panose="020B0300000000000000" charset="-122"/>
              </a:rPr>
              <a:t>top k</a:t>
            </a:r>
            <a:r>
              <a:rPr lang="zh-CN" altLang="en-US">
                <a:latin typeface=".萍方-简" panose="020B0300000000000000" charset="-122"/>
                <a:ea typeface=".萍方-简" panose="020B0300000000000000" charset="-122"/>
              </a:rPr>
              <a:t>个文档喂给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并生成最终的答案</a:t>
            </a:r>
            <a:endParaRPr lang="zh-CN" altLang="en-US">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6556075" y="8683380"/>
            <a:ext cx="15741100" cy="4429530"/>
          </a:xfrm>
          <a:prstGeom prst="rect">
            <a:avLst/>
          </a:prstGeom>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RAG-Fusion</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243044" y="1949514"/>
            <a:ext cx="22666823" cy="201221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Reciprocal Rank Fusion</a:t>
            </a:r>
            <a:r>
              <a:rPr lang="zh-CN" altLang="en-US">
                <a:latin typeface=".萍方-简" panose="020B0300000000000000" charset="-122"/>
                <a:ea typeface=".萍方-简" panose="020B0300000000000000" charset="-122"/>
              </a:rPr>
              <a:t>（倒数排名融合，</a:t>
            </a:r>
            <a:r>
              <a:rPr lang="en-US" altLang="zh-CN">
                <a:latin typeface=".萍方-简" panose="020B0300000000000000" charset="-122"/>
                <a:ea typeface=".萍方-简" panose="020B0300000000000000" charset="-122"/>
              </a:rPr>
              <a:t>RRF</a:t>
            </a:r>
            <a:r>
              <a:rPr lang="zh-CN" altLang="en-US">
                <a:latin typeface=".萍方-简" panose="020B0300000000000000" charset="-122"/>
                <a:ea typeface=".萍方-简" panose="020B0300000000000000" charset="-122"/>
              </a:rPr>
              <a:t>）：</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将多个不同检索的排名列表合并。</a:t>
            </a: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5355167" y="4721225"/>
            <a:ext cx="10896600" cy="2343150"/>
          </a:xfrm>
          <a:prstGeom prst="rect">
            <a:avLst/>
          </a:prstGeom>
        </p:spPr>
      </p:pic>
      <p:sp>
        <p:nvSpPr>
          <p:cNvPr id="6" name="文本框 5"/>
          <p:cNvSpPr txBox="1"/>
          <p:nvPr/>
        </p:nvSpPr>
        <p:spPr>
          <a:xfrm>
            <a:off x="1480110" y="8619635"/>
            <a:ext cx="21193623" cy="397876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N</a:t>
            </a:r>
            <a:r>
              <a:rPr lang="zh-CN" altLang="en-US">
                <a:latin typeface=".萍方-简" panose="020B0300000000000000" charset="-122"/>
                <a:ea typeface=".萍方-简" panose="020B0300000000000000" charset="-122"/>
              </a:rPr>
              <a:t>：参与融合的检索列表数量（例如</a:t>
            </a:r>
            <a:r>
              <a:rPr lang="en-US" altLang="zh-CN">
                <a:latin typeface=".萍方-简" panose="020B0300000000000000" charset="-122"/>
                <a:ea typeface=".萍方-简" panose="020B0300000000000000" charset="-122"/>
              </a:rPr>
              <a:t>BM25</a:t>
            </a:r>
            <a:r>
              <a:rPr lang="zh-CN" altLang="en-US">
                <a:latin typeface=".萍方-简" panose="020B0300000000000000" charset="-122"/>
                <a:ea typeface=".萍方-简" panose="020B0300000000000000" charset="-122"/>
              </a:rPr>
              <a:t>和向量检索，则</a:t>
            </a:r>
            <a:r>
              <a:rPr lang="en-US" altLang="zh-CN">
                <a:latin typeface=".萍方-简" panose="020B0300000000000000" charset="-122"/>
                <a:ea typeface=".萍方-简" panose="020B0300000000000000" charset="-122"/>
              </a:rPr>
              <a:t>N=2</a:t>
            </a:r>
            <a:r>
              <a:rPr lang="zh-CN" altLang="en-US">
                <a:latin typeface=".萍方-简" panose="020B0300000000000000" charset="-122"/>
                <a:ea typeface=".萍方-简" panose="020B0300000000000000" charset="-122"/>
              </a:rPr>
              <a:t>；</a:t>
            </a:r>
            <a:r>
              <a:rPr lang="en-US" altLang="zh-CN">
                <a:latin typeface=".萍方-简" panose="020B0300000000000000" charset="-122"/>
                <a:ea typeface=".萍方-简" panose="020B0300000000000000" charset="-122"/>
              </a:rPr>
              <a:t>multi−query</a:t>
            </a:r>
            <a:r>
              <a:rPr lang="zh-CN" altLang="en-US">
                <a:latin typeface=".萍方-简" panose="020B0300000000000000" charset="-122"/>
                <a:ea typeface=".萍方-简" panose="020B0300000000000000" charset="-122"/>
              </a:rPr>
              <a:t>生成了</a:t>
            </a:r>
            <a:r>
              <a:rPr lang="en-US" altLang="zh-CN">
                <a:latin typeface=".萍方-简" panose="020B0300000000000000" charset="-122"/>
                <a:ea typeface=".萍方-简" panose="020B0300000000000000" charset="-122"/>
              </a:rPr>
              <a:t>3</a:t>
            </a:r>
            <a:r>
              <a:rPr lang="zh-CN" altLang="en-US">
                <a:latin typeface=".萍方-简" panose="020B0300000000000000" charset="-122"/>
                <a:ea typeface=".萍方-简" panose="020B0300000000000000" charset="-122"/>
              </a:rPr>
              <a:t>个问题，则</a:t>
            </a:r>
            <a:r>
              <a:rPr lang="en-US" altLang="zh-CN">
                <a:latin typeface=".萍方-简" panose="020B0300000000000000" charset="-122"/>
                <a:ea typeface=".萍方-简" panose="020B0300000000000000" charset="-122"/>
              </a:rPr>
              <a:t>N=3</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rank_i(d)</a:t>
            </a:r>
            <a:r>
              <a:rPr lang="zh-CN" altLang="en-US">
                <a:latin typeface=".萍方-简" panose="020B0300000000000000" charset="-122"/>
                <a:ea typeface=".萍方-简" panose="020B0300000000000000" charset="-122"/>
              </a:rPr>
              <a:t>：文档</a:t>
            </a:r>
            <a:r>
              <a:rPr lang="en-US" altLang="zh-CN">
                <a:latin typeface=".萍方-简" panose="020B0300000000000000" charset="-122"/>
                <a:ea typeface=".萍方-简" panose="020B0300000000000000" charset="-122"/>
              </a:rPr>
              <a:t>d</a:t>
            </a:r>
            <a:r>
              <a:rPr lang="zh-CN" altLang="en-US">
                <a:latin typeface=".萍方-简" panose="020B0300000000000000" charset="-122"/>
                <a:ea typeface=".萍方-简" panose="020B0300000000000000" charset="-122"/>
              </a:rPr>
              <a:t>在第</a:t>
            </a:r>
            <a:r>
              <a:rPr lang="en-US" altLang="zh-CN">
                <a:latin typeface=".萍方-简" panose="020B0300000000000000" charset="-122"/>
                <a:ea typeface=".萍方-简" panose="020B0300000000000000" charset="-122"/>
              </a:rPr>
              <a:t>i</a:t>
            </a:r>
            <a:r>
              <a:rPr lang="zh-CN" altLang="en-US">
                <a:latin typeface=".萍方-简" panose="020B0300000000000000" charset="-122"/>
                <a:ea typeface=".萍方-简" panose="020B0300000000000000" charset="-122"/>
              </a:rPr>
              <a:t>个检索系统从的排名（从</a:t>
            </a:r>
            <a:r>
              <a:rPr lang="en-US" altLang="zh-CN">
                <a:latin typeface=".萍方-简" panose="020B0300000000000000" charset="-122"/>
                <a:ea typeface=".萍方-简" panose="020B0300000000000000" charset="-122"/>
              </a:rPr>
              <a:t>1</a:t>
            </a:r>
            <a:r>
              <a:rPr lang="zh-CN" altLang="en-US">
                <a:latin typeface=".萍方-简" panose="020B0300000000000000" charset="-122"/>
                <a:ea typeface=".萍方-简" panose="020B0300000000000000" charset="-122"/>
              </a:rPr>
              <a:t>开始计数）</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k</a:t>
            </a:r>
            <a:r>
              <a:rPr lang="zh-CN" altLang="en-US">
                <a:latin typeface=".萍方-简" panose="020B0300000000000000" charset="-122"/>
                <a:ea typeface=".萍方-简" panose="020B0300000000000000" charset="-122"/>
              </a:rPr>
              <a:t>：平滑常数，通常设置为</a:t>
            </a:r>
            <a:r>
              <a:rPr lang="en-US" altLang="zh-CN">
                <a:latin typeface=".萍方-简" panose="020B0300000000000000" charset="-122"/>
                <a:ea typeface=".萍方-简" panose="020B0300000000000000" charset="-122"/>
              </a:rPr>
              <a:t>60</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RAG-Fusion</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5633065" y="2459990"/>
            <a:ext cx="8361680" cy="644779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r>
              <a:rPr lang="zh-CN" altLang="en-US">
                <a:latin typeface=".萍方-简" panose="020B0300000000000000" charset="-122"/>
                <a:ea typeface=".萍方-简" panose="020B0300000000000000" charset="-122"/>
              </a:rPr>
              <a:t>结论：</a:t>
            </a:r>
            <a:endParaRPr lang="zh-CN" altLang="en-US">
              <a:latin typeface=".萍方-简" panose="020B0300000000000000" charset="-122"/>
              <a:ea typeface=".萍方-简" panose="020B0300000000000000" charset="-122"/>
            </a:endParaRPr>
          </a:p>
          <a:p>
            <a:r>
              <a:rPr lang="zh-CN" altLang="en-US" sz="4000">
                <a:latin typeface=".萍方-简" panose="020B0300000000000000" charset="-122"/>
                <a:ea typeface=".萍方-简" panose="020B0300000000000000" charset="-122"/>
              </a:rPr>
              <a:t>文档</a:t>
            </a:r>
            <a:r>
              <a:rPr lang="en-US" altLang="zh-CN" sz="4000">
                <a:latin typeface=".萍方-简" panose="020B0300000000000000" charset="-122"/>
                <a:ea typeface=".萍方-简" panose="020B0300000000000000" charset="-122"/>
              </a:rPr>
              <a:t> A </a:t>
            </a:r>
            <a:r>
              <a:rPr lang="zh-CN" altLang="en-US" sz="4000">
                <a:latin typeface=".萍方-简" panose="020B0300000000000000" charset="-122"/>
                <a:ea typeface=".萍方-简" panose="020B0300000000000000" charset="-122"/>
              </a:rPr>
              <a:t>在两个系统中都排名很高（第</a:t>
            </a:r>
            <a:r>
              <a:rPr lang="en-US" altLang="zh-CN" sz="4000">
                <a:latin typeface=".萍方-简" panose="020B0300000000000000" charset="-122"/>
                <a:ea typeface=".萍方-简" panose="020B0300000000000000" charset="-122"/>
              </a:rPr>
              <a:t> 2 </a:t>
            </a:r>
            <a:r>
              <a:rPr lang="zh-CN" altLang="en-US" sz="4000">
                <a:latin typeface=".萍方-简" panose="020B0300000000000000" charset="-122"/>
                <a:ea typeface=".萍方-简" panose="020B0300000000000000" charset="-122"/>
              </a:rPr>
              <a:t>和第</a:t>
            </a:r>
            <a:r>
              <a:rPr lang="en-US" altLang="zh-CN" sz="4000">
                <a:latin typeface=".萍方-简" panose="020B0300000000000000" charset="-122"/>
                <a:ea typeface=".萍方-简" panose="020B0300000000000000" charset="-122"/>
              </a:rPr>
              <a:t> 1</a:t>
            </a:r>
            <a:r>
              <a:rPr lang="zh-CN" altLang="en-US" sz="4000">
                <a:latin typeface=".萍方-简" panose="020B0300000000000000" charset="-122"/>
                <a:ea typeface=".萍方-简" panose="020B0300000000000000" charset="-122"/>
              </a:rPr>
              <a:t>），所以它成为了第</a:t>
            </a:r>
            <a:r>
              <a:rPr lang="en-US" altLang="zh-CN" sz="4000">
                <a:latin typeface=".萍方-简" panose="020B0300000000000000" charset="-122"/>
                <a:ea typeface=".萍方-简" panose="020B0300000000000000" charset="-122"/>
              </a:rPr>
              <a:t> 1 </a:t>
            </a:r>
            <a:r>
              <a:rPr lang="zh-CN" altLang="en-US" sz="4000">
                <a:latin typeface=".萍方-简" panose="020B0300000000000000" charset="-122"/>
                <a:ea typeface=".萍方-简" panose="020B0300000000000000" charset="-122"/>
              </a:rPr>
              <a:t>名</a:t>
            </a:r>
            <a:endParaRPr lang="en-US" altLang="zh-CN">
              <a:latin typeface=".萍方-简" panose="020B0300000000000000" charset="-122"/>
              <a:ea typeface=".萍方-简" panose="020B0300000000000000" charset="-122"/>
            </a:endParaRPr>
          </a:p>
          <a:p>
            <a:r>
              <a:rPr lang="zh-CN" altLang="en-US" sz="4000">
                <a:latin typeface=".萍方-简" panose="020B0300000000000000" charset="-122"/>
                <a:ea typeface=".萍方-简" panose="020B0300000000000000" charset="-122"/>
              </a:rPr>
              <a:t>文档</a:t>
            </a:r>
            <a:r>
              <a:rPr lang="en-US" altLang="zh-CN" sz="4000">
                <a:latin typeface=".萍方-简" panose="020B0300000000000000" charset="-122"/>
                <a:ea typeface=".萍方-简" panose="020B0300000000000000" charset="-122"/>
              </a:rPr>
              <a:t> D </a:t>
            </a:r>
            <a:r>
              <a:rPr lang="zh-CN" altLang="en-US" sz="4000">
                <a:latin typeface=".萍方-简" panose="020B0300000000000000" charset="-122"/>
                <a:ea typeface=".萍方-简" panose="020B0300000000000000" charset="-122"/>
              </a:rPr>
              <a:t>在一个系统中是第</a:t>
            </a:r>
            <a:r>
              <a:rPr lang="en-US" altLang="zh-CN" sz="4000">
                <a:latin typeface=".萍方-简" panose="020B0300000000000000" charset="-122"/>
                <a:ea typeface=".萍方-简" panose="020B0300000000000000" charset="-122"/>
              </a:rPr>
              <a:t> 1 </a:t>
            </a:r>
            <a:r>
              <a:rPr lang="zh-CN" altLang="en-US" sz="4000">
                <a:latin typeface=".萍方-简" panose="020B0300000000000000" charset="-122"/>
                <a:ea typeface=".萍方-简" panose="020B0300000000000000" charset="-122"/>
              </a:rPr>
              <a:t>名，但在另一个系统中是第</a:t>
            </a:r>
            <a:r>
              <a:rPr lang="en-US" altLang="zh-CN" sz="4000">
                <a:latin typeface=".萍方-简" panose="020B0300000000000000" charset="-122"/>
                <a:ea typeface=".萍方-简" panose="020B0300000000000000" charset="-122"/>
              </a:rPr>
              <a:t> 4 </a:t>
            </a:r>
            <a:r>
              <a:rPr lang="zh-CN" altLang="en-US" sz="4000">
                <a:latin typeface=".萍方-简" panose="020B0300000000000000" charset="-122"/>
                <a:ea typeface=".萍方-简" panose="020B0300000000000000" charset="-122"/>
              </a:rPr>
              <a:t>名，综合后成为第</a:t>
            </a:r>
            <a:r>
              <a:rPr lang="en-US" altLang="zh-CN" sz="4000">
                <a:latin typeface=".萍方-简" panose="020B0300000000000000" charset="-122"/>
                <a:ea typeface=".萍方-简" panose="020B0300000000000000" charset="-122"/>
              </a:rPr>
              <a:t> 2 </a:t>
            </a:r>
            <a:r>
              <a:rPr lang="zh-CN" altLang="en-US" sz="4000">
                <a:latin typeface=".萍方-简" panose="020B0300000000000000" charset="-122"/>
                <a:ea typeface=".萍方-简" panose="020B0300000000000000" charset="-122"/>
              </a:rPr>
              <a:t>名</a:t>
            </a:r>
            <a:endParaRPr lang="en-US" altLang="zh-CN">
              <a:latin typeface=".萍方-简" panose="020B0300000000000000" charset="-122"/>
              <a:ea typeface=".萍方-简" panose="020B0300000000000000" charset="-122"/>
            </a:endParaRPr>
          </a:p>
          <a:p>
            <a:r>
              <a:rPr lang="zh-CN" altLang="en-US" sz="4000">
                <a:latin typeface=".萍方-简" panose="020B0300000000000000" charset="-122"/>
                <a:ea typeface=".萍方-简" panose="020B0300000000000000" charset="-122"/>
              </a:rPr>
              <a:t>文档</a:t>
            </a:r>
            <a:r>
              <a:rPr lang="en-US" altLang="zh-CN" sz="4000">
                <a:latin typeface=".萍方-简" panose="020B0300000000000000" charset="-122"/>
                <a:ea typeface=".萍方-简" panose="020B0300000000000000" charset="-122"/>
              </a:rPr>
              <a:t> B </a:t>
            </a:r>
            <a:r>
              <a:rPr lang="zh-CN" altLang="en-US" sz="4000">
                <a:latin typeface=".萍方-简" panose="020B0300000000000000" charset="-122"/>
                <a:ea typeface=".萍方-简" panose="020B0300000000000000" charset="-122"/>
              </a:rPr>
              <a:t>和</a:t>
            </a:r>
            <a:r>
              <a:rPr lang="en-US" altLang="zh-CN" sz="4000">
                <a:latin typeface=".萍方-简" panose="020B0300000000000000" charset="-122"/>
                <a:ea typeface=".萍方-简" panose="020B0300000000000000" charset="-122"/>
              </a:rPr>
              <a:t> </a:t>
            </a:r>
            <a:r>
              <a:rPr lang="zh-CN" altLang="en-US" sz="4000">
                <a:latin typeface=".萍方-简" panose="020B0300000000000000" charset="-122"/>
                <a:ea typeface=".萍方-简" panose="020B0300000000000000" charset="-122"/>
              </a:rPr>
              <a:t>文档</a:t>
            </a:r>
            <a:r>
              <a:rPr lang="en-US" altLang="zh-CN" sz="4000">
                <a:latin typeface=".萍方-简" panose="020B0300000000000000" charset="-122"/>
                <a:ea typeface=".萍方-简" panose="020B0300000000000000" charset="-122"/>
              </a:rPr>
              <a:t> C </a:t>
            </a:r>
            <a:r>
              <a:rPr lang="zh-CN" altLang="en-US" sz="4000">
                <a:latin typeface=".萍方-简" panose="020B0300000000000000" charset="-122"/>
                <a:ea typeface=".萍方-简" panose="020B0300000000000000" charset="-122"/>
              </a:rPr>
              <a:t>排名相对靠后</a:t>
            </a:r>
            <a:endParaRPr lang="zh-CN" altLang="en-US" sz="4000">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344170" y="1806575"/>
            <a:ext cx="15008225" cy="10895330"/>
          </a:xfrm>
          <a:prstGeom prst="rect">
            <a:avLst/>
          </a:prstGeom>
        </p:spPr>
      </p:pic>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上下文压缩和过滤</a:t>
            </a:r>
            <a:endParaRPr lang="zh-CN" altLang="en-US" b="1">
              <a:latin typeface=".萍方-简" panose="020B0300000000000000" charset="-122"/>
              <a:ea typeface=".萍方-简" panose="020B0300000000000000" charset="-122"/>
              <a:cs typeface=".萍方-简" panose="020B0300000000000000" charset="-122"/>
            </a:endParaRPr>
          </a:p>
        </p:txBody>
      </p:sp>
      <p:sp>
        <p:nvSpPr>
          <p:cNvPr id="7" name="文本框 6"/>
          <p:cNvSpPr txBox="1"/>
          <p:nvPr/>
        </p:nvSpPr>
        <p:spPr>
          <a:xfrm>
            <a:off x="1243041" y="1683709"/>
            <a:ext cx="22666823" cy="3341812"/>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痛点分析</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我们划分文档块的时候，通常不知道用户的查询，这意味着，与查询最相关的信息可能隐藏在一个包含大量不相关文本的文档中，这样输入给</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，可能会导致更昂贵的</a:t>
            </a:r>
            <a:r>
              <a:rPr lang="en-US" altLang="zh-CN">
                <a:latin typeface=".萍方-简" panose="020B0300000000000000" charset="-122"/>
                <a:ea typeface=".萍方-简" panose="020B0300000000000000" charset="-122"/>
              </a:rPr>
              <a:t>LLM</a:t>
            </a:r>
            <a:r>
              <a:rPr lang="zh-CN" altLang="en-US">
                <a:latin typeface=".萍方-简" panose="020B0300000000000000" charset="-122"/>
                <a:ea typeface=".萍方-简" panose="020B0300000000000000" charset="-122"/>
              </a:rPr>
              <a:t>调用和较差的响应。</a:t>
            </a:r>
            <a:endParaRPr lang="zh-CN" altLang="en-US">
              <a:latin typeface=".萍方-简" panose="020B0300000000000000" charset="-122"/>
              <a:ea typeface=".萍方-简" panose="020B0300000000000000" charset="-122"/>
            </a:endParaRPr>
          </a:p>
        </p:txBody>
      </p:sp>
      <p:sp>
        <p:nvSpPr>
          <p:cNvPr id="3" name="文本框 2"/>
          <p:cNvSpPr txBox="1"/>
          <p:nvPr/>
        </p:nvSpPr>
        <p:spPr>
          <a:xfrm>
            <a:off x="1243042" y="5357674"/>
            <a:ext cx="22666823" cy="267701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基本思路：</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a:t>
            </a:r>
            <a:r>
              <a:rPr lang="zh-CN" altLang="en-US">
                <a:latin typeface=".萍方-简" panose="020B0300000000000000" charset="-122"/>
                <a:ea typeface=".萍方-简" panose="020B0300000000000000" charset="-122"/>
              </a:rPr>
              <a:t>使用给定查询的上下文来压缩它们，以便只返回相关信息，而不是立即按原样返回检索到的文档</a:t>
            </a:r>
            <a:endParaRPr lang="zh-CN" altLang="en-US">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5818186" y="7711018"/>
            <a:ext cx="16039775" cy="4955116"/>
          </a:xfrm>
          <a:prstGeom prst="rect">
            <a:avLst/>
          </a:prstGeom>
        </p:spPr>
      </p:pic>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7351</Words>
  <Application>WPS 演示</Application>
  <PresentationFormat>自定义</PresentationFormat>
  <Paragraphs>410</Paragraphs>
  <Slides>51</Slides>
  <Notes>56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51</vt:i4>
      </vt:variant>
    </vt:vector>
  </HeadingPairs>
  <TitlesOfParts>
    <vt:vector size="68" baseType="lpstr">
      <vt:lpstr>Arial</vt:lpstr>
      <vt:lpstr>宋体</vt:lpstr>
      <vt:lpstr>Wingdings</vt:lpstr>
      <vt:lpstr>Helvetica Neue</vt:lpstr>
      <vt:lpstr>Helvetica Neue Medium</vt:lpstr>
      <vt:lpstr>PingFang SC Semibold</vt:lpstr>
      <vt:lpstr>PingFang SC Light</vt:lpstr>
      <vt:lpstr>.萍方-简</vt:lpstr>
      <vt:lpstr>微软雅黑</vt:lpstr>
      <vt:lpstr>更纱黑体 SC Light</vt:lpstr>
      <vt:lpstr>黑体</vt:lpstr>
      <vt:lpstr>微软雅黑</vt:lpstr>
      <vt:lpstr>微软雅黑 Light</vt:lpstr>
      <vt:lpstr>Wingdings</vt:lpstr>
      <vt:lpstr>Arial Unicode MS</vt:lpstr>
      <vt:lpstr>Arial</vt:lpstr>
      <vt:lpstr>21_BasicWhite</vt:lpstr>
      <vt:lpstr>PowerPoint 演示文稿</vt:lpstr>
      <vt:lpstr>本阶段课程安排</vt:lpstr>
      <vt:lpstr>本阶段上课须知</vt:lpstr>
      <vt:lpstr>本阶段环境</vt:lpstr>
      <vt:lpstr>本阶段环境</vt:lpstr>
      <vt:lpstr>PowerPoint 演示文稿</vt:lpstr>
      <vt:lpstr>PowerPoint 演示文稿</vt:lpstr>
      <vt:lpstr>RAG商业化痛点分析</vt:lpstr>
      <vt:lpstr>RAG商业化痛点分析</vt:lpstr>
      <vt:lpstr>RAG商业化痛点分析</vt:lpstr>
      <vt:lpstr>具体痛点问题总结</vt:lpstr>
      <vt:lpstr>RAG优化</vt:lpstr>
      <vt:lpstr>RAG优化</vt:lpstr>
      <vt:lpstr>RAG优化</vt:lpstr>
      <vt:lpstr>RAG优化</vt:lpstr>
      <vt:lpstr>RAG优化</vt:lpstr>
      <vt:lpstr>Advanced RAG概述</vt:lpstr>
      <vt:lpstr>Advanced RAG概述</vt:lpstr>
      <vt:lpstr>Advanced RAG概述</vt:lpstr>
      <vt:lpstr>Advanced RAG概述</vt:lpstr>
      <vt:lpstr>Pre-Retrieval预检索-索引优化</vt:lpstr>
      <vt:lpstr>Pre-Retrieval预检索优化</vt:lpstr>
      <vt:lpstr>摘要索引</vt:lpstr>
      <vt:lpstr>摘要索引</vt:lpstr>
      <vt:lpstr>摘要索引-使用场景</vt:lpstr>
      <vt:lpstr>父子索引</vt:lpstr>
      <vt:lpstr>父子索引</vt:lpstr>
      <vt:lpstr>父子索引-总结</vt:lpstr>
      <vt:lpstr>假设性问题索引</vt:lpstr>
      <vt:lpstr>假设性问题索引</vt:lpstr>
      <vt:lpstr>元数据索引</vt:lpstr>
      <vt:lpstr>元数据索引</vt:lpstr>
      <vt:lpstr>索引优化小结</vt:lpstr>
      <vt:lpstr>Pre-Retrieval预检索-查询优化</vt:lpstr>
      <vt:lpstr>Enrich完善问题</vt:lpstr>
      <vt:lpstr>Enrich完善问题</vt:lpstr>
      <vt:lpstr>Enrich完善问题</vt:lpstr>
      <vt:lpstr>Multi-Query 多路召回</vt:lpstr>
      <vt:lpstr>Multi-Query 多路召回</vt:lpstr>
      <vt:lpstr>Decomposition 问题分解</vt:lpstr>
      <vt:lpstr>Decomposition 问题分解</vt:lpstr>
      <vt:lpstr>查询优化小结</vt:lpstr>
      <vt:lpstr>检索优化-混合检索</vt:lpstr>
      <vt:lpstr>混合检索</vt:lpstr>
      <vt:lpstr>混合检索</vt:lpstr>
      <vt:lpstr>Post-Retrieval后检索优化</vt:lpstr>
      <vt:lpstr>Post-Retrieval后检索</vt:lpstr>
      <vt:lpstr>RAG-Fusion</vt:lpstr>
      <vt:lpstr>RAG-Fusion</vt:lpstr>
      <vt:lpstr>RAG-Fusion</vt:lpstr>
      <vt:lpstr>上下文压缩和过滤</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郭培</cp:lastModifiedBy>
  <cp:revision>242</cp:revision>
  <dcterms:created xsi:type="dcterms:W3CDTF">2025-03-08T12:13:00Z</dcterms:created>
  <dcterms:modified xsi:type="dcterms:W3CDTF">2025-12-29T08:27:49Z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788BC8F5AE1B41898161E6F2DDF15955_13</vt:lpwstr>
  </property>
  <property fmtid="{D5CDD505-2E9C-101B-9397-08002B2CF9AE}" pid="3" name="KSOProductBuildVer">
    <vt:lpwstr>2052-12.1.0.24034</vt:lpwstr>
  </property>
</Properties>
</file>