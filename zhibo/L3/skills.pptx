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2.svg" ContentType="image/svg+xml"/>
  <Override PartName="/ppt/media/image114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3"/>
    <p:sldId id="289" r:id="rId4"/>
    <p:sldId id="260" r:id="rId5"/>
    <p:sldId id="256" r:id="rId6"/>
    <p:sldId id="257" r:id="rId7"/>
    <p:sldId id="258" r:id="rId8"/>
    <p:sldId id="263" r:id="rId9"/>
    <p:sldId id="264" r:id="rId10"/>
    <p:sldId id="266" r:id="rId11"/>
    <p:sldId id="265" r:id="rId12"/>
    <p:sldId id="267" r:id="rId13"/>
    <p:sldId id="26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4.png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image" Target="../media/image3.jpeg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5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107.xml"/><Relationship Id="rId30" Type="http://schemas.openxmlformats.org/officeDocument/2006/relationships/tags" Target="../tags/tag106.xml"/><Relationship Id="rId3" Type="http://schemas.openxmlformats.org/officeDocument/2006/relationships/image" Target="../media/image4.png"/><Relationship Id="rId29" Type="http://schemas.openxmlformats.org/officeDocument/2006/relationships/tags" Target="../tags/tag105.xml"/><Relationship Id="rId28" Type="http://schemas.openxmlformats.org/officeDocument/2006/relationships/tags" Target="../tags/tag104.xml"/><Relationship Id="rId27" Type="http://schemas.openxmlformats.org/officeDocument/2006/relationships/image" Target="../media/image10.svg"/><Relationship Id="rId26" Type="http://schemas.openxmlformats.org/officeDocument/2006/relationships/image" Target="../media/image9.png"/><Relationship Id="rId25" Type="http://schemas.openxmlformats.org/officeDocument/2006/relationships/tags" Target="../tags/tag103.xml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image" Target="../media/image3.jpeg"/><Relationship Id="rId19" Type="http://schemas.openxmlformats.org/officeDocument/2006/relationships/tags" Target="../tags/tag97.xml"/><Relationship Id="rId18" Type="http://schemas.openxmlformats.org/officeDocument/2006/relationships/image" Target="../media/image8.svg"/><Relationship Id="rId17" Type="http://schemas.openxmlformats.org/officeDocument/2006/relationships/image" Target="../media/image7.png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08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image" Target="../media/image21.jpeg"/><Relationship Id="rId3" Type="http://schemas.openxmlformats.org/officeDocument/2006/relationships/image" Target="../media/image4.png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123.xml"/><Relationship Id="rId24" Type="http://schemas.openxmlformats.org/officeDocument/2006/relationships/tags" Target="../tags/tag122.xml"/><Relationship Id="rId23" Type="http://schemas.openxmlformats.org/officeDocument/2006/relationships/tags" Target="../tags/tag121.xml"/><Relationship Id="rId22" Type="http://schemas.openxmlformats.org/officeDocument/2006/relationships/image" Target="../media/image25.svg"/><Relationship Id="rId21" Type="http://schemas.openxmlformats.org/officeDocument/2006/relationships/image" Target="../media/image24.png"/><Relationship Id="rId20" Type="http://schemas.openxmlformats.org/officeDocument/2006/relationships/tags" Target="../tags/tag120.xml"/><Relationship Id="rId2" Type="http://schemas.openxmlformats.org/officeDocument/2006/relationships/image" Target="../media/image3.jpeg"/><Relationship Id="rId19" Type="http://schemas.openxmlformats.org/officeDocument/2006/relationships/tags" Target="../tags/tag119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image" Target="../media/image12.svg"/><Relationship Id="rId14" Type="http://schemas.openxmlformats.org/officeDocument/2006/relationships/image" Target="../media/image11.png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144.xml"/><Relationship Id="rId31" Type="http://schemas.openxmlformats.org/officeDocument/2006/relationships/tags" Target="../tags/tag143.xml"/><Relationship Id="rId30" Type="http://schemas.openxmlformats.org/officeDocument/2006/relationships/tags" Target="../tags/tag142.xml"/><Relationship Id="rId3" Type="http://schemas.openxmlformats.org/officeDocument/2006/relationships/image" Target="../media/image4.png"/><Relationship Id="rId29" Type="http://schemas.openxmlformats.org/officeDocument/2006/relationships/image" Target="../media/image33.svg"/><Relationship Id="rId28" Type="http://schemas.openxmlformats.org/officeDocument/2006/relationships/image" Target="../media/image32.png"/><Relationship Id="rId27" Type="http://schemas.openxmlformats.org/officeDocument/2006/relationships/tags" Target="../tags/tag141.xml"/><Relationship Id="rId26" Type="http://schemas.openxmlformats.org/officeDocument/2006/relationships/tags" Target="../tags/tag140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image" Target="../media/image31.svg"/><Relationship Id="rId21" Type="http://schemas.openxmlformats.org/officeDocument/2006/relationships/image" Target="../media/image30.png"/><Relationship Id="rId20" Type="http://schemas.openxmlformats.org/officeDocument/2006/relationships/tags" Target="../tags/tag136.xml"/><Relationship Id="rId2" Type="http://schemas.openxmlformats.org/officeDocument/2006/relationships/image" Target="../media/image3.jpeg"/><Relationship Id="rId19" Type="http://schemas.openxmlformats.org/officeDocument/2006/relationships/tags" Target="../tags/tag135.xml"/><Relationship Id="rId18" Type="http://schemas.openxmlformats.org/officeDocument/2006/relationships/tags" Target="../tags/tag134.xml"/><Relationship Id="rId17" Type="http://schemas.openxmlformats.org/officeDocument/2006/relationships/tags" Target="../tags/tag133.xml"/><Relationship Id="rId16" Type="http://schemas.openxmlformats.org/officeDocument/2006/relationships/tags" Target="../tags/tag132.xml"/><Relationship Id="rId15" Type="http://schemas.openxmlformats.org/officeDocument/2006/relationships/image" Target="../media/image29.svg"/><Relationship Id="rId14" Type="http://schemas.openxmlformats.org/officeDocument/2006/relationships/image" Target="../media/image28.png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5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46.xml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image" Target="../media/image4.png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165.xml"/><Relationship Id="rId25" Type="http://schemas.openxmlformats.org/officeDocument/2006/relationships/tags" Target="../tags/tag164.xml"/><Relationship Id="rId24" Type="http://schemas.openxmlformats.org/officeDocument/2006/relationships/tags" Target="../tags/tag163.xml"/><Relationship Id="rId23" Type="http://schemas.openxmlformats.org/officeDocument/2006/relationships/image" Target="../media/image45.svg"/><Relationship Id="rId22" Type="http://schemas.openxmlformats.org/officeDocument/2006/relationships/image" Target="../media/image44.png"/><Relationship Id="rId21" Type="http://schemas.openxmlformats.org/officeDocument/2006/relationships/tags" Target="../tags/tag162.xml"/><Relationship Id="rId20" Type="http://schemas.openxmlformats.org/officeDocument/2006/relationships/tags" Target="../tags/tag161.xml"/><Relationship Id="rId2" Type="http://schemas.openxmlformats.org/officeDocument/2006/relationships/image" Target="../media/image3.jpeg"/><Relationship Id="rId19" Type="http://schemas.openxmlformats.org/officeDocument/2006/relationships/tags" Target="../tags/tag160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image" Target="../media/image43.svg"/><Relationship Id="rId11" Type="http://schemas.openxmlformats.org/officeDocument/2006/relationships/image" Target="../media/image42.png"/><Relationship Id="rId10" Type="http://schemas.openxmlformats.org/officeDocument/2006/relationships/tags" Target="../tags/tag153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svg"/><Relationship Id="rId8" Type="http://schemas.openxmlformats.org/officeDocument/2006/relationships/image" Target="../media/image46.png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187.xml"/><Relationship Id="rId30" Type="http://schemas.openxmlformats.org/officeDocument/2006/relationships/tags" Target="../tags/tag186.xml"/><Relationship Id="rId3" Type="http://schemas.openxmlformats.org/officeDocument/2006/relationships/image" Target="../media/image4.png"/><Relationship Id="rId29" Type="http://schemas.openxmlformats.org/officeDocument/2006/relationships/tags" Target="../tags/tag185.xml"/><Relationship Id="rId28" Type="http://schemas.openxmlformats.org/officeDocument/2006/relationships/tags" Target="../tags/tag184.xml"/><Relationship Id="rId27" Type="http://schemas.openxmlformats.org/officeDocument/2006/relationships/image" Target="../media/image51.svg"/><Relationship Id="rId26" Type="http://schemas.openxmlformats.org/officeDocument/2006/relationships/image" Target="../media/image50.png"/><Relationship Id="rId25" Type="http://schemas.openxmlformats.org/officeDocument/2006/relationships/tags" Target="../tags/tag183.xml"/><Relationship Id="rId24" Type="http://schemas.openxmlformats.org/officeDocument/2006/relationships/tags" Target="../tags/tag182.xml"/><Relationship Id="rId23" Type="http://schemas.openxmlformats.org/officeDocument/2006/relationships/tags" Target="../tags/tag181.xml"/><Relationship Id="rId22" Type="http://schemas.openxmlformats.org/officeDocument/2006/relationships/tags" Target="../tags/tag180.xml"/><Relationship Id="rId21" Type="http://schemas.openxmlformats.org/officeDocument/2006/relationships/tags" Target="../tags/tag179.xml"/><Relationship Id="rId20" Type="http://schemas.openxmlformats.org/officeDocument/2006/relationships/tags" Target="../tags/tag178.xml"/><Relationship Id="rId2" Type="http://schemas.openxmlformats.org/officeDocument/2006/relationships/image" Target="../media/image3.jpeg"/><Relationship Id="rId19" Type="http://schemas.openxmlformats.org/officeDocument/2006/relationships/tags" Target="../tags/tag177.xml"/><Relationship Id="rId18" Type="http://schemas.openxmlformats.org/officeDocument/2006/relationships/image" Target="../media/image49.svg"/><Relationship Id="rId17" Type="http://schemas.openxmlformats.org/officeDocument/2006/relationships/image" Target="../media/image48.png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tags" Target="../tags/tag190.xml"/><Relationship Id="rId52" Type="http://schemas.openxmlformats.org/officeDocument/2006/relationships/slideLayout" Target="../slideLayouts/slideLayout1.xml"/><Relationship Id="rId51" Type="http://schemas.openxmlformats.org/officeDocument/2006/relationships/tags" Target="../tags/tag223.xml"/><Relationship Id="rId50" Type="http://schemas.openxmlformats.org/officeDocument/2006/relationships/image" Target="../media/image63.svg"/><Relationship Id="rId5" Type="http://schemas.openxmlformats.org/officeDocument/2006/relationships/tags" Target="../tags/tag189.xml"/><Relationship Id="rId49" Type="http://schemas.openxmlformats.org/officeDocument/2006/relationships/image" Target="../media/image62.png"/><Relationship Id="rId48" Type="http://schemas.openxmlformats.org/officeDocument/2006/relationships/tags" Target="../tags/tag222.xml"/><Relationship Id="rId47" Type="http://schemas.openxmlformats.org/officeDocument/2006/relationships/tags" Target="../tags/tag221.xml"/><Relationship Id="rId46" Type="http://schemas.openxmlformats.org/officeDocument/2006/relationships/tags" Target="../tags/tag220.xml"/><Relationship Id="rId45" Type="http://schemas.openxmlformats.org/officeDocument/2006/relationships/tags" Target="../tags/tag219.xml"/><Relationship Id="rId44" Type="http://schemas.openxmlformats.org/officeDocument/2006/relationships/image" Target="../media/image61.svg"/><Relationship Id="rId43" Type="http://schemas.openxmlformats.org/officeDocument/2006/relationships/image" Target="../media/image60.png"/><Relationship Id="rId42" Type="http://schemas.openxmlformats.org/officeDocument/2006/relationships/tags" Target="../tags/tag218.xml"/><Relationship Id="rId41" Type="http://schemas.openxmlformats.org/officeDocument/2006/relationships/tags" Target="../tags/tag217.xml"/><Relationship Id="rId40" Type="http://schemas.openxmlformats.org/officeDocument/2006/relationships/tags" Target="../tags/tag216.xml"/><Relationship Id="rId4" Type="http://schemas.openxmlformats.org/officeDocument/2006/relationships/tags" Target="../tags/tag188.xml"/><Relationship Id="rId39" Type="http://schemas.openxmlformats.org/officeDocument/2006/relationships/tags" Target="../tags/tag215.xml"/><Relationship Id="rId38" Type="http://schemas.openxmlformats.org/officeDocument/2006/relationships/tags" Target="../tags/tag214.xml"/><Relationship Id="rId37" Type="http://schemas.openxmlformats.org/officeDocument/2006/relationships/tags" Target="../tags/tag213.xml"/><Relationship Id="rId36" Type="http://schemas.openxmlformats.org/officeDocument/2006/relationships/tags" Target="../tags/tag212.xml"/><Relationship Id="rId35" Type="http://schemas.openxmlformats.org/officeDocument/2006/relationships/image" Target="../media/image59.svg"/><Relationship Id="rId34" Type="http://schemas.openxmlformats.org/officeDocument/2006/relationships/image" Target="../media/image58.png"/><Relationship Id="rId33" Type="http://schemas.openxmlformats.org/officeDocument/2006/relationships/tags" Target="../tags/tag211.xml"/><Relationship Id="rId32" Type="http://schemas.openxmlformats.org/officeDocument/2006/relationships/tags" Target="../tags/tag210.xml"/><Relationship Id="rId31" Type="http://schemas.openxmlformats.org/officeDocument/2006/relationships/tags" Target="../tags/tag209.xml"/><Relationship Id="rId30" Type="http://schemas.openxmlformats.org/officeDocument/2006/relationships/tags" Target="../tags/tag208.xml"/><Relationship Id="rId3" Type="http://schemas.openxmlformats.org/officeDocument/2006/relationships/image" Target="../media/image4.png"/><Relationship Id="rId29" Type="http://schemas.openxmlformats.org/officeDocument/2006/relationships/tags" Target="../tags/tag207.xml"/><Relationship Id="rId28" Type="http://schemas.openxmlformats.org/officeDocument/2006/relationships/tags" Target="../tags/tag206.xml"/><Relationship Id="rId27" Type="http://schemas.openxmlformats.org/officeDocument/2006/relationships/tags" Target="../tags/tag205.xml"/><Relationship Id="rId26" Type="http://schemas.openxmlformats.org/officeDocument/2006/relationships/image" Target="../media/image57.svg"/><Relationship Id="rId25" Type="http://schemas.openxmlformats.org/officeDocument/2006/relationships/image" Target="../media/image56.png"/><Relationship Id="rId24" Type="http://schemas.openxmlformats.org/officeDocument/2006/relationships/tags" Target="../tags/tag204.xml"/><Relationship Id="rId23" Type="http://schemas.openxmlformats.org/officeDocument/2006/relationships/tags" Target="../tags/tag203.xml"/><Relationship Id="rId22" Type="http://schemas.openxmlformats.org/officeDocument/2006/relationships/tags" Target="../tags/tag202.xml"/><Relationship Id="rId21" Type="http://schemas.openxmlformats.org/officeDocument/2006/relationships/tags" Target="../tags/tag201.xml"/><Relationship Id="rId20" Type="http://schemas.openxmlformats.org/officeDocument/2006/relationships/tags" Target="../tags/tag200.xml"/><Relationship Id="rId2" Type="http://schemas.openxmlformats.org/officeDocument/2006/relationships/image" Target="../media/image3.jpeg"/><Relationship Id="rId19" Type="http://schemas.openxmlformats.org/officeDocument/2006/relationships/tags" Target="../tags/tag199.xml"/><Relationship Id="rId18" Type="http://schemas.openxmlformats.org/officeDocument/2006/relationships/tags" Target="../tags/tag198.xml"/><Relationship Id="rId17" Type="http://schemas.openxmlformats.org/officeDocument/2006/relationships/image" Target="../media/image55.svg"/><Relationship Id="rId16" Type="http://schemas.openxmlformats.org/officeDocument/2006/relationships/image" Target="../media/image54.png"/><Relationship Id="rId15" Type="http://schemas.openxmlformats.org/officeDocument/2006/relationships/tags" Target="../tags/tag197.xml"/><Relationship Id="rId14" Type="http://schemas.openxmlformats.org/officeDocument/2006/relationships/tags" Target="../tags/tag196.xml"/><Relationship Id="rId13" Type="http://schemas.openxmlformats.org/officeDocument/2006/relationships/tags" Target="../tags/tag195.xml"/><Relationship Id="rId12" Type="http://schemas.openxmlformats.org/officeDocument/2006/relationships/tags" Target="../tags/tag194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66.pn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24.xml"/><Relationship Id="rId13" Type="http://schemas.openxmlformats.org/officeDocument/2006/relationships/image" Target="../media/image70.svg"/><Relationship Id="rId12" Type="http://schemas.openxmlformats.org/officeDocument/2006/relationships/image" Target="../media/image69.png"/><Relationship Id="rId11" Type="http://schemas.openxmlformats.org/officeDocument/2006/relationships/image" Target="../media/image68.svg"/><Relationship Id="rId10" Type="http://schemas.openxmlformats.org/officeDocument/2006/relationships/image" Target="../media/image67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25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54.png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image" Target="../media/image4.png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2.xml"/><Relationship Id="rId23" Type="http://schemas.openxmlformats.org/officeDocument/2006/relationships/tags" Target="../tags/tag241.xml"/><Relationship Id="rId22" Type="http://schemas.openxmlformats.org/officeDocument/2006/relationships/tags" Target="../tags/tag240.xml"/><Relationship Id="rId21" Type="http://schemas.openxmlformats.org/officeDocument/2006/relationships/tags" Target="../tags/tag239.xml"/><Relationship Id="rId20" Type="http://schemas.openxmlformats.org/officeDocument/2006/relationships/tags" Target="../tags/tag238.xml"/><Relationship Id="rId2" Type="http://schemas.openxmlformats.org/officeDocument/2006/relationships/image" Target="../media/image3.jpeg"/><Relationship Id="rId19" Type="http://schemas.openxmlformats.org/officeDocument/2006/relationships/image" Target="../media/image72.svg"/><Relationship Id="rId18" Type="http://schemas.openxmlformats.org/officeDocument/2006/relationships/image" Target="../media/image71.png"/><Relationship Id="rId17" Type="http://schemas.openxmlformats.org/officeDocument/2006/relationships/tags" Target="../tags/tag237.xml"/><Relationship Id="rId16" Type="http://schemas.openxmlformats.org/officeDocument/2006/relationships/tags" Target="../tags/tag236.xml"/><Relationship Id="rId15" Type="http://schemas.openxmlformats.org/officeDocument/2006/relationships/tags" Target="../tags/tag235.xml"/><Relationship Id="rId14" Type="http://schemas.openxmlformats.org/officeDocument/2006/relationships/tags" Target="../tags/tag234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svg"/><Relationship Id="rId8" Type="http://schemas.openxmlformats.org/officeDocument/2006/relationships/image" Target="../media/image73.png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image" Target="../media/image4.png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63.xml"/><Relationship Id="rId27" Type="http://schemas.openxmlformats.org/officeDocument/2006/relationships/tags" Target="../tags/tag262.xml"/><Relationship Id="rId26" Type="http://schemas.openxmlformats.org/officeDocument/2006/relationships/tags" Target="../tags/tag261.xml"/><Relationship Id="rId25" Type="http://schemas.openxmlformats.org/officeDocument/2006/relationships/tags" Target="../tags/tag260.xml"/><Relationship Id="rId24" Type="http://schemas.openxmlformats.org/officeDocument/2006/relationships/tags" Target="../tags/tag259.xml"/><Relationship Id="rId23" Type="http://schemas.openxmlformats.org/officeDocument/2006/relationships/tags" Target="../tags/tag258.xml"/><Relationship Id="rId22" Type="http://schemas.openxmlformats.org/officeDocument/2006/relationships/tags" Target="../tags/tag257.xml"/><Relationship Id="rId21" Type="http://schemas.openxmlformats.org/officeDocument/2006/relationships/image" Target="../media/image76.svg"/><Relationship Id="rId20" Type="http://schemas.openxmlformats.org/officeDocument/2006/relationships/image" Target="../media/image75.png"/><Relationship Id="rId2" Type="http://schemas.openxmlformats.org/officeDocument/2006/relationships/image" Target="../media/image3.jpeg"/><Relationship Id="rId19" Type="http://schemas.openxmlformats.org/officeDocument/2006/relationships/tags" Target="../tags/tag256.xml"/><Relationship Id="rId18" Type="http://schemas.openxmlformats.org/officeDocument/2006/relationships/tags" Target="../tags/tag255.xml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image" Target="../media/image78.svg"/><Relationship Id="rId4" Type="http://schemas.openxmlformats.org/officeDocument/2006/relationships/image" Target="../media/image77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288.xml"/><Relationship Id="rId37" Type="http://schemas.openxmlformats.org/officeDocument/2006/relationships/tags" Target="../tags/tag287.xml"/><Relationship Id="rId36" Type="http://schemas.openxmlformats.org/officeDocument/2006/relationships/tags" Target="../tags/tag286.xml"/><Relationship Id="rId35" Type="http://schemas.openxmlformats.org/officeDocument/2006/relationships/image" Target="../media/image86.svg"/><Relationship Id="rId34" Type="http://schemas.openxmlformats.org/officeDocument/2006/relationships/image" Target="../media/image85.png"/><Relationship Id="rId33" Type="http://schemas.openxmlformats.org/officeDocument/2006/relationships/tags" Target="../tags/tag285.xml"/><Relationship Id="rId32" Type="http://schemas.openxmlformats.org/officeDocument/2006/relationships/tags" Target="../tags/tag284.xml"/><Relationship Id="rId31" Type="http://schemas.openxmlformats.org/officeDocument/2006/relationships/tags" Target="../tags/tag283.xml"/><Relationship Id="rId30" Type="http://schemas.openxmlformats.org/officeDocument/2006/relationships/tags" Target="../tags/tag282.xml"/><Relationship Id="rId3" Type="http://schemas.openxmlformats.org/officeDocument/2006/relationships/image" Target="../media/image4.png"/><Relationship Id="rId29" Type="http://schemas.openxmlformats.org/officeDocument/2006/relationships/tags" Target="../tags/tag281.xml"/><Relationship Id="rId28" Type="http://schemas.openxmlformats.org/officeDocument/2006/relationships/tags" Target="../tags/tag280.xml"/><Relationship Id="rId27" Type="http://schemas.openxmlformats.org/officeDocument/2006/relationships/image" Target="../media/image84.svg"/><Relationship Id="rId26" Type="http://schemas.openxmlformats.org/officeDocument/2006/relationships/image" Target="../media/image83.png"/><Relationship Id="rId25" Type="http://schemas.openxmlformats.org/officeDocument/2006/relationships/tags" Target="../tags/tag279.xml"/><Relationship Id="rId24" Type="http://schemas.openxmlformats.org/officeDocument/2006/relationships/tags" Target="../tags/tag278.xml"/><Relationship Id="rId23" Type="http://schemas.openxmlformats.org/officeDocument/2006/relationships/tags" Target="../tags/tag277.xml"/><Relationship Id="rId22" Type="http://schemas.openxmlformats.org/officeDocument/2006/relationships/tags" Target="../tags/tag276.xml"/><Relationship Id="rId21" Type="http://schemas.openxmlformats.org/officeDocument/2006/relationships/tags" Target="../tags/tag275.xml"/><Relationship Id="rId20" Type="http://schemas.openxmlformats.org/officeDocument/2006/relationships/tags" Target="../tags/tag274.xml"/><Relationship Id="rId2" Type="http://schemas.openxmlformats.org/officeDocument/2006/relationships/image" Target="../media/image3.jpeg"/><Relationship Id="rId19" Type="http://schemas.openxmlformats.org/officeDocument/2006/relationships/image" Target="../media/image82.svg"/><Relationship Id="rId18" Type="http://schemas.openxmlformats.org/officeDocument/2006/relationships/image" Target="../media/image81.png"/><Relationship Id="rId17" Type="http://schemas.openxmlformats.org/officeDocument/2006/relationships/tags" Target="../tags/tag273.xml"/><Relationship Id="rId16" Type="http://schemas.openxmlformats.org/officeDocument/2006/relationships/tags" Target="../tags/tag272.xml"/><Relationship Id="rId15" Type="http://schemas.openxmlformats.org/officeDocument/2006/relationships/tags" Target="../tags/tag271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svg"/><Relationship Id="rId8" Type="http://schemas.openxmlformats.org/officeDocument/2006/relationships/image" Target="../media/image87.png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310.xml"/><Relationship Id="rId30" Type="http://schemas.openxmlformats.org/officeDocument/2006/relationships/tags" Target="../tags/tag309.xml"/><Relationship Id="rId3" Type="http://schemas.openxmlformats.org/officeDocument/2006/relationships/image" Target="../media/image4.png"/><Relationship Id="rId29" Type="http://schemas.openxmlformats.org/officeDocument/2006/relationships/tags" Target="../tags/tag308.xml"/><Relationship Id="rId28" Type="http://schemas.openxmlformats.org/officeDocument/2006/relationships/tags" Target="../tags/tag307.xml"/><Relationship Id="rId27" Type="http://schemas.openxmlformats.org/officeDocument/2006/relationships/image" Target="../media/image92.svg"/><Relationship Id="rId26" Type="http://schemas.openxmlformats.org/officeDocument/2006/relationships/image" Target="../media/image91.png"/><Relationship Id="rId25" Type="http://schemas.openxmlformats.org/officeDocument/2006/relationships/tags" Target="../tags/tag306.xml"/><Relationship Id="rId24" Type="http://schemas.openxmlformats.org/officeDocument/2006/relationships/tags" Target="../tags/tag305.xml"/><Relationship Id="rId23" Type="http://schemas.openxmlformats.org/officeDocument/2006/relationships/tags" Target="../tags/tag304.xml"/><Relationship Id="rId22" Type="http://schemas.openxmlformats.org/officeDocument/2006/relationships/tags" Target="../tags/tag303.xml"/><Relationship Id="rId21" Type="http://schemas.openxmlformats.org/officeDocument/2006/relationships/tags" Target="../tags/tag302.xml"/><Relationship Id="rId20" Type="http://schemas.openxmlformats.org/officeDocument/2006/relationships/tags" Target="../tags/tag301.xml"/><Relationship Id="rId2" Type="http://schemas.openxmlformats.org/officeDocument/2006/relationships/image" Target="../media/image3.jpeg"/><Relationship Id="rId19" Type="http://schemas.openxmlformats.org/officeDocument/2006/relationships/tags" Target="../tags/tag300.xml"/><Relationship Id="rId18" Type="http://schemas.openxmlformats.org/officeDocument/2006/relationships/image" Target="../media/image90.svg"/><Relationship Id="rId17" Type="http://schemas.openxmlformats.org/officeDocument/2006/relationships/image" Target="../media/image89.png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svg"/><Relationship Id="rId8" Type="http://schemas.openxmlformats.org/officeDocument/2006/relationships/image" Target="../media/image93.png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341.xml"/><Relationship Id="rId37" Type="http://schemas.openxmlformats.org/officeDocument/2006/relationships/tags" Target="../tags/tag340.xml"/><Relationship Id="rId36" Type="http://schemas.openxmlformats.org/officeDocument/2006/relationships/tags" Target="../tags/tag339.xml"/><Relationship Id="rId35" Type="http://schemas.openxmlformats.org/officeDocument/2006/relationships/tags" Target="../tags/tag338.xml"/><Relationship Id="rId34" Type="http://schemas.openxmlformats.org/officeDocument/2006/relationships/tags" Target="../tags/tag337.xml"/><Relationship Id="rId33" Type="http://schemas.openxmlformats.org/officeDocument/2006/relationships/tags" Target="../tags/tag336.xml"/><Relationship Id="rId32" Type="http://schemas.openxmlformats.org/officeDocument/2006/relationships/tags" Target="../tags/tag335.xml"/><Relationship Id="rId31" Type="http://schemas.openxmlformats.org/officeDocument/2006/relationships/tags" Target="../tags/tag334.xml"/><Relationship Id="rId30" Type="http://schemas.openxmlformats.org/officeDocument/2006/relationships/tags" Target="../tags/tag333.xml"/><Relationship Id="rId3" Type="http://schemas.openxmlformats.org/officeDocument/2006/relationships/image" Target="../media/image4.png"/><Relationship Id="rId29" Type="http://schemas.openxmlformats.org/officeDocument/2006/relationships/tags" Target="../tags/tag332.xml"/><Relationship Id="rId28" Type="http://schemas.openxmlformats.org/officeDocument/2006/relationships/tags" Target="../tags/tag331.xml"/><Relationship Id="rId27" Type="http://schemas.openxmlformats.org/officeDocument/2006/relationships/tags" Target="../tags/tag330.xml"/><Relationship Id="rId26" Type="http://schemas.openxmlformats.org/officeDocument/2006/relationships/tags" Target="../tags/tag329.xml"/><Relationship Id="rId25" Type="http://schemas.openxmlformats.org/officeDocument/2006/relationships/tags" Target="../tags/tag328.xml"/><Relationship Id="rId24" Type="http://schemas.openxmlformats.org/officeDocument/2006/relationships/tags" Target="../tags/tag327.xml"/><Relationship Id="rId23" Type="http://schemas.openxmlformats.org/officeDocument/2006/relationships/tags" Target="../tags/tag326.xml"/><Relationship Id="rId22" Type="http://schemas.openxmlformats.org/officeDocument/2006/relationships/tags" Target="../tags/tag325.xml"/><Relationship Id="rId21" Type="http://schemas.openxmlformats.org/officeDocument/2006/relationships/tags" Target="../tags/tag324.xml"/><Relationship Id="rId20" Type="http://schemas.openxmlformats.org/officeDocument/2006/relationships/tags" Target="../tags/tag323.xml"/><Relationship Id="rId2" Type="http://schemas.openxmlformats.org/officeDocument/2006/relationships/image" Target="../media/image3.jpeg"/><Relationship Id="rId19" Type="http://schemas.openxmlformats.org/officeDocument/2006/relationships/tags" Target="../tags/tag322.xml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image" Target="../media/image96.svg"/><Relationship Id="rId14" Type="http://schemas.openxmlformats.org/officeDocument/2006/relationships/image" Target="../media/image95.png"/><Relationship Id="rId13" Type="http://schemas.openxmlformats.org/officeDocument/2006/relationships/tags" Target="../tags/tag318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34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svg"/><Relationship Id="rId8" Type="http://schemas.openxmlformats.org/officeDocument/2006/relationships/image" Target="../media/image99.png"/><Relationship Id="rId7" Type="http://schemas.openxmlformats.org/officeDocument/2006/relationships/image" Target="../media/image98.svg"/><Relationship Id="rId6" Type="http://schemas.openxmlformats.org/officeDocument/2006/relationships/image" Target="../media/image97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343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svg"/><Relationship Id="rId8" Type="http://schemas.openxmlformats.org/officeDocument/2006/relationships/image" Target="../media/image101.png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365.xml"/><Relationship Id="rId30" Type="http://schemas.openxmlformats.org/officeDocument/2006/relationships/tags" Target="../tags/tag364.xml"/><Relationship Id="rId3" Type="http://schemas.openxmlformats.org/officeDocument/2006/relationships/image" Target="../media/image4.png"/><Relationship Id="rId29" Type="http://schemas.openxmlformats.org/officeDocument/2006/relationships/tags" Target="../tags/tag363.xml"/><Relationship Id="rId28" Type="http://schemas.openxmlformats.org/officeDocument/2006/relationships/tags" Target="../tags/tag362.xml"/><Relationship Id="rId27" Type="http://schemas.openxmlformats.org/officeDocument/2006/relationships/image" Target="../media/image106.svg"/><Relationship Id="rId26" Type="http://schemas.openxmlformats.org/officeDocument/2006/relationships/image" Target="../media/image105.png"/><Relationship Id="rId25" Type="http://schemas.openxmlformats.org/officeDocument/2006/relationships/tags" Target="../tags/tag361.xml"/><Relationship Id="rId24" Type="http://schemas.openxmlformats.org/officeDocument/2006/relationships/tags" Target="../tags/tag360.xml"/><Relationship Id="rId23" Type="http://schemas.openxmlformats.org/officeDocument/2006/relationships/tags" Target="../tags/tag359.xml"/><Relationship Id="rId22" Type="http://schemas.openxmlformats.org/officeDocument/2006/relationships/tags" Target="../tags/tag358.xml"/><Relationship Id="rId21" Type="http://schemas.openxmlformats.org/officeDocument/2006/relationships/tags" Target="../tags/tag357.xml"/><Relationship Id="rId20" Type="http://schemas.openxmlformats.org/officeDocument/2006/relationships/tags" Target="../tags/tag356.xml"/><Relationship Id="rId2" Type="http://schemas.openxmlformats.org/officeDocument/2006/relationships/image" Target="../media/image3.jpeg"/><Relationship Id="rId19" Type="http://schemas.openxmlformats.org/officeDocument/2006/relationships/tags" Target="../tags/tag355.xml"/><Relationship Id="rId18" Type="http://schemas.openxmlformats.org/officeDocument/2006/relationships/image" Target="../media/image104.svg"/><Relationship Id="rId17" Type="http://schemas.openxmlformats.org/officeDocument/2006/relationships/image" Target="../media/image103.png"/><Relationship Id="rId16" Type="http://schemas.openxmlformats.org/officeDocument/2006/relationships/tags" Target="../tags/tag354.xml"/><Relationship Id="rId15" Type="http://schemas.openxmlformats.org/officeDocument/2006/relationships/tags" Target="../tags/tag353.xml"/><Relationship Id="rId14" Type="http://schemas.openxmlformats.org/officeDocument/2006/relationships/tags" Target="../tags/tag352.xml"/><Relationship Id="rId13" Type="http://schemas.openxmlformats.org/officeDocument/2006/relationships/tags" Target="../tags/tag351.xml"/><Relationship Id="rId12" Type="http://schemas.openxmlformats.org/officeDocument/2006/relationships/tags" Target="../tags/tag350.xml"/><Relationship Id="rId11" Type="http://schemas.openxmlformats.org/officeDocument/2006/relationships/tags" Target="../tags/tag349.xml"/><Relationship Id="rId10" Type="http://schemas.openxmlformats.org/officeDocument/2006/relationships/tags" Target="../tags/tag348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69.xml"/><Relationship Id="rId8" Type="http://schemas.openxmlformats.org/officeDocument/2006/relationships/tags" Target="../tags/tag368.xml"/><Relationship Id="rId7" Type="http://schemas.openxmlformats.org/officeDocument/2006/relationships/tags" Target="../tags/tag367.xml"/><Relationship Id="rId6" Type="http://schemas.openxmlformats.org/officeDocument/2006/relationships/tags" Target="../tags/tag366.xml"/><Relationship Id="rId5" Type="http://schemas.openxmlformats.org/officeDocument/2006/relationships/image" Target="../media/image108.svg"/><Relationship Id="rId4" Type="http://schemas.openxmlformats.org/officeDocument/2006/relationships/image" Target="../media/image107.png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384.xml"/><Relationship Id="rId3" Type="http://schemas.openxmlformats.org/officeDocument/2006/relationships/image" Target="../media/image4.png"/><Relationship Id="rId29" Type="http://schemas.openxmlformats.org/officeDocument/2006/relationships/tags" Target="../tags/tag383.xml"/><Relationship Id="rId28" Type="http://schemas.openxmlformats.org/officeDocument/2006/relationships/tags" Target="../tags/tag382.xml"/><Relationship Id="rId27" Type="http://schemas.openxmlformats.org/officeDocument/2006/relationships/image" Target="../media/image6.svg"/><Relationship Id="rId26" Type="http://schemas.openxmlformats.org/officeDocument/2006/relationships/image" Target="../media/image110.png"/><Relationship Id="rId25" Type="http://schemas.openxmlformats.org/officeDocument/2006/relationships/tags" Target="../tags/tag381.xml"/><Relationship Id="rId24" Type="http://schemas.openxmlformats.org/officeDocument/2006/relationships/tags" Target="../tags/tag380.xml"/><Relationship Id="rId23" Type="http://schemas.openxmlformats.org/officeDocument/2006/relationships/tags" Target="../tags/tag379.xml"/><Relationship Id="rId22" Type="http://schemas.openxmlformats.org/officeDocument/2006/relationships/tags" Target="../tags/tag378.xml"/><Relationship Id="rId21" Type="http://schemas.openxmlformats.org/officeDocument/2006/relationships/tags" Target="../tags/tag377.xml"/><Relationship Id="rId20" Type="http://schemas.openxmlformats.org/officeDocument/2006/relationships/tags" Target="../tags/tag376.xml"/><Relationship Id="rId2" Type="http://schemas.openxmlformats.org/officeDocument/2006/relationships/image" Target="../media/image3.jpeg"/><Relationship Id="rId19" Type="http://schemas.openxmlformats.org/officeDocument/2006/relationships/image" Target="../media/image106.svg"/><Relationship Id="rId18" Type="http://schemas.openxmlformats.org/officeDocument/2006/relationships/image" Target="../media/image105.png"/><Relationship Id="rId17" Type="http://schemas.openxmlformats.org/officeDocument/2006/relationships/tags" Target="../tags/tag375.xml"/><Relationship Id="rId16" Type="http://schemas.openxmlformats.org/officeDocument/2006/relationships/tags" Target="../tags/tag374.xml"/><Relationship Id="rId15" Type="http://schemas.openxmlformats.org/officeDocument/2006/relationships/tags" Target="../tags/tag373.xml"/><Relationship Id="rId14" Type="http://schemas.openxmlformats.org/officeDocument/2006/relationships/tags" Target="../tags/tag372.xml"/><Relationship Id="rId13" Type="http://schemas.openxmlformats.org/officeDocument/2006/relationships/tags" Target="../tags/tag371.xml"/><Relationship Id="rId12" Type="http://schemas.openxmlformats.org/officeDocument/2006/relationships/tags" Target="../tags/tag370.xml"/><Relationship Id="rId11" Type="http://schemas.openxmlformats.org/officeDocument/2006/relationships/image" Target="../media/image8.svg"/><Relationship Id="rId10" Type="http://schemas.openxmlformats.org/officeDocument/2006/relationships/image" Target="../media/image109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svg"/><Relationship Id="rId8" Type="http://schemas.openxmlformats.org/officeDocument/2006/relationships/image" Target="../media/image111.png"/><Relationship Id="rId7" Type="http://schemas.openxmlformats.org/officeDocument/2006/relationships/tags" Target="../tags/tag388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406.xml"/><Relationship Id="rId30" Type="http://schemas.openxmlformats.org/officeDocument/2006/relationships/tags" Target="../tags/tag405.xml"/><Relationship Id="rId3" Type="http://schemas.openxmlformats.org/officeDocument/2006/relationships/image" Target="../media/image4.png"/><Relationship Id="rId29" Type="http://schemas.openxmlformats.org/officeDocument/2006/relationships/tags" Target="../tags/tag404.xml"/><Relationship Id="rId28" Type="http://schemas.openxmlformats.org/officeDocument/2006/relationships/tags" Target="../tags/tag403.xml"/><Relationship Id="rId27" Type="http://schemas.openxmlformats.org/officeDocument/2006/relationships/image" Target="../media/image63.svg"/><Relationship Id="rId26" Type="http://schemas.openxmlformats.org/officeDocument/2006/relationships/image" Target="../media/image62.png"/><Relationship Id="rId25" Type="http://schemas.openxmlformats.org/officeDocument/2006/relationships/tags" Target="../tags/tag402.xml"/><Relationship Id="rId24" Type="http://schemas.openxmlformats.org/officeDocument/2006/relationships/tags" Target="../tags/tag401.xml"/><Relationship Id="rId23" Type="http://schemas.openxmlformats.org/officeDocument/2006/relationships/tags" Target="../tags/tag400.xml"/><Relationship Id="rId22" Type="http://schemas.openxmlformats.org/officeDocument/2006/relationships/tags" Target="../tags/tag399.xml"/><Relationship Id="rId21" Type="http://schemas.openxmlformats.org/officeDocument/2006/relationships/tags" Target="../tags/tag398.xml"/><Relationship Id="rId20" Type="http://schemas.openxmlformats.org/officeDocument/2006/relationships/tags" Target="../tags/tag397.xml"/><Relationship Id="rId2" Type="http://schemas.openxmlformats.org/officeDocument/2006/relationships/image" Target="../media/image3.jpeg"/><Relationship Id="rId19" Type="http://schemas.openxmlformats.org/officeDocument/2006/relationships/tags" Target="../tags/tag396.xml"/><Relationship Id="rId18" Type="http://schemas.openxmlformats.org/officeDocument/2006/relationships/image" Target="../media/image114.svg"/><Relationship Id="rId17" Type="http://schemas.openxmlformats.org/officeDocument/2006/relationships/image" Target="../media/image113.png"/><Relationship Id="rId16" Type="http://schemas.openxmlformats.org/officeDocument/2006/relationships/tags" Target="../tags/tag395.xml"/><Relationship Id="rId15" Type="http://schemas.openxmlformats.org/officeDocument/2006/relationships/tags" Target="../tags/tag394.xml"/><Relationship Id="rId14" Type="http://schemas.openxmlformats.org/officeDocument/2006/relationships/tags" Target="../tags/tag393.xml"/><Relationship Id="rId13" Type="http://schemas.openxmlformats.org/officeDocument/2006/relationships/tags" Target="../tags/tag392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wallhaven-rdvvlq.jpg" descr="wallhaven-rdvvlq.jpg"/>
          <p:cNvPicPr>
            <a:picLocks noChangeAspect="1"/>
          </p:cNvPicPr>
          <p:nvPr/>
        </p:nvPicPr>
        <p:blipFill>
          <a:blip r:embed="rId1">
            <a:alphaModFix amt="73715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AutoShape 3"/>
          <p:cNvSpPr/>
          <p:nvPr/>
        </p:nvSpPr>
        <p:spPr>
          <a:xfrm>
            <a:off x="762000" y="190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Skill 从使用到原理，一次讲清</a:t>
            </a:r>
            <a:endParaRPr lang="en-US" sz="1100"/>
          </a:p>
        </p:txBody>
      </p:sp>
      <p:sp>
        <p:nvSpPr>
          <p:cNvPr id="5" name="AutoShape 4"/>
          <p:cNvSpPr/>
          <p:nvPr/>
        </p:nvSpPr>
        <p:spPr>
          <a:xfrm>
            <a:off x="762000" y="304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告别“人工智障”，让 AI Agent 拥有真正的“动手能力”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63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演讲人：</a:t>
            </a:r>
            <a:r>
              <a:rPr lang="zh-CN" alt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友谊</a:t>
            </a:r>
            <a:r>
              <a:rPr lang="zh-CN" alt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老师</a:t>
            </a:r>
            <a:endParaRPr lang="zh-CN" altLang="en-US" sz="18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06400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b="1"/>
              <a:t>目录</a:t>
            </a:r>
            <a:endParaRPr lang="zh-CN" altLang="en-US" b="1"/>
          </a:p>
        </p:txBody>
      </p:sp>
      <p:sp>
        <p:nvSpPr>
          <p:cNvPr id="39" name="AutoShape 4"/>
          <p:cNvSpPr/>
          <p:nvPr>
            <p:custDataLst>
              <p:tags r:id="rId4"/>
            </p:custDataLst>
          </p:nvPr>
        </p:nvSpPr>
        <p:spPr>
          <a:xfrm>
            <a:off x="762000" y="199517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5"/>
          <p:cNvSpPr/>
          <p:nvPr>
            <p:custDataLst>
              <p:tags r:id="rId5"/>
            </p:custDataLst>
          </p:nvPr>
        </p:nvSpPr>
        <p:spPr>
          <a:xfrm>
            <a:off x="762000" y="199517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6"/>
          <p:cNvSpPr/>
          <p:nvPr>
            <p:custDataLst>
              <p:tags r:id="rId6"/>
            </p:custDataLst>
          </p:nvPr>
        </p:nvSpPr>
        <p:spPr>
          <a:xfrm>
            <a:off x="1079500" y="212217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2" name="AutoShape 7"/>
          <p:cNvSpPr/>
          <p:nvPr>
            <p:custDataLst>
              <p:tags r:id="rId7"/>
            </p:custDataLst>
          </p:nvPr>
        </p:nvSpPr>
        <p:spPr>
          <a:xfrm>
            <a:off x="2286000" y="218567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</a:t>
            </a:r>
            <a:r>
              <a:rPr lang="zh-CN" alt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</a:t>
            </a:r>
            <a:endParaRPr lang="zh-CN" altLang="en-US" sz="1800" b="1" i="0" u="none" strike="noStrike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8"/>
          <p:cNvSpPr/>
          <p:nvPr>
            <p:custDataLst>
              <p:tags r:id="rId8"/>
            </p:custDataLst>
          </p:nvPr>
        </p:nvSpPr>
        <p:spPr>
          <a:xfrm>
            <a:off x="2286000" y="269367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</a:t>
            </a:r>
            <a:r>
              <a:rPr lang="en-US" altLang="zh-CN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</a:t>
            </a:r>
            <a:r>
              <a:rPr lang="en-US" altLang="zh-CN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gent Skill</a:t>
            </a:r>
            <a:endParaRPr lang="en-US" altLang="zh-CN" sz="12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9"/>
          <p:cNvSpPr/>
          <p:nvPr>
            <p:custDataLst>
              <p:tags r:id="rId9"/>
            </p:custDataLst>
          </p:nvPr>
        </p:nvSpPr>
        <p:spPr>
          <a:xfrm>
            <a:off x="6223000" y="199517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10"/>
          <p:cNvSpPr/>
          <p:nvPr>
            <p:custDataLst>
              <p:tags r:id="rId10"/>
            </p:custDataLst>
          </p:nvPr>
        </p:nvSpPr>
        <p:spPr>
          <a:xfrm>
            <a:off x="6223000" y="199517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11"/>
          <p:cNvSpPr/>
          <p:nvPr>
            <p:custDataLst>
              <p:tags r:id="rId11"/>
            </p:custDataLst>
          </p:nvPr>
        </p:nvSpPr>
        <p:spPr>
          <a:xfrm>
            <a:off x="6540500" y="212217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7" name="AutoShape 12"/>
          <p:cNvSpPr/>
          <p:nvPr>
            <p:custDataLst>
              <p:tags r:id="rId12"/>
            </p:custDataLst>
          </p:nvPr>
        </p:nvSpPr>
        <p:spPr>
          <a:xfrm>
            <a:off x="7747000" y="218567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</a:t>
            </a:r>
            <a:endParaRPr lang="en-US" sz="1100"/>
          </a:p>
        </p:txBody>
      </p:sp>
      <p:sp>
        <p:nvSpPr>
          <p:cNvPr id="50" name="AutoShape 13"/>
          <p:cNvSpPr/>
          <p:nvPr>
            <p:custDataLst>
              <p:tags r:id="rId13"/>
            </p:custDataLst>
          </p:nvPr>
        </p:nvSpPr>
        <p:spPr>
          <a:xfrm>
            <a:off x="7747000" y="269367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三层结构与渐进式披露的运行原理</a:t>
            </a:r>
            <a:endParaRPr lang="en-US" sz="1100"/>
          </a:p>
        </p:txBody>
      </p:sp>
      <p:sp>
        <p:nvSpPr>
          <p:cNvPr id="51" name="AutoShape 14"/>
          <p:cNvSpPr/>
          <p:nvPr>
            <p:custDataLst>
              <p:tags r:id="rId14"/>
            </p:custDataLst>
          </p:nvPr>
        </p:nvSpPr>
        <p:spPr>
          <a:xfrm>
            <a:off x="762000" y="364617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15"/>
          <p:cNvSpPr/>
          <p:nvPr>
            <p:custDataLst>
              <p:tags r:id="rId15"/>
            </p:custDataLst>
          </p:nvPr>
        </p:nvSpPr>
        <p:spPr>
          <a:xfrm>
            <a:off x="762000" y="364617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16"/>
          <p:cNvSpPr/>
          <p:nvPr>
            <p:custDataLst>
              <p:tags r:id="rId16"/>
            </p:custDataLst>
          </p:nvPr>
        </p:nvSpPr>
        <p:spPr>
          <a:xfrm>
            <a:off x="1079500" y="377317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56" name="AutoShape 17"/>
          <p:cNvSpPr/>
          <p:nvPr>
            <p:custDataLst>
              <p:tags r:id="rId17"/>
            </p:custDataLst>
          </p:nvPr>
        </p:nvSpPr>
        <p:spPr>
          <a:xfrm>
            <a:off x="2286000" y="383667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实操指南</a:t>
            </a:r>
            <a:endParaRPr lang="en-US" sz="1100"/>
          </a:p>
        </p:txBody>
      </p:sp>
      <p:sp>
        <p:nvSpPr>
          <p:cNvPr id="57" name="AutoShape 18"/>
          <p:cNvSpPr/>
          <p:nvPr>
            <p:custDataLst>
              <p:tags r:id="rId18"/>
            </p:custDataLst>
          </p:nvPr>
        </p:nvSpPr>
        <p:spPr>
          <a:xfrm>
            <a:off x="2286000" y="434467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从API调用、Prompt编写到本地Skill开发</a:t>
            </a:r>
            <a:endParaRPr lang="en-US" sz="1100"/>
          </a:p>
        </p:txBody>
      </p:sp>
      <p:sp>
        <p:nvSpPr>
          <p:cNvPr id="58" name="AutoShape 19"/>
          <p:cNvSpPr/>
          <p:nvPr>
            <p:custDataLst>
              <p:tags r:id="rId19"/>
            </p:custDataLst>
          </p:nvPr>
        </p:nvSpPr>
        <p:spPr>
          <a:xfrm>
            <a:off x="6223000" y="364617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20"/>
          <p:cNvSpPr/>
          <p:nvPr>
            <p:custDataLst>
              <p:tags r:id="rId20"/>
            </p:custDataLst>
          </p:nvPr>
        </p:nvSpPr>
        <p:spPr>
          <a:xfrm>
            <a:off x="6223000" y="364617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21"/>
          <p:cNvSpPr/>
          <p:nvPr>
            <p:custDataLst>
              <p:tags r:id="rId21"/>
            </p:custDataLst>
          </p:nvPr>
        </p:nvSpPr>
        <p:spPr>
          <a:xfrm>
            <a:off x="6540500" y="377317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62" name="AutoShape 22"/>
          <p:cNvSpPr/>
          <p:nvPr>
            <p:custDataLst>
              <p:tags r:id="rId22"/>
            </p:custDataLst>
          </p:nvPr>
        </p:nvSpPr>
        <p:spPr>
          <a:xfrm>
            <a:off x="7747000" y="383667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工程落地</a:t>
            </a:r>
            <a:endParaRPr lang="en-US" sz="1100"/>
          </a:p>
        </p:txBody>
      </p:sp>
      <p:sp>
        <p:nvSpPr>
          <p:cNvPr id="63" name="AutoShape 23"/>
          <p:cNvSpPr/>
          <p:nvPr>
            <p:custDataLst>
              <p:tags r:id="rId23"/>
            </p:custDataLst>
          </p:nvPr>
        </p:nvSpPr>
        <p:spPr>
          <a:xfrm>
            <a:off x="7747000" y="434467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企业级Skill设计规范与规模化部署方案</a:t>
            </a:r>
            <a:endParaRPr lang="en-US" sz="1100"/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06400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zh-CN" altLang="en-US" b="1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2"/>
          <p:cNvSpPr/>
          <p:nvPr/>
        </p:nvSpPr>
        <p:spPr>
          <a:xfrm>
            <a:off x="0" y="114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4" name="AutoShape 3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</a:t>
            </a:r>
            <a:r>
              <a:rPr lang="zh-CN" alt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</a:t>
            </a: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正本清源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4"/>
          <p:cNvSpPr/>
          <p:nvPr/>
        </p:nvSpPr>
        <p:spPr>
          <a:xfrm>
            <a:off x="0" y="406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CONCEPT ANALYSIS &amp; DEFINITION</a:t>
            </a:r>
            <a:endParaRPr lang="en-US" sz="1100"/>
          </a:p>
        </p:txBody>
      </p:sp>
      <p:sp>
        <p:nvSpPr>
          <p:cNvPr id="6" name="AutoShape 5"/>
          <p:cNvSpPr/>
          <p:nvPr/>
        </p:nvSpPr>
        <p:spPr>
          <a:xfrm>
            <a:off x="5334000" y="4953000"/>
            <a:ext cx="1524000" cy="50800"/>
          </a:xfrm>
          <a:prstGeom prst="roundRect">
            <a:avLst>
              <a:gd name="adj" fmla="val 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2" name="组合 31"/>
          <p:cNvGrpSpPr/>
          <p:nvPr>
            <p:custDataLst>
              <p:tags r:id="rId4"/>
            </p:custDataLst>
          </p:nvPr>
        </p:nvGrpSpPr>
        <p:grpSpPr>
          <a:xfrm rot="0">
            <a:off x="762000" y="1292860"/>
            <a:ext cx="3302000" cy="3556000"/>
            <a:chOff x="1200" y="2400"/>
            <a:chExt cx="5200" cy="5600"/>
          </a:xfrm>
        </p:grpSpPr>
        <p:sp>
          <p:nvSpPr>
            <p:cNvPr id="3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400"/>
              <a:ext cx="5200" cy="5600"/>
            </a:xfrm>
            <a:prstGeom prst="roundRect">
              <a:avLst>
                <a:gd name="adj" fmla="val 461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4" name="AutoShape 4"/>
            <p:cNvSpPr/>
            <p:nvPr>
              <p:custDataLst>
                <p:tags r:id="rId6"/>
              </p:custDataLst>
            </p:nvPr>
          </p:nvSpPr>
          <p:spPr>
            <a:xfrm>
              <a:off x="1600" y="2800"/>
              <a:ext cx="1400" cy="140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35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00" y="3100"/>
              <a:ext cx="800" cy="800"/>
            </a:xfrm>
            <a:prstGeom prst="rect">
              <a:avLst/>
            </a:prstGeom>
          </p:spPr>
        </p:pic>
        <p:sp>
          <p:nvSpPr>
            <p:cNvPr id="36" name="AutoShape 6"/>
            <p:cNvSpPr/>
            <p:nvPr>
              <p:custDataLst>
                <p:tags r:id="rId10"/>
              </p:custDataLst>
            </p:nvPr>
          </p:nvSpPr>
          <p:spPr>
            <a:xfrm>
              <a:off x="3200" y="3000"/>
              <a:ext cx="28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登录测试</a:t>
              </a:r>
              <a:b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无限卡壳</a:t>
              </a:r>
              <a:endParaRPr lang="en-US" sz="1100"/>
            </a:p>
          </p:txBody>
        </p:sp>
        <p:sp>
          <p:nvSpPr>
            <p:cNvPr id="37" name="AutoShape 7"/>
            <p:cNvSpPr/>
            <p:nvPr>
              <p:custDataLst>
                <p:tags r:id="rId11"/>
              </p:custDataLst>
            </p:nvPr>
          </p:nvSpPr>
          <p:spPr>
            <a:xfrm>
              <a:off x="1600" y="4600"/>
              <a:ext cx="4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8" name="AutoShape 8"/>
            <p:cNvSpPr/>
            <p:nvPr>
              <p:custDataLst>
                <p:tags r:id="rId12"/>
              </p:custDataLst>
            </p:nvPr>
          </p:nvSpPr>
          <p:spPr>
            <a:xfrm>
              <a:off x="1900" y="4800"/>
              <a:ext cx="38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核心问题：</a:t>
              </a: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无法有效识别验证码，导致流程陷入死循环，在登录页面耗时二十分钟无进展。</a:t>
              </a:r>
              <a:endParaRPr lang="en-US" sz="1100"/>
            </a:p>
          </p:txBody>
        </p:sp>
      </p:grpSp>
      <p:grpSp>
        <p:nvGrpSpPr>
          <p:cNvPr id="39" name="组合 38"/>
          <p:cNvGrpSpPr/>
          <p:nvPr>
            <p:custDataLst>
              <p:tags r:id="rId13"/>
            </p:custDataLst>
          </p:nvPr>
        </p:nvGrpSpPr>
        <p:grpSpPr>
          <a:xfrm rot="0">
            <a:off x="4445000" y="1292860"/>
            <a:ext cx="3302000" cy="3556000"/>
            <a:chOff x="7000" y="2400"/>
            <a:chExt cx="5200" cy="5600"/>
          </a:xfrm>
        </p:grpSpPr>
        <p:sp>
          <p:nvSpPr>
            <p:cNvPr id="40" name="AutoShape 9"/>
            <p:cNvSpPr/>
            <p:nvPr>
              <p:custDataLst>
                <p:tags r:id="rId14"/>
              </p:custDataLst>
            </p:nvPr>
          </p:nvSpPr>
          <p:spPr>
            <a:xfrm>
              <a:off x="7000" y="2400"/>
              <a:ext cx="5200" cy="5600"/>
            </a:xfrm>
            <a:prstGeom prst="roundRect">
              <a:avLst>
                <a:gd name="adj" fmla="val 461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1" name="AutoShape 10"/>
            <p:cNvSpPr/>
            <p:nvPr>
              <p:custDataLst>
                <p:tags r:id="rId15"/>
              </p:custDataLst>
            </p:nvPr>
          </p:nvSpPr>
          <p:spPr>
            <a:xfrm>
              <a:off x="7400" y="2800"/>
              <a:ext cx="1400" cy="140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42" name="Picture 11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700" y="3100"/>
              <a:ext cx="800" cy="800"/>
            </a:xfrm>
            <a:prstGeom prst="rect">
              <a:avLst/>
            </a:prstGeom>
          </p:spPr>
        </p:pic>
        <p:sp>
          <p:nvSpPr>
            <p:cNvPr id="43" name="AutoShape 12"/>
            <p:cNvSpPr/>
            <p:nvPr>
              <p:custDataLst>
                <p:tags r:id="rId19"/>
              </p:custDataLst>
            </p:nvPr>
          </p:nvSpPr>
          <p:spPr>
            <a:xfrm>
              <a:off x="9000" y="3000"/>
              <a:ext cx="28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日志分析</a:t>
              </a:r>
              <a:b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判断失误</a:t>
              </a:r>
              <a:endParaRPr lang="en-US" sz="1100"/>
            </a:p>
          </p:txBody>
        </p:sp>
        <p:sp>
          <p:nvSpPr>
            <p:cNvPr id="44" name="AutoShape 13"/>
            <p:cNvSpPr/>
            <p:nvPr>
              <p:custDataLst>
                <p:tags r:id="rId20"/>
              </p:custDataLst>
            </p:nvPr>
          </p:nvSpPr>
          <p:spPr>
            <a:xfrm>
              <a:off x="7400" y="4600"/>
              <a:ext cx="4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5" name="AutoShape 14"/>
            <p:cNvSpPr/>
            <p:nvPr>
              <p:custDataLst>
                <p:tags r:id="rId21"/>
              </p:custDataLst>
            </p:nvPr>
          </p:nvSpPr>
          <p:spPr>
            <a:xfrm>
              <a:off x="7700" y="4800"/>
              <a:ext cx="38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核心问题：</a:t>
              </a: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缺乏对业务特定日志格式的理解能力，误将标准时间戳识别为系统错误码进行分析。</a:t>
              </a:r>
              <a:endParaRPr lang="en-US" sz="1100"/>
            </a:p>
          </p:txBody>
        </p:sp>
      </p:grpSp>
      <p:grpSp>
        <p:nvGrpSpPr>
          <p:cNvPr id="46" name="组合 45"/>
          <p:cNvGrpSpPr/>
          <p:nvPr>
            <p:custDataLst>
              <p:tags r:id="rId22"/>
            </p:custDataLst>
          </p:nvPr>
        </p:nvGrpSpPr>
        <p:grpSpPr>
          <a:xfrm rot="0">
            <a:off x="8128000" y="1292860"/>
            <a:ext cx="3302000" cy="3556000"/>
            <a:chOff x="12800" y="2400"/>
            <a:chExt cx="5200" cy="5600"/>
          </a:xfrm>
        </p:grpSpPr>
        <p:sp>
          <p:nvSpPr>
            <p:cNvPr id="47" name="AutoShape 15"/>
            <p:cNvSpPr/>
            <p:nvPr>
              <p:custDataLst>
                <p:tags r:id="rId23"/>
              </p:custDataLst>
            </p:nvPr>
          </p:nvSpPr>
          <p:spPr>
            <a:xfrm>
              <a:off x="12800" y="2400"/>
              <a:ext cx="5200" cy="5600"/>
            </a:xfrm>
            <a:prstGeom prst="roundRect">
              <a:avLst>
                <a:gd name="adj" fmla="val 461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0" name="AutoShape 16"/>
            <p:cNvSpPr/>
            <p:nvPr>
              <p:custDataLst>
                <p:tags r:id="rId24"/>
              </p:custDataLst>
            </p:nvPr>
          </p:nvSpPr>
          <p:spPr>
            <a:xfrm>
              <a:off x="13200" y="2800"/>
              <a:ext cx="1400" cy="140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1" name="Picture 1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500" y="3100"/>
              <a:ext cx="800" cy="800"/>
            </a:xfrm>
            <a:prstGeom prst="rect">
              <a:avLst/>
            </a:prstGeom>
          </p:spPr>
        </p:pic>
        <p:sp>
          <p:nvSpPr>
            <p:cNvPr id="54" name="AutoShape 18"/>
            <p:cNvSpPr/>
            <p:nvPr>
              <p:custDataLst>
                <p:tags r:id="rId28"/>
              </p:custDataLst>
            </p:nvPr>
          </p:nvSpPr>
          <p:spPr>
            <a:xfrm>
              <a:off x="14800" y="3000"/>
              <a:ext cx="28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代码修复</a:t>
              </a:r>
              <a:b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流程脱节</a:t>
              </a:r>
              <a:endParaRPr lang="en-US" sz="1100"/>
            </a:p>
          </p:txBody>
        </p:sp>
        <p:sp>
          <p:nvSpPr>
            <p:cNvPr id="55" name="AutoShape 19"/>
            <p:cNvSpPr/>
            <p:nvPr>
              <p:custDataLst>
                <p:tags r:id="rId29"/>
              </p:custDataLst>
            </p:nvPr>
          </p:nvSpPr>
          <p:spPr>
            <a:xfrm>
              <a:off x="13200" y="4600"/>
              <a:ext cx="4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6" name="AutoShape 20"/>
            <p:cNvSpPr/>
            <p:nvPr>
              <p:custDataLst>
                <p:tags r:id="rId30"/>
              </p:custDataLst>
            </p:nvPr>
          </p:nvSpPr>
          <p:spPr>
            <a:xfrm>
              <a:off x="13500" y="4800"/>
              <a:ext cx="38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核心问题：</a:t>
              </a: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虽能生成代码，但无法与内部工具链交互，不知道通过飞书/钉钉提交 MR 的实际流程。</a:t>
              </a:r>
              <a:endParaRPr lang="en-US" sz="1100"/>
            </a:p>
          </p:txBody>
        </p:sp>
      </p:grpSp>
      <p:grpSp>
        <p:nvGrpSpPr>
          <p:cNvPr id="57" name="组合 56"/>
          <p:cNvGrpSpPr/>
          <p:nvPr/>
        </p:nvGrpSpPr>
        <p:grpSpPr>
          <a:xfrm rot="0">
            <a:off x="762000" y="5229860"/>
            <a:ext cx="10668000" cy="889000"/>
            <a:chOff x="1200" y="8600"/>
            <a:chExt cx="16800" cy="1400"/>
          </a:xfrm>
        </p:grpSpPr>
        <p:sp>
          <p:nvSpPr>
            <p:cNvPr id="58" name="AutoShape 21"/>
            <p:cNvSpPr/>
            <p:nvPr/>
          </p:nvSpPr>
          <p:spPr>
            <a:xfrm>
              <a:off x="1200" y="8600"/>
              <a:ext cx="16800" cy="1400"/>
            </a:xfrm>
            <a:prstGeom prst="roundRect">
              <a:avLst>
                <a:gd name="adj" fmla="val 22857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5400000" algn="tl" rotWithShape="0">
                <a:srgbClr val="000000">
                  <a:alpha val="3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9" name="AutoShape 22"/>
            <p:cNvSpPr/>
            <p:nvPr/>
          </p:nvSpPr>
          <p:spPr>
            <a:xfrm>
              <a:off x="1901" y="8600"/>
              <a:ext cx="16099" cy="1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💡 核心痛点：Agent 演示像天才，干活像傻子 —— 能聊不能干。</a:t>
              </a:r>
              <a:endParaRPr lang="en-US" sz="1100"/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943610" y="419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742950">
              <a:defRPr sz="4950"/>
            </a:pPr>
            <a:r>
              <a:rPr lang="en-US" sz="18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 的“翻车”现场</a:t>
            </a:r>
            <a:endParaRPr lang="zh-CN" altLang="en-US"/>
          </a:p>
        </p:txBody>
      </p: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06400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灵魂拷问：模型不够强吗？</a:t>
            </a:r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762000" y="1203960"/>
            <a:ext cx="5207000" cy="1651000"/>
            <a:chOff x="1200" y="2400"/>
            <a:chExt cx="8200" cy="2600"/>
          </a:xfrm>
        </p:grpSpPr>
        <p:sp>
          <p:nvSpPr>
            <p:cNvPr id="64" name="AutoShape 3"/>
            <p:cNvSpPr/>
            <p:nvPr/>
          </p:nvSpPr>
          <p:spPr>
            <a:xfrm>
              <a:off x="1200" y="2400"/>
              <a:ext cx="8200" cy="2600"/>
            </a:xfrm>
            <a:prstGeom prst="roundRect">
              <a:avLst>
                <a:gd name="adj" fmla="val 923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50800" dir="2700000" algn="tl" rotWithShape="0">
                <a:srgbClr val="000000">
                  <a:alpha val="1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6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00" y="2900"/>
              <a:ext cx="1000" cy="1000"/>
            </a:xfrm>
            <a:prstGeom prst="rect">
              <a:avLst/>
            </a:prstGeom>
          </p:spPr>
        </p:pic>
        <p:sp>
          <p:nvSpPr>
            <p:cNvPr id="66" name="AutoShape 5"/>
            <p:cNvSpPr/>
            <p:nvPr/>
          </p:nvSpPr>
          <p:spPr>
            <a:xfrm>
              <a:off x="3000" y="2800"/>
              <a:ext cx="6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模型能力已足够强大</a:t>
              </a:r>
              <a:endParaRPr lang="en-US" sz="1100"/>
            </a:p>
          </p:txBody>
        </p:sp>
        <p:sp>
          <p:nvSpPr>
            <p:cNvPr id="67" name="AutoShape 6"/>
            <p:cNvSpPr/>
            <p:nvPr/>
          </p:nvSpPr>
          <p:spPr>
            <a:xfrm>
              <a:off x="3000" y="3600"/>
              <a:ext cx="60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GPT-4、Claude 4 等前沿模型在语言理解与生成任务上表现卓越，具备极高的逻辑推理与知识储备能力。</a:t>
              </a:r>
              <a:endParaRPr lang="en-US" sz="110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6223000" y="1203960"/>
            <a:ext cx="5207000" cy="1651000"/>
            <a:chOff x="9800" y="2400"/>
            <a:chExt cx="8200" cy="2600"/>
          </a:xfrm>
        </p:grpSpPr>
        <p:sp>
          <p:nvSpPr>
            <p:cNvPr id="69" name="AutoShape 7"/>
            <p:cNvSpPr/>
            <p:nvPr/>
          </p:nvSpPr>
          <p:spPr>
            <a:xfrm>
              <a:off x="9800" y="2400"/>
              <a:ext cx="8200" cy="2600"/>
            </a:xfrm>
            <a:prstGeom prst="roundRect">
              <a:avLst>
                <a:gd name="adj" fmla="val 923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50800" dir="2700000" algn="tl" rotWithShape="0">
                <a:srgbClr val="000000">
                  <a:alpha val="1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70" name="Picture 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00" y="2900"/>
              <a:ext cx="1000" cy="1000"/>
            </a:xfrm>
            <a:prstGeom prst="rect">
              <a:avLst/>
            </a:prstGeom>
          </p:spPr>
        </p:pic>
        <p:sp>
          <p:nvSpPr>
            <p:cNvPr id="71" name="AutoShape 9"/>
            <p:cNvSpPr/>
            <p:nvPr/>
          </p:nvSpPr>
          <p:spPr>
            <a:xfrm>
              <a:off x="11600" y="2800"/>
              <a:ext cx="6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模型本质是“语言理解与生成”</a:t>
              </a:r>
              <a:endParaRPr lang="en-US" sz="1100"/>
            </a:p>
          </p:txBody>
        </p:sp>
        <p:sp>
          <p:nvSpPr>
            <p:cNvPr id="72" name="AutoShape 10"/>
            <p:cNvSpPr/>
            <p:nvPr/>
          </p:nvSpPr>
          <p:spPr>
            <a:xfrm>
              <a:off x="11600" y="3600"/>
              <a:ext cx="60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它并非“操作系统内核”，缺乏对真实物理/数字世界的直接交互能力，无法自主处理复杂的环境异常。</a:t>
              </a:r>
              <a:endParaRPr lang="en-US" sz="1100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762000" y="3108960"/>
            <a:ext cx="3302000" cy="1651000"/>
            <a:chOff x="1200" y="5400"/>
            <a:chExt cx="5200" cy="2600"/>
          </a:xfrm>
        </p:grpSpPr>
        <p:sp>
          <p:nvSpPr>
            <p:cNvPr id="74" name="AutoShape 11"/>
            <p:cNvSpPr/>
            <p:nvPr/>
          </p:nvSpPr>
          <p:spPr>
            <a:xfrm>
              <a:off x="1200" y="5400"/>
              <a:ext cx="5200" cy="2600"/>
            </a:xfrm>
            <a:prstGeom prst="roundRect">
              <a:avLst>
                <a:gd name="adj" fmla="val 923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50800" dir="2700000" algn="tl" rotWithShape="0">
                <a:srgbClr val="000000">
                  <a:alpha val="1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75" name="Picture 1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00" y="5900"/>
              <a:ext cx="800" cy="800"/>
            </a:xfrm>
            <a:prstGeom prst="rect">
              <a:avLst/>
            </a:prstGeom>
          </p:spPr>
        </p:pic>
        <p:sp>
          <p:nvSpPr>
            <p:cNvPr id="76" name="AutoShape 13"/>
            <p:cNvSpPr/>
            <p:nvPr/>
          </p:nvSpPr>
          <p:spPr>
            <a:xfrm>
              <a:off x="2800" y="5800"/>
              <a:ext cx="3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确定性的执行</a:t>
              </a:r>
              <a:endParaRPr lang="en-US" sz="1100"/>
            </a:p>
          </p:txBody>
        </p:sp>
        <p:sp>
          <p:nvSpPr>
            <p:cNvPr id="77" name="AutoShape 14"/>
            <p:cNvSpPr/>
            <p:nvPr/>
          </p:nvSpPr>
          <p:spPr>
            <a:xfrm>
              <a:off x="2800" y="6600"/>
              <a:ext cx="3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任务必须按预设逻辑和步骤，准确、稳定地推进，拒绝随机发散。</a:t>
              </a:r>
              <a:endParaRPr lang="en-US" sz="1100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4445000" y="3108960"/>
            <a:ext cx="3302000" cy="1651000"/>
            <a:chOff x="7000" y="5400"/>
            <a:chExt cx="5200" cy="2600"/>
          </a:xfrm>
        </p:grpSpPr>
        <p:sp>
          <p:nvSpPr>
            <p:cNvPr id="79" name="AutoShape 15"/>
            <p:cNvSpPr/>
            <p:nvPr/>
          </p:nvSpPr>
          <p:spPr>
            <a:xfrm>
              <a:off x="7000" y="5400"/>
              <a:ext cx="5200" cy="2600"/>
            </a:xfrm>
            <a:prstGeom prst="roundRect">
              <a:avLst>
                <a:gd name="adj" fmla="val 923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50800" dir="2700000" algn="tl" rotWithShape="0">
                <a:srgbClr val="000000">
                  <a:alpha val="1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80" name="Picture 16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00" y="5900"/>
              <a:ext cx="800" cy="800"/>
            </a:xfrm>
            <a:prstGeom prst="rect">
              <a:avLst/>
            </a:prstGeom>
          </p:spPr>
        </p:pic>
        <p:sp>
          <p:nvSpPr>
            <p:cNvPr id="81" name="AutoShape 17"/>
            <p:cNvSpPr/>
            <p:nvPr/>
          </p:nvSpPr>
          <p:spPr>
            <a:xfrm>
              <a:off x="8600" y="5800"/>
              <a:ext cx="3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环境的感知</a:t>
              </a:r>
              <a:endParaRPr lang="en-US" sz="1100"/>
            </a:p>
          </p:txBody>
        </p:sp>
        <p:sp>
          <p:nvSpPr>
            <p:cNvPr id="82" name="AutoShape 18"/>
            <p:cNvSpPr/>
            <p:nvPr/>
          </p:nvSpPr>
          <p:spPr>
            <a:xfrm>
              <a:off x="8600" y="6600"/>
              <a:ext cx="3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能主动识别验证码、网络超时、页面卡顿等运行时异常，并做出响应。</a:t>
              </a:r>
              <a:endParaRPr lang="en-US" sz="1100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8128000" y="3108960"/>
            <a:ext cx="3302000" cy="1651000"/>
            <a:chOff x="12800" y="5400"/>
            <a:chExt cx="5200" cy="2600"/>
          </a:xfrm>
        </p:grpSpPr>
        <p:sp>
          <p:nvSpPr>
            <p:cNvPr id="84" name="AutoShape 19"/>
            <p:cNvSpPr/>
            <p:nvPr/>
          </p:nvSpPr>
          <p:spPr>
            <a:xfrm>
              <a:off x="12800" y="5400"/>
              <a:ext cx="5200" cy="2600"/>
            </a:xfrm>
            <a:prstGeom prst="roundRect">
              <a:avLst>
                <a:gd name="adj" fmla="val 923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50800" dir="2700000" algn="tl" rotWithShape="0">
                <a:srgbClr val="000000">
                  <a:alpha val="1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85" name="Picture 20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200" y="5900"/>
              <a:ext cx="800" cy="800"/>
            </a:xfrm>
            <a:prstGeom prst="rect">
              <a:avLst/>
            </a:prstGeom>
          </p:spPr>
        </p:pic>
        <p:sp>
          <p:nvSpPr>
            <p:cNvPr id="86" name="AutoShape 21"/>
            <p:cNvSpPr/>
            <p:nvPr/>
          </p:nvSpPr>
          <p:spPr>
            <a:xfrm>
              <a:off x="14400" y="5800"/>
              <a:ext cx="3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工具的操控</a:t>
              </a:r>
              <a:endParaRPr lang="en-US" sz="1100"/>
            </a:p>
          </p:txBody>
        </p:sp>
        <p:sp>
          <p:nvSpPr>
            <p:cNvPr id="87" name="AutoShape 22"/>
            <p:cNvSpPr/>
            <p:nvPr/>
          </p:nvSpPr>
          <p:spPr>
            <a:xfrm>
              <a:off x="14400" y="6600"/>
              <a:ext cx="3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具备调用外部API、执行自动化脚本、模拟鼠标键盘操作UI的能力。</a:t>
              </a:r>
              <a:endParaRPr lang="en-US" sz="1100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762000" y="5140960"/>
            <a:ext cx="10668000" cy="889000"/>
            <a:chOff x="1200" y="8600"/>
            <a:chExt cx="16800" cy="1400"/>
          </a:xfrm>
        </p:grpSpPr>
        <p:sp>
          <p:nvSpPr>
            <p:cNvPr id="89" name="AutoShape 23"/>
            <p:cNvSpPr/>
            <p:nvPr/>
          </p:nvSpPr>
          <p:spPr>
            <a:xfrm>
              <a:off x="1200" y="8600"/>
              <a:ext cx="16800" cy="1400"/>
            </a:xfrm>
            <a:prstGeom prst="roundRect">
              <a:avLst>
                <a:gd name="adj" fmla="val 17142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0" name="AutoShape 24"/>
            <p:cNvSpPr/>
            <p:nvPr/>
          </p:nvSpPr>
          <p:spPr>
            <a:xfrm>
              <a:off x="1200" y="8960"/>
              <a:ext cx="16800" cy="6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结论：瓶颈不在于模型本身，而在于缺乏能落地的“能力单元”</a:t>
              </a:r>
              <a:endParaRPr lang="en-US" sz="1100"/>
            </a:p>
          </p:txBody>
        </p: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 Agent 装上“手和脚”</a:t>
            </a:r>
            <a:endParaRPr lang="en-US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8566" r="18566"/>
          <a:stretch>
            <a:fillRect/>
          </a:stretch>
        </p:blipFill>
        <p:spPr>
          <a:xfrm>
            <a:off x="762000" y="1435100"/>
            <a:ext cx="4826000" cy="4318000"/>
          </a:xfrm>
          <a:prstGeom prst="roundRect">
            <a:avLst>
              <a:gd name="adj" fmla="val 470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4" name="AutoShape 4"/>
          <p:cNvSpPr/>
          <p:nvPr>
            <p:custDataLst>
              <p:tags r:id="rId5"/>
            </p:custDataLst>
          </p:nvPr>
        </p:nvSpPr>
        <p:spPr>
          <a:xfrm>
            <a:off x="5842000" y="14351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4A556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17526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9"/>
            </p:custDataLst>
          </p:nvPr>
        </p:nvSpPr>
        <p:spPr>
          <a:xfrm>
            <a:off x="6985000" y="1625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人之所以能干成事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0"/>
            </p:custDataLst>
          </p:nvPr>
        </p:nvSpPr>
        <p:spPr>
          <a:xfrm>
            <a:off x="6985000" y="20701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核心逻辑在于：大脑负责思考决策，手脚负责落地执行，两者缺一不可。</a:t>
            </a:r>
            <a:endParaRPr lang="en-US" sz="1100"/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5842000" y="3086100"/>
            <a:ext cx="5334000" cy="1397000"/>
            <a:chOff x="9200" y="5000"/>
            <a:chExt cx="8400" cy="2200"/>
          </a:xfrm>
        </p:grpSpPr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9200" y="5000"/>
              <a:ext cx="8400" cy="2200"/>
            </a:xfrm>
            <a:prstGeom prst="roundRect">
              <a:avLst>
                <a:gd name="adj" fmla="val 10909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254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600" y="5500"/>
              <a:ext cx="1000" cy="100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>
              <p:custDataLst>
                <p:tags r:id="rId16"/>
              </p:custDataLst>
            </p:nvPr>
          </p:nvSpPr>
          <p:spPr>
            <a:xfrm>
              <a:off x="11000" y="5300"/>
              <a:ext cx="6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目前的 Agent 困境</a:t>
              </a:r>
              <a:endParaRPr lang="en-US" sz="1100"/>
            </a:p>
          </p:txBody>
        </p:sp>
        <p:sp>
          <p:nvSpPr>
            <p:cNvPr id="11" name="AutoShape 11"/>
            <p:cNvSpPr/>
            <p:nvPr>
              <p:custDataLst>
                <p:tags r:id="rId17"/>
              </p:custDataLst>
            </p:nvPr>
          </p:nvSpPr>
          <p:spPr>
            <a:xfrm>
              <a:off x="11000" y="6000"/>
              <a:ext cx="62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仅有强大的“大脑”（LLM 大模型），却缺少灵活的“手脚”（自动化执行单元），无法真正落地干活。</a:t>
              </a:r>
              <a:endParaRPr lang="en-US" sz="1100"/>
            </a:p>
          </p:txBody>
        </p:sp>
      </p:grp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5842000" y="4737100"/>
            <a:ext cx="5334000" cy="1397000"/>
            <a:chOff x="9200" y="7600"/>
            <a:chExt cx="8400" cy="2200"/>
          </a:xfrm>
        </p:grpSpPr>
        <p:sp>
          <p:nvSpPr>
            <p:cNvPr id="12" name="AutoShape 12"/>
            <p:cNvSpPr/>
            <p:nvPr>
              <p:custDataLst>
                <p:tags r:id="rId19"/>
              </p:custDataLst>
            </p:nvPr>
          </p:nvSpPr>
          <p:spPr>
            <a:xfrm>
              <a:off x="9200" y="7600"/>
              <a:ext cx="8400" cy="2200"/>
            </a:xfrm>
            <a:prstGeom prst="roundRect">
              <a:avLst>
                <a:gd name="adj" fmla="val 10909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50800" dir="2700000" algn="tl" rotWithShape="0">
                <a:srgbClr val="000000">
                  <a:alpha val="3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3" name="Picture 1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600" y="8100"/>
              <a:ext cx="1000" cy="1000"/>
            </a:xfrm>
            <a:prstGeom prst="rect">
              <a:avLst/>
            </a:prstGeom>
          </p:spPr>
        </p:pic>
        <p:sp>
          <p:nvSpPr>
            <p:cNvPr id="14" name="AutoShape 14"/>
            <p:cNvSpPr/>
            <p:nvPr>
              <p:custDataLst>
                <p:tags r:id="rId23"/>
              </p:custDataLst>
            </p:nvPr>
          </p:nvSpPr>
          <p:spPr>
            <a:xfrm>
              <a:off x="11000" y="7900"/>
              <a:ext cx="6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今日主角：Agent Skill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24"/>
              </p:custDataLst>
            </p:nvPr>
          </p:nvSpPr>
          <p:spPr>
            <a:xfrm>
              <a:off x="11000" y="8600"/>
              <a:ext cx="62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F0F4F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一套专门为 AI 装上手和脚的技术方案，赋予 Agent 真正的工具使用能力与任务执行力。</a:t>
              </a:r>
              <a:endParaRPr lang="en-US" sz="1100"/>
            </a:p>
          </p:txBody>
        </p:sp>
      </p:grp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636968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 的官方定义（Anthropic 标准）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08660" y="1254760"/>
            <a:ext cx="10668000" cy="1143000"/>
            <a:chOff x="1200" y="2200"/>
            <a:chExt cx="16800" cy="1800"/>
          </a:xfrm>
        </p:grpSpPr>
        <p:sp>
          <p:nvSpPr>
            <p:cNvPr id="3" name="AutoShape 3"/>
            <p:cNvSpPr/>
            <p:nvPr/>
          </p:nvSpPr>
          <p:spPr>
            <a:xfrm>
              <a:off x="1200" y="2200"/>
              <a:ext cx="16800" cy="1800"/>
            </a:xfrm>
            <a:prstGeom prst="roundRect">
              <a:avLst>
                <a:gd name="adj" fmla="val 1333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0" y="2200"/>
              <a:ext cx="160" cy="1800"/>
            </a:xfrm>
            <a:prstGeom prst="roundRect">
              <a:avLst>
                <a:gd name="adj" fmla="val 150000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1800" y="2400"/>
              <a:ext cx="160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一种开放的技术协议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800" y="3100"/>
              <a:ext cx="15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通过结构化的文件夹（包含指令逻辑、执行脚本、所需资源）来扩展 Agent 的原生能力，是连接 Agent 通用智能与特定领域专业知识的桥梁。</a:t>
              </a:r>
              <a:endParaRPr lang="en-US" sz="1100"/>
            </a:p>
          </p:txBody>
        </p:sp>
      </p:grpSp>
      <p:grpSp>
        <p:nvGrpSpPr>
          <p:cNvPr id="28" name="组合 27"/>
          <p:cNvGrpSpPr/>
          <p:nvPr>
            <p:custDataLst>
              <p:tags r:id="rId4"/>
            </p:custDataLst>
          </p:nvPr>
        </p:nvGrpSpPr>
        <p:grpSpPr>
          <a:xfrm>
            <a:off x="708660" y="2651760"/>
            <a:ext cx="2540000" cy="1778000"/>
            <a:chOff x="1200" y="4400"/>
            <a:chExt cx="4000" cy="2800"/>
          </a:xfrm>
        </p:grpSpPr>
        <p:sp>
          <p:nvSpPr>
            <p:cNvPr id="7" name="AutoShape 7"/>
            <p:cNvSpPr/>
            <p:nvPr>
              <p:custDataLst>
                <p:tags r:id="rId5"/>
              </p:custDataLst>
            </p:nvPr>
          </p:nvSpPr>
          <p:spPr>
            <a:xfrm>
              <a:off x="1200" y="4400"/>
              <a:ext cx="4000" cy="2800"/>
            </a:xfrm>
            <a:prstGeom prst="roundRect">
              <a:avLst>
                <a:gd name="adj" fmla="val 8571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8" name="Picture 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00" y="4700"/>
              <a:ext cx="720" cy="720"/>
            </a:xfrm>
            <a:prstGeom prst="rect">
              <a:avLst/>
            </a:prstGeom>
          </p:spPr>
        </p:pic>
        <p:sp>
          <p:nvSpPr>
            <p:cNvPr id="9" name="AutoShape 9"/>
            <p:cNvSpPr/>
            <p:nvPr>
              <p:custDataLst>
                <p:tags r:id="rId9"/>
              </p:custDataLst>
            </p:nvPr>
          </p:nvSpPr>
          <p:spPr>
            <a:xfrm>
              <a:off x="2600" y="4760"/>
              <a:ext cx="2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高度模块化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10"/>
              </p:custDataLst>
            </p:nvPr>
          </p:nvSpPr>
          <p:spPr>
            <a:xfrm>
              <a:off x="1600" y="5800"/>
              <a:ext cx="3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每个 Skill 专注解决一个独立、具体的问题，边界清晰，解耦设计。</a:t>
              </a:r>
              <a:endParaRPr lang="en-US" sz="1100"/>
            </a:p>
          </p:txBody>
        </p:sp>
      </p:grpSp>
      <p:grpSp>
        <p:nvGrpSpPr>
          <p:cNvPr id="2" name="组合 1"/>
          <p:cNvGrpSpPr/>
          <p:nvPr>
            <p:custDataLst>
              <p:tags r:id="rId11"/>
            </p:custDataLst>
          </p:nvPr>
        </p:nvGrpSpPr>
        <p:grpSpPr>
          <a:xfrm>
            <a:off x="3502660" y="2651760"/>
            <a:ext cx="2540000" cy="1778000"/>
            <a:chOff x="5600" y="4400"/>
            <a:chExt cx="4000" cy="2800"/>
          </a:xfrm>
        </p:grpSpPr>
        <p:sp>
          <p:nvSpPr>
            <p:cNvPr id="11" name="AutoShape 11"/>
            <p:cNvSpPr/>
            <p:nvPr>
              <p:custDataLst>
                <p:tags r:id="rId12"/>
              </p:custDataLst>
            </p:nvPr>
          </p:nvSpPr>
          <p:spPr>
            <a:xfrm>
              <a:off x="5600" y="4400"/>
              <a:ext cx="4000" cy="2800"/>
            </a:xfrm>
            <a:prstGeom prst="roundRect">
              <a:avLst>
                <a:gd name="adj" fmla="val 8571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2" name="Picture 12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000" y="4700"/>
              <a:ext cx="720" cy="720"/>
            </a:xfrm>
            <a:prstGeom prst="rect">
              <a:avLst/>
            </a:prstGeom>
          </p:spPr>
        </p:pic>
        <p:sp>
          <p:nvSpPr>
            <p:cNvPr id="13" name="AutoShape 13"/>
            <p:cNvSpPr/>
            <p:nvPr>
              <p:custDataLst>
                <p:tags r:id="rId16"/>
              </p:custDataLst>
            </p:nvPr>
          </p:nvSpPr>
          <p:spPr>
            <a:xfrm>
              <a:off x="7000" y="4760"/>
              <a:ext cx="2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代码可复用</a:t>
              </a:r>
              <a:endParaRPr lang="en-US" sz="1100"/>
            </a:p>
          </p:txBody>
        </p:sp>
        <p:sp>
          <p:nvSpPr>
            <p:cNvPr id="14" name="AutoShape 14"/>
            <p:cNvSpPr/>
            <p:nvPr>
              <p:custDataLst>
                <p:tags r:id="rId17"/>
              </p:custDataLst>
            </p:nvPr>
          </p:nvSpPr>
          <p:spPr>
            <a:xfrm>
              <a:off x="6000" y="5800"/>
              <a:ext cx="3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一次编写完成，可被不同的 Agent 实例多次调用，避免重复造轮子。</a:t>
              </a:r>
              <a:endParaRPr lang="en-US" sz="1100"/>
            </a:p>
          </p:txBody>
        </p:sp>
      </p:grpSp>
      <p:grpSp>
        <p:nvGrpSpPr>
          <p:cNvPr id="15" name="组合 14"/>
          <p:cNvGrpSpPr/>
          <p:nvPr>
            <p:custDataLst>
              <p:tags r:id="rId18"/>
            </p:custDataLst>
          </p:nvPr>
        </p:nvGrpSpPr>
        <p:grpSpPr>
          <a:xfrm>
            <a:off x="6296660" y="2651760"/>
            <a:ext cx="2540000" cy="1778000"/>
            <a:chOff x="10000" y="4400"/>
            <a:chExt cx="4000" cy="2800"/>
          </a:xfrm>
        </p:grpSpPr>
        <p:sp>
          <p:nvSpPr>
            <p:cNvPr id="16" name="AutoShape 15"/>
            <p:cNvSpPr/>
            <p:nvPr>
              <p:custDataLst>
                <p:tags r:id="rId19"/>
              </p:custDataLst>
            </p:nvPr>
          </p:nvSpPr>
          <p:spPr>
            <a:xfrm>
              <a:off x="10000" y="4400"/>
              <a:ext cx="4000" cy="2800"/>
            </a:xfrm>
            <a:prstGeom prst="roundRect">
              <a:avLst>
                <a:gd name="adj" fmla="val 8571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7" name="Picture 16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400" y="4700"/>
              <a:ext cx="720" cy="720"/>
            </a:xfrm>
            <a:prstGeom prst="rect">
              <a:avLst/>
            </a:prstGeom>
          </p:spPr>
        </p:pic>
        <p:sp>
          <p:nvSpPr>
            <p:cNvPr id="18" name="AutoShape 17"/>
            <p:cNvSpPr/>
            <p:nvPr>
              <p:custDataLst>
                <p:tags r:id="rId23"/>
              </p:custDataLst>
            </p:nvPr>
          </p:nvSpPr>
          <p:spPr>
            <a:xfrm>
              <a:off x="11400" y="4760"/>
              <a:ext cx="2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功能可组合</a:t>
              </a:r>
              <a:endParaRPr lang="en-US" sz="1100"/>
            </a:p>
          </p:txBody>
        </p:sp>
        <p:sp>
          <p:nvSpPr>
            <p:cNvPr id="19" name="AutoShape 18"/>
            <p:cNvSpPr/>
            <p:nvPr>
              <p:custDataLst>
                <p:tags r:id="rId24"/>
              </p:custDataLst>
            </p:nvPr>
          </p:nvSpPr>
          <p:spPr>
            <a:xfrm>
              <a:off x="10400" y="5800"/>
              <a:ext cx="3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支持多个原子 Skill 自由组合编排，共同协作完成复杂的业务任务。</a:t>
              </a:r>
              <a:endParaRPr lang="en-US" sz="1100"/>
            </a:p>
          </p:txBody>
        </p:sp>
      </p:grpSp>
      <p:grpSp>
        <p:nvGrpSpPr>
          <p:cNvPr id="31" name="组合 30"/>
          <p:cNvGrpSpPr/>
          <p:nvPr>
            <p:custDataLst>
              <p:tags r:id="rId25"/>
            </p:custDataLst>
          </p:nvPr>
        </p:nvGrpSpPr>
        <p:grpSpPr>
          <a:xfrm>
            <a:off x="9090660" y="2651760"/>
            <a:ext cx="2286000" cy="1778000"/>
            <a:chOff x="14400" y="4400"/>
            <a:chExt cx="3600" cy="2800"/>
          </a:xfrm>
        </p:grpSpPr>
        <p:sp>
          <p:nvSpPr>
            <p:cNvPr id="20" name="AutoShape 19"/>
            <p:cNvSpPr/>
            <p:nvPr>
              <p:custDataLst>
                <p:tags r:id="rId26"/>
              </p:custDataLst>
            </p:nvPr>
          </p:nvSpPr>
          <p:spPr>
            <a:xfrm>
              <a:off x="14400" y="4400"/>
              <a:ext cx="3600" cy="2800"/>
            </a:xfrm>
            <a:prstGeom prst="roundRect">
              <a:avLst>
                <a:gd name="adj" fmla="val 8571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1" name="Picture 20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4800" y="4700"/>
              <a:ext cx="720" cy="720"/>
            </a:xfrm>
            <a:prstGeom prst="rect">
              <a:avLst/>
            </a:prstGeom>
          </p:spPr>
        </p:pic>
        <p:sp>
          <p:nvSpPr>
            <p:cNvPr id="22" name="AutoShape 21"/>
            <p:cNvSpPr/>
            <p:nvPr>
              <p:custDataLst>
                <p:tags r:id="rId30"/>
              </p:custDataLst>
            </p:nvPr>
          </p:nvSpPr>
          <p:spPr>
            <a:xfrm>
              <a:off x="15800" y="4760"/>
              <a:ext cx="2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动态加载</a:t>
              </a:r>
              <a:endParaRPr lang="en-US" sz="1100"/>
            </a:p>
          </p:txBody>
        </p:sp>
        <p:sp>
          <p:nvSpPr>
            <p:cNvPr id="23" name="AutoShape 22"/>
            <p:cNvSpPr/>
            <p:nvPr>
              <p:custDataLst>
                <p:tags r:id="rId31"/>
              </p:custDataLst>
            </p:nvPr>
          </p:nvSpPr>
          <p:spPr>
            <a:xfrm>
              <a:off x="14800" y="5800"/>
              <a:ext cx="30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Agent 可根据当前任务需求，灵活地实时加载或卸载对应的 Skill。</a:t>
              </a:r>
              <a:endParaRPr lang="en-US" sz="110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08660" y="4810760"/>
            <a:ext cx="10668000" cy="1270000"/>
            <a:chOff x="1200" y="7800"/>
            <a:chExt cx="16800" cy="2000"/>
          </a:xfrm>
        </p:grpSpPr>
        <p:sp>
          <p:nvSpPr>
            <p:cNvPr id="24" name="AutoShape 23"/>
            <p:cNvSpPr/>
            <p:nvPr/>
          </p:nvSpPr>
          <p:spPr>
            <a:xfrm>
              <a:off x="1200" y="7800"/>
              <a:ext cx="16800" cy="2000"/>
            </a:xfrm>
            <a:prstGeom prst="roundRect">
              <a:avLst>
                <a:gd name="adj" fmla="val 1200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5" name="AutoShape 24"/>
            <p:cNvSpPr/>
            <p:nvPr/>
          </p:nvSpPr>
          <p:spPr>
            <a:xfrm>
              <a:off x="1200" y="7800"/>
              <a:ext cx="160" cy="2000"/>
            </a:xfrm>
            <a:prstGeom prst="roundRect">
              <a:avLst>
                <a:gd name="adj" fmla="val 150000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6" name="AutoShape 25"/>
            <p:cNvSpPr/>
            <p:nvPr/>
          </p:nvSpPr>
          <p:spPr>
            <a:xfrm>
              <a:off x="1800" y="8000"/>
              <a:ext cx="16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Skill 的本质：SOP 的数字化资产化</a:t>
              </a:r>
              <a:endParaRPr lang="en-US" sz="1100"/>
            </a:p>
          </p:txBody>
        </p:sp>
        <p:sp>
          <p:nvSpPr>
            <p:cNvPr id="33" name="AutoShape 26"/>
            <p:cNvSpPr/>
            <p:nvPr/>
          </p:nvSpPr>
          <p:spPr>
            <a:xfrm>
              <a:off x="1800" y="8800"/>
              <a:ext cx="156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将人类在特定领域积累的 SOP（标准操作程序）等流程性知识，通过结构化的方式进行封装，转化为 AI Agent 可以“消化”并自动执行的标准化数字资产。</a:t>
              </a:r>
              <a:endParaRPr lang="en-US" sz="1100"/>
            </a:p>
          </p:txBody>
        </p:sp>
      </p:grpSp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06400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zh-CN" altLang="en-US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zh-CN" altLang="en-US" b="1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0" y="165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chemeClr val="tx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三层结构与渐进披露</a:t>
            </a:r>
            <a:endParaRPr lang="en-US" sz="2400" b="0" i="0" u="none" strike="noStrike" spc="200">
              <a:solidFill>
                <a:schemeClr val="tx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515175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 的物理结构：一个文件夹就是一项能力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251200" y="1337310"/>
            <a:ext cx="5088890" cy="4841240"/>
            <a:chOff x="1200" y="2400"/>
            <a:chExt cx="8014" cy="7624"/>
          </a:xfrm>
        </p:grpSpPr>
        <p:sp>
          <p:nvSpPr>
            <p:cNvPr id="3" name="AutoShape 3"/>
            <p:cNvSpPr/>
            <p:nvPr/>
          </p:nvSpPr>
          <p:spPr>
            <a:xfrm>
              <a:off x="1200" y="2400"/>
              <a:ext cx="8014" cy="7624"/>
            </a:xfrm>
            <a:prstGeom prst="roundRect">
              <a:avLst>
                <a:gd name="adj" fmla="val 444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600" y="2700"/>
              <a:ext cx="7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C6F6D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📂 pdf-editor-lite / (核心能力目录)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600" y="3600"/>
              <a:ext cx="7200" cy="1500"/>
            </a:xfrm>
            <a:prstGeom prst="roundRect">
              <a:avLst>
                <a:gd name="adj" fmla="val 10666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0" y="3960"/>
              <a:ext cx="720" cy="72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/>
          </p:nvSpPr>
          <p:spPr>
            <a:xfrm>
              <a:off x="3000" y="3800"/>
              <a:ext cx="5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SKILL.md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3000" y="4400"/>
              <a:ext cx="56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核心指令文件（必选）：定义了Skill的核心逻辑与功能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600" y="5300"/>
              <a:ext cx="7200" cy="1500"/>
            </a:xfrm>
            <a:prstGeom prst="roundRect">
              <a:avLst>
                <a:gd name="adj" fmla="val 10666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00" y="5660"/>
              <a:ext cx="720" cy="72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3000" y="5500"/>
              <a:ext cx="5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scripts /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000" y="6100"/>
              <a:ext cx="56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可执行脚本目录：包含 merge_pdf.py 等自动化工具脚本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600" y="7000"/>
              <a:ext cx="7200" cy="1500"/>
            </a:xfrm>
            <a:prstGeom prst="roundRect">
              <a:avLst>
                <a:gd name="adj" fmla="val 10666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00" y="7360"/>
              <a:ext cx="720" cy="72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/>
          </p:nvSpPr>
          <p:spPr>
            <a:xfrm>
              <a:off x="3000" y="7200"/>
              <a:ext cx="5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references /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000" y="7800"/>
              <a:ext cx="56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参考文档目录：存放 api_doc.md 接口文档与技术说明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600" y="8700"/>
              <a:ext cx="7200" cy="1200"/>
            </a:xfrm>
            <a:prstGeom prst="roundRect">
              <a:avLst>
                <a:gd name="adj" fmla="val 13333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000" y="8940"/>
              <a:ext cx="720" cy="720"/>
            </a:xfrm>
            <a:prstGeom prst="rect">
              <a:avLst/>
            </a:prstGeom>
          </p:spPr>
        </p:pic>
        <p:sp>
          <p:nvSpPr>
            <p:cNvPr id="19" name="AutoShape 19"/>
            <p:cNvSpPr/>
            <p:nvPr/>
          </p:nvSpPr>
          <p:spPr>
            <a:xfrm>
              <a:off x="3000" y="8900"/>
              <a:ext cx="5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assets / 静态资源</a:t>
              </a: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(templates/ 模板、图片素材等)</a:t>
              </a:r>
              <a:endParaRPr lang="en-US" sz="1100"/>
            </a:p>
          </p:txBody>
        </p:sp>
      </p:grp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53746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SKILL.md 解剖：YAML 元数据 + Markdown 正文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762000" y="1417320"/>
            <a:ext cx="5207000" cy="4699000"/>
            <a:chOff x="1200" y="2400"/>
            <a:chExt cx="8200" cy="74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400"/>
              <a:ext cx="8200" cy="7400"/>
            </a:xfrm>
            <a:prstGeom prst="roundRect">
              <a:avLst>
                <a:gd name="adj" fmla="val 324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52400" dist="508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6"/>
              </p:custDataLst>
            </p:nvPr>
          </p:nvSpPr>
          <p:spPr>
            <a:xfrm>
              <a:off x="1600" y="2800"/>
              <a:ext cx="7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YAML 元数据 (Metadata)</a:t>
              </a:r>
              <a:endParaRPr lang="en-US" sz="1100"/>
            </a:p>
          </p:txBody>
        </p:sp>
        <p:sp>
          <p:nvSpPr>
            <p:cNvPr id="5" name="AutoShape 5"/>
            <p:cNvSpPr/>
            <p:nvPr>
              <p:custDataLst>
                <p:tags r:id="rId7"/>
              </p:custDataLst>
            </p:nvPr>
          </p:nvSpPr>
          <p:spPr>
            <a:xfrm>
              <a:off x="1600" y="3800"/>
              <a:ext cx="7400" cy="2600"/>
            </a:xfrm>
            <a:prstGeom prst="roundRect">
              <a:avLst>
                <a:gd name="adj" fmla="val 6153"/>
              </a:avLst>
            </a:prstGeom>
            <a:solidFill>
              <a:srgbClr val="2229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>
              <p:custDataLst>
                <p:tags r:id="rId8"/>
              </p:custDataLst>
            </p:nvPr>
          </p:nvSpPr>
          <p:spPr>
            <a:xfrm>
              <a:off x="1900" y="4100"/>
              <a:ext cx="68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---</a:t>
              </a:r>
              <a:endParaRPr lang="en-US" sz="1100"/>
            </a:p>
            <a:p>
              <a:pPr indent="0" algn="l">
                <a:lnSpc>
                  <a:spcPct val="117000"/>
                </a:lnSpc>
              </a:pP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name: pdf-processing</a:t>
              </a:r>
              <a:b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</a:b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description: 提取 PDF 文本、合并拆分文档，用户处理 PDF 时调用。</a:t>
              </a:r>
              <a:b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</a:b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license: MIT</a:t>
              </a:r>
              <a:endParaRPr lang="en-US" sz="1100" b="0" i="0" u="none" strike="noStrike">
                <a:solidFill>
                  <a:srgbClr val="CBD5E0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---</a:t>
              </a:r>
              <a:endParaRPr lang="en-US" sz="1100" b="0" i="0" u="none" strike="noStrike">
                <a:solidFill>
                  <a:srgbClr val="CBD5E0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7" name="AutoShape 7"/>
            <p:cNvSpPr/>
            <p:nvPr>
              <p:custDataLst>
                <p:tags r:id="rId9"/>
              </p:custDataLst>
            </p:nvPr>
          </p:nvSpPr>
          <p:spPr>
            <a:xfrm>
              <a:off x="1600" y="6800"/>
              <a:ext cx="7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8" name="Picture 8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20" y="7200"/>
              <a:ext cx="720" cy="720"/>
            </a:xfrm>
            <a:prstGeom prst="rect">
              <a:avLst/>
            </a:prstGeom>
          </p:spPr>
        </p:pic>
        <p:sp>
          <p:nvSpPr>
            <p:cNvPr id="9" name="AutoShape 9"/>
            <p:cNvSpPr/>
            <p:nvPr>
              <p:custDataLst>
                <p:tags r:id="rId13"/>
              </p:custDataLst>
            </p:nvPr>
          </p:nvSpPr>
          <p:spPr>
            <a:xfrm>
              <a:off x="3000" y="7160"/>
              <a:ext cx="56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模型的「索引卡片」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14"/>
              </p:custDataLst>
            </p:nvPr>
          </p:nvSpPr>
          <p:spPr>
            <a:xfrm>
              <a:off x="3000" y="7900"/>
              <a:ext cx="56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定义技能的核心身份信息，帮助模型快速判断当前对话场景是否需要激活并调用该 Skill。</a:t>
              </a:r>
              <a:endParaRPr lang="en-US" sz="1100"/>
            </a:p>
          </p:txBody>
        </p:sp>
      </p:grpSp>
      <p:grpSp>
        <p:nvGrpSpPr>
          <p:cNvPr id="20" name="组合 19"/>
          <p:cNvGrpSpPr/>
          <p:nvPr>
            <p:custDataLst>
              <p:tags r:id="rId15"/>
            </p:custDataLst>
          </p:nvPr>
        </p:nvGrpSpPr>
        <p:grpSpPr>
          <a:xfrm>
            <a:off x="6223000" y="1417320"/>
            <a:ext cx="5207000" cy="4699000"/>
            <a:chOff x="9800" y="2400"/>
            <a:chExt cx="8200" cy="7400"/>
          </a:xfrm>
        </p:grpSpPr>
        <p:sp>
          <p:nvSpPr>
            <p:cNvPr id="11" name="AutoShape 11"/>
            <p:cNvSpPr/>
            <p:nvPr>
              <p:custDataLst>
                <p:tags r:id="rId16"/>
              </p:custDataLst>
            </p:nvPr>
          </p:nvSpPr>
          <p:spPr>
            <a:xfrm>
              <a:off x="9800" y="2400"/>
              <a:ext cx="8200" cy="7400"/>
            </a:xfrm>
            <a:prstGeom prst="roundRect">
              <a:avLst>
                <a:gd name="adj" fmla="val 324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52400" dist="508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>
              <p:custDataLst>
                <p:tags r:id="rId17"/>
              </p:custDataLst>
            </p:nvPr>
          </p:nvSpPr>
          <p:spPr>
            <a:xfrm>
              <a:off x="10200" y="2800"/>
              <a:ext cx="7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Markdown 正文 (Body)</a:t>
              </a:r>
              <a:endParaRPr lang="en-US" sz="1100"/>
            </a:p>
          </p:txBody>
        </p:sp>
        <p:sp>
          <p:nvSpPr>
            <p:cNvPr id="13" name="AutoShape 13"/>
            <p:cNvSpPr/>
            <p:nvPr>
              <p:custDataLst>
                <p:tags r:id="rId18"/>
              </p:custDataLst>
            </p:nvPr>
          </p:nvSpPr>
          <p:spPr>
            <a:xfrm>
              <a:off x="10200" y="3800"/>
              <a:ext cx="7400" cy="2600"/>
            </a:xfrm>
            <a:prstGeom prst="roundRect">
              <a:avLst>
                <a:gd name="adj" fmla="val 6153"/>
              </a:avLst>
            </a:prstGeom>
            <a:solidFill>
              <a:srgbClr val="2229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19"/>
              </p:custDataLst>
            </p:nvPr>
          </p:nvSpPr>
          <p:spPr>
            <a:xfrm>
              <a:off x="10500" y="4100"/>
              <a:ext cx="68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# 技能核心说明文档</a:t>
              </a:r>
              <a:endParaRPr lang="en-US" sz="1100"/>
            </a:p>
            <a:p>
              <a:pPr indent="0" algn="l">
                <a:lnSpc>
                  <a:spcPct val="117000"/>
                </a:lnSpc>
              </a:pP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## 适用的具体业务场景 (When to Use)</a:t>
              </a:r>
              <a:b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</a:b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## 详细的任务执行步骤 (How to Do)</a:t>
              </a:r>
              <a:b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</a:br>
              <a:r>
                <a:rPr lang="en-US" sz="1100" b="0" i="0" u="none" strike="noStrike">
                  <a:solidFill>
                    <a:srgbClr val="CBD5E0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## 关键的边界注意事项 (Attention)</a:t>
              </a:r>
              <a:endParaRPr lang="en-US" sz="1100" b="0" i="0" u="none" strike="noStrike">
                <a:solidFill>
                  <a:srgbClr val="CBD5E0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5" name="AutoShape 15"/>
            <p:cNvSpPr/>
            <p:nvPr>
              <p:custDataLst>
                <p:tags r:id="rId20"/>
              </p:custDataLst>
            </p:nvPr>
          </p:nvSpPr>
          <p:spPr>
            <a:xfrm>
              <a:off x="10200" y="6800"/>
              <a:ext cx="7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6" name="Picture 16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520" y="7200"/>
              <a:ext cx="720" cy="72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>
              <p:custDataLst>
                <p:tags r:id="rId24"/>
              </p:custDataLst>
            </p:nvPr>
          </p:nvSpPr>
          <p:spPr>
            <a:xfrm>
              <a:off x="11600" y="7160"/>
              <a:ext cx="56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模型的「工作指南」</a:t>
              </a:r>
              <a:endParaRPr lang="en-US" sz="1100"/>
            </a:p>
          </p:txBody>
        </p:sp>
        <p:sp>
          <p:nvSpPr>
            <p:cNvPr id="18" name="AutoShape 18"/>
            <p:cNvSpPr/>
            <p:nvPr>
              <p:custDataLst>
                <p:tags r:id="rId25"/>
              </p:custDataLst>
            </p:nvPr>
          </p:nvSpPr>
          <p:spPr>
            <a:xfrm>
              <a:off x="11600" y="7900"/>
              <a:ext cx="56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提供详尽的任务执行逻辑、上下文约束与操作细节，指导模型在调用后如何高质量地完成具体任务。</a:t>
              </a:r>
              <a:endParaRPr lang="en-US" sz="1100"/>
            </a:p>
          </p:txBody>
        </p:sp>
      </p:grpSp>
    </p:spTree>
    <p:custDataLst>
      <p:tags r:id="rId2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49135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渐进式披露：Skill 的省 Token 秘诀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7" name="组合 26"/>
          <p:cNvGrpSpPr/>
          <p:nvPr>
            <p:custDataLst>
              <p:tags r:id="rId4"/>
            </p:custDataLst>
          </p:nvPr>
        </p:nvGrpSpPr>
        <p:grpSpPr>
          <a:xfrm>
            <a:off x="762000" y="1482090"/>
            <a:ext cx="3302000" cy="2921000"/>
            <a:chOff x="1200" y="2600"/>
            <a:chExt cx="5200" cy="46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600"/>
              <a:ext cx="5200" cy="4600"/>
            </a:xfrm>
            <a:prstGeom prst="roundRect">
              <a:avLst>
                <a:gd name="adj" fmla="val 5217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6"/>
              </p:custDataLst>
            </p:nvPr>
          </p:nvSpPr>
          <p:spPr>
            <a:xfrm>
              <a:off x="1600" y="3000"/>
              <a:ext cx="1120" cy="112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40" y="3240"/>
              <a:ext cx="640" cy="64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>
              <p:custDataLst>
                <p:tags r:id="rId10"/>
              </p:custDataLst>
            </p:nvPr>
          </p:nvSpPr>
          <p:spPr>
            <a:xfrm>
              <a:off x="3000" y="3100"/>
              <a:ext cx="3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48BB7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Level 1 · 元数据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11"/>
              </p:custDataLst>
            </p:nvPr>
          </p:nvSpPr>
          <p:spPr>
            <a:xfrm>
              <a:off x="1600" y="4400"/>
              <a:ext cx="44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~100 Tokens</a:t>
              </a:r>
              <a:endParaRPr lang="en-US" sz="1100"/>
            </a:p>
          </p:txBody>
        </p:sp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1600" y="56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Agent 启动时</a:t>
              </a:r>
              <a:b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仅加载核心 `name` 与 `description`</a:t>
              </a:r>
              <a:endParaRPr lang="en-US" sz="1100"/>
            </a:p>
          </p:txBody>
        </p:sp>
      </p:grp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4445000" y="1482090"/>
            <a:ext cx="3302000" cy="2921000"/>
            <a:chOff x="7000" y="2600"/>
            <a:chExt cx="5200" cy="4600"/>
          </a:xfrm>
        </p:grpSpPr>
        <p:sp>
          <p:nvSpPr>
            <p:cNvPr id="9" name="AutoShape 9"/>
            <p:cNvSpPr/>
            <p:nvPr>
              <p:custDataLst>
                <p:tags r:id="rId14"/>
              </p:custDataLst>
            </p:nvPr>
          </p:nvSpPr>
          <p:spPr>
            <a:xfrm>
              <a:off x="7000" y="2600"/>
              <a:ext cx="5200" cy="4600"/>
            </a:xfrm>
            <a:prstGeom prst="roundRect">
              <a:avLst>
                <a:gd name="adj" fmla="val 5217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>
              <p:custDataLst>
                <p:tags r:id="rId15"/>
              </p:custDataLst>
            </p:nvPr>
          </p:nvSpPr>
          <p:spPr>
            <a:xfrm>
              <a:off x="7400" y="3000"/>
              <a:ext cx="1120" cy="112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1" name="Picture 11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40" y="3240"/>
              <a:ext cx="640" cy="64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>
              <p:custDataLst>
                <p:tags r:id="rId19"/>
              </p:custDataLst>
            </p:nvPr>
          </p:nvSpPr>
          <p:spPr>
            <a:xfrm>
              <a:off x="8800" y="3100"/>
              <a:ext cx="3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48BB7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Level 2 · 指令层</a:t>
              </a:r>
              <a:endParaRPr lang="en-US" sz="1100"/>
            </a:p>
          </p:txBody>
        </p:sp>
        <p:sp>
          <p:nvSpPr>
            <p:cNvPr id="13" name="AutoShape 13"/>
            <p:cNvSpPr/>
            <p:nvPr>
              <p:custDataLst>
                <p:tags r:id="rId20"/>
              </p:custDataLst>
            </p:nvPr>
          </p:nvSpPr>
          <p:spPr>
            <a:xfrm>
              <a:off x="7400" y="4400"/>
              <a:ext cx="44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&lt; 5000 Tokens</a:t>
              </a:r>
              <a:endParaRPr lang="en-US" sz="1100"/>
            </a:p>
          </p:txBody>
        </p:sp>
        <p:sp>
          <p:nvSpPr>
            <p:cNvPr id="14" name="AutoShape 14"/>
            <p:cNvSpPr/>
            <p:nvPr>
              <p:custDataLst>
                <p:tags r:id="rId21"/>
              </p:custDataLst>
            </p:nvPr>
          </p:nvSpPr>
          <p:spPr>
            <a:xfrm>
              <a:off x="7400" y="56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任务匹配成功后</a:t>
              </a:r>
              <a:b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才完整加载 `SKILL.md` 指令集</a:t>
              </a:r>
              <a:endParaRPr lang="en-US" sz="1100"/>
            </a:p>
          </p:txBody>
        </p:sp>
      </p:grpSp>
      <p:grpSp>
        <p:nvGrpSpPr>
          <p:cNvPr id="2" name="组合 1"/>
          <p:cNvGrpSpPr/>
          <p:nvPr>
            <p:custDataLst>
              <p:tags r:id="rId22"/>
            </p:custDataLst>
          </p:nvPr>
        </p:nvGrpSpPr>
        <p:grpSpPr>
          <a:xfrm>
            <a:off x="8128000" y="1482090"/>
            <a:ext cx="3302000" cy="2921000"/>
            <a:chOff x="12800" y="2600"/>
            <a:chExt cx="5200" cy="4600"/>
          </a:xfrm>
        </p:grpSpPr>
        <p:sp>
          <p:nvSpPr>
            <p:cNvPr id="15" name="AutoShape 15"/>
            <p:cNvSpPr/>
            <p:nvPr>
              <p:custDataLst>
                <p:tags r:id="rId23"/>
              </p:custDataLst>
            </p:nvPr>
          </p:nvSpPr>
          <p:spPr>
            <a:xfrm>
              <a:off x="12800" y="2600"/>
              <a:ext cx="5200" cy="4600"/>
            </a:xfrm>
            <a:prstGeom prst="roundRect">
              <a:avLst>
                <a:gd name="adj" fmla="val 5217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>
              <p:custDataLst>
                <p:tags r:id="rId24"/>
              </p:custDataLst>
            </p:nvPr>
          </p:nvSpPr>
          <p:spPr>
            <a:xfrm>
              <a:off x="13200" y="3000"/>
              <a:ext cx="1120" cy="112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7" name="Picture 1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440" y="3240"/>
              <a:ext cx="640" cy="64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>
              <p:custDataLst>
                <p:tags r:id="rId28"/>
              </p:custDataLst>
            </p:nvPr>
          </p:nvSpPr>
          <p:spPr>
            <a:xfrm>
              <a:off x="14600" y="3100"/>
              <a:ext cx="3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48BB7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Level 3 · 资源层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9"/>
              </p:custDataLst>
            </p:nvPr>
          </p:nvSpPr>
          <p:spPr>
            <a:xfrm>
              <a:off x="13200" y="4400"/>
              <a:ext cx="44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按需动态加载</a:t>
              </a:r>
              <a:endParaRPr lang="en-US" sz="1100"/>
            </a:p>
          </p:txBody>
        </p:sp>
        <p:sp>
          <p:nvSpPr>
            <p:cNvPr id="20" name="AutoShape 20"/>
            <p:cNvSpPr/>
            <p:nvPr>
              <p:custDataLst>
                <p:tags r:id="rId30"/>
              </p:custDataLst>
            </p:nvPr>
          </p:nvSpPr>
          <p:spPr>
            <a:xfrm>
              <a:off x="13200" y="56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模型推理判定需要时</a:t>
              </a:r>
              <a:b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才读取 `References` 或执行脚本</a:t>
              </a:r>
              <a:endParaRPr lang="en-US" sz="11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2000" y="4784090"/>
            <a:ext cx="10668000" cy="1270000"/>
            <a:chOff x="1200" y="7800"/>
            <a:chExt cx="16800" cy="2000"/>
          </a:xfrm>
        </p:grpSpPr>
        <p:sp>
          <p:nvSpPr>
            <p:cNvPr id="22" name="AutoShape 21"/>
            <p:cNvSpPr/>
            <p:nvPr/>
          </p:nvSpPr>
          <p:spPr>
            <a:xfrm>
              <a:off x="1200" y="7800"/>
              <a:ext cx="16800" cy="2000"/>
            </a:xfrm>
            <a:prstGeom prst="roundRect">
              <a:avLst>
                <a:gd name="adj" fmla="val 16000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2700000" algn="tl" rotWithShape="0">
                <a:srgbClr val="000000">
                  <a:alpha val="3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22"/>
            <p:cNvSpPr/>
            <p:nvPr/>
          </p:nvSpPr>
          <p:spPr>
            <a:xfrm>
              <a:off x="1800" y="8200"/>
              <a:ext cx="7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传统“一次性投喂” VS Skill 渐进式披露</a:t>
              </a:r>
              <a:endParaRPr lang="en-US" sz="1100"/>
            </a:p>
          </p:txBody>
        </p:sp>
        <p:sp>
          <p:nvSpPr>
            <p:cNvPr id="24" name="AutoShape 23"/>
            <p:cNvSpPr/>
            <p:nvPr/>
          </p:nvSpPr>
          <p:spPr>
            <a:xfrm>
              <a:off x="1800" y="9000"/>
              <a:ext cx="7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0" i="0" u="none" strike="noStrike">
                  <a:solidFill>
                    <a:srgbClr val="F0FFF4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拒绝一次性塞入海量冗余信息，大幅提升 Token 利用率</a:t>
              </a:r>
              <a:endParaRPr lang="en-US" sz="1100"/>
            </a:p>
          </p:txBody>
        </p:sp>
        <p:cxnSp>
          <p:nvCxnSpPr>
            <p:cNvPr id="25" name="Connector 24"/>
            <p:cNvCxnSpPr/>
            <p:nvPr/>
          </p:nvCxnSpPr>
          <p:spPr>
            <a:xfrm rot="5342709">
              <a:off x="9000" y="8790"/>
              <a:ext cx="12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FFFF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AutoShape 25"/>
            <p:cNvSpPr/>
            <p:nvPr/>
          </p:nvSpPr>
          <p:spPr>
            <a:xfrm>
              <a:off x="10200" y="8200"/>
              <a:ext cx="72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Context 占用 ↓ 80%+</a:t>
              </a:r>
              <a:endParaRPr lang="en-US" sz="1100"/>
            </a:p>
          </p:txBody>
        </p:sp>
        <p:sp>
          <p:nvSpPr>
            <p:cNvPr id="31" name="AutoShape 26"/>
            <p:cNvSpPr/>
            <p:nvPr/>
          </p:nvSpPr>
          <p:spPr>
            <a:xfrm>
              <a:off x="10200" y="9200"/>
              <a:ext cx="72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0FFF4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显著降低上下文窗口压力</a:t>
              </a:r>
              <a:endParaRPr lang="en-US" sz="1100"/>
            </a:p>
          </p:txBody>
        </p:sp>
      </p:grp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6685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工作流示例：Agent 如何使用 Skill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6" name="组合 35"/>
          <p:cNvGrpSpPr/>
          <p:nvPr>
            <p:custDataLst>
              <p:tags r:id="rId4"/>
            </p:custDataLst>
          </p:nvPr>
        </p:nvGrpSpPr>
        <p:grpSpPr>
          <a:xfrm>
            <a:off x="762000" y="1393190"/>
            <a:ext cx="1930400" cy="3175000"/>
            <a:chOff x="1200" y="2600"/>
            <a:chExt cx="3040" cy="50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600"/>
              <a:ext cx="3040" cy="5000"/>
            </a:xfrm>
            <a:prstGeom prst="roundRect">
              <a:avLst>
                <a:gd name="adj" fmla="val 789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4" name="Picture 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40" y="3000"/>
              <a:ext cx="960" cy="960"/>
            </a:xfrm>
            <a:prstGeom prst="rect">
              <a:avLst/>
            </a:prstGeom>
          </p:spPr>
        </p:pic>
        <p:sp>
          <p:nvSpPr>
            <p:cNvPr id="5" name="AutoShape 5"/>
            <p:cNvSpPr/>
            <p:nvPr>
              <p:custDataLst>
                <p:tags r:id="rId9"/>
              </p:custDataLst>
            </p:nvPr>
          </p:nvSpPr>
          <p:spPr>
            <a:xfrm>
              <a:off x="1200" y="4200"/>
              <a:ext cx="304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</a:t>
              </a:r>
              <a:endParaRPr lang="en-US" sz="1100"/>
            </a:p>
          </p:txBody>
        </p:sp>
        <p:sp>
          <p:nvSpPr>
            <p:cNvPr id="6" name="AutoShape 6"/>
            <p:cNvSpPr/>
            <p:nvPr>
              <p:custDataLst>
                <p:tags r:id="rId10"/>
              </p:custDataLst>
            </p:nvPr>
          </p:nvSpPr>
          <p:spPr>
            <a:xfrm>
              <a:off x="1200" y="5000"/>
              <a:ext cx="304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用户提问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11"/>
              </p:custDataLst>
            </p:nvPr>
          </p:nvSpPr>
          <p:spPr>
            <a:xfrm>
              <a:off x="1500" y="5800"/>
              <a:ext cx="2440" cy="1400"/>
            </a:xfrm>
            <a:prstGeom prst="roundRect">
              <a:avLst>
                <a:gd name="adj" fmla="val 11428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1600" y="6000"/>
              <a:ext cx="224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“帮我把这个 PDF 转成 Word”</a:t>
              </a:r>
              <a:endParaRPr lang="en-US" sz="1100"/>
            </a:p>
          </p:txBody>
        </p:sp>
      </p:grpSp>
      <p:grpSp>
        <p:nvGrpSpPr>
          <p:cNvPr id="37" name="组合 36"/>
          <p:cNvGrpSpPr/>
          <p:nvPr>
            <p:custDataLst>
              <p:tags r:id="rId13"/>
            </p:custDataLst>
          </p:nvPr>
        </p:nvGrpSpPr>
        <p:grpSpPr>
          <a:xfrm>
            <a:off x="2946400" y="1393190"/>
            <a:ext cx="1930400" cy="3175000"/>
            <a:chOff x="4640" y="2600"/>
            <a:chExt cx="3040" cy="5000"/>
          </a:xfrm>
        </p:grpSpPr>
        <p:sp>
          <p:nvSpPr>
            <p:cNvPr id="9" name="AutoShape 9"/>
            <p:cNvSpPr/>
            <p:nvPr>
              <p:custDataLst>
                <p:tags r:id="rId14"/>
              </p:custDataLst>
            </p:nvPr>
          </p:nvSpPr>
          <p:spPr>
            <a:xfrm>
              <a:off x="4640" y="2600"/>
              <a:ext cx="3040" cy="5000"/>
            </a:xfrm>
            <a:prstGeom prst="roundRect">
              <a:avLst>
                <a:gd name="adj" fmla="val 789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680" y="3000"/>
              <a:ext cx="960" cy="96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>
              <p:custDataLst>
                <p:tags r:id="rId18"/>
              </p:custDataLst>
            </p:nvPr>
          </p:nvSpPr>
          <p:spPr>
            <a:xfrm>
              <a:off x="4640" y="4200"/>
              <a:ext cx="304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</a:t>
              </a:r>
              <a:endParaRPr lang="en-US" sz="1100"/>
            </a:p>
          </p:txBody>
        </p:sp>
        <p:sp>
          <p:nvSpPr>
            <p:cNvPr id="12" name="AutoShape 12"/>
            <p:cNvSpPr/>
            <p:nvPr>
              <p:custDataLst>
                <p:tags r:id="rId19"/>
              </p:custDataLst>
            </p:nvPr>
          </p:nvSpPr>
          <p:spPr>
            <a:xfrm>
              <a:off x="4640" y="5000"/>
              <a:ext cx="304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检索元数据</a:t>
              </a:r>
              <a:endParaRPr lang="en-US" sz="1100"/>
            </a:p>
          </p:txBody>
        </p:sp>
        <p:sp>
          <p:nvSpPr>
            <p:cNvPr id="13" name="AutoShape 13"/>
            <p:cNvSpPr/>
            <p:nvPr>
              <p:custDataLst>
                <p:tags r:id="rId20"/>
              </p:custDataLst>
            </p:nvPr>
          </p:nvSpPr>
          <p:spPr>
            <a:xfrm>
              <a:off x="4940" y="5800"/>
              <a:ext cx="2440" cy="1400"/>
            </a:xfrm>
            <a:prstGeom prst="roundRect">
              <a:avLst>
                <a:gd name="adj" fmla="val 11428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21"/>
              </p:custDataLst>
            </p:nvPr>
          </p:nvSpPr>
          <p:spPr>
            <a:xfrm>
              <a:off x="5040" y="6000"/>
              <a:ext cx="224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发现 `pdf-processing` Skill 符合当前需求</a:t>
              </a:r>
              <a:endParaRPr lang="en-US" sz="1100"/>
            </a:p>
          </p:txBody>
        </p:sp>
      </p:grpSp>
      <p:grpSp>
        <p:nvGrpSpPr>
          <p:cNvPr id="38" name="组合 37"/>
          <p:cNvGrpSpPr/>
          <p:nvPr>
            <p:custDataLst>
              <p:tags r:id="rId22"/>
            </p:custDataLst>
          </p:nvPr>
        </p:nvGrpSpPr>
        <p:grpSpPr>
          <a:xfrm>
            <a:off x="5130800" y="1393190"/>
            <a:ext cx="1930400" cy="3175000"/>
            <a:chOff x="8080" y="2600"/>
            <a:chExt cx="3040" cy="5000"/>
          </a:xfrm>
        </p:grpSpPr>
        <p:sp>
          <p:nvSpPr>
            <p:cNvPr id="15" name="AutoShape 15"/>
            <p:cNvSpPr/>
            <p:nvPr>
              <p:custDataLst>
                <p:tags r:id="rId23"/>
              </p:custDataLst>
            </p:nvPr>
          </p:nvSpPr>
          <p:spPr>
            <a:xfrm>
              <a:off x="8080" y="2600"/>
              <a:ext cx="3040" cy="5000"/>
            </a:xfrm>
            <a:prstGeom prst="roundRect">
              <a:avLst>
                <a:gd name="adj" fmla="val 789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6" name="Picture 1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120" y="3000"/>
              <a:ext cx="960" cy="96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>
              <p:custDataLst>
                <p:tags r:id="rId27"/>
              </p:custDataLst>
            </p:nvPr>
          </p:nvSpPr>
          <p:spPr>
            <a:xfrm>
              <a:off x="8080" y="4200"/>
              <a:ext cx="304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03</a:t>
              </a:r>
              <a:endParaRPr lang="en-US" sz="1100"/>
            </a:p>
          </p:txBody>
        </p:sp>
        <p:sp>
          <p:nvSpPr>
            <p:cNvPr id="18" name="AutoShape 18"/>
            <p:cNvSpPr/>
            <p:nvPr>
              <p:custDataLst>
                <p:tags r:id="rId28"/>
              </p:custDataLst>
            </p:nvPr>
          </p:nvSpPr>
          <p:spPr>
            <a:xfrm>
              <a:off x="8080" y="5000"/>
              <a:ext cx="304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读取 SKILL.md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9"/>
              </p:custDataLst>
            </p:nvPr>
          </p:nvSpPr>
          <p:spPr>
            <a:xfrm>
              <a:off x="8380" y="5800"/>
              <a:ext cx="2440" cy="1400"/>
            </a:xfrm>
            <a:prstGeom prst="roundRect">
              <a:avLst>
                <a:gd name="adj" fmla="val 11428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>
              <p:custDataLst>
                <p:tags r:id="rId30"/>
              </p:custDataLst>
            </p:nvPr>
          </p:nvSpPr>
          <p:spPr>
            <a:xfrm>
              <a:off x="8480" y="6000"/>
              <a:ext cx="224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查阅文档，明确需要调用 `pdf_to_docx.py` 脚本</a:t>
              </a:r>
              <a:endParaRPr lang="en-US" sz="1100"/>
            </a:p>
          </p:txBody>
        </p:sp>
      </p:grpSp>
      <p:grpSp>
        <p:nvGrpSpPr>
          <p:cNvPr id="39" name="组合 38"/>
          <p:cNvGrpSpPr/>
          <p:nvPr>
            <p:custDataLst>
              <p:tags r:id="rId31"/>
            </p:custDataLst>
          </p:nvPr>
        </p:nvGrpSpPr>
        <p:grpSpPr>
          <a:xfrm>
            <a:off x="7315200" y="1393190"/>
            <a:ext cx="1930400" cy="3175000"/>
            <a:chOff x="11520" y="2600"/>
            <a:chExt cx="3040" cy="5000"/>
          </a:xfrm>
        </p:grpSpPr>
        <p:sp>
          <p:nvSpPr>
            <p:cNvPr id="21" name="AutoShape 21"/>
            <p:cNvSpPr/>
            <p:nvPr>
              <p:custDataLst>
                <p:tags r:id="rId32"/>
              </p:custDataLst>
            </p:nvPr>
          </p:nvSpPr>
          <p:spPr>
            <a:xfrm>
              <a:off x="11520" y="2600"/>
              <a:ext cx="3040" cy="5000"/>
            </a:xfrm>
            <a:prstGeom prst="roundRect">
              <a:avLst>
                <a:gd name="adj" fmla="val 789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2" name="Picture 22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2560" y="3000"/>
              <a:ext cx="960" cy="960"/>
            </a:xfrm>
            <a:prstGeom prst="rect">
              <a:avLst/>
            </a:prstGeom>
          </p:spPr>
        </p:pic>
        <p:sp>
          <p:nvSpPr>
            <p:cNvPr id="23" name="AutoShape 23"/>
            <p:cNvSpPr/>
            <p:nvPr>
              <p:custDataLst>
                <p:tags r:id="rId36"/>
              </p:custDataLst>
            </p:nvPr>
          </p:nvSpPr>
          <p:spPr>
            <a:xfrm>
              <a:off x="11520" y="4200"/>
              <a:ext cx="304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04</a:t>
              </a:r>
              <a:endParaRPr lang="en-US" sz="1100"/>
            </a:p>
          </p:txBody>
        </p:sp>
        <p:sp>
          <p:nvSpPr>
            <p:cNvPr id="24" name="AutoShape 24"/>
            <p:cNvSpPr/>
            <p:nvPr>
              <p:custDataLst>
                <p:tags r:id="rId37"/>
              </p:custDataLst>
            </p:nvPr>
          </p:nvSpPr>
          <p:spPr>
            <a:xfrm>
              <a:off x="11520" y="5000"/>
              <a:ext cx="304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Agent 执行脚本</a:t>
              </a:r>
              <a:endParaRPr lang="en-US" sz="1100"/>
            </a:p>
          </p:txBody>
        </p:sp>
        <p:sp>
          <p:nvSpPr>
            <p:cNvPr id="25" name="AutoShape 25"/>
            <p:cNvSpPr/>
            <p:nvPr>
              <p:custDataLst>
                <p:tags r:id="rId38"/>
              </p:custDataLst>
            </p:nvPr>
          </p:nvSpPr>
          <p:spPr>
            <a:xfrm>
              <a:off x="11820" y="5800"/>
              <a:ext cx="2440" cy="1400"/>
            </a:xfrm>
            <a:prstGeom prst="roundRect">
              <a:avLst>
                <a:gd name="adj" fmla="val 11428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6" name="AutoShape 26"/>
            <p:cNvSpPr/>
            <p:nvPr>
              <p:custDataLst>
                <p:tags r:id="rId39"/>
              </p:custDataLst>
            </p:nvPr>
          </p:nvSpPr>
          <p:spPr>
            <a:xfrm>
              <a:off x="11920" y="6000"/>
              <a:ext cx="224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运行命令：</a:t>
              </a:r>
              <a:b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python scripts/pdf_to_docx.py input.pdf</a:t>
              </a:r>
              <a:endParaRPr lang="en-US" sz="1100"/>
            </a:p>
          </p:txBody>
        </p:sp>
      </p:grpSp>
      <p:grpSp>
        <p:nvGrpSpPr>
          <p:cNvPr id="40" name="组合 39"/>
          <p:cNvGrpSpPr/>
          <p:nvPr>
            <p:custDataLst>
              <p:tags r:id="rId40"/>
            </p:custDataLst>
          </p:nvPr>
        </p:nvGrpSpPr>
        <p:grpSpPr>
          <a:xfrm>
            <a:off x="9499600" y="1393190"/>
            <a:ext cx="1930400" cy="3175000"/>
            <a:chOff x="14960" y="2600"/>
            <a:chExt cx="3040" cy="5000"/>
          </a:xfrm>
        </p:grpSpPr>
        <p:sp>
          <p:nvSpPr>
            <p:cNvPr id="27" name="AutoShape 27"/>
            <p:cNvSpPr/>
            <p:nvPr>
              <p:custDataLst>
                <p:tags r:id="rId41"/>
              </p:custDataLst>
            </p:nvPr>
          </p:nvSpPr>
          <p:spPr>
            <a:xfrm>
              <a:off x="14960" y="2600"/>
              <a:ext cx="3040" cy="5000"/>
            </a:xfrm>
            <a:prstGeom prst="roundRect">
              <a:avLst>
                <a:gd name="adj" fmla="val 789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8" name="Picture 28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6000" y="3000"/>
              <a:ext cx="960" cy="960"/>
            </a:xfrm>
            <a:prstGeom prst="rect">
              <a:avLst/>
            </a:prstGeom>
          </p:spPr>
        </p:pic>
        <p:sp>
          <p:nvSpPr>
            <p:cNvPr id="2" name="AutoShape 29"/>
            <p:cNvSpPr/>
            <p:nvPr>
              <p:custDataLst>
                <p:tags r:id="rId45"/>
              </p:custDataLst>
            </p:nvPr>
          </p:nvSpPr>
          <p:spPr>
            <a:xfrm>
              <a:off x="14960" y="4200"/>
              <a:ext cx="304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05</a:t>
              </a:r>
              <a:endParaRPr lang="en-US" sz="1100"/>
            </a:p>
          </p:txBody>
        </p:sp>
        <p:sp>
          <p:nvSpPr>
            <p:cNvPr id="31" name="AutoShape 30"/>
            <p:cNvSpPr/>
            <p:nvPr>
              <p:custDataLst>
                <p:tags r:id="rId46"/>
              </p:custDataLst>
            </p:nvPr>
          </p:nvSpPr>
          <p:spPr>
            <a:xfrm>
              <a:off x="14960" y="5000"/>
              <a:ext cx="304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获取执行结果</a:t>
              </a:r>
              <a:endParaRPr lang="en-US" sz="1100"/>
            </a:p>
          </p:txBody>
        </p:sp>
        <p:sp>
          <p:nvSpPr>
            <p:cNvPr id="32" name="AutoShape 31"/>
            <p:cNvSpPr/>
            <p:nvPr>
              <p:custDataLst>
                <p:tags r:id="rId47"/>
              </p:custDataLst>
            </p:nvPr>
          </p:nvSpPr>
          <p:spPr>
            <a:xfrm>
              <a:off x="15260" y="5800"/>
              <a:ext cx="2440" cy="1400"/>
            </a:xfrm>
            <a:prstGeom prst="roundRect">
              <a:avLst>
                <a:gd name="adj" fmla="val 11428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3" name="AutoShape 32"/>
            <p:cNvSpPr/>
            <p:nvPr>
              <p:custDataLst>
                <p:tags r:id="rId48"/>
              </p:custDataLst>
            </p:nvPr>
          </p:nvSpPr>
          <p:spPr>
            <a:xfrm>
              <a:off x="15360" y="6000"/>
              <a:ext cx="224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任务完成，将转换后的文件路径返回给用户</a:t>
              </a:r>
              <a:endParaRPr lang="en-US" sz="110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62000" y="4949190"/>
            <a:ext cx="10668000" cy="1016000"/>
            <a:chOff x="1200" y="8200"/>
            <a:chExt cx="16800" cy="1600"/>
          </a:xfrm>
        </p:grpSpPr>
        <p:sp>
          <p:nvSpPr>
            <p:cNvPr id="34" name="AutoShape 33"/>
            <p:cNvSpPr/>
            <p:nvPr/>
          </p:nvSpPr>
          <p:spPr>
            <a:xfrm>
              <a:off x="1200" y="8200"/>
              <a:ext cx="16800" cy="1600"/>
            </a:xfrm>
            <a:prstGeom prst="roundRect">
              <a:avLst>
                <a:gd name="adj" fmla="val 15000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54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1600" y="8520"/>
              <a:ext cx="960" cy="960"/>
            </a:xfrm>
            <a:prstGeom prst="rect">
              <a:avLst/>
            </a:prstGeom>
          </p:spPr>
        </p:pic>
        <p:sp>
          <p:nvSpPr>
            <p:cNvPr id="42" name="AutoShape 35"/>
            <p:cNvSpPr/>
            <p:nvPr/>
          </p:nvSpPr>
          <p:spPr>
            <a:xfrm>
              <a:off x="2800" y="8440"/>
              <a:ext cx="14800" cy="11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核心洞察：</a:t>
              </a:r>
              <a:r>
                <a:rPr lang="en-US" sz="1400" b="0" i="0" u="none" strike="noStrike">
                  <a:solidFill>
                    <a:srgbClr val="FFFFFF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Agent 并不需要自己编写复杂的转换代码，它的核心价值在于根据用户需求进行“决策”和“调度”，将任务分发给最合适的 Skill 去执行。</a:t>
              </a:r>
              <a:endParaRPr lang="en-US" sz="1100"/>
            </a:p>
          </p:txBody>
        </p:sp>
      </p:grpSp>
    </p:spTree>
    <p:custDataLst>
      <p:tags r:id="rId5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5288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本章小结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62000" y="1381760"/>
            <a:ext cx="5207000" cy="4826000"/>
            <a:chOff x="1200" y="2400"/>
            <a:chExt cx="8200" cy="7600"/>
          </a:xfrm>
        </p:grpSpPr>
        <p:sp>
          <p:nvSpPr>
            <p:cNvPr id="3" name="AutoShape 3"/>
            <p:cNvSpPr/>
            <p:nvPr/>
          </p:nvSpPr>
          <p:spPr>
            <a:xfrm>
              <a:off x="1200" y="2400"/>
              <a:ext cx="8200" cy="7600"/>
            </a:xfrm>
            <a:prstGeom prst="roundRect">
              <a:avLst>
                <a:gd name="adj" fmla="val 421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600" y="2800"/>
              <a:ext cx="7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Skill 的核心构成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600" y="3800"/>
              <a:ext cx="7400" cy="1700"/>
            </a:xfrm>
            <a:prstGeom prst="roundRect">
              <a:avLst>
                <a:gd name="adj" fmla="val 14117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0" y="4200"/>
              <a:ext cx="960" cy="96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/>
          </p:nvSpPr>
          <p:spPr>
            <a:xfrm>
              <a:off x="3200" y="4100"/>
              <a:ext cx="5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元数据 (Metadata)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3200" y="4800"/>
              <a:ext cx="5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核心目标：让用户“找得到”需要的服务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600" y="5800"/>
              <a:ext cx="7400" cy="1700"/>
            </a:xfrm>
            <a:prstGeom prst="roundRect">
              <a:avLst>
                <a:gd name="adj" fmla="val 14117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00" y="6200"/>
              <a:ext cx="960" cy="96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3200" y="6100"/>
              <a:ext cx="5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指令 (Instruction)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200" y="6800"/>
              <a:ext cx="5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核心目标：让系统“懂得做”具体的任务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600" y="7800"/>
              <a:ext cx="7400" cy="1700"/>
            </a:xfrm>
            <a:prstGeom prst="roundRect">
              <a:avLst>
                <a:gd name="adj" fmla="val 14117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00" y="8200"/>
              <a:ext cx="960" cy="96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/>
          </p:nvSpPr>
          <p:spPr>
            <a:xfrm>
              <a:off x="3200" y="8100"/>
              <a:ext cx="5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脚本 (Script)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200" y="8800"/>
              <a:ext cx="5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核心目标：让服务真正“做得动”并执行</a:t>
              </a:r>
              <a:endParaRPr lang="en-US" sz="110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223000" y="1381760"/>
            <a:ext cx="5207000" cy="4826000"/>
            <a:chOff x="9800" y="2400"/>
            <a:chExt cx="8200" cy="7600"/>
          </a:xfrm>
        </p:grpSpPr>
        <p:sp>
          <p:nvSpPr>
            <p:cNvPr id="17" name="AutoShape 17"/>
            <p:cNvSpPr/>
            <p:nvPr/>
          </p:nvSpPr>
          <p:spPr>
            <a:xfrm>
              <a:off x="9800" y="2400"/>
              <a:ext cx="8200" cy="7600"/>
            </a:xfrm>
            <a:prstGeom prst="roundRect">
              <a:avLst>
                <a:gd name="adj" fmla="val 421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200" y="2800"/>
              <a:ext cx="7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渐进式披露的核心优势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200" y="3800"/>
              <a:ext cx="7400" cy="2400"/>
            </a:xfrm>
            <a:prstGeom prst="roundRect">
              <a:avLst>
                <a:gd name="adj" fmla="val 10000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00" y="4300"/>
              <a:ext cx="1200" cy="1200"/>
            </a:xfrm>
            <a:prstGeom prst="rect">
              <a:avLst/>
            </a:prstGeom>
          </p:spPr>
        </p:pic>
        <p:sp>
          <p:nvSpPr>
            <p:cNvPr id="21" name="AutoShape 21"/>
            <p:cNvSpPr/>
            <p:nvPr/>
          </p:nvSpPr>
          <p:spPr>
            <a:xfrm>
              <a:off x="12200" y="4200"/>
              <a:ext cx="5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像“翻字典”一样高效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2200" y="5000"/>
              <a:ext cx="5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按需查找，聚焦当前任务。用户只获取当下需要的信息，精准且无负担。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0200" y="6600"/>
              <a:ext cx="7400" cy="2400"/>
            </a:xfrm>
            <a:prstGeom prst="roundRect">
              <a:avLst>
                <a:gd name="adj" fmla="val 10000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00" y="7100"/>
              <a:ext cx="1200" cy="1200"/>
            </a:xfrm>
            <a:prstGeom prst="rect">
              <a:avLst/>
            </a:prstGeom>
          </p:spPr>
        </p:pic>
        <p:sp>
          <p:nvSpPr>
            <p:cNvPr id="25" name="AutoShape 25"/>
            <p:cNvSpPr/>
            <p:nvPr/>
          </p:nvSpPr>
          <p:spPr>
            <a:xfrm>
              <a:off x="12200" y="7000"/>
              <a:ext cx="5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拒绝“背词典”式记忆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2200" y="7800"/>
              <a:ext cx="5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避免一次性灌输海量信息。极大地降低了认知门槛，提升了用户的使用体验。</a:t>
              </a:r>
              <a:endParaRPr lang="en-US" sz="1100"/>
            </a:p>
          </p:txBody>
        </p: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AutoShape 2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实操指南 — 从使用到“调教”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>
                    <a:alpha val="6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PRACTICAL </a:t>
            </a: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GUIDE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6575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5288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使用篇：如何让 Agent 拥有“超能力”？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4"/>
            </p:custDataLst>
          </p:nvPr>
        </p:nvGrpSpPr>
        <p:grpSpPr>
          <a:xfrm>
            <a:off x="762000" y="1778000"/>
            <a:ext cx="5207000" cy="3683000"/>
            <a:chOff x="1200" y="2800"/>
            <a:chExt cx="8200" cy="58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800"/>
              <a:ext cx="8200" cy="5800"/>
            </a:xfrm>
            <a:prstGeom prst="roundRect">
              <a:avLst>
                <a:gd name="adj" fmla="val 5517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63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6"/>
              </p:custDataLst>
            </p:nvPr>
          </p:nvSpPr>
          <p:spPr>
            <a:xfrm>
              <a:off x="1600" y="3400"/>
              <a:ext cx="1800" cy="1800"/>
            </a:xfrm>
            <a:prstGeom prst="ellipse">
              <a:avLst/>
            </a:prstGeom>
            <a:solidFill>
              <a:srgbClr val="38A169">
                <a:alpha val="1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00" y="3900"/>
              <a:ext cx="800" cy="80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>
              <p:custDataLst>
                <p:tags r:id="rId10"/>
              </p:custDataLst>
            </p:nvPr>
          </p:nvSpPr>
          <p:spPr>
            <a:xfrm>
              <a:off x="3800" y="3400"/>
              <a:ext cx="52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STEP 01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11"/>
              </p:custDataLst>
            </p:nvPr>
          </p:nvSpPr>
          <p:spPr>
            <a:xfrm>
              <a:off x="3800" y="4400"/>
              <a:ext cx="5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寻找 Skills 核心市场</a:t>
              </a:r>
              <a:endParaRPr lang="en-US" sz="1100"/>
            </a:p>
          </p:txBody>
        </p:sp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3800" y="5400"/>
              <a:ext cx="5200" cy="2200"/>
            </a:xfrm>
            <a:prstGeom prst="roundRect">
              <a:avLst>
                <a:gd name="adj" fmla="val 7272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>
              <p:custDataLst>
                <p:tags r:id="rId13"/>
              </p:custDataLst>
            </p:nvPr>
          </p:nvSpPr>
          <p:spPr>
            <a:xfrm>
              <a:off x="4200" y="5800"/>
              <a:ext cx="4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sz="1200" b="1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官方仓库：</a:t>
              </a: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直接访问 Anthropic 官方 GitHub 技能库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sz="1200" b="1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社区生态：</a:t>
              </a: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OpenClaw、Cursor 插件市场等活跃社区</a:t>
              </a:r>
              <a:endPara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6223000" y="1778000"/>
            <a:ext cx="5207000" cy="3683000"/>
            <a:chOff x="9800" y="2800"/>
            <a:chExt cx="8200" cy="5800"/>
          </a:xfrm>
        </p:grpSpPr>
        <p:sp>
          <p:nvSpPr>
            <p:cNvPr id="10" name="AutoShape 10"/>
            <p:cNvSpPr/>
            <p:nvPr>
              <p:custDataLst>
                <p:tags r:id="rId15"/>
              </p:custDataLst>
            </p:nvPr>
          </p:nvSpPr>
          <p:spPr>
            <a:xfrm>
              <a:off x="9800" y="2800"/>
              <a:ext cx="8200" cy="5800"/>
            </a:xfrm>
            <a:prstGeom prst="roundRect">
              <a:avLst>
                <a:gd name="adj" fmla="val 5517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63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>
              <p:custDataLst>
                <p:tags r:id="rId16"/>
              </p:custDataLst>
            </p:nvPr>
          </p:nvSpPr>
          <p:spPr>
            <a:xfrm>
              <a:off x="10200" y="3400"/>
              <a:ext cx="1800" cy="1800"/>
            </a:xfrm>
            <a:prstGeom prst="ellipse">
              <a:avLst/>
            </a:prstGeom>
            <a:solidFill>
              <a:srgbClr val="38A169">
                <a:alpha val="1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2" name="Picture 12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700" y="3900"/>
              <a:ext cx="800" cy="800"/>
            </a:xfrm>
            <a:prstGeom prst="rect">
              <a:avLst/>
            </a:prstGeom>
          </p:spPr>
        </p:pic>
        <p:sp>
          <p:nvSpPr>
            <p:cNvPr id="13" name="AutoShape 13"/>
            <p:cNvSpPr/>
            <p:nvPr>
              <p:custDataLst>
                <p:tags r:id="rId20"/>
              </p:custDataLst>
            </p:nvPr>
          </p:nvSpPr>
          <p:spPr>
            <a:xfrm>
              <a:off x="12400" y="3400"/>
              <a:ext cx="52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STEP 02</a:t>
              </a:r>
              <a:endParaRPr lang="en-US" sz="1100"/>
            </a:p>
          </p:txBody>
        </p:sp>
        <p:sp>
          <p:nvSpPr>
            <p:cNvPr id="14" name="AutoShape 14"/>
            <p:cNvSpPr/>
            <p:nvPr>
              <p:custDataLst>
                <p:tags r:id="rId21"/>
              </p:custDataLst>
            </p:nvPr>
          </p:nvSpPr>
          <p:spPr>
            <a:xfrm>
              <a:off x="12400" y="4400"/>
              <a:ext cx="5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下载 Skill 一键启用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22"/>
              </p:custDataLst>
            </p:nvPr>
          </p:nvSpPr>
          <p:spPr>
            <a:xfrm>
              <a:off x="12400" y="5400"/>
              <a:ext cx="5200" cy="2200"/>
            </a:xfrm>
            <a:prstGeom prst="roundRect">
              <a:avLst>
                <a:gd name="adj" fmla="val 7272"/>
              </a:avLst>
            </a:prstGeom>
            <a:solidFill>
              <a:srgbClr val="2D374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>
              <p:custDataLst>
                <p:tags r:id="rId23"/>
              </p:custDataLst>
            </p:nvPr>
          </p:nvSpPr>
          <p:spPr>
            <a:xfrm>
              <a:off x="12800" y="5800"/>
              <a:ext cx="4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sz="1200" b="1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放置目录：</a:t>
              </a: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将下载文件夹拖入项目的 .claude/skills/ 目录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</a:t>
              </a:r>
              <a:r>
                <a:rPr lang="en-US" sz="1200" b="1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自动加载：</a:t>
              </a: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Agent 启动时会自动扫描并加载新技能</a:t>
              </a:r>
              <a:endPara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5288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两种调用模式：显式 vs 隐式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4"/>
            </p:custDataLst>
          </p:nvPr>
        </p:nvGrpSpPr>
        <p:grpSpPr>
          <a:xfrm>
            <a:off x="762000" y="1588770"/>
            <a:ext cx="5207000" cy="4318000"/>
            <a:chOff x="1200" y="2600"/>
            <a:chExt cx="8200" cy="68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600"/>
              <a:ext cx="8200" cy="6800"/>
            </a:xfrm>
            <a:prstGeom prst="roundRect">
              <a:avLst>
                <a:gd name="adj" fmla="val 470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6"/>
              </p:custDataLst>
            </p:nvPr>
          </p:nvSpPr>
          <p:spPr>
            <a:xfrm>
              <a:off x="1600" y="3000"/>
              <a:ext cx="1280" cy="12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20" y="3320"/>
              <a:ext cx="640" cy="64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>
              <p:custDataLst>
                <p:tags r:id="rId10"/>
              </p:custDataLst>
            </p:nvPr>
          </p:nvSpPr>
          <p:spPr>
            <a:xfrm>
              <a:off x="3200" y="3200"/>
              <a:ext cx="54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2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显式调用 (Explicit)</a:t>
              </a:r>
              <a:endParaRPr lang="en-US" sz="1100"/>
            </a:p>
          </p:txBody>
        </p:sp>
        <p:cxnSp>
          <p:nvCxnSpPr>
            <p:cNvPr id="7" name="Connector 7"/>
            <p:cNvCxnSpPr/>
            <p:nvPr>
              <p:custDataLst>
                <p:tags r:id="rId11"/>
              </p:custDataLst>
            </p:nvPr>
          </p:nvCxnSpPr>
          <p:spPr>
            <a:xfrm rot="-9291">
              <a:off x="1600" y="4590"/>
              <a:ext cx="7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1809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1600" y="5000"/>
              <a:ext cx="74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9AE6B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▍核心逻辑：用户主导，指令明确</a:t>
              </a:r>
              <a:endParaRPr lang="en-US" sz="1100"/>
            </a:p>
          </p:txBody>
        </p:sp>
        <p:sp>
          <p:nvSpPr>
            <p:cNvPr id="9" name="AutoShape 9"/>
            <p:cNvSpPr/>
            <p:nvPr>
              <p:custDataLst>
                <p:tags r:id="rId13"/>
              </p:custDataLst>
            </p:nvPr>
          </p:nvSpPr>
          <p:spPr>
            <a:xfrm>
              <a:off x="1600" y="5800"/>
              <a:ext cx="7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用户通过特定的指令前缀（如 @符号）直接告诉 Agent 需要调用哪个 Skill，系统接收到明确的信号后立即执行。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14"/>
              </p:custDataLst>
            </p:nvPr>
          </p:nvSpPr>
          <p:spPr>
            <a:xfrm>
              <a:off x="1600" y="7400"/>
              <a:ext cx="7400" cy="1600"/>
            </a:xfrm>
            <a:prstGeom prst="roundRect">
              <a:avLst>
                <a:gd name="adj" fmla="val 15000"/>
              </a:avLst>
            </a:prstGeom>
            <a:solidFill>
              <a:srgbClr val="1A202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900" y="7600"/>
              <a:ext cx="6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48BB7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💡 典型指令示例</a:t>
              </a:r>
              <a:endParaRPr lang="en-US" sz="1100"/>
            </a:p>
          </p:txBody>
        </p:sp>
        <p:sp>
          <p:nvSpPr>
            <p:cNvPr id="12" name="AutoShape 12"/>
            <p:cNvSpPr/>
            <p:nvPr>
              <p:custDataLst>
                <p:tags r:id="rId15"/>
              </p:custDataLst>
            </p:nvPr>
          </p:nvSpPr>
          <p:spPr>
            <a:xfrm>
              <a:off x="1900" y="8200"/>
              <a:ext cx="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7FAF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`@pdf 帮我把这份合同文档转为高清图片格式`</a:t>
              </a:r>
              <a:endParaRPr lang="en-US" sz="1100"/>
            </a:p>
          </p:txBody>
        </p:sp>
      </p:grpSp>
      <p:grpSp>
        <p:nvGrpSpPr>
          <p:cNvPr id="24" name="组合 23"/>
          <p:cNvGrpSpPr/>
          <p:nvPr>
            <p:custDataLst>
              <p:tags r:id="rId16"/>
            </p:custDataLst>
          </p:nvPr>
        </p:nvGrpSpPr>
        <p:grpSpPr>
          <a:xfrm>
            <a:off x="6223000" y="1588770"/>
            <a:ext cx="5207000" cy="4318000"/>
            <a:chOff x="9800" y="2600"/>
            <a:chExt cx="8200" cy="6800"/>
          </a:xfrm>
        </p:grpSpPr>
        <p:sp>
          <p:nvSpPr>
            <p:cNvPr id="13" name="AutoShape 13"/>
            <p:cNvSpPr/>
            <p:nvPr>
              <p:custDataLst>
                <p:tags r:id="rId17"/>
              </p:custDataLst>
            </p:nvPr>
          </p:nvSpPr>
          <p:spPr>
            <a:xfrm>
              <a:off x="9800" y="2600"/>
              <a:ext cx="8200" cy="6800"/>
            </a:xfrm>
            <a:prstGeom prst="roundRect">
              <a:avLst>
                <a:gd name="adj" fmla="val 470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18"/>
              </p:custDataLst>
            </p:nvPr>
          </p:nvSpPr>
          <p:spPr>
            <a:xfrm>
              <a:off x="10200" y="3000"/>
              <a:ext cx="1280" cy="12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5" name="Picture 15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520" y="3320"/>
              <a:ext cx="640" cy="640"/>
            </a:xfrm>
            <a:prstGeom prst="rect">
              <a:avLst/>
            </a:prstGeom>
          </p:spPr>
        </p:pic>
        <p:sp>
          <p:nvSpPr>
            <p:cNvPr id="16" name="AutoShape 16"/>
            <p:cNvSpPr/>
            <p:nvPr>
              <p:custDataLst>
                <p:tags r:id="rId22"/>
              </p:custDataLst>
            </p:nvPr>
          </p:nvSpPr>
          <p:spPr>
            <a:xfrm>
              <a:off x="11800" y="3200"/>
              <a:ext cx="54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2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隐式调用 (Implicit)</a:t>
              </a:r>
              <a:endParaRPr lang="en-US" sz="1100"/>
            </a:p>
          </p:txBody>
        </p:sp>
        <p:cxnSp>
          <p:nvCxnSpPr>
            <p:cNvPr id="17" name="Connector 17"/>
            <p:cNvCxnSpPr/>
            <p:nvPr>
              <p:custDataLst>
                <p:tags r:id="rId23"/>
              </p:custDataLst>
            </p:nvPr>
          </p:nvCxnSpPr>
          <p:spPr>
            <a:xfrm rot="-9291">
              <a:off x="10200" y="4590"/>
              <a:ext cx="7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71809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AutoShape 18"/>
            <p:cNvSpPr/>
            <p:nvPr>
              <p:custDataLst>
                <p:tags r:id="rId24"/>
              </p:custDataLst>
            </p:nvPr>
          </p:nvSpPr>
          <p:spPr>
            <a:xfrm>
              <a:off x="10200" y="5000"/>
              <a:ext cx="74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9AE6B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▍核心逻辑：Agent 主导，智能匹配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5"/>
              </p:custDataLst>
            </p:nvPr>
          </p:nvSpPr>
          <p:spPr>
            <a:xfrm>
              <a:off x="10200" y="5800"/>
              <a:ext cx="7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Agent 自动解析用户的自然语言需求，结合 Skill 的元数据描述（功能、参数等）进行意图匹配，自动激活最合适的 Skill 来解决问题。</a:t>
              </a:r>
              <a:endParaRPr lang="en-US" sz="1100"/>
            </a:p>
          </p:txBody>
        </p:sp>
        <p:sp>
          <p:nvSpPr>
            <p:cNvPr id="20" name="AutoShape 20"/>
            <p:cNvSpPr/>
            <p:nvPr>
              <p:custDataLst>
                <p:tags r:id="rId26"/>
              </p:custDataLst>
            </p:nvPr>
          </p:nvSpPr>
          <p:spPr>
            <a:xfrm>
              <a:off x="10200" y="7400"/>
              <a:ext cx="7400" cy="1600"/>
            </a:xfrm>
            <a:prstGeom prst="roundRect">
              <a:avLst>
                <a:gd name="adj" fmla="val 15000"/>
              </a:avLst>
            </a:prstGeom>
            <a:solidFill>
              <a:srgbClr val="1A202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0500" y="7600"/>
              <a:ext cx="68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48BB7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💡 自然语言交互示例</a:t>
              </a:r>
              <a:endParaRPr lang="en-US" sz="1100"/>
            </a:p>
          </p:txBody>
        </p:sp>
        <p:sp>
          <p:nvSpPr>
            <p:cNvPr id="22" name="AutoShape 22"/>
            <p:cNvSpPr/>
            <p:nvPr>
              <p:custDataLst>
                <p:tags r:id="rId27"/>
              </p:custDataLst>
            </p:nvPr>
          </p:nvSpPr>
          <p:spPr>
            <a:xfrm>
              <a:off x="10500" y="8200"/>
              <a:ext cx="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7FAF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用户：“这份合同对方没法编辑，帮我处理一下” → 自动激活</a:t>
              </a:r>
              <a:r>
                <a:rPr lang="en-US" sz="1200" b="1" i="0" u="none" strike="noStrike">
                  <a:solidFill>
                    <a:srgbClr val="F7FAF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`pdf`</a:t>
              </a:r>
              <a:r>
                <a:rPr lang="en-US" sz="1200" b="0" i="0" u="none" strike="noStrike">
                  <a:solidFill>
                    <a:srgbClr val="F7FAF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Skill</a:t>
              </a:r>
              <a:endParaRPr lang="en-US" sz="1100"/>
            </a:p>
          </p:txBody>
        </p:sp>
      </p:grpSp>
    </p:spTree>
    <p:custDataLst>
      <p:tags r:id="rId2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69646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开发篇：从零写一个“测试报告分析”Skill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762000" y="1397000"/>
            <a:ext cx="10668000" cy="1143000"/>
            <a:chOff x="1200" y="2200"/>
            <a:chExt cx="16800" cy="1800"/>
          </a:xfrm>
        </p:grpSpPr>
        <p:sp>
          <p:nvSpPr>
            <p:cNvPr id="3" name="AutoShape 3"/>
            <p:cNvSpPr/>
            <p:nvPr/>
          </p:nvSpPr>
          <p:spPr>
            <a:xfrm>
              <a:off x="1200" y="2200"/>
              <a:ext cx="16800" cy="1800"/>
            </a:xfrm>
            <a:prstGeom prst="roundRect">
              <a:avLst>
                <a:gd name="adj" fmla="val 1333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600" y="2500"/>
              <a:ext cx="1200" cy="1200"/>
            </a:xfrm>
            <a:prstGeom prst="ellipse">
              <a:avLst/>
            </a:prstGeom>
            <a:solidFill>
              <a:srgbClr val="38A169">
                <a:alpha val="2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00" y="2800"/>
              <a:ext cx="600" cy="60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/>
          </p:nvSpPr>
          <p:spPr>
            <a:xfrm>
              <a:off x="3200" y="2500"/>
              <a:ext cx="1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核心需求：自动化测试报告分析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3200" y="3200"/>
              <a:ext cx="1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每日自动解析 JUnit XML 报告，自动计算并输出通过率、失败用例详情及 Top3 崩溃堆栈信息。</a:t>
              </a:r>
              <a:endParaRPr lang="en-US" sz="1100"/>
            </a:p>
          </p:txBody>
        </p:sp>
      </p:grpSp>
      <p:grpSp>
        <p:nvGrpSpPr>
          <p:cNvPr id="2" name="组合 1"/>
          <p:cNvGrpSpPr/>
          <p:nvPr>
            <p:custDataLst>
              <p:tags r:id="rId6"/>
            </p:custDataLst>
          </p:nvPr>
        </p:nvGrpSpPr>
        <p:grpSpPr>
          <a:xfrm>
            <a:off x="762000" y="2794000"/>
            <a:ext cx="5207000" cy="1397000"/>
            <a:chOff x="1200" y="4400"/>
            <a:chExt cx="8200" cy="2200"/>
          </a:xfrm>
        </p:grpSpPr>
        <p:sp>
          <p:nvSpPr>
            <p:cNvPr id="8" name="AutoShape 8"/>
            <p:cNvSpPr/>
            <p:nvPr>
              <p:custDataLst>
                <p:tags r:id="rId7"/>
              </p:custDataLst>
            </p:nvPr>
          </p:nvSpPr>
          <p:spPr>
            <a:xfrm>
              <a:off x="1200" y="4400"/>
              <a:ext cx="8200" cy="2200"/>
            </a:xfrm>
            <a:prstGeom prst="roundRect">
              <a:avLst>
                <a:gd name="adj" fmla="val 10909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1600" y="4700"/>
              <a:ext cx="1600" cy="16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00" y="5200"/>
              <a:ext cx="600" cy="60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>
              <p:custDataLst>
                <p:tags r:id="rId12"/>
              </p:custDataLst>
            </p:nvPr>
          </p:nvSpPr>
          <p:spPr>
            <a:xfrm>
              <a:off x="3600" y="4700"/>
              <a:ext cx="5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Step 01 · 创建项目目录</a:t>
              </a:r>
              <a:endParaRPr lang="en-US" sz="1100"/>
            </a:p>
          </p:txBody>
        </p:sp>
        <p:sp>
          <p:nvSpPr>
            <p:cNvPr id="12" name="AutoShape 12"/>
            <p:cNvSpPr/>
            <p:nvPr>
              <p:custDataLst>
                <p:tags r:id="rId13"/>
              </p:custDataLst>
            </p:nvPr>
          </p:nvSpPr>
          <p:spPr>
            <a:xfrm>
              <a:off x="3600" y="5400"/>
              <a:ext cx="52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初始化项目根目录：</a:t>
              </a:r>
              <a:r>
                <a:rPr lang="en-US" sz="1200" b="1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test-report-analyzer/</a:t>
              </a: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，作为所有代码和配置的容器。</a:t>
              </a:r>
              <a:endParaRPr lang="en-US" sz="1100"/>
            </a:p>
          </p:txBody>
        </p:sp>
      </p:grpSp>
      <p:grpSp>
        <p:nvGrpSpPr>
          <p:cNvPr id="13" name="组合 12"/>
          <p:cNvGrpSpPr/>
          <p:nvPr>
            <p:custDataLst>
              <p:tags r:id="rId14"/>
            </p:custDataLst>
          </p:nvPr>
        </p:nvGrpSpPr>
        <p:grpSpPr>
          <a:xfrm>
            <a:off x="6160135" y="2794000"/>
            <a:ext cx="5269230" cy="1397000"/>
            <a:chOff x="9701" y="4400"/>
            <a:chExt cx="8298" cy="2200"/>
          </a:xfrm>
        </p:grpSpPr>
        <p:sp>
          <p:nvSpPr>
            <p:cNvPr id="14" name="AutoShape 13"/>
            <p:cNvSpPr/>
            <p:nvPr>
              <p:custDataLst>
                <p:tags r:id="rId15"/>
              </p:custDataLst>
            </p:nvPr>
          </p:nvSpPr>
          <p:spPr>
            <a:xfrm>
              <a:off x="9701" y="4400"/>
              <a:ext cx="8299" cy="2200"/>
            </a:xfrm>
            <a:prstGeom prst="roundRect">
              <a:avLst>
                <a:gd name="adj" fmla="val 10909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5" name="AutoShape 14"/>
            <p:cNvSpPr/>
            <p:nvPr>
              <p:custDataLst>
                <p:tags r:id="rId16"/>
              </p:custDataLst>
            </p:nvPr>
          </p:nvSpPr>
          <p:spPr>
            <a:xfrm>
              <a:off x="10181" y="4700"/>
              <a:ext cx="1619" cy="16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93" y="5193"/>
              <a:ext cx="607" cy="607"/>
            </a:xfrm>
            <a:prstGeom prst="rect">
              <a:avLst/>
            </a:prstGeom>
          </p:spPr>
        </p:pic>
        <p:sp>
          <p:nvSpPr>
            <p:cNvPr id="17" name="AutoShape 16"/>
            <p:cNvSpPr/>
            <p:nvPr>
              <p:custDataLst>
                <p:tags r:id="rId20"/>
              </p:custDataLst>
            </p:nvPr>
          </p:nvSpPr>
          <p:spPr>
            <a:xfrm>
              <a:off x="12137" y="4700"/>
              <a:ext cx="5263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Step 02 · 定义技能规范 (SKILL.md)</a:t>
              </a:r>
              <a:endParaRPr lang="en-US" sz="1100"/>
            </a:p>
          </p:txBody>
        </p:sp>
        <p:sp>
          <p:nvSpPr>
            <p:cNvPr id="18" name="AutoShape 17"/>
            <p:cNvSpPr/>
            <p:nvPr>
              <p:custDataLst>
                <p:tags r:id="rId21"/>
              </p:custDataLst>
            </p:nvPr>
          </p:nvSpPr>
          <p:spPr>
            <a:xfrm>
              <a:off x="12137" y="5400"/>
              <a:ext cx="5263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明确输入源（XML路径）、输出数据结构（JSON）及边界错误处理逻辑。</a:t>
              </a:r>
              <a:endParaRPr lang="en-US" sz="1100"/>
            </a:p>
          </p:txBody>
        </p:sp>
      </p:grpSp>
      <p:grpSp>
        <p:nvGrpSpPr>
          <p:cNvPr id="31" name="组合 30"/>
          <p:cNvGrpSpPr/>
          <p:nvPr>
            <p:custDataLst>
              <p:tags r:id="rId22"/>
            </p:custDataLst>
          </p:nvPr>
        </p:nvGrpSpPr>
        <p:grpSpPr>
          <a:xfrm>
            <a:off x="762000" y="4445000"/>
            <a:ext cx="5207000" cy="1397000"/>
            <a:chOff x="1200" y="7000"/>
            <a:chExt cx="8200" cy="2200"/>
          </a:xfrm>
        </p:grpSpPr>
        <p:sp>
          <p:nvSpPr>
            <p:cNvPr id="19" name="AutoShape 18"/>
            <p:cNvSpPr/>
            <p:nvPr>
              <p:custDataLst>
                <p:tags r:id="rId23"/>
              </p:custDataLst>
            </p:nvPr>
          </p:nvSpPr>
          <p:spPr>
            <a:xfrm>
              <a:off x="1200" y="7000"/>
              <a:ext cx="8200" cy="2200"/>
            </a:xfrm>
            <a:prstGeom prst="roundRect">
              <a:avLst>
                <a:gd name="adj" fmla="val 10909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0" name="AutoShape 19"/>
            <p:cNvSpPr/>
            <p:nvPr>
              <p:custDataLst>
                <p:tags r:id="rId24"/>
              </p:custDataLst>
            </p:nvPr>
          </p:nvSpPr>
          <p:spPr>
            <a:xfrm>
              <a:off x="1600" y="7300"/>
              <a:ext cx="1600" cy="16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1" name="Picture 20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2100" y="7800"/>
              <a:ext cx="600" cy="600"/>
            </a:xfrm>
            <a:prstGeom prst="rect">
              <a:avLst/>
            </a:prstGeom>
          </p:spPr>
        </p:pic>
        <p:sp>
          <p:nvSpPr>
            <p:cNvPr id="22" name="AutoShape 21"/>
            <p:cNvSpPr/>
            <p:nvPr>
              <p:custDataLst>
                <p:tags r:id="rId28"/>
              </p:custDataLst>
            </p:nvPr>
          </p:nvSpPr>
          <p:spPr>
            <a:xfrm>
              <a:off x="3600" y="7300"/>
              <a:ext cx="5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Step 03 · 编写解析脚本</a:t>
              </a:r>
              <a:endParaRPr lang="en-US" sz="1100"/>
            </a:p>
          </p:txBody>
        </p:sp>
        <p:sp>
          <p:nvSpPr>
            <p:cNvPr id="23" name="AutoShape 22"/>
            <p:cNvSpPr/>
            <p:nvPr>
              <p:custDataLst>
                <p:tags r:id="rId29"/>
              </p:custDataLst>
            </p:nvPr>
          </p:nvSpPr>
          <p:spPr>
            <a:xfrm>
              <a:off x="3600" y="8000"/>
              <a:ext cx="52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开发</a:t>
              </a:r>
              <a:r>
                <a:rPr lang="en-US" sz="1200" b="1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scripts/parse_junit.py</a:t>
              </a: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，实现XML解析、通过率计算与堆栈提取。</a:t>
              </a:r>
              <a:endParaRPr lang="en-US" sz="1100"/>
            </a:p>
          </p:txBody>
        </p: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>
            <a:off x="6160135" y="4445000"/>
            <a:ext cx="5269230" cy="1397000"/>
            <a:chOff x="9701" y="7000"/>
            <a:chExt cx="8298" cy="2200"/>
          </a:xfrm>
        </p:grpSpPr>
        <p:sp>
          <p:nvSpPr>
            <p:cNvPr id="24" name="AutoShape 23"/>
            <p:cNvSpPr/>
            <p:nvPr>
              <p:custDataLst>
                <p:tags r:id="rId31"/>
              </p:custDataLst>
            </p:nvPr>
          </p:nvSpPr>
          <p:spPr>
            <a:xfrm>
              <a:off x="9701" y="7000"/>
              <a:ext cx="8299" cy="2200"/>
            </a:xfrm>
            <a:prstGeom prst="roundRect">
              <a:avLst>
                <a:gd name="adj" fmla="val 10909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5" name="AutoShape 24"/>
            <p:cNvSpPr/>
            <p:nvPr>
              <p:custDataLst>
                <p:tags r:id="rId32"/>
              </p:custDataLst>
            </p:nvPr>
          </p:nvSpPr>
          <p:spPr>
            <a:xfrm>
              <a:off x="10181" y="7300"/>
              <a:ext cx="1619" cy="16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6" name="Picture 25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693" y="7793"/>
              <a:ext cx="607" cy="607"/>
            </a:xfrm>
            <a:prstGeom prst="rect">
              <a:avLst/>
            </a:prstGeom>
          </p:spPr>
        </p:pic>
        <p:sp>
          <p:nvSpPr>
            <p:cNvPr id="27" name="AutoShape 26"/>
            <p:cNvSpPr/>
            <p:nvPr>
              <p:custDataLst>
                <p:tags r:id="rId36"/>
              </p:custDataLst>
            </p:nvPr>
          </p:nvSpPr>
          <p:spPr>
            <a:xfrm>
              <a:off x="12137" y="7300"/>
              <a:ext cx="5263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Step 04 · 技能集成测试</a:t>
              </a:r>
              <a:endParaRPr lang="en-US" sz="1100"/>
            </a:p>
          </p:txBody>
        </p:sp>
        <p:sp>
          <p:nvSpPr>
            <p:cNvPr id="33" name="AutoShape 27"/>
            <p:cNvSpPr/>
            <p:nvPr>
              <p:custDataLst>
                <p:tags r:id="rId37"/>
              </p:custDataLst>
            </p:nvPr>
          </p:nvSpPr>
          <p:spPr>
            <a:xfrm>
              <a:off x="12137" y="8000"/>
              <a:ext cx="5263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将 Skill 完整目录交付 Agent，使用真实的历史测试报告进行调用验证。</a:t>
              </a:r>
              <a:endParaRPr lang="en-US" sz="1100"/>
            </a:p>
          </p:txBody>
        </p:sp>
      </p:grpSp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5288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编写高质量 SKILL.md 的三条铁律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762000" y="1624330"/>
            <a:ext cx="3302000" cy="4318000"/>
            <a:chOff x="1200" y="2600"/>
            <a:chExt cx="5200" cy="68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54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6"/>
              </p:custDataLst>
            </p:nvPr>
          </p:nvSpPr>
          <p:spPr>
            <a:xfrm>
              <a:off x="2960" y="3200"/>
              <a:ext cx="1680" cy="16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80" y="3520"/>
              <a:ext cx="1040" cy="104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>
              <p:custDataLst>
                <p:tags r:id="rId10"/>
              </p:custDataLst>
            </p:nvPr>
          </p:nvSpPr>
          <p:spPr>
            <a:xfrm>
              <a:off x="1600" y="5400"/>
              <a:ext cx="44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触发条件要精准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11"/>
              </p:custDataLst>
            </p:nvPr>
          </p:nvSpPr>
          <p:spPr>
            <a:xfrm>
              <a:off x="3200" y="6400"/>
              <a:ext cx="1200" cy="80"/>
            </a:xfrm>
            <a:prstGeom prst="roundRect">
              <a:avLst>
                <a:gd name="adj" fmla="val 0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1600" y="70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写清楚“当用户提到 JUnit XML 且需要计算通过率时调用”，明确模型的触发时机。</a:t>
              </a:r>
              <a:endParaRPr lang="en-US" sz="1100"/>
            </a:p>
          </p:txBody>
        </p:sp>
      </p:grpSp>
      <p:grpSp>
        <p:nvGrpSpPr>
          <p:cNvPr id="22" name="组合 21"/>
          <p:cNvGrpSpPr/>
          <p:nvPr>
            <p:custDataLst>
              <p:tags r:id="rId13"/>
            </p:custDataLst>
          </p:nvPr>
        </p:nvGrpSpPr>
        <p:grpSpPr>
          <a:xfrm>
            <a:off x="4445000" y="1624330"/>
            <a:ext cx="3302000" cy="4318000"/>
            <a:chOff x="7000" y="2600"/>
            <a:chExt cx="5200" cy="6800"/>
          </a:xfrm>
        </p:grpSpPr>
        <p:sp>
          <p:nvSpPr>
            <p:cNvPr id="9" name="AutoShape 9"/>
            <p:cNvSpPr/>
            <p:nvPr>
              <p:custDataLst>
                <p:tags r:id="rId14"/>
              </p:custDataLst>
            </p:nvPr>
          </p:nvSpPr>
          <p:spPr>
            <a:xfrm>
              <a:off x="70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54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>
              <p:custDataLst>
                <p:tags r:id="rId15"/>
              </p:custDataLst>
            </p:nvPr>
          </p:nvSpPr>
          <p:spPr>
            <a:xfrm>
              <a:off x="8760" y="3200"/>
              <a:ext cx="1680" cy="16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1" name="Picture 11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080" y="3520"/>
              <a:ext cx="1040" cy="104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>
              <p:custDataLst>
                <p:tags r:id="rId19"/>
              </p:custDataLst>
            </p:nvPr>
          </p:nvSpPr>
          <p:spPr>
            <a:xfrm>
              <a:off x="7400" y="5400"/>
              <a:ext cx="44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边界要写死</a:t>
              </a:r>
              <a:endParaRPr lang="en-US" sz="1100"/>
            </a:p>
          </p:txBody>
        </p:sp>
        <p:sp>
          <p:nvSpPr>
            <p:cNvPr id="13" name="AutoShape 13"/>
            <p:cNvSpPr/>
            <p:nvPr>
              <p:custDataLst>
                <p:tags r:id="rId20"/>
              </p:custDataLst>
            </p:nvPr>
          </p:nvSpPr>
          <p:spPr>
            <a:xfrm>
              <a:off x="9000" y="6400"/>
              <a:ext cx="1200" cy="80"/>
            </a:xfrm>
            <a:prstGeom prst="roundRect">
              <a:avLst>
                <a:gd name="adj" fmla="val 0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21"/>
              </p:custDataLst>
            </p:nvPr>
          </p:nvSpPr>
          <p:spPr>
            <a:xfrm>
              <a:off x="7400" y="70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明确网络超时重试3次、文件不存在报错、SQL只允许SELECT语句等规则，规避异常风险。</a:t>
              </a:r>
              <a:endParaRPr lang="en-US" sz="1100"/>
            </a:p>
          </p:txBody>
        </p:sp>
      </p:grpSp>
      <p:grpSp>
        <p:nvGrpSpPr>
          <p:cNvPr id="23" name="组合 22"/>
          <p:cNvGrpSpPr/>
          <p:nvPr>
            <p:custDataLst>
              <p:tags r:id="rId22"/>
            </p:custDataLst>
          </p:nvPr>
        </p:nvGrpSpPr>
        <p:grpSpPr>
          <a:xfrm>
            <a:off x="8128000" y="1624330"/>
            <a:ext cx="3302000" cy="4318000"/>
            <a:chOff x="12800" y="2600"/>
            <a:chExt cx="5200" cy="6800"/>
          </a:xfrm>
        </p:grpSpPr>
        <p:sp>
          <p:nvSpPr>
            <p:cNvPr id="15" name="AutoShape 15"/>
            <p:cNvSpPr/>
            <p:nvPr>
              <p:custDataLst>
                <p:tags r:id="rId23"/>
              </p:custDataLst>
            </p:nvPr>
          </p:nvSpPr>
          <p:spPr>
            <a:xfrm>
              <a:off x="128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54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>
              <p:custDataLst>
                <p:tags r:id="rId24"/>
              </p:custDataLst>
            </p:nvPr>
          </p:nvSpPr>
          <p:spPr>
            <a:xfrm>
              <a:off x="14560" y="3200"/>
              <a:ext cx="1680" cy="16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7" name="Picture 1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4880" y="3520"/>
              <a:ext cx="1040" cy="104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>
              <p:custDataLst>
                <p:tags r:id="rId28"/>
              </p:custDataLst>
            </p:nvPr>
          </p:nvSpPr>
          <p:spPr>
            <a:xfrm>
              <a:off x="13200" y="5400"/>
              <a:ext cx="44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输出要结构化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9"/>
              </p:custDataLst>
            </p:nvPr>
          </p:nvSpPr>
          <p:spPr>
            <a:xfrm>
              <a:off x="14800" y="6400"/>
              <a:ext cx="1200" cy="80"/>
            </a:xfrm>
            <a:prstGeom prst="roundRect">
              <a:avLst>
                <a:gd name="adj" fmla="val 0"/>
              </a:avLst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>
              <p:custDataLst>
                <p:tags r:id="rId30"/>
              </p:custDataLst>
            </p:nvPr>
          </p:nvSpPr>
          <p:spPr>
            <a:xfrm>
              <a:off x="13200" y="70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要求返回固定的 JSON Schema，规范数据格式，方便 Agent 进行下一步的自动化处理。</a:t>
              </a:r>
              <a:endParaRPr lang="en-US" sz="1100"/>
            </a:p>
          </p:txBody>
        </p:sp>
      </p:grp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5288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避坑指南：Skill 开发常见误区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3" name="组合 32"/>
          <p:cNvGrpSpPr/>
          <p:nvPr>
            <p:custDataLst>
              <p:tags r:id="rId4"/>
            </p:custDataLst>
          </p:nvPr>
        </p:nvGrpSpPr>
        <p:grpSpPr>
          <a:xfrm>
            <a:off x="762000" y="1651000"/>
            <a:ext cx="3302000" cy="4318000"/>
            <a:chOff x="1200" y="2600"/>
            <a:chExt cx="5200" cy="68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600"/>
              <a:ext cx="5200" cy="6800"/>
            </a:xfrm>
            <a:prstGeom prst="roundRect">
              <a:avLst>
                <a:gd name="adj" fmla="val 461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600" y="3000"/>
              <a:ext cx="4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📂 代码组织混乱</a:t>
              </a:r>
              <a:endParaRPr lang="en-US" sz="1100"/>
            </a:p>
          </p:txBody>
        </p:sp>
        <p:sp>
          <p:nvSpPr>
            <p:cNvPr id="5" name="AutoShape 5"/>
            <p:cNvSpPr/>
            <p:nvPr>
              <p:custDataLst>
                <p:tags r:id="rId6"/>
              </p:custDataLst>
            </p:nvPr>
          </p:nvSpPr>
          <p:spPr>
            <a:xfrm>
              <a:off x="1600" y="4000"/>
              <a:ext cx="4400" cy="2000"/>
            </a:xfrm>
            <a:prstGeom prst="roundRect">
              <a:avLst>
                <a:gd name="adj" fmla="val 8000"/>
              </a:avLst>
            </a:prstGeom>
            <a:solidFill>
              <a:srgbClr val="282E3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6" name="Picture 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00" y="4300"/>
              <a:ext cx="480" cy="48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>
              <p:custDataLst>
                <p:tags r:id="rId10"/>
              </p:custDataLst>
            </p:nvPr>
          </p:nvSpPr>
          <p:spPr>
            <a:xfrm>
              <a:off x="2600" y="4300"/>
              <a:ext cx="3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E53E3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典型错误</a:t>
              </a:r>
              <a:endParaRPr lang="en-US" sz="1100"/>
            </a:p>
          </p:txBody>
        </p:sp>
        <p:sp>
          <p:nvSpPr>
            <p:cNvPr id="8" name="AutoShape 8"/>
            <p:cNvSpPr/>
            <p:nvPr>
              <p:custDataLst>
                <p:tags r:id="rId11"/>
              </p:custDataLst>
            </p:nvPr>
          </p:nvSpPr>
          <p:spPr>
            <a:xfrm>
              <a:off x="1900" y="5000"/>
              <a:ext cx="3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直接在 SKILL.md 中塞入数千行代码，导致文档臃肿、维护困难。</a:t>
              </a:r>
              <a:endParaRPr lang="en-US" sz="1100"/>
            </a:p>
          </p:txBody>
        </p:sp>
        <p:sp>
          <p:nvSpPr>
            <p:cNvPr id="9" name="AutoShape 9"/>
            <p:cNvSpPr/>
            <p:nvPr>
              <p:custDataLst>
                <p:tags r:id="rId12"/>
              </p:custDataLst>
            </p:nvPr>
          </p:nvSpPr>
          <p:spPr>
            <a:xfrm>
              <a:off x="1600" y="6400"/>
              <a:ext cx="4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12700" cap="flat" cmpd="sng">
              <a:solidFill>
                <a:srgbClr val="38A169">
                  <a:alpha val="8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900" y="6700"/>
              <a:ext cx="480" cy="48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>
              <p:custDataLst>
                <p:tags r:id="rId16"/>
              </p:custDataLst>
            </p:nvPr>
          </p:nvSpPr>
          <p:spPr>
            <a:xfrm>
              <a:off x="2600" y="6700"/>
              <a:ext cx="3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推荐做法</a:t>
              </a:r>
              <a:endParaRPr lang="en-US" sz="1100"/>
            </a:p>
          </p:txBody>
        </p:sp>
        <p:sp>
          <p:nvSpPr>
            <p:cNvPr id="12" name="AutoShape 12"/>
            <p:cNvSpPr/>
            <p:nvPr>
              <p:custDataLst>
                <p:tags r:id="rId17"/>
              </p:custDataLst>
            </p:nvPr>
          </p:nvSpPr>
          <p:spPr>
            <a:xfrm>
              <a:off x="1900" y="7400"/>
              <a:ext cx="38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核心逻辑迁移至 `scripts/` 目录；MD 文件仅保留功能说明与调用指令。</a:t>
              </a:r>
              <a:endParaRPr lang="en-US" sz="1100"/>
            </a:p>
          </p:txBody>
        </p:sp>
      </p:grpSp>
      <p:grpSp>
        <p:nvGrpSpPr>
          <p:cNvPr id="34" name="组合 33"/>
          <p:cNvGrpSpPr/>
          <p:nvPr>
            <p:custDataLst>
              <p:tags r:id="rId18"/>
            </p:custDataLst>
          </p:nvPr>
        </p:nvGrpSpPr>
        <p:grpSpPr>
          <a:xfrm>
            <a:off x="4445000" y="1651000"/>
            <a:ext cx="3302000" cy="4318000"/>
            <a:chOff x="7000" y="2600"/>
            <a:chExt cx="5200" cy="6800"/>
          </a:xfrm>
        </p:grpSpPr>
        <p:sp>
          <p:nvSpPr>
            <p:cNvPr id="13" name="AutoShape 13"/>
            <p:cNvSpPr/>
            <p:nvPr>
              <p:custDataLst>
                <p:tags r:id="rId19"/>
              </p:custDataLst>
            </p:nvPr>
          </p:nvSpPr>
          <p:spPr>
            <a:xfrm>
              <a:off x="7000" y="2600"/>
              <a:ext cx="5200" cy="6800"/>
            </a:xfrm>
            <a:prstGeom prst="roundRect">
              <a:avLst>
                <a:gd name="adj" fmla="val 461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400" y="3000"/>
              <a:ext cx="4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🔍 描述信息模糊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20"/>
              </p:custDataLst>
            </p:nvPr>
          </p:nvSpPr>
          <p:spPr>
            <a:xfrm>
              <a:off x="7400" y="4000"/>
              <a:ext cx="4400" cy="2000"/>
            </a:xfrm>
            <a:prstGeom prst="roundRect">
              <a:avLst>
                <a:gd name="adj" fmla="val 8000"/>
              </a:avLst>
            </a:prstGeom>
            <a:solidFill>
              <a:srgbClr val="282E3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6" name="Picture 16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00" y="4300"/>
              <a:ext cx="480" cy="48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>
              <p:custDataLst>
                <p:tags r:id="rId22"/>
              </p:custDataLst>
            </p:nvPr>
          </p:nvSpPr>
          <p:spPr>
            <a:xfrm>
              <a:off x="8400" y="4300"/>
              <a:ext cx="3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E53E3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典型错误</a:t>
              </a:r>
              <a:endParaRPr lang="en-US" sz="1100"/>
            </a:p>
          </p:txBody>
        </p:sp>
        <p:sp>
          <p:nvSpPr>
            <p:cNvPr id="18" name="AutoShape 18"/>
            <p:cNvSpPr/>
            <p:nvPr>
              <p:custDataLst>
                <p:tags r:id="rId23"/>
              </p:custDataLst>
            </p:nvPr>
          </p:nvSpPr>
          <p:spPr>
            <a:xfrm>
              <a:off x="7700" y="5000"/>
              <a:ext cx="3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description 字段仅写“处理文件”等模糊词汇，缺乏关键词，无法被索引。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4"/>
              </p:custDataLst>
            </p:nvPr>
          </p:nvSpPr>
          <p:spPr>
            <a:xfrm>
              <a:off x="7400" y="6400"/>
              <a:ext cx="4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12700" cap="flat" cmpd="sng">
              <a:solidFill>
                <a:srgbClr val="38A169">
                  <a:alpha val="8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0" name="Picture 20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700" y="6700"/>
              <a:ext cx="480" cy="480"/>
            </a:xfrm>
            <a:prstGeom prst="rect">
              <a:avLst/>
            </a:prstGeom>
          </p:spPr>
        </p:pic>
        <p:sp>
          <p:nvSpPr>
            <p:cNvPr id="21" name="AutoShape 21"/>
            <p:cNvSpPr/>
            <p:nvPr>
              <p:custDataLst>
                <p:tags r:id="rId26"/>
              </p:custDataLst>
            </p:nvPr>
          </p:nvSpPr>
          <p:spPr>
            <a:xfrm>
              <a:off x="8400" y="6700"/>
              <a:ext cx="3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推荐做法</a:t>
              </a:r>
              <a:endParaRPr lang="en-US" sz="1100"/>
            </a:p>
          </p:txBody>
        </p:sp>
        <p:sp>
          <p:nvSpPr>
            <p:cNvPr id="22" name="AutoShape 22"/>
            <p:cNvSpPr/>
            <p:nvPr>
              <p:custDataLst>
                <p:tags r:id="rId27"/>
              </p:custDataLst>
            </p:nvPr>
          </p:nvSpPr>
          <p:spPr>
            <a:xfrm>
              <a:off x="7700" y="7400"/>
              <a:ext cx="38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包含具体业务关键词（如“提取 PDF 元数据”），精准描述功能，提升匹配度。</a:t>
              </a:r>
              <a:endParaRPr lang="en-US" sz="1100"/>
            </a:p>
          </p:txBody>
        </p:sp>
      </p:grpSp>
      <p:grpSp>
        <p:nvGrpSpPr>
          <p:cNvPr id="35" name="组合 34"/>
          <p:cNvGrpSpPr/>
          <p:nvPr>
            <p:custDataLst>
              <p:tags r:id="rId28"/>
            </p:custDataLst>
          </p:nvPr>
        </p:nvGrpSpPr>
        <p:grpSpPr>
          <a:xfrm>
            <a:off x="8128000" y="1651000"/>
            <a:ext cx="3302000" cy="4318000"/>
            <a:chOff x="12800" y="2600"/>
            <a:chExt cx="5200" cy="6800"/>
          </a:xfrm>
        </p:grpSpPr>
        <p:sp>
          <p:nvSpPr>
            <p:cNvPr id="23" name="AutoShape 23"/>
            <p:cNvSpPr/>
            <p:nvPr>
              <p:custDataLst>
                <p:tags r:id="rId29"/>
              </p:custDataLst>
            </p:nvPr>
          </p:nvSpPr>
          <p:spPr>
            <a:xfrm>
              <a:off x="12800" y="2600"/>
              <a:ext cx="5200" cy="6800"/>
            </a:xfrm>
            <a:prstGeom prst="roundRect">
              <a:avLst>
                <a:gd name="adj" fmla="val 4615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3200" y="3000"/>
              <a:ext cx="4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📦 依赖环境缺失</a:t>
              </a:r>
              <a:endParaRPr lang="en-US" sz="1100"/>
            </a:p>
          </p:txBody>
        </p:sp>
        <p:sp>
          <p:nvSpPr>
            <p:cNvPr id="25" name="AutoShape 25"/>
            <p:cNvSpPr/>
            <p:nvPr>
              <p:custDataLst>
                <p:tags r:id="rId30"/>
              </p:custDataLst>
            </p:nvPr>
          </p:nvSpPr>
          <p:spPr>
            <a:xfrm>
              <a:off x="13200" y="4000"/>
              <a:ext cx="4400" cy="2000"/>
            </a:xfrm>
            <a:prstGeom prst="roundRect">
              <a:avLst>
                <a:gd name="adj" fmla="val 8000"/>
              </a:avLst>
            </a:prstGeom>
            <a:solidFill>
              <a:srgbClr val="282E3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6" name="Picture 26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500" y="4300"/>
              <a:ext cx="480" cy="480"/>
            </a:xfrm>
            <a:prstGeom prst="rect">
              <a:avLst/>
            </a:prstGeom>
          </p:spPr>
        </p:pic>
        <p:sp>
          <p:nvSpPr>
            <p:cNvPr id="27" name="AutoShape 27"/>
            <p:cNvSpPr/>
            <p:nvPr>
              <p:custDataLst>
                <p:tags r:id="rId32"/>
              </p:custDataLst>
            </p:nvPr>
          </p:nvSpPr>
          <p:spPr>
            <a:xfrm>
              <a:off x="14200" y="4300"/>
              <a:ext cx="3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E53E3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典型错误</a:t>
              </a:r>
              <a:endParaRPr lang="en-US" sz="1100"/>
            </a:p>
          </p:txBody>
        </p:sp>
        <p:sp>
          <p:nvSpPr>
            <p:cNvPr id="28" name="AutoShape 28"/>
            <p:cNvSpPr/>
            <p:nvPr>
              <p:custDataLst>
                <p:tags r:id="rId33"/>
              </p:custDataLst>
            </p:nvPr>
          </p:nvSpPr>
          <p:spPr>
            <a:xfrm>
              <a:off x="13500" y="5000"/>
              <a:ext cx="3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>
                      <a:alpha val="8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依赖库需用户手动安装，操作门槛高，且容易因环境差异导致运行失败。</a:t>
              </a:r>
              <a:endParaRPr lang="en-US" sz="1100"/>
            </a:p>
          </p:txBody>
        </p:sp>
        <p:sp>
          <p:nvSpPr>
            <p:cNvPr id="2" name="AutoShape 29"/>
            <p:cNvSpPr/>
            <p:nvPr>
              <p:custDataLst>
                <p:tags r:id="rId34"/>
              </p:custDataLst>
            </p:nvPr>
          </p:nvSpPr>
          <p:spPr>
            <a:xfrm>
              <a:off x="13200" y="6400"/>
              <a:ext cx="4400" cy="2200"/>
            </a:xfrm>
            <a:prstGeom prst="roundRect">
              <a:avLst>
                <a:gd name="adj" fmla="val 7272"/>
              </a:avLst>
            </a:prstGeom>
            <a:solidFill>
              <a:srgbClr val="38A169">
                <a:alpha val="15000"/>
              </a:srgbClr>
            </a:solidFill>
            <a:ln w="12700" cap="flat" cmpd="sng">
              <a:solidFill>
                <a:srgbClr val="38A169">
                  <a:alpha val="8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31" name="Picture 30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3500" y="6700"/>
              <a:ext cx="480" cy="480"/>
            </a:xfrm>
            <a:prstGeom prst="rect">
              <a:avLst/>
            </a:prstGeom>
          </p:spPr>
        </p:pic>
        <p:sp>
          <p:nvSpPr>
            <p:cNvPr id="32" name="AutoShape 31"/>
            <p:cNvSpPr/>
            <p:nvPr>
              <p:custDataLst>
                <p:tags r:id="rId36"/>
              </p:custDataLst>
            </p:nvPr>
          </p:nvSpPr>
          <p:spPr>
            <a:xfrm>
              <a:off x="14200" y="6700"/>
              <a:ext cx="3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推荐做法</a:t>
              </a:r>
              <a:endParaRPr lang="en-US" sz="1100"/>
            </a:p>
          </p:txBody>
        </p:sp>
        <p:sp>
          <p:nvSpPr>
            <p:cNvPr id="36" name="AutoShape 32"/>
            <p:cNvSpPr/>
            <p:nvPr>
              <p:custDataLst>
                <p:tags r:id="rId37"/>
              </p:custDataLst>
            </p:nvPr>
          </p:nvSpPr>
          <p:spPr>
            <a:xfrm>
              <a:off x="13500" y="7400"/>
              <a:ext cx="38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1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脚本内置依赖自动检测与安装逻辑；或使用 Docker 沙箱封装完整运行环境。</a:t>
              </a:r>
              <a:endParaRPr lang="en-US" sz="1100"/>
            </a:p>
          </p:txBody>
        </p:sp>
      </p:grpSp>
    </p:spTree>
    <p:custDataLst>
      <p:tags r:id="rId3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AutoShape 2"/>
          <p:cNvSpPr/>
          <p:nvPr/>
        </p:nvSpPr>
        <p:spPr>
          <a:xfrm>
            <a:off x="0" y="1397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38A1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工程化落地 — 从玩具到生产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FROM PROTOTYPE TO PRODUCTION</a:t>
            </a:r>
            <a:endParaRPr lang="en-US" sz="18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461000" y="508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5288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企业落地三件事（测试团队视角）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4432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4A556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651000" y="1925320"/>
            <a:ext cx="1524000" cy="1524000"/>
          </a:xfrm>
          <a:prstGeom prst="ellipse">
            <a:avLst/>
          </a:prstGeom>
          <a:solidFill>
            <a:srgbClr val="38A16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000" y="2179320"/>
            <a:ext cx="1016000" cy="1016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70332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盘点手工作业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4338320"/>
            <a:ext cx="762000" cy="50800"/>
          </a:xfrm>
          <a:prstGeom prst="roundRect">
            <a:avLst>
              <a:gd name="adj" fmla="val 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471932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打开终端历史记录，筛选做过5次以上的高频操作，将其统一封装成可复用的 Skill。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54432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4A556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334000" y="1925320"/>
            <a:ext cx="1524000" cy="1524000"/>
          </a:xfrm>
          <a:prstGeom prst="ellipse">
            <a:avLst/>
          </a:prstGeom>
          <a:solidFill>
            <a:srgbClr val="38A16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000" y="2179320"/>
            <a:ext cx="1016000" cy="1016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370332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规范设计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4338320"/>
            <a:ext cx="762000" cy="50800"/>
          </a:xfrm>
          <a:prstGeom prst="roundRect">
            <a:avLst>
              <a:gd name="adj" fmla="val 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471932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定义清晰的输入输出参数，完善异常错误处理逻辑，形成团队统一的开发与交付标准。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54432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4A556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17000" y="1925320"/>
            <a:ext cx="1524000" cy="1524000"/>
          </a:xfrm>
          <a:prstGeom prst="ellipse">
            <a:avLst/>
          </a:prstGeom>
          <a:solidFill>
            <a:srgbClr val="38A16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71000" y="2179320"/>
            <a:ext cx="1016000" cy="1016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382000" y="370332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398000" y="4338320"/>
            <a:ext cx="762000" cy="50800"/>
          </a:xfrm>
          <a:prstGeom prst="roundRect">
            <a:avLst>
              <a:gd name="adj" fmla="val 0"/>
            </a:avLst>
          </a:prstGeom>
          <a:solidFill>
            <a:srgbClr val="38A1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471932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Skill本质是代码，代码必须具备可测试性。这也是Skill相比传统Prompt工程的核心优势之一。</a:t>
            </a:r>
            <a:endParaRPr lang="en-US" sz="1100"/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52882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 的版本管理策略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762000" y="1651000"/>
            <a:ext cx="3302000" cy="4318000"/>
            <a:chOff x="1200" y="2600"/>
            <a:chExt cx="5200" cy="68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6"/>
              </p:custDataLst>
            </p:nvPr>
          </p:nvSpPr>
          <p:spPr>
            <a:xfrm>
              <a:off x="1600" y="3200"/>
              <a:ext cx="1600" cy="160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00" y="3600"/>
              <a:ext cx="800" cy="80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>
              <p:custDataLst>
                <p:tags r:id="rId10"/>
              </p:custDataLst>
            </p:nvPr>
          </p:nvSpPr>
          <p:spPr>
            <a:xfrm>
              <a:off x="1600" y="5200"/>
              <a:ext cx="44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遵循 Git 语义化版本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11"/>
              </p:custDataLst>
            </p:nvPr>
          </p:nvSpPr>
          <p:spPr>
            <a:xfrm>
              <a:off x="1600" y="6200"/>
              <a:ext cx="4400" cy="4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1600" y="66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严格遵循语义化版本规范命名，例如：v1.0.0, v1.1.0, v2.0.0，让版本变动逻辑清晰、状态可追溯。</a:t>
              </a:r>
              <a:endParaRPr lang="en-US" sz="1100"/>
            </a:p>
          </p:txBody>
        </p:sp>
      </p:grpSp>
      <p:grpSp>
        <p:nvGrpSpPr>
          <p:cNvPr id="22" name="组合 21"/>
          <p:cNvGrpSpPr/>
          <p:nvPr>
            <p:custDataLst>
              <p:tags r:id="rId13"/>
            </p:custDataLst>
          </p:nvPr>
        </p:nvGrpSpPr>
        <p:grpSpPr>
          <a:xfrm>
            <a:off x="4445000" y="1651000"/>
            <a:ext cx="3302000" cy="4318000"/>
            <a:chOff x="7000" y="2600"/>
            <a:chExt cx="5200" cy="6800"/>
          </a:xfrm>
        </p:grpSpPr>
        <p:sp>
          <p:nvSpPr>
            <p:cNvPr id="9" name="AutoShape 9"/>
            <p:cNvSpPr/>
            <p:nvPr>
              <p:custDataLst>
                <p:tags r:id="rId14"/>
              </p:custDataLst>
            </p:nvPr>
          </p:nvSpPr>
          <p:spPr>
            <a:xfrm>
              <a:off x="70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>
              <p:custDataLst>
                <p:tags r:id="rId15"/>
              </p:custDataLst>
            </p:nvPr>
          </p:nvSpPr>
          <p:spPr>
            <a:xfrm>
              <a:off x="7400" y="3200"/>
              <a:ext cx="1600" cy="160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1" name="Picture 11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800" y="3600"/>
              <a:ext cx="800" cy="80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>
              <p:custDataLst>
                <p:tags r:id="rId19"/>
              </p:custDataLst>
            </p:nvPr>
          </p:nvSpPr>
          <p:spPr>
            <a:xfrm>
              <a:off x="7400" y="5200"/>
              <a:ext cx="44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重大变更升级 Major 版</a:t>
              </a:r>
              <a:endParaRPr lang="en-US" sz="1100"/>
            </a:p>
          </p:txBody>
        </p:sp>
        <p:sp>
          <p:nvSpPr>
            <p:cNvPr id="13" name="AutoShape 13"/>
            <p:cNvSpPr/>
            <p:nvPr>
              <p:custDataLst>
                <p:tags r:id="rId20"/>
              </p:custDataLst>
            </p:nvPr>
          </p:nvSpPr>
          <p:spPr>
            <a:xfrm>
              <a:off x="7400" y="6200"/>
              <a:ext cx="4400" cy="4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21"/>
              </p:custDataLst>
            </p:nvPr>
          </p:nvSpPr>
          <p:spPr>
            <a:xfrm>
              <a:off x="7400" y="66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当进行不兼容的核心功能迭代时，必须及时升级主版本号（Major），最大程度避免影响现有依赖旧版本的 Agent 稳定运行。</a:t>
              </a:r>
              <a:endParaRPr lang="en-US" sz="1100"/>
            </a:p>
          </p:txBody>
        </p:sp>
      </p:grpSp>
      <p:grpSp>
        <p:nvGrpSpPr>
          <p:cNvPr id="23" name="组合 22"/>
          <p:cNvGrpSpPr/>
          <p:nvPr>
            <p:custDataLst>
              <p:tags r:id="rId22"/>
            </p:custDataLst>
          </p:nvPr>
        </p:nvGrpSpPr>
        <p:grpSpPr>
          <a:xfrm>
            <a:off x="8128000" y="1651000"/>
            <a:ext cx="3302000" cy="4318000"/>
            <a:chOff x="12800" y="2600"/>
            <a:chExt cx="5200" cy="6800"/>
          </a:xfrm>
        </p:grpSpPr>
        <p:sp>
          <p:nvSpPr>
            <p:cNvPr id="15" name="AutoShape 15"/>
            <p:cNvSpPr/>
            <p:nvPr>
              <p:custDataLst>
                <p:tags r:id="rId23"/>
              </p:custDataLst>
            </p:nvPr>
          </p:nvSpPr>
          <p:spPr>
            <a:xfrm>
              <a:off x="128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90500" dist="762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>
              <p:custDataLst>
                <p:tags r:id="rId24"/>
              </p:custDataLst>
            </p:nvPr>
          </p:nvSpPr>
          <p:spPr>
            <a:xfrm>
              <a:off x="13200" y="3200"/>
              <a:ext cx="1600" cy="160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7" name="Picture 1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600" y="3600"/>
              <a:ext cx="800" cy="80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>
              <p:custDataLst>
                <p:tags r:id="rId28"/>
              </p:custDataLst>
            </p:nvPr>
          </p:nvSpPr>
          <p:spPr>
            <a:xfrm>
              <a:off x="13200" y="5200"/>
              <a:ext cx="4400" cy="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搭建内部 Skill Registry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9"/>
              </p:custDataLst>
            </p:nvPr>
          </p:nvSpPr>
          <p:spPr>
            <a:xfrm>
              <a:off x="13200" y="6200"/>
              <a:ext cx="4400" cy="4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>
              <p:custDataLst>
                <p:tags r:id="rId30"/>
              </p:custDataLst>
            </p:nvPr>
          </p:nvSpPr>
          <p:spPr>
            <a:xfrm>
              <a:off x="13200" y="66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建议企业搭建私有 Skill 仓库（类似 npm），实现 Skill 资产的统一版本管理、安全高效分发与精细化的权限控制。</a:t>
              </a:r>
              <a:endParaRPr lang="en-US" sz="1100"/>
            </a:p>
          </p:txBody>
        </p:sp>
      </p:grp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476948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安全与沙箱：不让 Skill 变成“特洛伊木马”</a:t>
            </a:r>
            <a:endParaRPr lang="en-US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62000" y="1524000"/>
            <a:ext cx="10668000" cy="1270000"/>
            <a:chOff x="1200" y="2400"/>
            <a:chExt cx="16800" cy="2000"/>
          </a:xfrm>
        </p:grpSpPr>
        <p:sp>
          <p:nvSpPr>
            <p:cNvPr id="3" name="AutoShape 3"/>
            <p:cNvSpPr/>
            <p:nvPr/>
          </p:nvSpPr>
          <p:spPr>
            <a:xfrm>
              <a:off x="1200" y="2400"/>
              <a:ext cx="16800" cy="2000"/>
            </a:xfrm>
            <a:prstGeom prst="roundRect">
              <a:avLst>
                <a:gd name="adj" fmla="val 12000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600" y="2700"/>
              <a:ext cx="1400" cy="1400"/>
            </a:xfrm>
            <a:prstGeom prst="ellipse">
              <a:avLst/>
            </a:prstGeom>
            <a:solidFill>
              <a:srgbClr val="ED8936">
                <a:alpha val="1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00" y="3000"/>
              <a:ext cx="800" cy="80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/>
          </p:nvSpPr>
          <p:spPr>
            <a:xfrm>
              <a:off x="3400" y="2700"/>
              <a:ext cx="14000" cy="1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ED893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⚠️ 核心风险隐患</a:t>
              </a:r>
              <a:endParaRPr lang="en-US" sz="1100"/>
            </a:p>
            <a:p>
              <a:pPr indent="0" algn="l">
                <a:lnSpc>
                  <a:spcPct val="108000"/>
                </a:lnSpc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Skill 脚本可能被植入恶意指令（如 `rm -rf /`）或非法窃取环境变量，若缺乏管控，AI 助手极易沦为攻击系统的“特洛伊木马”。</a:t>
              </a:r>
              <a:endPara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6"/>
            </p:custDataLst>
          </p:nvPr>
        </p:nvGrpSpPr>
        <p:grpSpPr>
          <a:xfrm>
            <a:off x="762000" y="3048000"/>
            <a:ext cx="3302000" cy="2794000"/>
            <a:chOff x="1200" y="4800"/>
            <a:chExt cx="5200" cy="4400"/>
          </a:xfrm>
        </p:grpSpPr>
        <p:sp>
          <p:nvSpPr>
            <p:cNvPr id="7" name="AutoShape 7"/>
            <p:cNvSpPr/>
            <p:nvPr>
              <p:custDataLst>
                <p:tags r:id="rId7"/>
              </p:custDataLst>
            </p:nvPr>
          </p:nvSpPr>
          <p:spPr>
            <a:xfrm>
              <a:off x="1200" y="4800"/>
              <a:ext cx="5200" cy="4400"/>
            </a:xfrm>
            <a:prstGeom prst="roundRect">
              <a:avLst>
                <a:gd name="adj" fmla="val 545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>
              <p:custDataLst>
                <p:tags r:id="rId8"/>
              </p:custDataLst>
            </p:nvPr>
          </p:nvSpPr>
          <p:spPr>
            <a:xfrm>
              <a:off x="1600" y="5200"/>
              <a:ext cx="1440" cy="144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20" y="5520"/>
              <a:ext cx="800" cy="80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>
              <p:custDataLst>
                <p:tags r:id="rId12"/>
              </p:custDataLst>
            </p:nvPr>
          </p:nvSpPr>
          <p:spPr>
            <a:xfrm>
              <a:off x="3400" y="5500"/>
              <a:ext cx="2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人工代码审计</a:t>
              </a:r>
              <a:endParaRPr lang="en-US" sz="1100"/>
            </a:p>
          </p:txBody>
        </p:sp>
        <p:sp>
          <p:nvSpPr>
            <p:cNvPr id="11" name="AutoShape 11"/>
            <p:cNvSpPr/>
            <p:nvPr>
              <p:custDataLst>
                <p:tags r:id="rId13"/>
              </p:custDataLst>
            </p:nvPr>
          </p:nvSpPr>
          <p:spPr>
            <a:xfrm>
              <a:off x="1600" y="7000"/>
              <a:ext cx="4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强制要求所有 Skill 脚本代码可审计，由安全团队进行人工 Review，从源头拦截恶意逻辑与漏洞。</a:t>
              </a:r>
              <a:endParaRPr lang="en-US" sz="1100"/>
            </a:p>
          </p:txBody>
        </p:sp>
      </p:grpSp>
      <p:grpSp>
        <p:nvGrpSpPr>
          <p:cNvPr id="24" name="组合 23"/>
          <p:cNvGrpSpPr/>
          <p:nvPr>
            <p:custDataLst>
              <p:tags r:id="rId14"/>
            </p:custDataLst>
          </p:nvPr>
        </p:nvGrpSpPr>
        <p:grpSpPr>
          <a:xfrm>
            <a:off x="4445000" y="3048000"/>
            <a:ext cx="3302000" cy="2794000"/>
            <a:chOff x="7000" y="4800"/>
            <a:chExt cx="5200" cy="4400"/>
          </a:xfrm>
        </p:grpSpPr>
        <p:sp>
          <p:nvSpPr>
            <p:cNvPr id="12" name="AutoShape 12"/>
            <p:cNvSpPr/>
            <p:nvPr>
              <p:custDataLst>
                <p:tags r:id="rId15"/>
              </p:custDataLst>
            </p:nvPr>
          </p:nvSpPr>
          <p:spPr>
            <a:xfrm>
              <a:off x="7000" y="4800"/>
              <a:ext cx="5200" cy="4400"/>
            </a:xfrm>
            <a:prstGeom prst="roundRect">
              <a:avLst>
                <a:gd name="adj" fmla="val 545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>
              <p:custDataLst>
                <p:tags r:id="rId16"/>
              </p:custDataLst>
            </p:nvPr>
          </p:nvSpPr>
          <p:spPr>
            <a:xfrm>
              <a:off x="7400" y="5200"/>
              <a:ext cx="1440" cy="144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4" name="Picture 1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720" y="5520"/>
              <a:ext cx="800" cy="80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>
              <p:custDataLst>
                <p:tags r:id="rId20"/>
              </p:custDataLst>
            </p:nvPr>
          </p:nvSpPr>
          <p:spPr>
            <a:xfrm>
              <a:off x="9200" y="5500"/>
              <a:ext cx="2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容器沙箱隔离</a:t>
              </a:r>
              <a:endParaRPr lang="en-US" sz="1100"/>
            </a:p>
          </p:txBody>
        </p:sp>
        <p:sp>
          <p:nvSpPr>
            <p:cNvPr id="16" name="AutoShape 16"/>
            <p:cNvSpPr/>
            <p:nvPr>
              <p:custDataLst>
                <p:tags r:id="rId21"/>
              </p:custDataLst>
            </p:nvPr>
          </p:nvSpPr>
          <p:spPr>
            <a:xfrm>
              <a:off x="7400" y="7000"/>
              <a:ext cx="4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基于 Docker 容器构建独立的隔离环境（如 MS-Agent 的 ms-enclave 方案），将脚本执行限制在受控空间内。</a:t>
              </a:r>
              <a:endParaRPr lang="en-US" sz="1100"/>
            </a:p>
          </p:txBody>
        </p:sp>
      </p:grpSp>
      <p:grpSp>
        <p:nvGrpSpPr>
          <p:cNvPr id="25" name="组合 24"/>
          <p:cNvGrpSpPr/>
          <p:nvPr>
            <p:custDataLst>
              <p:tags r:id="rId22"/>
            </p:custDataLst>
          </p:nvPr>
        </p:nvGrpSpPr>
        <p:grpSpPr>
          <a:xfrm>
            <a:off x="8128000" y="3048000"/>
            <a:ext cx="3302000" cy="2794000"/>
            <a:chOff x="12800" y="4800"/>
            <a:chExt cx="5200" cy="4400"/>
          </a:xfrm>
        </p:grpSpPr>
        <p:sp>
          <p:nvSpPr>
            <p:cNvPr id="17" name="AutoShape 17"/>
            <p:cNvSpPr/>
            <p:nvPr>
              <p:custDataLst>
                <p:tags r:id="rId23"/>
              </p:custDataLst>
            </p:nvPr>
          </p:nvSpPr>
          <p:spPr>
            <a:xfrm>
              <a:off x="12800" y="4800"/>
              <a:ext cx="5200" cy="4400"/>
            </a:xfrm>
            <a:prstGeom prst="roundRect">
              <a:avLst>
                <a:gd name="adj" fmla="val 5454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>
              <p:custDataLst>
                <p:tags r:id="rId24"/>
              </p:custDataLst>
            </p:nvPr>
          </p:nvSpPr>
          <p:spPr>
            <a:xfrm>
              <a:off x="13200" y="5200"/>
              <a:ext cx="1440" cy="144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9" name="Picture 19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520" y="5520"/>
              <a:ext cx="800" cy="800"/>
            </a:xfrm>
            <a:prstGeom prst="rect">
              <a:avLst/>
            </a:prstGeom>
          </p:spPr>
        </p:pic>
        <p:sp>
          <p:nvSpPr>
            <p:cNvPr id="20" name="AutoShape 20"/>
            <p:cNvSpPr/>
            <p:nvPr>
              <p:custDataLst>
                <p:tags r:id="rId28"/>
              </p:custDataLst>
            </p:nvPr>
          </p:nvSpPr>
          <p:spPr>
            <a:xfrm>
              <a:off x="15000" y="5500"/>
              <a:ext cx="2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权限最小化</a:t>
              </a:r>
              <a:endParaRPr lang="en-US" sz="1100"/>
            </a:p>
          </p:txBody>
        </p:sp>
        <p:sp>
          <p:nvSpPr>
            <p:cNvPr id="21" name="AutoShape 21"/>
            <p:cNvSpPr/>
            <p:nvPr>
              <p:custDataLst>
                <p:tags r:id="rId29"/>
              </p:custDataLst>
            </p:nvPr>
          </p:nvSpPr>
          <p:spPr>
            <a:xfrm>
              <a:off x="13200" y="7000"/>
              <a:ext cx="4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CBD5E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遵循最小权限原则，仅授予 Skill 访问指定工作目录的权限，严禁跨目录读写或调用系统敏感接口。</a:t>
              </a:r>
              <a:endParaRPr lang="en-US" sz="1100"/>
            </a:p>
          </p:txBody>
        </p:sp>
      </p:grpSp>
    </p:spTree>
    <p:custDataLst>
      <p:tags r:id="rId3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/>
          <p:nvPr/>
        </p:nvSpPr>
        <p:spPr>
          <a:xfrm>
            <a:off x="569595" y="320675"/>
            <a:ext cx="120650" cy="542290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  <a:endParaRPr>
              <a:latin typeface=".萍方-简" panose="020B0600000000000000" pitchFamily="34" charset="-122"/>
              <a:ea typeface=".萍方-简" panose="020B0600000000000000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69595" y="941705"/>
            <a:ext cx="11520000" cy="0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1">
            <a:alphaModFix amt="80028"/>
          </a:blip>
          <a:stretch>
            <a:fillRect/>
          </a:stretch>
        </p:blipFill>
        <p:spPr>
          <a:xfrm>
            <a:off x="9339580" y="301625"/>
            <a:ext cx="1078865" cy="485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614660" y="419735"/>
            <a:ext cx="1394460" cy="36766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文本框 29"/>
          <p:cNvSpPr txBox="1"/>
          <p:nvPr/>
        </p:nvSpPr>
        <p:spPr>
          <a:xfrm>
            <a:off x="462280" y="6306820"/>
            <a:ext cx="6656070" cy="42481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教学监督邮箱：</a:t>
            </a:r>
            <a:r>
              <a:rPr lang="en-US" altLang="zh-CN" sz="1600" i="1">
                <a:solidFill>
                  <a:schemeClr val="bg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feedback@zhipoai.cn</a:t>
            </a:r>
            <a:endParaRPr lang="en-US" altLang="zh-CN" sz="1600" i="1">
              <a:solidFill>
                <a:schemeClr val="bg1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3">
            <a:alphaModFix amt="53471"/>
          </a:blip>
          <a:srcRect b="52457"/>
          <a:stretch>
            <a:fillRect/>
          </a:stretch>
        </p:blipFill>
        <p:spPr>
          <a:xfrm>
            <a:off x="7747000" y="6306820"/>
            <a:ext cx="4149725" cy="377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文本框 59"/>
          <p:cNvSpPr txBox="1"/>
          <p:nvPr/>
        </p:nvSpPr>
        <p:spPr>
          <a:xfrm>
            <a:off x="943610" y="349885"/>
            <a:ext cx="5152390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性能优化：Skill 太多会不会影响模型反应速度？</a:t>
            </a:r>
            <a:endParaRPr lang="en-US" altLang="en-US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762000" y="1562100"/>
            <a:ext cx="3302000" cy="4318000"/>
            <a:chOff x="1200" y="2600"/>
            <a:chExt cx="5200" cy="6800"/>
          </a:xfrm>
        </p:grpSpPr>
        <p:sp>
          <p:nvSpPr>
            <p:cNvPr id="3" name="AutoShape 3"/>
            <p:cNvSpPr/>
            <p:nvPr>
              <p:custDataLst>
                <p:tags r:id="rId5"/>
              </p:custDataLst>
            </p:nvPr>
          </p:nvSpPr>
          <p:spPr>
            <a:xfrm>
              <a:off x="12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6"/>
              </p:custDataLst>
            </p:nvPr>
          </p:nvSpPr>
          <p:spPr>
            <a:xfrm>
              <a:off x="3160" y="3200"/>
              <a:ext cx="1280" cy="12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5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480" y="3520"/>
              <a:ext cx="640" cy="64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>
              <p:custDataLst>
                <p:tags r:id="rId10"/>
              </p:custDataLst>
            </p:nvPr>
          </p:nvSpPr>
          <p:spPr>
            <a:xfrm>
              <a:off x="1600" y="4800"/>
              <a:ext cx="4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核心疑问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11"/>
              </p:custDataLst>
            </p:nvPr>
          </p:nvSpPr>
          <p:spPr>
            <a:xfrm>
              <a:off x="1800" y="5800"/>
              <a:ext cx="4000" cy="40"/>
            </a:xfrm>
            <a:prstGeom prst="roundRect">
              <a:avLst>
                <a:gd name="adj" fmla="val 0"/>
              </a:avLst>
            </a:prstGeom>
            <a:solidFill>
              <a:srgbClr val="71809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>
              <p:custDataLst>
                <p:tags r:id="rId12"/>
              </p:custDataLst>
            </p:nvPr>
          </p:nvSpPr>
          <p:spPr>
            <a:xfrm>
              <a:off x="1600" y="64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100 个 Skill 的元数据占据约 10k tokens，是否会导致模型推理速度显著下降？</a:t>
              </a:r>
              <a:endParaRPr lang="en-US" sz="1100"/>
            </a:p>
          </p:txBody>
        </p:sp>
      </p:grpSp>
      <p:grpSp>
        <p:nvGrpSpPr>
          <p:cNvPr id="22" name="组合 21"/>
          <p:cNvGrpSpPr/>
          <p:nvPr>
            <p:custDataLst>
              <p:tags r:id="rId13"/>
            </p:custDataLst>
          </p:nvPr>
        </p:nvGrpSpPr>
        <p:grpSpPr>
          <a:xfrm>
            <a:off x="4445000" y="1562100"/>
            <a:ext cx="3302000" cy="4318000"/>
            <a:chOff x="7000" y="2600"/>
            <a:chExt cx="5200" cy="6800"/>
          </a:xfrm>
        </p:grpSpPr>
        <p:sp>
          <p:nvSpPr>
            <p:cNvPr id="9" name="AutoShape 9"/>
            <p:cNvSpPr/>
            <p:nvPr>
              <p:custDataLst>
                <p:tags r:id="rId14"/>
              </p:custDataLst>
            </p:nvPr>
          </p:nvSpPr>
          <p:spPr>
            <a:xfrm>
              <a:off x="70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>
              <p:custDataLst>
                <p:tags r:id="rId15"/>
              </p:custDataLst>
            </p:nvPr>
          </p:nvSpPr>
          <p:spPr>
            <a:xfrm>
              <a:off x="8960" y="3200"/>
              <a:ext cx="1280" cy="12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1" name="Picture 11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280" y="3520"/>
              <a:ext cx="640" cy="64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>
              <p:custDataLst>
                <p:tags r:id="rId19"/>
              </p:custDataLst>
            </p:nvPr>
          </p:nvSpPr>
          <p:spPr>
            <a:xfrm>
              <a:off x="7400" y="4800"/>
              <a:ext cx="44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完全不会</a:t>
              </a:r>
              <a:endParaRPr lang="en-US" sz="1100"/>
            </a:p>
          </p:txBody>
        </p:sp>
        <p:sp>
          <p:nvSpPr>
            <p:cNvPr id="13" name="AutoShape 13"/>
            <p:cNvSpPr/>
            <p:nvPr>
              <p:custDataLst>
                <p:tags r:id="rId20"/>
              </p:custDataLst>
            </p:nvPr>
          </p:nvSpPr>
          <p:spPr>
            <a:xfrm>
              <a:off x="7600" y="6000"/>
              <a:ext cx="4000" cy="40"/>
            </a:xfrm>
            <a:prstGeom prst="roundRect">
              <a:avLst>
                <a:gd name="adj" fmla="val 0"/>
              </a:avLst>
            </a:prstGeom>
            <a:solidFill>
              <a:srgbClr val="71809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21"/>
              </p:custDataLst>
            </p:nvPr>
          </p:nvSpPr>
          <p:spPr>
            <a:xfrm>
              <a:off x="7400" y="6600"/>
              <a:ext cx="4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采用渐进式披露机制，仅注入 Skill 核心元数据（单 Skill 仅几十字），整体 Token 开销极低，对响应速度影响微乎其微。</a:t>
              </a:r>
              <a:endParaRPr lang="en-US" sz="1100"/>
            </a:p>
          </p:txBody>
        </p:sp>
      </p:grpSp>
      <p:grpSp>
        <p:nvGrpSpPr>
          <p:cNvPr id="23" name="组合 22"/>
          <p:cNvGrpSpPr/>
          <p:nvPr>
            <p:custDataLst>
              <p:tags r:id="rId22"/>
            </p:custDataLst>
          </p:nvPr>
        </p:nvGrpSpPr>
        <p:grpSpPr>
          <a:xfrm>
            <a:off x="8128000" y="1562100"/>
            <a:ext cx="3302000" cy="4318000"/>
            <a:chOff x="12800" y="2600"/>
            <a:chExt cx="5200" cy="6800"/>
          </a:xfrm>
        </p:grpSpPr>
        <p:sp>
          <p:nvSpPr>
            <p:cNvPr id="15" name="AutoShape 15"/>
            <p:cNvSpPr/>
            <p:nvPr>
              <p:custDataLst>
                <p:tags r:id="rId23"/>
              </p:custDataLst>
            </p:nvPr>
          </p:nvSpPr>
          <p:spPr>
            <a:xfrm>
              <a:off x="12800" y="2600"/>
              <a:ext cx="5200" cy="6800"/>
            </a:xfrm>
            <a:prstGeom prst="roundRect">
              <a:avLst>
                <a:gd name="adj" fmla="val 6153"/>
              </a:avLst>
            </a:prstGeom>
            <a:solidFill>
              <a:srgbClr val="4A5568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20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>
              <p:custDataLst>
                <p:tags r:id="rId24"/>
              </p:custDataLst>
            </p:nvPr>
          </p:nvSpPr>
          <p:spPr>
            <a:xfrm>
              <a:off x="14760" y="3200"/>
              <a:ext cx="1280" cy="1280"/>
            </a:xfrm>
            <a:prstGeom prst="ellipse">
              <a:avLst/>
            </a:prstGeom>
            <a:solidFill>
              <a:srgbClr val="38A169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7" name="Picture 1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080" y="3520"/>
              <a:ext cx="640" cy="64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>
              <p:custDataLst>
                <p:tags r:id="rId28"/>
              </p:custDataLst>
            </p:nvPr>
          </p:nvSpPr>
          <p:spPr>
            <a:xfrm>
              <a:off x="13200" y="4800"/>
              <a:ext cx="4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8A1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进阶优化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29"/>
              </p:custDataLst>
            </p:nvPr>
          </p:nvSpPr>
          <p:spPr>
            <a:xfrm>
              <a:off x="13400" y="5800"/>
              <a:ext cx="4000" cy="40"/>
            </a:xfrm>
            <a:prstGeom prst="roundRect">
              <a:avLst>
                <a:gd name="adj" fmla="val 0"/>
              </a:avLst>
            </a:prstGeom>
            <a:solidFill>
              <a:srgbClr val="71809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>
              <p:custDataLst>
                <p:tags r:id="rId30"/>
              </p:custDataLst>
            </p:nvPr>
          </p:nvSpPr>
          <p:spPr>
            <a:xfrm>
              <a:off x="13200" y="6400"/>
              <a:ext cx="44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E2E8F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针对超大型项目，建议引入 RAG 动态检索机制，根据用户提问实时召回相关 Skill，替代全量注入，大幅提升系统运行效率。</a:t>
              </a:r>
              <a:endParaRPr lang="en-US" sz="1100"/>
            </a:p>
          </p:txBody>
        </p:sp>
      </p:grp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65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66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67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68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69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0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1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2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3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4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5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6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7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8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79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80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81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82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83.xml><?xml version="1.0" encoding="utf-8"?>
<p:tagLst xmlns:p="http://schemas.openxmlformats.org/presentationml/2006/main">
  <p:tag name="KSO_WM_DIAGRAM_VIRTUALLY_FRAME" val="{&quot;height&quot;:277.1,&quot;left&quot;:60,&quot;top&quot;:120,&quot;width&quot;:840}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87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88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89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0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1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2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3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4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5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6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7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8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99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0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1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2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3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4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5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6.xml><?xml version="1.0" encoding="utf-8"?>
<p:tagLst xmlns:p="http://schemas.openxmlformats.org/presentationml/2006/main">
  <p:tag name="KSO_WM_DIAGRAM_VIRTUALLY_FRAME" val="{&quot;height&quot;:298.2,&quot;left&quot;:60,&quot;top&quot;:101.8,&quot;width&quot;:840}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9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0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1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2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3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4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5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6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7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8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19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20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21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22.xml><?xml version="1.0" encoding="utf-8"?>
<p:tagLst xmlns:p="http://schemas.openxmlformats.org/presentationml/2006/main">
  <p:tag name="KSO_WM_DIAGRAM_VIRTUALLY_FRAME" val="{&quot;height&quot;:377,&quot;left&quot;:460,&quot;top&quot;:113,&quot;width&quot;:420}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25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26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27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28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29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0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1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2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3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4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5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6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7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8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39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40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41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42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43.xml><?xml version="1.0" encoding="utf-8"?>
<p:tagLst xmlns:p="http://schemas.openxmlformats.org/presentationml/2006/main">
  <p:tag name="KSO_WM_DIAGRAM_VIRTUALLY_FRAME" val="{&quot;height&quot;:140,&quot;left&quot;:60,&quot;top&quot;:220,&quot;width&quot;:840}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7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48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49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0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1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2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3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4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5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6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7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8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59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60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61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62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63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64.xml><?xml version="1.0" encoding="utf-8"?>
<p:tagLst xmlns:p="http://schemas.openxmlformats.org/presentationml/2006/main">
  <p:tag name="KSO_WM_DIAGRAM_VIRTUALLY_FRAME" val="{&quot;height&quot;:370,&quot;left&quot;:60,&quot;top&quot;:120,&quot;width&quot;:840}"/>
</p:tagLst>
</file>

<file path=ppt/tags/tag1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6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67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68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69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0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1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2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3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4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5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6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7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8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79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0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1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2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3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4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5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6.xml><?xml version="1.0" encoding="utf-8"?>
<p:tagLst xmlns:p="http://schemas.openxmlformats.org/presentationml/2006/main">
  <p:tag name="KSO_WM_DIAGRAM_VIRTUALLY_FRAME" val="{&quot;height&quot;:230,&quot;left&quot;:60,&quot;top&quot;:130,&quot;width&quot;:840}"/>
</p:tagLst>
</file>

<file path=ppt/tags/tag1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89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0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1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2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3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4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5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6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7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8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199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0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1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2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3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4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5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6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7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8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09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0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1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2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3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4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5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6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7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8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19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20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21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22.xml><?xml version="1.0" encoding="utf-8"?>
<p:tagLst xmlns:p="http://schemas.openxmlformats.org/presentationml/2006/main">
  <p:tag name="KSO_WM_DIAGRAM_VIRTUALLY_FRAME" val="{&quot;height&quot;:250,&quot;left&quot;:60,&quot;top&quot;:130,&quot;width&quot;:840}"/>
</p:tagLst>
</file>

<file path=ppt/tags/tag2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6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27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28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29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0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1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2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3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4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5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6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7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8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39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40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41.xml><?xml version="1.0" encoding="utf-8"?>
<p:tagLst xmlns:p="http://schemas.openxmlformats.org/presentationml/2006/main">
  <p:tag name="KSO_WM_DIAGRAM_VIRTUALLY_FRAME" val="{&quot;height&quot;:290,&quot;left&quot;:60,&quot;top&quot;:140,&quot;width&quot;:840}"/>
</p:tagLst>
</file>

<file path=ppt/tags/tag2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4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4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4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4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4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4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6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6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6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4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65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66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67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68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69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0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1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2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3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4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5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6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7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8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79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0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1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2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3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4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5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6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7.xml><?xml version="1.0" encoding="utf-8"?>
<p:tagLst xmlns:p="http://schemas.openxmlformats.org/presentationml/2006/main">
  <p:tag name="KSO_WM_DIAGRAM_VIRTUALLY_FRAME" val="{&quot;height&quot;:240,&quot;left&quot;:60,&quot;top&quot;:220,&quot;width&quot;:840}"/>
</p:tagLst>
</file>

<file path=ppt/tags/tag2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9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0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1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2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3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4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4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4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4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4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4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5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6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6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6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6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6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66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67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68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69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0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1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2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3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4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5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6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7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8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79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80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81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82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83.xml><?xml version="1.0" encoding="utf-8"?>
<p:tagLst xmlns:p="http://schemas.openxmlformats.org/presentationml/2006/main">
  <p:tag name="KSO_WM_DIAGRAM_VIRTUALLY_FRAME" val="{&quot;height&quot;:220,&quot;left&quot;:60,&quot;top&quot;:240,&quot;width&quot;:840}"/>
</p:tagLst>
</file>

<file path=ppt/tags/tag3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8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8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8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8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8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39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40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40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40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40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40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40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4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5395</Words>
  <Application>WPS 演示</Application>
  <PresentationFormat>宽屏</PresentationFormat>
  <Paragraphs>493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Noto Sans SC</vt:lpstr>
      <vt:lpstr>Helvetica Neue Medium</vt:lpstr>
      <vt:lpstr>.萍方-简</vt:lpstr>
      <vt:lpstr>楷体</vt:lpstr>
      <vt:lpstr>微软雅黑</vt:lpstr>
      <vt:lpstr>Arial Unicode MS</vt:lpstr>
      <vt:lpstr>Calibri</vt:lpstr>
      <vt:lpstr>Source Code Pro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友谊</cp:lastModifiedBy>
  <cp:revision>164</cp:revision>
  <dcterms:created xsi:type="dcterms:W3CDTF">2019-06-19T02:08:00Z</dcterms:created>
  <dcterms:modified xsi:type="dcterms:W3CDTF">2026-04-16T06:25:38Z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0B9DCA4BEA2C41C8A71FF1CADF5A17CB_11</vt:lpwstr>
  </property>
</Properties>
</file>