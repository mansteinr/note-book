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9" r:id="rId5"/>
    <p:sldId id="389" r:id="rId6"/>
    <p:sldId id="367" r:id="rId7"/>
    <p:sldId id="374" r:id="rId8"/>
    <p:sldId id="277" r:id="rId9"/>
    <p:sldId id="258" r:id="rId10"/>
    <p:sldId id="257" r:id="rId11"/>
    <p:sldId id="262" r:id="rId12"/>
    <p:sldId id="384" r:id="rId13"/>
    <p:sldId id="363" r:id="rId14"/>
    <p:sldId id="380" r:id="rId15"/>
    <p:sldId id="390" r:id="rId16"/>
    <p:sldId id="391" r:id="rId17"/>
    <p:sldId id="379" r:id="rId18"/>
    <p:sldId id="392" r:id="rId19"/>
    <p:sldId id="383" r:id="rId20"/>
    <p:sldId id="393" r:id="rId21"/>
    <p:sldId id="394" r:id="rId22"/>
    <p:sldId id="410" r:id="rId23"/>
    <p:sldId id="329" r:id="rId24"/>
    <p:sldId id="385" r:id="rId25"/>
    <p:sldId id="395" r:id="rId26"/>
    <p:sldId id="293" r:id="rId27"/>
    <p:sldId id="298" r:id="rId28"/>
    <p:sldId id="388" r:id="rId29"/>
    <p:sldId id="382" r:id="rId30"/>
    <p:sldId id="411" r:id="rId31"/>
    <p:sldId id="396" r:id="rId32"/>
    <p:sldId id="406" r:id="rId33"/>
    <p:sldId id="386" r:id="rId34"/>
    <p:sldId id="412" r:id="rId35"/>
    <p:sldId id="397" r:id="rId36"/>
    <p:sldId id="398" r:id="rId37"/>
    <p:sldId id="399" r:id="rId38"/>
    <p:sldId id="400" r:id="rId39"/>
    <p:sldId id="401" r:id="rId40"/>
    <p:sldId id="413" r:id="rId41"/>
    <p:sldId id="402" r:id="rId42"/>
    <p:sldId id="407" r:id="rId43"/>
    <p:sldId id="408" r:id="rId44"/>
    <p:sldId id="409" r:id="rId45"/>
    <p:sldId id="415" r:id="rId46"/>
    <p:sldId id="416" r:id="rId47"/>
    <p:sldId id="417" r:id="rId48"/>
    <p:sldId id="418" r:id="rId49"/>
    <p:sldId id="341" r:id="rId50"/>
    <p:sldId id="375" r:id="rId51"/>
    <p:sldId id="419" r:id="rId52"/>
    <p:sldId id="424" r:id="rId53"/>
    <p:sldId id="421" r:id="rId54"/>
    <p:sldId id="422" r:id="rId55"/>
    <p:sldId id="423" r:id="rId5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331" autoAdjust="0"/>
  </p:normalViewPr>
  <p:slideViewPr>
    <p:cSldViewPr snapToGrid="0">
      <p:cViewPr varScale="1">
        <p:scale>
          <a:sx n="56" d="100"/>
          <a:sy n="56" d="100"/>
        </p:scale>
        <p:origin x="7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Shape 67"/>
          <p:cNvSpPr>
            <a:spLocks noGrp="1" noRot="1" noChangeAspect="1"/>
          </p:cNvSpPr>
          <p:nvPr>
            <p:ph type="sldImg"/>
          </p:nvPr>
        </p:nvSpPr>
        <p:spPr>
          <a:xfrm>
            <a:off x="1143000" y="685800"/>
            <a:ext cx="4572000" cy="3429000"/>
          </a:xfrm>
          <a:prstGeom prst="rect">
            <a:avLst/>
          </a:prstGeom>
        </p:spPr>
        <p:txBody>
          <a:bodyPr/>
          <a:lstStyle/>
          <a:p/>
        </p:txBody>
      </p:sp>
      <p:sp>
        <p:nvSpPr>
          <p:cNvPr id="68" name="Shape 6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zhuanlan.zhihu.com/p/13479479700" TargetMode="Externa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r>
              <a:rPr lang="en-US" altLang="zh-CN" sz="2400">
                <a:latin typeface="微软雅黑 Light" panose="020B0502040204020203" pitchFamily="34" charset="-122"/>
                <a:ea typeface="微软雅黑 Light" panose="020B0502040204020203" pitchFamily="34" charset="-122"/>
                <a:hlinkClick r:id="rId3"/>
              </a:rPr>
              <a:t>https://zhuanlan.zhihu.com/p/13479479700</a:t>
            </a:r>
            <a:r>
              <a:rPr lang="en-US" altLang="zh-CN" sz="2400">
                <a:latin typeface="微软雅黑 Light" panose="020B0502040204020203" pitchFamily="34" charset="-122"/>
                <a:ea typeface="微软雅黑 Light" panose="020B0502040204020203" pitchFamily="34" charset="-122"/>
              </a:rPr>
              <a:t> </a:t>
            </a:r>
            <a:endParaRPr lang="en-US" altLang="zh-CN" sz="2400">
              <a:latin typeface="微软雅黑 Light" panose="020B0502040204020203" pitchFamily="34" charset="-122"/>
              <a:ea typeface="微软雅黑 Light" panose="020B0502040204020203" pitchFamily="34" charset="-122"/>
            </a:endParaRPr>
          </a:p>
          <a:p>
            <a:r>
              <a:rPr lang="en-US" altLang="zh-CN" sz="2400">
                <a:latin typeface="微软雅黑 Light" panose="020B0502040204020203" pitchFamily="34" charset="-122"/>
                <a:ea typeface="微软雅黑 Light" panose="020B0502040204020203" pitchFamily="34" charset="-122"/>
                <a:sym typeface="Wingdings" panose="05000000000000000000" pitchFamily="2" charset="2"/>
              </a:rPr>
              <a:t>https://www.woshipm.com/it/6151782.html</a:t>
            </a:r>
            <a:endParaRPr lang="en-US" altLang="zh-CN" sz="2400">
              <a:latin typeface="微软雅黑 Light" panose="020B0502040204020203" pitchFamily="34" charset="-122"/>
              <a:ea typeface="微软雅黑 Light" panose="020B0502040204020203" pitchFamily="34" charset="-122"/>
              <a:sym typeface="Wingdings" panose="05000000000000000000" pitchFamily="2" charset="2"/>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
    <p:bg>
      <p:bgPr>
        <a:solidFill>
          <a:srgbClr val="000000"/>
        </a:solidFill>
        <a:effectLst/>
      </p:bgPr>
    </p:bg>
    <p:spTree>
      <p:nvGrpSpPr>
        <p:cNvPr id="1" name=""/>
        <p:cNvGrpSpPr/>
        <p:nvPr/>
      </p:nvGrpSpPr>
      <p:grpSpPr>
        <a:xfrm>
          <a:off x="0" y="0"/>
          <a:ext cx="0" cy="0"/>
          <a:chOff x="0" y="0"/>
          <a:chExt cx="0" cy="0"/>
        </a:xfrm>
      </p:grpSpPr>
      <p:pic>
        <p:nvPicPr>
          <p:cNvPr id="19" name="wallhaven-rdvvlq.jpg" descr="wallhaven-rdvvlq.jpg"/>
          <p:cNvPicPr>
            <a:picLocks noChangeAspect="1"/>
          </p:cNvPicPr>
          <p:nvPr/>
        </p:nvPicPr>
        <p:blipFill>
          <a:blip r:embed="rId2">
            <a:alphaModFix amt="73715"/>
          </a:blip>
          <a:stretch>
            <a:fillRect/>
          </a:stretch>
        </p:blipFill>
        <p:spPr>
          <a:xfrm>
            <a:off x="-1" y="8708"/>
            <a:ext cx="24384001" cy="13698584"/>
          </a:xfrm>
          <a:prstGeom prst="rect">
            <a:avLst/>
          </a:prstGeom>
          <a:ln w="12700">
            <a:miter lim="400000"/>
            <a:headEnd/>
            <a:tailEnd/>
          </a:ln>
        </p:spPr>
      </p:pic>
      <p:pic>
        <p:nvPicPr>
          <p:cNvPr id="20" name="未命名.png" descr="未命名.png"/>
          <p:cNvPicPr>
            <a:picLocks noChangeAspect="1"/>
          </p:cNvPicPr>
          <p:nvPr/>
        </p:nvPicPr>
        <p:blipFill>
          <a:blip r:embed="rId3"/>
          <a:stretch>
            <a:fillRect/>
          </a:stretch>
        </p:blipFill>
        <p:spPr>
          <a:xfrm>
            <a:off x="20477455" y="411980"/>
            <a:ext cx="1750700" cy="461019"/>
          </a:xfrm>
          <a:prstGeom prst="rect">
            <a:avLst/>
          </a:prstGeom>
          <a:ln w="12700">
            <a:miter lim="400000"/>
            <a:headEnd/>
            <a:tailEnd/>
          </a:ln>
        </p:spPr>
      </p:pic>
      <p:pic>
        <p:nvPicPr>
          <p:cNvPr id="21" name="未命名2.png" descr="未命名2.png"/>
          <p:cNvPicPr>
            <a:picLocks noChangeAspect="1"/>
          </p:cNvPicPr>
          <p:nvPr/>
        </p:nvPicPr>
        <p:blipFill>
          <a:blip r:embed="rId4"/>
          <a:stretch>
            <a:fillRect/>
          </a:stretch>
        </p:blipFill>
        <p:spPr>
          <a:xfrm>
            <a:off x="22201103" y="-81128"/>
            <a:ext cx="1929647" cy="1447235"/>
          </a:xfrm>
          <a:prstGeom prst="rect">
            <a:avLst/>
          </a:prstGeom>
          <a:ln w="12700">
            <a:miter lim="400000"/>
            <a:headEnd/>
            <a:tailEnd/>
          </a:ln>
        </p:spPr>
      </p:pic>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29"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标题">
    <p:bg>
      <p:bgPr>
        <a:solidFill>
          <a:srgbClr val="000000"/>
        </a:solidFill>
        <a:effectLst/>
      </p:bgPr>
    </p:bg>
    <p:spTree>
      <p:nvGrpSpPr>
        <p:cNvPr id="1" name=""/>
        <p:cNvGrpSpPr/>
        <p:nvPr/>
      </p:nvGrpSpPr>
      <p:grpSpPr>
        <a:xfrm>
          <a:off x="0" y="0"/>
          <a:ext cx="0" cy="0"/>
          <a:chOff x="0" y="0"/>
          <a:chExt cx="0" cy="0"/>
        </a:xfrm>
      </p:grpSpPr>
      <p:pic>
        <p:nvPicPr>
          <p:cNvPr id="37" name="wallhaven-qzqvp7.png" descr="wallhaven-qzqvp7.png"/>
          <p:cNvPicPr>
            <a:picLocks noChangeAspect="1"/>
          </p:cNvPicPr>
          <p:nvPr/>
        </p:nvPicPr>
        <p:blipFill>
          <a:blip r:embed="rId2">
            <a:alphaModFix amt="68948"/>
          </a:blip>
          <a:stretch>
            <a:fillRect/>
          </a:stretch>
        </p:blipFill>
        <p:spPr>
          <a:xfrm>
            <a:off x="-496866" y="-2093472"/>
            <a:ext cx="25377732" cy="16918490"/>
          </a:xfrm>
          <a:prstGeom prst="rect">
            <a:avLst/>
          </a:prstGeom>
          <a:ln w="12700">
            <a:miter lim="400000"/>
            <a:headEnd/>
            <a:tailEnd/>
          </a:ln>
        </p:spPr>
      </p:pic>
      <p:pic>
        <p:nvPicPr>
          <p:cNvPr id="38" name="未命名.png" descr="未命名.png"/>
          <p:cNvPicPr>
            <a:picLocks noChangeAspect="1"/>
          </p:cNvPicPr>
          <p:nvPr/>
        </p:nvPicPr>
        <p:blipFill>
          <a:blip r:embed="rId3"/>
          <a:stretch>
            <a:fillRect/>
          </a:stretch>
        </p:blipFill>
        <p:spPr>
          <a:xfrm>
            <a:off x="20477455" y="411980"/>
            <a:ext cx="1750701" cy="461019"/>
          </a:xfrm>
          <a:prstGeom prst="rect">
            <a:avLst/>
          </a:prstGeom>
          <a:ln w="12700">
            <a:miter lim="400000"/>
            <a:headEnd/>
            <a:tailEnd/>
          </a:ln>
        </p:spPr>
      </p:pic>
      <p:pic>
        <p:nvPicPr>
          <p:cNvPr id="39" name="未命名2.png" descr="未命名2.png"/>
          <p:cNvPicPr>
            <a:picLocks noChangeAspect="1"/>
          </p:cNvPicPr>
          <p:nvPr/>
        </p:nvPicPr>
        <p:blipFill>
          <a:blip r:embed="rId4"/>
          <a:stretch>
            <a:fillRect/>
          </a:stretch>
        </p:blipFill>
        <p:spPr>
          <a:xfrm>
            <a:off x="22201103" y="-81128"/>
            <a:ext cx="1929648" cy="1447235"/>
          </a:xfrm>
          <a:prstGeom prst="rect">
            <a:avLst/>
          </a:prstGeom>
          <a:ln w="12700">
            <a:miter lim="400000"/>
            <a:headEnd/>
            <a:tailEnd/>
          </a:ln>
        </p:spPr>
      </p:pic>
      <p:sp>
        <p:nvSpPr>
          <p:cNvPr id="40" name="幻灯片标题"/>
          <p:cNvSpPr txBox="1">
            <a:spLocks noGrp="1"/>
          </p:cNvSpPr>
          <p:nvPr>
            <p:ph type="title" hasCustomPrompt="1"/>
          </p:nvPr>
        </p:nvSpPr>
        <p:spPr>
          <a:xfrm>
            <a:off x="5746308" y="5399214"/>
            <a:ext cx="13119984" cy="2187118"/>
          </a:xfrm>
          <a:prstGeom prst="rect">
            <a:avLst/>
          </a:prstGeom>
        </p:spPr>
        <p:txBody>
          <a:bodyPr anchor="ctr"/>
          <a:lstStyle>
            <a:lvl1pPr algn="ctr" defTabSz="2438400">
              <a:lnSpc>
                <a:spcPct val="80000"/>
              </a:lnSpc>
              <a:defRPr sz="10000" spc="-200">
                <a:solidFill>
                  <a:srgbClr val="FFFFFF"/>
                </a:solidFill>
              </a:defRPr>
            </a:lvl1pPr>
          </a:lstStyle>
          <a:p>
            <a:r>
              <a:t>幻灯片标题</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内容">
    <p:spTree>
      <p:nvGrpSpPr>
        <p:cNvPr id="1" name=""/>
        <p:cNvGrpSpPr/>
        <p:nvPr/>
      </p:nvGrpSpPr>
      <p:grpSpPr>
        <a:xfrm>
          <a:off x="0" y="0"/>
          <a:ext cx="0" cy="0"/>
          <a:chOff x="0" y="0"/>
          <a:chExt cx="0" cy="0"/>
        </a:xfrm>
      </p:grpSpPr>
      <p:pic>
        <p:nvPicPr>
          <p:cNvPr id="48" name="未命名.jpg" descr="未命名.jpg"/>
          <p:cNvPicPr>
            <a:picLocks noChangeAspect="1"/>
          </p:cNvPicPr>
          <p:nvPr/>
        </p:nvPicPr>
        <p:blipFill>
          <a:blip r:embed="rId2">
            <a:alphaModFix amt="80028"/>
          </a:blip>
          <a:stretch>
            <a:fillRect/>
          </a:stretch>
        </p:blipFill>
        <p:spPr>
          <a:xfrm>
            <a:off x="19841111" y="430850"/>
            <a:ext cx="1636706" cy="737026"/>
          </a:xfrm>
          <a:prstGeom prst="rect">
            <a:avLst/>
          </a:prstGeom>
          <a:ln w="12700">
            <a:miter lim="400000"/>
            <a:headEnd/>
            <a:tailEnd/>
          </a:ln>
        </p:spPr>
      </p:pic>
      <p:pic>
        <p:nvPicPr>
          <p:cNvPr id="49" name="未命名.jpg" descr="未命名.jpg"/>
          <p:cNvPicPr>
            <a:picLocks noChangeAspect="1"/>
          </p:cNvPicPr>
          <p:nvPr/>
        </p:nvPicPr>
        <p:blipFill>
          <a:blip r:embed="rId3">
            <a:alphaModFix amt="80000"/>
          </a:blip>
          <a:stretch>
            <a:fillRect/>
          </a:stretch>
        </p:blipFill>
        <p:spPr>
          <a:xfrm>
            <a:off x="21688890" y="597552"/>
            <a:ext cx="2015020" cy="530623"/>
          </a:xfrm>
          <a:prstGeom prst="rect">
            <a:avLst/>
          </a:prstGeom>
          <a:ln w="12700">
            <a:miter lim="400000"/>
            <a:headEnd/>
            <a:tailEnd/>
          </a:ln>
        </p:spPr>
      </p:pic>
      <p:sp>
        <p:nvSpPr>
          <p:cNvPr id="50" name="线条"/>
          <p:cNvSpPr/>
          <p:nvPr/>
        </p:nvSpPr>
        <p:spPr>
          <a:xfrm>
            <a:off x="581148" y="1527029"/>
            <a:ext cx="23221704" cy="1"/>
          </a:xfrm>
          <a:prstGeom prst="line">
            <a:avLst/>
          </a:prstGeom>
          <a:ln w="25400">
            <a:solidFill>
              <a:srgbClr val="7F9191"/>
            </a:solidFill>
            <a:miter lim="400000"/>
          </a:ln>
        </p:spPr>
        <p:txBody>
          <a:bodyPr lIns="50800" tIns="50800" rIns="50800" bIns="50800" anchor="ctr"/>
          <a:lstStyle/>
          <a:p/>
        </p:txBody>
      </p:sp>
      <p:sp>
        <p:nvSpPr>
          <p:cNvPr id="51" name="幻灯片标题"/>
          <p:cNvSpPr txBox="1">
            <a:spLocks noGrp="1"/>
          </p:cNvSpPr>
          <p:nvPr>
            <p:ph type="title" hasCustomPrompt="1"/>
          </p:nvPr>
        </p:nvSpPr>
        <p:spPr>
          <a:xfrm>
            <a:off x="1243044" y="374169"/>
            <a:ext cx="10477501" cy="977388"/>
          </a:xfrm>
          <a:prstGeom prst="rect">
            <a:avLst/>
          </a:prstGeom>
        </p:spPr>
        <p:txBody>
          <a:bodyPr anchor="ctr"/>
          <a:lstStyle>
            <a:lvl1pPr>
              <a:defRPr>
                <a:solidFill>
                  <a:srgbClr val="3D3D3D"/>
                </a:solidFill>
              </a:defRPr>
            </a:lvl1pPr>
          </a:lstStyle>
          <a:p>
            <a:r>
              <a:t>幻灯片标题</a:t>
            </a:r>
          </a:p>
        </p:txBody>
      </p:sp>
      <p:pic>
        <p:nvPicPr>
          <p:cNvPr id="52" name="20250308172252.png" descr="20250308172252.png"/>
          <p:cNvPicPr>
            <a:picLocks noChangeAspect="1"/>
          </p:cNvPicPr>
          <p:nvPr/>
        </p:nvPicPr>
        <p:blipFill>
          <a:blip r:embed="rId4">
            <a:alphaModFix amt="53471"/>
          </a:blip>
          <a:srcRect b="52457"/>
          <a:stretch>
            <a:fillRect/>
          </a:stretch>
        </p:blipFill>
        <p:spPr>
          <a:xfrm>
            <a:off x="18329327" y="12979486"/>
            <a:ext cx="5829796" cy="530650"/>
          </a:xfrm>
          <a:prstGeom prst="rect">
            <a:avLst/>
          </a:prstGeom>
          <a:ln w="12700">
            <a:miter lim="400000"/>
            <a:headEnd/>
            <a:tailEnd/>
          </a:ln>
        </p:spPr>
      </p:pic>
      <p:sp>
        <p:nvSpPr>
          <p:cNvPr id="53" name="矩形"/>
          <p:cNvSpPr/>
          <p:nvPr/>
        </p:nvSpPr>
        <p:spPr>
          <a:xfrm>
            <a:off x="569800" y="494350"/>
            <a:ext cx="269381" cy="737026"/>
          </a:xfrm>
          <a:prstGeom prst="rect">
            <a:avLst/>
          </a:prstGeom>
          <a:solidFill>
            <a:srgbClr val="414141"/>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defRPr>
            </a:pPr>
          </a:p>
        </p:txBody>
      </p:sp>
      <p:sp>
        <p:nvSpPr>
          <p:cNvPr id="5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6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5.jpeg"/><Relationship Id="rId7" Type="http://schemas.openxmlformats.org/officeDocument/2006/relationships/image" Target="../media/image1.jpeg"/><Relationship Id="rId6" Type="http://schemas.openxmlformats.org/officeDocument/2006/relationships/image" Target="../media/image7.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20250308172252.png" descr="20250308172252.png"/>
          <p:cNvPicPr>
            <a:picLocks noChangeAspect="1"/>
          </p:cNvPicPr>
          <p:nvPr/>
        </p:nvPicPr>
        <p:blipFill>
          <a:blip r:embed="rId6">
            <a:alphaModFix amt="53471"/>
          </a:blip>
          <a:srcRect b="52457"/>
          <a:stretch>
            <a:fillRect/>
          </a:stretch>
        </p:blipFill>
        <p:spPr>
          <a:xfrm>
            <a:off x="18329327" y="12979486"/>
            <a:ext cx="5829796" cy="530650"/>
          </a:xfrm>
          <a:prstGeom prst="rect">
            <a:avLst/>
          </a:prstGeom>
          <a:ln w="12700">
            <a:miter lim="400000"/>
            <a:headEnd/>
            <a:tailEnd/>
          </a:ln>
        </p:spPr>
      </p:pic>
      <p:pic>
        <p:nvPicPr>
          <p:cNvPr id="3" name="wallhaven-rdvvlq.jpg" descr="wallhaven-rdvvlq.jpg"/>
          <p:cNvPicPr>
            <a:picLocks noChangeAspect="1"/>
          </p:cNvPicPr>
          <p:nvPr/>
        </p:nvPicPr>
        <p:blipFill>
          <a:blip r:embed="rId7"/>
          <a:srcRect l="51258" t="79" r="120" b="91"/>
          <a:stretch>
            <a:fillRect/>
          </a:stretch>
        </p:blipFill>
        <p:spPr>
          <a:xfrm>
            <a:off x="-3362115" y="-131565"/>
            <a:ext cx="12119241" cy="13979130"/>
          </a:xfrm>
          <a:custGeom>
            <a:avLst/>
            <a:gdLst/>
            <a:ahLst/>
            <a:cxnLst>
              <a:cxn ang="0">
                <a:pos x="wd2" y="hd2"/>
              </a:cxn>
              <a:cxn ang="5400000">
                <a:pos x="wd2" y="hd2"/>
              </a:cxn>
              <a:cxn ang="10800000">
                <a:pos x="wd2" y="hd2"/>
              </a:cxn>
              <a:cxn ang="16200000">
                <a:pos x="wd2" y="hd2"/>
              </a:cxn>
            </a:cxnLst>
            <a:rect l="0" t="0" r="r" b="b"/>
            <a:pathLst>
              <a:path w="21042" h="21600" extrusionOk="0">
                <a:moveTo>
                  <a:pt x="18981" y="0"/>
                </a:moveTo>
                <a:lnTo>
                  <a:pt x="0" y="40"/>
                </a:lnTo>
                <a:lnTo>
                  <a:pt x="0" y="21600"/>
                </a:lnTo>
                <a:lnTo>
                  <a:pt x="18464" y="21600"/>
                </a:lnTo>
                <a:cubicBezTo>
                  <a:pt x="19187" y="20932"/>
                  <a:pt x="19470" y="19979"/>
                  <a:pt x="19213" y="19080"/>
                </a:cubicBezTo>
                <a:cubicBezTo>
                  <a:pt x="18981" y="18273"/>
                  <a:pt x="18317" y="17557"/>
                  <a:pt x="18425" y="16720"/>
                </a:cubicBezTo>
                <a:cubicBezTo>
                  <a:pt x="18575" y="15561"/>
                  <a:pt x="20094" y="14917"/>
                  <a:pt x="20234" y="13755"/>
                </a:cubicBezTo>
                <a:cubicBezTo>
                  <a:pt x="20419" y="12209"/>
                  <a:pt x="18254" y="11381"/>
                  <a:pt x="18043" y="9903"/>
                </a:cubicBezTo>
                <a:cubicBezTo>
                  <a:pt x="17839" y="8471"/>
                  <a:pt x="19494" y="7572"/>
                  <a:pt x="20268" y="6333"/>
                </a:cubicBezTo>
                <a:cubicBezTo>
                  <a:pt x="21600" y="4201"/>
                  <a:pt x="21238" y="1468"/>
                  <a:pt x="18981" y="0"/>
                </a:cubicBezTo>
                <a:close/>
              </a:path>
            </a:pathLst>
          </a:custGeom>
          <a:ln w="12700">
            <a:miter lim="400000"/>
            <a:headEnd/>
            <a:tailEnd/>
          </a:ln>
        </p:spPr>
      </p:pic>
      <p:grpSp>
        <p:nvGrpSpPr>
          <p:cNvPr id="7" name="成组"/>
          <p:cNvGrpSpPr/>
          <p:nvPr/>
        </p:nvGrpSpPr>
        <p:grpSpPr>
          <a:xfrm>
            <a:off x="2356553" y="5489648"/>
            <a:ext cx="2146301" cy="2334715"/>
            <a:chOff x="0" y="0"/>
            <a:chExt cx="2146300" cy="2334713"/>
          </a:xfrm>
        </p:grpSpPr>
        <p:sp>
          <p:nvSpPr>
            <p:cNvPr id="4" name="目录"/>
            <p:cNvSpPr txBox="1"/>
            <p:nvPr/>
          </p:nvSpPr>
          <p:spPr>
            <a:xfrm>
              <a:off x="0" y="0"/>
              <a:ext cx="2146300" cy="1524001"/>
            </a:xfrm>
            <a:prstGeom prst="rect">
              <a:avLst/>
            </a:prstGeom>
            <a:noFill/>
            <a:ln w="12700" cap="flat">
              <a:noFill/>
              <a:miter lim="400000"/>
            </a:ln>
            <a:effectLst/>
          </p:spPr>
          <p:txBody>
            <a:bodyPr wrap="none" lIns="50800" tIns="50800" rIns="50800" bIns="50800" numCol="1" anchor="ctr">
              <a:spAutoFit/>
            </a:bodyPr>
            <a:lstStyle>
              <a:lvl1pPr>
                <a:defRPr sz="8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t>目录</a:t>
              </a:r>
            </a:p>
          </p:txBody>
        </p:sp>
        <p:sp>
          <p:nvSpPr>
            <p:cNvPr id="5" name="线条"/>
            <p:cNvSpPr/>
            <p:nvPr/>
          </p:nvSpPr>
          <p:spPr>
            <a:xfrm>
              <a:off x="167770" y="1506240"/>
              <a:ext cx="1810760" cy="1"/>
            </a:xfrm>
            <a:prstGeom prst="line">
              <a:avLst/>
            </a:prstGeom>
            <a:noFill/>
            <a:ln w="25400" cap="flat">
              <a:solidFill>
                <a:srgbClr val="FFFFFF"/>
              </a:solidFill>
              <a:prstDash val="solid"/>
              <a:miter lim="400000"/>
            </a:ln>
            <a:effectLst/>
          </p:spPr>
          <p:txBody>
            <a:bodyPr wrap="square" lIns="50800" tIns="50800" rIns="50800" bIns="50800" numCol="1" anchor="ctr">
              <a:noAutofit/>
            </a:bodyPr>
            <a:lstStyle/>
            <a:p/>
          </p:txBody>
        </p:sp>
        <p:sp>
          <p:nvSpPr>
            <p:cNvPr id="6" name="Content"/>
            <p:cNvSpPr txBox="1"/>
            <p:nvPr/>
          </p:nvSpPr>
          <p:spPr>
            <a:xfrm>
              <a:off x="90169" y="1521913"/>
              <a:ext cx="1965961" cy="812801"/>
            </a:xfrm>
            <a:prstGeom prst="rect">
              <a:avLst/>
            </a:prstGeom>
            <a:noFill/>
            <a:ln w="12700" cap="flat">
              <a:noFill/>
              <a:miter lim="400000"/>
            </a:ln>
            <a:effectLst/>
          </p:spPr>
          <p:txBody>
            <a:bodyPr wrap="none" lIns="50800" tIns="50800" rIns="50800" bIns="50800" numCol="1" anchor="ctr">
              <a:spAutoFit/>
            </a:bodyPr>
            <a:lstStyle>
              <a:lvl1pPr>
                <a:defRPr sz="4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Content</a:t>
              </a:r>
            </a:p>
          </p:txBody>
        </p:sp>
      </p:grpSp>
      <p:sp>
        <p:nvSpPr>
          <p:cNvPr id="8" name="正文级别 1…"/>
          <p:cNvSpPr txBox="1">
            <a:spLocks noGrp="1"/>
          </p:cNvSpPr>
          <p:nvPr>
            <p:ph type="body" idx="1" hasCustomPrompt="1"/>
          </p:nvPr>
        </p:nvSpPr>
        <p:spPr>
          <a:xfrm>
            <a:off x="10258676" y="2729994"/>
            <a:ext cx="21971001" cy="8256012"/>
          </a:xfrm>
          <a:prstGeom prst="rect">
            <a:avLst/>
          </a:prstGeom>
          <a:ln w="12700">
            <a:miter lim="400000"/>
          </a:ln>
        </p:spPr>
        <p:txBody>
          <a:bodyPr lIns="50800" tIns="50800" rIns="50800" bIns="50800" anchor="ctr">
            <a:normAutofit/>
          </a:bodyPr>
          <a:lstStyle/>
          <a:p>
            <a:r>
              <a:t>幻灯片项目符号文本</a:t>
            </a:r>
          </a:p>
          <a:p>
            <a:pPr lvl="1"/>
          </a:p>
          <a:p>
            <a:pPr lvl="2"/>
          </a:p>
          <a:p>
            <a:pPr lvl="3"/>
          </a:p>
          <a:p>
            <a:pPr lvl="4"/>
          </a:p>
        </p:txBody>
      </p:sp>
      <p:pic>
        <p:nvPicPr>
          <p:cNvPr id="9" name="未命名.jpg" descr="未命名.jpg"/>
          <p:cNvPicPr>
            <a:picLocks noChangeAspect="1"/>
          </p:cNvPicPr>
          <p:nvPr/>
        </p:nvPicPr>
        <p:blipFill>
          <a:blip r:embed="rId8">
            <a:alphaModFix amt="80028"/>
          </a:blip>
          <a:stretch>
            <a:fillRect/>
          </a:stretch>
        </p:blipFill>
        <p:spPr>
          <a:xfrm>
            <a:off x="19841111" y="430850"/>
            <a:ext cx="1636706" cy="737026"/>
          </a:xfrm>
          <a:prstGeom prst="rect">
            <a:avLst/>
          </a:prstGeom>
          <a:ln w="12700">
            <a:miter lim="400000"/>
            <a:headEnd/>
            <a:tailEnd/>
          </a:ln>
        </p:spPr>
      </p:pic>
      <p:pic>
        <p:nvPicPr>
          <p:cNvPr id="10" name="未命名.jpg" descr="未命名.jpg"/>
          <p:cNvPicPr>
            <a:picLocks noChangeAspect="1"/>
          </p:cNvPicPr>
          <p:nvPr/>
        </p:nvPicPr>
        <p:blipFill>
          <a:blip r:embed="rId9">
            <a:alphaModFix amt="80000"/>
          </a:blip>
          <a:stretch>
            <a:fillRect/>
          </a:stretch>
        </p:blipFill>
        <p:spPr>
          <a:xfrm>
            <a:off x="21688890" y="597552"/>
            <a:ext cx="2015020" cy="530623"/>
          </a:xfrm>
          <a:prstGeom prst="rect">
            <a:avLst/>
          </a:prstGeom>
          <a:ln w="12700">
            <a:miter lim="400000"/>
            <a:headEnd/>
            <a:tailEnd/>
          </a:ln>
        </p:spPr>
      </p:pic>
      <p:sp>
        <p:nvSpPr>
          <p:cNvPr id="11" name="幻灯片标题"/>
          <p:cNvSpPr txBox="1">
            <a:spLocks noGrp="1"/>
          </p:cNvSpPr>
          <p:nvPr>
            <p:ph type="title" hasCustomPrompt="1"/>
          </p:nvPr>
        </p:nvSpPr>
        <p:spPr>
          <a:xfrm>
            <a:off x="12763346" y="3944134"/>
            <a:ext cx="13118449" cy="983210"/>
          </a:xfrm>
          <a:prstGeom prst="rect">
            <a:avLst/>
          </a:prstGeom>
          <a:ln w="12700">
            <a:miter lim="400000"/>
          </a:ln>
        </p:spPr>
        <p:txBody>
          <a:bodyPr lIns="50800" tIns="50800" rIns="50800" bIns="50800">
            <a:normAutofit/>
          </a:bodyPr>
          <a:lstStyle/>
          <a:p>
            <a:r>
              <a:t>幻灯片标题</a:t>
            </a:r>
          </a:p>
        </p:txBody>
      </p:sp>
      <p:sp>
        <p:nvSpPr>
          <p:cNvPr id="12" name="幻灯片编号"/>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vl2pPr marL="0" marR="0" indent="457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2pPr>
      <a:lvl3pPr marL="0" marR="0" indent="914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3pPr>
      <a:lvl4pPr marL="0" marR="0" indent="1371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4pPr>
      <a:lvl5pPr marL="0" marR="0" indent="18288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5pPr>
      <a:lvl6pPr marL="0" marR="0" indent="22860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6pPr>
      <a:lvl7pPr marL="0" marR="0" indent="2743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7pPr>
      <a:lvl8pPr marL="0" marR="0" indent="3200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8pPr>
      <a:lvl9pPr marL="0" marR="0" indent="3657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9pPr>
    </p:titleStyle>
    <p:bodyStyle>
      <a:lvl1pPr marL="609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vl2pPr marL="1219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2pPr>
      <a:lvl3pPr marL="1828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3pPr>
      <a:lvl4pPr marL="2438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4pPr>
      <a:lvl5pPr marL="30480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5pPr>
      <a:lvl6pPr marL="3657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6pPr>
      <a:lvl7pPr marL="4267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7pPr>
      <a:lvl8pPr marL="4876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8pPr>
      <a:lvl9pPr marL="5486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4.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4.xml"/><Relationship Id="rId2" Type="http://schemas.openxmlformats.org/officeDocument/2006/relationships/image" Target="../media/image25.png"/><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2199545" y="3507853"/>
            <a:ext cx="21405522" cy="4808518"/>
            <a:chOff x="-1473199" y="0"/>
            <a:chExt cx="21405520" cy="4808516"/>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473199" y="1891775"/>
              <a:ext cx="21405520" cy="291674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300000000000000" charset="-122"/>
                  <a:ea typeface=".萍方-简" panose="020B0300000000000000" charset="-122"/>
                </a:rPr>
                <a:t>L2</a:t>
              </a:r>
              <a:r>
                <a:rPr lang="zh-CN" altLang="en-US">
                  <a:latin typeface=".萍方-简" panose="020B0300000000000000" charset="-122"/>
                  <a:ea typeface=".萍方-简" panose="020B0300000000000000" charset="-122"/>
                </a:rPr>
                <a:t>阶段：攻坚篇 </a:t>
              </a:r>
              <a:r>
                <a:rPr lang="en-US" altLang="zh-CN">
                  <a:latin typeface=".萍方-简" panose="020B0300000000000000" charset="-122"/>
                  <a:ea typeface=".萍方-简" panose="020B0300000000000000" charset="-122"/>
                </a:rPr>
                <a:t>| RAG</a:t>
              </a:r>
              <a:r>
                <a:rPr lang="zh-CN" altLang="en-US">
                  <a:latin typeface=".萍方-简" panose="020B0300000000000000" charset="-122"/>
                  <a:ea typeface=".萍方-简" panose="020B0300000000000000" charset="-122"/>
                </a:rPr>
                <a:t>开发实战工坊</a:t>
              </a:r>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本阶段课程安排</a:t>
            </a:r>
            <a:endParaRPr lang="zh-CN">
              <a:latin typeface=".萍方-简" panose="020B0300000000000000" charset="-122"/>
              <a:ea typeface=".萍方-简" panose="020B0300000000000000" charset="-122"/>
            </a:endParaRPr>
          </a:p>
        </p:txBody>
      </p:sp>
      <p:graphicFrame>
        <p:nvGraphicFramePr>
          <p:cNvPr id="2" name="表格 1"/>
          <p:cNvGraphicFramePr>
            <a:graphicFrameLocks noGrp="1"/>
          </p:cNvGraphicFramePr>
          <p:nvPr/>
        </p:nvGraphicFramePr>
        <p:xfrm>
          <a:off x="3356568" y="1993570"/>
          <a:ext cx="17670863" cy="5844714"/>
        </p:xfrm>
        <a:graphic>
          <a:graphicData uri="http://schemas.openxmlformats.org/drawingml/2006/table">
            <a:tbl>
              <a:tblPr/>
              <a:tblGrid>
                <a:gridCol w="2117041"/>
                <a:gridCol w="15553822"/>
              </a:tblGrid>
              <a:tr h="1013466">
                <a:tc>
                  <a:txBody>
                    <a:bodyPr/>
                    <a:lstStyle/>
                    <a:p>
                      <a:pPr algn="ctr" fontAlgn="ctr"/>
                      <a:r>
                        <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a:t>
                      </a:r>
                      <a:endPar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rPr>
                        <a:t>章节名称</a:t>
                      </a:r>
                      <a:endParaRPr lang="zh-CN" altLang="en-US" sz="3600" b="1" i="0" u="none" strike="noStrike">
                        <a:solidFill>
                          <a:srgbClr val="00000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1</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认知与项目实践</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2</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LangChainV0.3</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从入门到精通</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3</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基于</a:t>
                      </a: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LangChain</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的</a:t>
                      </a: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系统优化实践</a:t>
                      </a:r>
                      <a:endPar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4</a:t>
                      </a:r>
                      <a:endPar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掌握</a:t>
                      </a:r>
                      <a:r>
                        <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RAG</a:t>
                      </a:r>
                      <a:r>
                        <a:rPr lang="zh-CN" altLang="en-US"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rPr>
                        <a:t>应用评估技能和工具</a:t>
                      </a:r>
                      <a:endParaRPr lang="en-US" altLang="zh-CN" sz="3600" b="1" i="0" u="none" strike="noStrike">
                        <a:solidFill>
                          <a:srgbClr val="C00000"/>
                        </a:solidFill>
                        <a:latin typeface="微软雅黑" panose="020B0503020204020204" pitchFamily="34" charset="-122"/>
                        <a:ea typeface="微软雅黑" panose="020B0503020204020204" pitchFamily="34"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5</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RAG</a:t>
                      </a: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开源项目综合应用</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r h="805208">
                <a:tc>
                  <a:txBody>
                    <a:bodyPr/>
                    <a:lstStyle/>
                    <a:p>
                      <a:pPr algn="ctr" fontAlgn="ctr"/>
                      <a:r>
                        <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6</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1219200" rtl="0" eaLnBrk="1" fontAlgn="ctr" latinLnBrk="0" hangingPunct="1">
                        <a:lnSpc>
                          <a:spcPct val="100000"/>
                        </a:lnSpc>
                        <a:spcBef>
                          <a:spcPts val="0"/>
                        </a:spcBef>
                        <a:spcAft>
                          <a:spcPts val="0"/>
                        </a:spcAft>
                        <a:buClrTx/>
                        <a:buSzTx/>
                        <a:buFontTx/>
                        <a:buNone/>
                        <a:defRPr/>
                      </a:pPr>
                      <a:r>
                        <a:rPr lang="zh-CN" altLang="en-US"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rPr>
                        <a:t>实战项目：通用文档智能问答系统商业化实战</a:t>
                      </a:r>
                      <a:endParaRPr lang="en-US" altLang="zh-CN" sz="3600" b="1" i="0" u="none" strike="noStrike">
                        <a:solidFill>
                          <a:srgbClr val="00B050"/>
                        </a:solidFill>
                        <a:latin typeface=".萍方-简" panose="020B0300000000000000" charset="-122"/>
                        <a:ea typeface=".萍方-简" panose="020B0300000000000000" charset="-122"/>
                        <a:cs typeface="更纱黑体 SC Light" panose="02000400000000000000" pitchFamily="2"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r>
            </a:tbl>
          </a:graphicData>
        </a:graphic>
      </p:graphicFrame>
      <p:sp>
        <p:nvSpPr>
          <p:cNvPr id="4" name="TextBox 8"/>
          <p:cNvSpPr txBox="1"/>
          <p:nvPr/>
        </p:nvSpPr>
        <p:spPr>
          <a:xfrm>
            <a:off x="719665" y="8643492"/>
            <a:ext cx="23249467" cy="4316566"/>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上课说明：</a:t>
            </a:r>
            <a:endParaRPr lang="en-US" altLang="zh-CN" sz="3600">
              <a:latin typeface="微软雅黑 Light" panose="020B0502040204020203" pitchFamily="34" charset="-122"/>
              <a:ea typeface="微软雅黑 Light" panose="020B0502040204020203" pitchFamily="34" charset="-122"/>
            </a:endParaRPr>
          </a:p>
          <a:p>
            <a:r>
              <a:rPr lang="zh-CN" altLang="en-US" sz="3600" b="1">
                <a:solidFill>
                  <a:srgbClr val="FF0000"/>
                </a:solidFill>
                <a:latin typeface="微软雅黑" panose="020B0503020204020204" pitchFamily="34" charset="-122"/>
                <a:ea typeface="微软雅黑" panose="020B0503020204020204" pitchFamily="34" charset="-122"/>
              </a:rPr>
              <a:t>课程前置：计算机通识、</a:t>
            </a:r>
            <a:r>
              <a:rPr lang="en-US" altLang="zh-CN" sz="3600" b="1">
                <a:solidFill>
                  <a:srgbClr val="FF0000"/>
                </a:solidFill>
                <a:latin typeface="微软雅黑" panose="020B0503020204020204" pitchFamily="34" charset="-122"/>
                <a:ea typeface="微软雅黑" panose="020B0503020204020204" pitchFamily="34" charset="-122"/>
              </a:rPr>
              <a:t>Python</a:t>
            </a:r>
            <a:r>
              <a:rPr lang="zh-CN" altLang="en-US" sz="3600" b="1">
                <a:solidFill>
                  <a:srgbClr val="FF0000"/>
                </a:solidFill>
                <a:latin typeface="微软雅黑" panose="020B0503020204020204" pitchFamily="34" charset="-122"/>
                <a:ea typeface="微软雅黑" panose="020B0503020204020204" pitchFamily="34" charset="-122"/>
              </a:rPr>
              <a:t>语言基础知识、</a:t>
            </a:r>
            <a:r>
              <a:rPr lang="en-US" altLang="zh-CN" sz="3600" b="1">
                <a:solidFill>
                  <a:srgbClr val="FF0000"/>
                </a:solidFill>
                <a:latin typeface="微软雅黑" panose="020B0503020204020204" pitchFamily="34" charset="-122"/>
                <a:ea typeface="微软雅黑" panose="020B0503020204020204" pitchFamily="34" charset="-122"/>
              </a:rPr>
              <a:t>PyCharm</a:t>
            </a:r>
            <a:r>
              <a:rPr lang="zh-CN" altLang="en-US" sz="3600" b="1">
                <a:solidFill>
                  <a:srgbClr val="FF0000"/>
                </a:solidFill>
                <a:latin typeface="微软雅黑" panose="020B0503020204020204" pitchFamily="34" charset="-122"/>
                <a:ea typeface="微软雅黑" panose="020B0503020204020204" pitchFamily="34" charset="-122"/>
              </a:rPr>
              <a:t>基本使用、</a:t>
            </a:r>
            <a:r>
              <a:rPr lang="en-US" altLang="zh-CN" sz="3600" b="1">
                <a:solidFill>
                  <a:srgbClr val="FF0000"/>
                </a:solidFill>
                <a:latin typeface="微软雅黑" panose="020B0503020204020204" pitchFamily="34" charset="-122"/>
                <a:ea typeface="微软雅黑" panose="020B0503020204020204" pitchFamily="34" charset="-122"/>
              </a:rPr>
              <a:t>L1</a:t>
            </a:r>
            <a:r>
              <a:rPr lang="zh-CN" altLang="en-US" sz="3600" b="1">
                <a:solidFill>
                  <a:srgbClr val="FF0000"/>
                </a:solidFill>
                <a:latin typeface="微软雅黑" panose="020B0503020204020204" pitchFamily="34" charset="-122"/>
                <a:ea typeface="微软雅黑" panose="020B0503020204020204" pitchFamily="34" charset="-122"/>
              </a:rPr>
              <a:t>阶段学习等等。</a:t>
            </a:r>
            <a:endParaRPr lang="en-US" altLang="zh-CN" sz="3600" b="1">
              <a:solidFill>
                <a:srgbClr val="FF0000"/>
              </a:solidFill>
              <a:latin typeface="微软雅黑" panose="020B0503020204020204" pitchFamily="34" charset="-122"/>
              <a:ea typeface="微软雅黑" panose="020B0503020204020204" pitchFamily="34" charset="-122"/>
            </a:endParaRPr>
          </a:p>
          <a:p>
            <a:r>
              <a:rPr lang="en-US" altLang="zh-CN" sz="3600">
                <a:latin typeface="微软雅黑 Light" panose="020B0502040204020203" pitchFamily="34" charset="-122"/>
                <a:ea typeface="微软雅黑 Light" panose="020B0502040204020203" pitchFamily="34" charset="-122"/>
              </a:rPr>
              <a:t>1</a:t>
            </a:r>
            <a:r>
              <a:rPr lang="zh-CN" altLang="en-US" sz="3600">
                <a:latin typeface="微软雅黑 Light" panose="020B0502040204020203" pitchFamily="34" charset="-122"/>
                <a:ea typeface="微软雅黑 Light" panose="020B0502040204020203" pitchFamily="34" charset="-122"/>
              </a:rPr>
              <a:t>、一个知识点如果大部分同学明白，不会重复讲解，未明白的同学请看视频、笔记、请教同学或老师。</a:t>
            </a:r>
            <a:endParaRPr lang="en-US" altLang="zh-CN" sz="3600">
              <a:latin typeface="微软雅黑 Light" panose="020B0502040204020203" pitchFamily="34" charset="-122"/>
              <a:ea typeface="微软雅黑 Light" panose="020B0502040204020203" pitchFamily="34" charset="-122"/>
            </a:endParaRPr>
          </a:p>
          <a:p>
            <a:r>
              <a:rPr lang="en-US" altLang="zh-CN" sz="3600">
                <a:latin typeface="微软雅黑 Light" panose="020B0502040204020203" pitchFamily="34" charset="-122"/>
                <a:ea typeface="微软雅黑 Light" panose="020B0502040204020203" pitchFamily="34" charset="-122"/>
              </a:rPr>
              <a:t>2</a:t>
            </a:r>
            <a:r>
              <a:rPr lang="zh-CN" altLang="en-US" sz="3600">
                <a:latin typeface="微软雅黑 Light" panose="020B0502040204020203" pitchFamily="34" charset="-122"/>
                <a:ea typeface="微软雅黑 Light" panose="020B0502040204020203" pitchFamily="34" charset="-122"/>
              </a:rPr>
              <a:t>、以上为本阶段的章节安排，不是课时安排，如果一章内容在一次课内未讲完，则会顺延到后面的课程继续讲解，同理，一次课内也有可能讲述多个章节。</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本阶段上课须知</a:t>
            </a:r>
            <a:endParaRPr lang="zh-CN">
              <a:latin typeface=".萍方-简" panose="020B0300000000000000" charset="-122"/>
              <a:ea typeface=".萍方-简" panose="020B0300000000000000" charset="-122"/>
            </a:endParaRPr>
          </a:p>
        </p:txBody>
      </p:sp>
      <p:sp>
        <p:nvSpPr>
          <p:cNvPr id="4" name="TextBox 8"/>
          <p:cNvSpPr txBox="1"/>
          <p:nvPr/>
        </p:nvSpPr>
        <p:spPr>
          <a:xfrm>
            <a:off x="905931" y="1734692"/>
            <a:ext cx="23249467" cy="6167842"/>
          </a:xfrm>
          <a:prstGeom prst="rect">
            <a:avLst/>
          </a:prstGeom>
          <a:noFill/>
        </p:spPr>
        <p:txBody>
          <a:bodyPr wrap="square" rtlCol="0">
            <a:spAutoFit/>
          </a:bodyPr>
          <a:lstStyle/>
          <a:p>
            <a:r>
              <a:rPr lang="en-US" altLang="zh-CN" sz="3400">
                <a:latin typeface="微软雅黑 Light" panose="020B0502040204020203" pitchFamily="34" charset="-122"/>
                <a:ea typeface="微软雅黑 Light" panose="020B0502040204020203" pitchFamily="34" charset="-122"/>
              </a:rPr>
              <a:t>1</a:t>
            </a:r>
            <a:r>
              <a:rPr lang="zh-CN" altLang="en-US" sz="3400">
                <a:latin typeface="微软雅黑 Light" panose="020B0502040204020203" pitchFamily="34" charset="-122"/>
                <a:ea typeface="微软雅黑 Light" panose="020B0502040204020203" pitchFamily="34" charset="-122"/>
              </a:rPr>
              <a:t>、一个知识点如果大部分同学明白，不会重复讲解，未明白的同学请看视频、笔记、或企微中请教老师、同学。</a:t>
            </a:r>
            <a:endParaRPr lang="en-US" altLang="zh-CN" sz="3400">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rPr>
              <a:t>2</a:t>
            </a:r>
            <a:r>
              <a:rPr lang="zh-CN" altLang="en-US" sz="3400">
                <a:latin typeface="微软雅黑 Light" panose="020B0502040204020203" pitchFamily="34" charset="-122"/>
                <a:ea typeface="微软雅黑 Light" panose="020B0502040204020203" pitchFamily="34" charset="-122"/>
              </a:rPr>
              <a:t>、如果一个主线知识点相关的代码第一次出现，一般会手写，以后再出现时将直接使用。非主线知识点相关的代码有可能直接展示并简单讲解。</a:t>
            </a:r>
            <a:endParaRPr lang="en-US" altLang="zh-CN" sz="3400">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rPr>
              <a:t>3</a:t>
            </a:r>
            <a:r>
              <a:rPr lang="zh-CN" altLang="en-US" sz="3400">
                <a:latin typeface="微软雅黑 Light" panose="020B0502040204020203" pitchFamily="34" charset="-122"/>
                <a:ea typeface="微软雅黑 Light" panose="020B0502040204020203" pitchFamily="34" charset="-122"/>
              </a:rPr>
              <a:t>、</a:t>
            </a:r>
            <a:r>
              <a:rPr lang="zh-CN" altLang="en-US" sz="3400" b="1">
                <a:latin typeface="微软雅黑 Light" panose="020B0502040204020203" pitchFamily="34" charset="-122"/>
                <a:ea typeface="微软雅黑 Light" panose="020B0502040204020203" pitchFamily="34" charset="-122"/>
              </a:rPr>
              <a:t>本阶段将出现大量的知识点、代码和概念，请同学们做好准备！多复习，多动手，多思考，让自己具备独立动手解决问题的能力，这个能力也是企业在用人时重点考察的能力之一。</a:t>
            </a:r>
            <a:endParaRPr lang="en-US" altLang="zh-CN" sz="3400" b="1">
              <a:latin typeface="微软雅黑 Light" panose="020B0502040204020203" pitchFamily="34" charset="-122"/>
              <a:ea typeface="微软雅黑 Light" panose="020B0502040204020203" pitchFamily="34" charset="-122"/>
            </a:endParaRPr>
          </a:p>
          <a:p>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4</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、我只想做大模型产品经理之类的非开发岗，也要懂代码吗？</a:t>
            </a:r>
            <a:endParaRPr lang="en-US" altLang="zh-CN" sz="3400">
              <a:latin typeface="微软雅黑 Light" panose="020B0502040204020203" pitchFamily="34" charset="-122"/>
              <a:ea typeface="微软雅黑 Light" panose="020B0502040204020203" pitchFamily="34" charset="-122"/>
              <a:sym typeface="Wingdings" panose="05000000000000000000" pitchFamily="2" charset="2"/>
            </a:endParaRPr>
          </a:p>
          <a:p>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2024</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年</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12</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月</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7-8</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日，“人人都是产品经理”举办的</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2024 AI</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产品经理大会上汇聚腾讯、字节、京东、华为、阿里等行业巨头 </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16 </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位资深专家，对</a:t>
            </a:r>
            <a:r>
              <a:rPr lang="en-US" altLang="zh-CN" sz="3400">
                <a:latin typeface="微软雅黑 Light" panose="020B0502040204020203" pitchFamily="34" charset="-122"/>
                <a:ea typeface="微软雅黑 Light" panose="020B0502040204020203" pitchFamily="34" charset="-122"/>
                <a:sym typeface="Wingdings" panose="05000000000000000000" pitchFamily="2" charset="2"/>
              </a:rPr>
              <a:t>AI</a:t>
            </a:r>
            <a:r>
              <a:rPr lang="zh-CN" altLang="en-US" sz="3400">
                <a:latin typeface="微软雅黑 Light" panose="020B0502040204020203" pitchFamily="34" charset="-122"/>
                <a:ea typeface="微软雅黑 Light" panose="020B0502040204020203" pitchFamily="34" charset="-122"/>
                <a:sym typeface="Wingdings" panose="05000000000000000000" pitchFamily="2" charset="2"/>
              </a:rPr>
              <a:t>的发展趋势做一个汇总和深度总结：</a:t>
            </a:r>
            <a:endParaRPr lang="en-US" altLang="zh-CN" sz="34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5" name="图片 4"/>
          <p:cNvPicPr>
            <a:picLocks noChangeAspect="1"/>
          </p:cNvPicPr>
          <p:nvPr/>
        </p:nvPicPr>
        <p:blipFill>
          <a:blip r:embed="rId1"/>
          <a:stretch>
            <a:fillRect/>
          </a:stretch>
        </p:blipFill>
        <p:spPr>
          <a:xfrm>
            <a:off x="12530664" y="7750345"/>
            <a:ext cx="11463978" cy="5748273"/>
          </a:xfrm>
          <a:prstGeom prst="rect">
            <a:avLst/>
          </a:prstGeom>
        </p:spPr>
      </p:pic>
      <p:pic>
        <p:nvPicPr>
          <p:cNvPr id="6" name="图片 5"/>
          <p:cNvPicPr>
            <a:picLocks noChangeAspect="1"/>
          </p:cNvPicPr>
          <p:nvPr/>
        </p:nvPicPr>
        <p:blipFill>
          <a:blip r:embed="rId2"/>
          <a:stretch>
            <a:fillRect/>
          </a:stretch>
        </p:blipFill>
        <p:spPr>
          <a:xfrm>
            <a:off x="1243044" y="8049640"/>
            <a:ext cx="9255623" cy="5448978"/>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4" y="1769012"/>
            <a:ext cx="23249467" cy="1666610"/>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上课环境说明：</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版本 </a:t>
            </a:r>
            <a:r>
              <a:rPr lang="en-US" altLang="zh-CN" sz="3600">
                <a:latin typeface="微软雅黑 Light" panose="020B0502040204020203" pitchFamily="34" charset="-122"/>
                <a:ea typeface="微软雅黑 Light" panose="020B0502040204020203" pitchFamily="34" charset="-122"/>
              </a:rPr>
              <a:t>3.11</a:t>
            </a:r>
            <a:endParaRPr lang="en-US" altLang="zh-CN" sz="3600">
              <a:latin typeface="微软雅黑 Light" panose="020B0502040204020203" pitchFamily="34" charset="-122"/>
              <a:ea typeface="微软雅黑 Light" panose="020B0502040204020203" pitchFamily="34" charset="-122"/>
            </a:endParaRPr>
          </a:p>
          <a:p>
            <a:r>
              <a:rPr lang="zh-CN" altLang="en-US" sz="3600">
                <a:latin typeface="微软雅黑 Light" panose="020B0502040204020203" pitchFamily="34" charset="-122"/>
                <a:ea typeface="微软雅黑 Light" panose="020B0502040204020203" pitchFamily="34" charset="-122"/>
              </a:rPr>
              <a:t>需要安装的</a:t>
            </a:r>
            <a:r>
              <a:rPr lang="en-US" altLang="zh-CN" sz="3600">
                <a:latin typeface="微软雅黑 Light" panose="020B0502040204020203" pitchFamily="34" charset="-122"/>
                <a:ea typeface="微软雅黑 Light" panose="020B0502040204020203" pitchFamily="34" charset="-122"/>
              </a:rPr>
              <a:t>Python</a:t>
            </a:r>
            <a:r>
              <a:rPr lang="zh-CN" altLang="en-US" sz="3600">
                <a:latin typeface="微软雅黑 Light" panose="020B0502040204020203" pitchFamily="34" charset="-122"/>
                <a:ea typeface="微软雅黑 Light" panose="020B0502040204020203" pitchFamily="34" charset="-122"/>
              </a:rPr>
              <a:t>库</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sp>
        <p:nvSpPr>
          <p:cNvPr id="2" name="TextBox 8"/>
          <p:cNvSpPr txBox="1"/>
          <p:nvPr/>
        </p:nvSpPr>
        <p:spPr>
          <a:xfrm>
            <a:off x="1929343" y="3596366"/>
            <a:ext cx="21557189" cy="590931"/>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rPr>
              <a:t>直接使用提供的</a:t>
            </a:r>
            <a:r>
              <a:rPr lang="en-US" altLang="zh-CN" sz="3600">
                <a:latin typeface="微软雅黑 Light" panose="020B0502040204020203" pitchFamily="34" charset="-122"/>
                <a:ea typeface="微软雅黑 Light" panose="020B0502040204020203" pitchFamily="34" charset="-122"/>
              </a:rPr>
              <a:t>requirements.txt</a:t>
            </a:r>
            <a:r>
              <a:rPr lang="zh-CN" altLang="en-US" sz="3600">
                <a:latin typeface="微软雅黑 Light" panose="020B0502040204020203" pitchFamily="34" charset="-122"/>
                <a:ea typeface="微软雅黑 Light" panose="020B0502040204020203" pitchFamily="34" charset="-122"/>
              </a:rPr>
              <a:t>一次性安装，请</a:t>
            </a:r>
            <a:r>
              <a:rPr lang="zh-CN" altLang="en-US" sz="3600" b="1">
                <a:solidFill>
                  <a:schemeClr val="accent5">
                    <a:lumMod val="50000"/>
                  </a:schemeClr>
                </a:solidFill>
                <a:latin typeface="微软雅黑 Light" panose="020B0502040204020203" pitchFamily="34" charset="-122"/>
                <a:ea typeface="微软雅黑 Light" panose="020B0502040204020203" pitchFamily="34" charset="-122"/>
              </a:rPr>
              <a:t>在项目的虚拟环境中执行 </a:t>
            </a:r>
            <a:r>
              <a:rPr lang="en-US" altLang="zh-CN" sz="3600" b="1">
                <a:solidFill>
                  <a:schemeClr val="accent5">
                    <a:lumMod val="50000"/>
                  </a:schemeClr>
                </a:solidFill>
                <a:latin typeface="微软雅黑 Light" panose="020B0502040204020203" pitchFamily="34" charset="-122"/>
                <a:ea typeface="微软雅黑 Light" panose="020B0502040204020203" pitchFamily="34" charset="-122"/>
              </a:rPr>
              <a:t>pip install -r requirements.txt</a:t>
            </a:r>
            <a:endParaRPr lang="en-US" altLang="zh-CN" sz="3600" b="1">
              <a:solidFill>
                <a:schemeClr val="accent5">
                  <a:lumMod val="50000"/>
                </a:schemeClr>
              </a:solidFill>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11" name="图片 10"/>
          <p:cNvPicPr>
            <a:picLocks noChangeAspect="1"/>
          </p:cNvPicPr>
          <p:nvPr/>
        </p:nvPicPr>
        <p:blipFill>
          <a:blip r:embed="rId1"/>
          <a:stretch>
            <a:fillRect/>
          </a:stretch>
        </p:blipFill>
        <p:spPr>
          <a:xfrm>
            <a:off x="3124233" y="4348041"/>
            <a:ext cx="15245046" cy="8741426"/>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a:solidFill>
                  <a:srgbClr val="262C5B"/>
                </a:solidFill>
                <a:latin typeface=".萍方-简" panose="020B0300000000000000" charset="-122"/>
                <a:ea typeface=".萍方-简" panose="020B0300000000000000" charset="-122"/>
                <a:cs typeface="微软雅黑" panose="020B0503020204020204" pitchFamily="34" charset="-120"/>
                <a:sym typeface="+mn-ea"/>
              </a:rPr>
              <a:t>本阶段环境</a:t>
            </a:r>
            <a:endParaRPr lang="zh-CN">
              <a:latin typeface=".萍方-简" panose="020B0300000000000000" charset="-122"/>
              <a:ea typeface=".萍方-简" panose="020B0300000000000000" charset="-122"/>
            </a:endParaRPr>
          </a:p>
        </p:txBody>
      </p:sp>
      <p:sp>
        <p:nvSpPr>
          <p:cNvPr id="4" name="TextBox 8"/>
          <p:cNvSpPr txBox="1"/>
          <p:nvPr/>
        </p:nvSpPr>
        <p:spPr>
          <a:xfrm>
            <a:off x="922865" y="1769012"/>
            <a:ext cx="22479002" cy="1089529"/>
          </a:xfrm>
          <a:prstGeom prst="rect">
            <a:avLst/>
          </a:prstGeom>
          <a:noFill/>
        </p:spPr>
        <p:txBody>
          <a:bodyPr wrap="square" rtlCol="0">
            <a:spAutoFit/>
          </a:bodyPr>
          <a:lstStyle/>
          <a:p>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各个大模型平台的</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请自行申请，喜欢哪个平台就用哪个平台</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建议阿里云百炼、腾讯混元</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。从安全角度考虑，</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 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统一放在操作系统的系统变量中，代码中读取</a:t>
            </a:r>
            <a:r>
              <a:rPr lang="en-US" altLang="zh-CN" sz="3600">
                <a:latin typeface="微软雅黑 Light" panose="020B0502040204020203" pitchFamily="34" charset="-122"/>
                <a:ea typeface="微软雅黑 Light" panose="020B0502040204020203" pitchFamily="34" charset="-122"/>
                <a:sym typeface="Wingdings" panose="05000000000000000000" pitchFamily="2" charset="2"/>
              </a:rPr>
              <a:t>API-KEY</a:t>
            </a:r>
            <a:r>
              <a:rPr lang="zh-CN" altLang="en-US" sz="3600">
                <a:latin typeface="微软雅黑 Light" panose="020B0502040204020203" pitchFamily="34" charset="-122"/>
                <a:ea typeface="微软雅黑 Light" panose="020B0502040204020203" pitchFamily="34" charset="-122"/>
                <a:sym typeface="Wingdings" panose="05000000000000000000" pitchFamily="2" charset="2"/>
              </a:rPr>
              <a:t>也会统一到操作系统的系统变量中读取</a:t>
            </a:r>
            <a:endParaRPr lang="en-US" altLang="zh-CN" sz="3600">
              <a:latin typeface="微软雅黑 Light" panose="020B0502040204020203" pitchFamily="34" charset="-122"/>
              <a:ea typeface="微软雅黑 Light" panose="020B0502040204020203" pitchFamily="34" charset="-122"/>
              <a:sym typeface="Wingdings" panose="05000000000000000000" pitchFamily="2" charset="2"/>
            </a:endParaRPr>
          </a:p>
        </p:txBody>
      </p:sp>
      <p:pic>
        <p:nvPicPr>
          <p:cNvPr id="6" name="图片 5"/>
          <p:cNvPicPr>
            <a:picLocks noChangeAspect="1"/>
          </p:cNvPicPr>
          <p:nvPr/>
        </p:nvPicPr>
        <p:blipFill>
          <a:blip r:embed="rId1"/>
          <a:stretch>
            <a:fillRect/>
          </a:stretch>
        </p:blipFill>
        <p:spPr>
          <a:xfrm>
            <a:off x="602442" y="3964641"/>
            <a:ext cx="7257464" cy="9153070"/>
          </a:xfrm>
          <a:prstGeom prst="rect">
            <a:avLst/>
          </a:prstGeom>
        </p:spPr>
      </p:pic>
      <p:pic>
        <p:nvPicPr>
          <p:cNvPr id="8" name="图片 7"/>
          <p:cNvPicPr>
            <a:picLocks noChangeAspect="1"/>
          </p:cNvPicPr>
          <p:nvPr/>
        </p:nvPicPr>
        <p:blipFill>
          <a:blip r:embed="rId2"/>
          <a:stretch>
            <a:fillRect/>
          </a:stretch>
        </p:blipFill>
        <p:spPr>
          <a:xfrm>
            <a:off x="8012354" y="3959019"/>
            <a:ext cx="7416382" cy="9158692"/>
          </a:xfrm>
          <a:prstGeom prst="rect">
            <a:avLst/>
          </a:prstGeom>
        </p:spPr>
      </p:pic>
      <p:pic>
        <p:nvPicPr>
          <p:cNvPr id="10" name="图片 9"/>
          <p:cNvPicPr>
            <a:picLocks noChangeAspect="1"/>
          </p:cNvPicPr>
          <p:nvPr/>
        </p:nvPicPr>
        <p:blipFill>
          <a:blip r:embed="rId3"/>
          <a:stretch>
            <a:fillRect/>
          </a:stretch>
        </p:blipFill>
        <p:spPr>
          <a:xfrm>
            <a:off x="15581184" y="3959019"/>
            <a:ext cx="8523637" cy="4422247"/>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3672743" y="3507853"/>
            <a:ext cx="17038512" cy="4650775"/>
            <a:chOff x="-1" y="0"/>
            <a:chExt cx="17038510" cy="4650773"/>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300000000000000" charset="-122"/>
                  <a:ea typeface=".萍方-简" panose="020B0300000000000000" charset="-122"/>
                  <a:cs typeface=".萍方-简" panose="020B0300000000000000" charset="-122"/>
                </a:rPr>
                <a:t>智泊AI大模型实战课</a:t>
              </a:r>
              <a:endParaRPr>
                <a:latin typeface=".萍方-简" panose="020B0300000000000000" charset="-122"/>
                <a:ea typeface=".萍方-简" panose="020B0300000000000000" charset="-122"/>
                <a:cs typeface=".萍方-简" panose="020B0300000000000000" charset="-122"/>
              </a:endParaRPr>
            </a:p>
          </p:txBody>
        </p:sp>
        <p:sp>
          <p:nvSpPr>
            <p:cNvPr id="71" name="这里是本节课程的课题"/>
            <p:cNvSpPr txBox="1"/>
            <p:nvPr/>
          </p:nvSpPr>
          <p:spPr>
            <a:xfrm>
              <a:off x="-1" y="1551972"/>
              <a:ext cx="17038510" cy="309880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zh-CN" altLang="en-US">
                  <a:latin typeface=".萍方-简" panose="020B0300000000000000" charset="-122"/>
                  <a:ea typeface=".萍方-简" panose="020B0300000000000000" charset="-122"/>
                </a:rPr>
                <a:t>掌握</a:t>
              </a:r>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应用评估技能和工具</a:t>
              </a:r>
              <a:endParaRPr lang="zh-CN">
                <a:latin typeface=".萍方-简" panose="020B0300000000000000" charset="-122"/>
                <a:ea typeface=".萍方-简" panose="020B03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大白</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这里是目录 1…"/>
          <p:cNvSpPr txBox="1">
            <a:spLocks noGrp="1"/>
          </p:cNvSpPr>
          <p:nvPr>
            <p:ph type="body" idx="1"/>
          </p:nvPr>
        </p:nvSpPr>
        <p:spPr>
          <a:xfrm>
            <a:off x="9059573" y="1975264"/>
            <a:ext cx="15188959" cy="9336203"/>
          </a:xfrm>
          <a:prstGeom prst="rect">
            <a:avLst/>
          </a:prstGeom>
        </p:spPr>
        <p:txBody>
          <a:bodyPr>
            <a:normAutofit/>
          </a:bodyPr>
          <a:lstStyle/>
          <a:p>
            <a:pPr>
              <a:buFont typeface="Wingdings" panose="05000000000000000000" charset="0"/>
              <a:buChar char=""/>
            </a:pP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评估的依据和指标</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常用的</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RAG</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评估工具</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应用实战</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1</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：实战医疗评估深入了解指标和优化方向</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应用实战</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2</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：评估选择合适的知识块大小</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a:p>
            <a:pPr>
              <a:buFont typeface="Wingdings" panose="05000000000000000000" charset="0"/>
              <a:buChar char=""/>
            </a:pP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应用实战</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3</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2023</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全球智能汽车</a:t>
            </a:r>
            <a:r>
              <a:rPr lang="en-US" altLang="zh-CN" b="1">
                <a:solidFill>
                  <a:srgbClr val="262C5B"/>
                </a:solidFill>
                <a:latin typeface=".萍方-简" panose="020B0300000000000000" charset="-122"/>
                <a:ea typeface=".萍方-简" panose="020B0300000000000000" charset="-122"/>
                <a:cs typeface=".萍方-简" panose="020B0300000000000000" charset="-122"/>
                <a:sym typeface="+mn-ea"/>
              </a:rPr>
              <a:t>AI</a:t>
            </a:r>
            <a:r>
              <a:rPr lang="zh-CN" altLang="en-US" b="1">
                <a:solidFill>
                  <a:srgbClr val="262C5B"/>
                </a:solidFill>
                <a:latin typeface=".萍方-简" panose="020B0300000000000000" charset="-122"/>
                <a:ea typeface=".萍方-简" panose="020B0300000000000000" charset="-122"/>
                <a:cs typeface=".萍方-简" panose="020B0300000000000000" charset="-122"/>
                <a:sym typeface="+mn-ea"/>
              </a:rPr>
              <a:t>挑战赛</a:t>
            </a:r>
            <a:endParaRPr lang="en-US" altLang="zh-CN" b="1">
              <a:solidFill>
                <a:srgbClr val="262C5B"/>
              </a:solidFill>
              <a:latin typeface=".萍方-简" panose="020B0300000000000000" charset="-122"/>
              <a:ea typeface=".萍方-简" panose="020B0300000000000000" charset="-122"/>
              <a:cs typeface=".萍方-简" panose="020B0300000000000000" charset="-122"/>
              <a:sym typeface="+mn-e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评估的依据和指标</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应用的评估必要性</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1048204" y="2005338"/>
            <a:ext cx="22556862" cy="7397603"/>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a:buNone/>
            </a:pPr>
            <a:r>
              <a:rPr lang="zh-CN" altLang="en-US" sz="4000" b="1">
                <a:latin typeface=".萍方-简" panose="020B0300000000000000" charset="-122"/>
                <a:ea typeface=".萍方-简" panose="020B0300000000000000" charset="-122"/>
              </a:rPr>
              <a:t>当我们准备将一个基于大模型的 </a:t>
            </a:r>
            <a:r>
              <a:rPr lang="en-US" altLang="zh-CN" sz="4000" b="1">
                <a:latin typeface=".萍方-简" panose="020B0300000000000000" charset="-122"/>
                <a:ea typeface=".萍方-简" panose="020B0300000000000000" charset="-122"/>
              </a:rPr>
              <a:t>RAG </a:t>
            </a:r>
            <a:r>
              <a:rPr lang="zh-CN" altLang="en-US" sz="4000" b="1">
                <a:latin typeface=".萍方-简" panose="020B0300000000000000" charset="-122"/>
                <a:ea typeface=".萍方-简" panose="020B0300000000000000" charset="-122"/>
              </a:rPr>
              <a:t>应用投入生产时，有一些问题是需要提前考虑与应对的：</a:t>
            </a:r>
            <a:endParaRPr lang="zh-CN" altLang="en-US" sz="4000" b="1">
              <a:latin typeface=".萍方-简" panose="020B0300000000000000" charset="-122"/>
              <a:ea typeface=".萍方-简" panose="020B0300000000000000" charset="-122"/>
            </a:endParaRPr>
          </a:p>
          <a:p>
            <a:pPr>
              <a:buNone/>
            </a:pPr>
            <a:r>
              <a:rPr lang="zh-CN" altLang="en-US" sz="4000" b="1">
                <a:latin typeface=".萍方-简" panose="020B0300000000000000" charset="-122"/>
                <a:ea typeface=".萍方-简" panose="020B0300000000000000" charset="-122"/>
              </a:rPr>
              <a:t>（ </a:t>
            </a:r>
            <a:r>
              <a:rPr lang="en-US" altLang="zh-CN" sz="4000" b="1">
                <a:latin typeface=".萍方-简" panose="020B0300000000000000" charset="-122"/>
                <a:ea typeface=".萍方-简" panose="020B0300000000000000" charset="-122"/>
              </a:rPr>
              <a:t>1</a:t>
            </a:r>
            <a:r>
              <a:rPr lang="zh-CN" altLang="en-US" sz="4000" b="1">
                <a:latin typeface=".萍方-简" panose="020B0300000000000000" charset="-122"/>
                <a:ea typeface=".萍方-简" panose="020B0300000000000000" charset="-122"/>
              </a:rPr>
              <a:t>）大模型输出的不确定性会带来一定的不可预知性。一个 </a:t>
            </a:r>
            <a:r>
              <a:rPr lang="en-US" altLang="zh-CN" sz="4000" b="1">
                <a:latin typeface=".萍方-简" panose="020B0300000000000000" charset="-122"/>
                <a:ea typeface=".萍方-简" panose="020B0300000000000000" charset="-122"/>
              </a:rPr>
              <a:t>RAG </a:t>
            </a:r>
            <a:r>
              <a:rPr lang="zh-CN" altLang="en-US" sz="4000" b="1">
                <a:latin typeface=".萍方-简" panose="020B0300000000000000" charset="-122"/>
                <a:ea typeface=".萍方-简" panose="020B0300000000000000" charset="-122"/>
              </a:rPr>
              <a:t>应用在投入生产之前需要科学的测试以衡量这种不可预知性。</a:t>
            </a:r>
            <a:endParaRPr lang="zh-CN" altLang="en-US" sz="4000" b="1">
              <a:latin typeface=".萍方-简" panose="020B0300000000000000" charset="-122"/>
              <a:ea typeface=".萍方-简" panose="020B0300000000000000" charset="-122"/>
            </a:endParaRPr>
          </a:p>
          <a:p>
            <a:pPr>
              <a:buNone/>
            </a:pPr>
            <a:r>
              <a:rPr lang="zh-CN" altLang="en-US" sz="4000" b="1">
                <a:latin typeface=".萍方-简" panose="020B0300000000000000" charset="-122"/>
                <a:ea typeface=".萍方-简" panose="020B0300000000000000" charset="-122"/>
              </a:rPr>
              <a:t>（ </a:t>
            </a:r>
            <a:r>
              <a:rPr lang="en-US" altLang="zh-CN" sz="4000" b="1">
                <a:latin typeface=".萍方-简" panose="020B0300000000000000" charset="-122"/>
                <a:ea typeface=".萍方-简" panose="020B0300000000000000" charset="-122"/>
              </a:rPr>
              <a:t>2</a:t>
            </a:r>
            <a:r>
              <a:rPr lang="zh-CN" altLang="en-US" sz="4000" b="1">
                <a:latin typeface=".萍方-简" panose="020B0300000000000000" charset="-122"/>
                <a:ea typeface=".萍方-简" panose="020B0300000000000000" charset="-122"/>
              </a:rPr>
              <a:t>）在大模型应用上线后的持续维护中，需要科学、快速、可复用的手段来衡量其改进效果，比如回答的置信度是上升了 </a:t>
            </a:r>
            <a:r>
              <a:rPr lang="en-US" altLang="zh-CN" sz="4000" b="1">
                <a:latin typeface=".萍方-简" panose="020B0300000000000000" charset="-122"/>
                <a:ea typeface=".萍方-简" panose="020B0300000000000000" charset="-122"/>
              </a:rPr>
              <a:t>10%</a:t>
            </a:r>
            <a:r>
              <a:rPr lang="zh-CN" altLang="en-US" sz="4000" b="1">
                <a:latin typeface=".萍方-简" panose="020B0300000000000000" charset="-122"/>
                <a:ea typeface=".萍方-简" panose="020B0300000000000000" charset="-122"/>
              </a:rPr>
              <a:t>还是下降了 </a:t>
            </a:r>
            <a:r>
              <a:rPr lang="en-US" altLang="zh-CN" sz="4000" b="1">
                <a:latin typeface=".萍方-简" panose="020B0300000000000000" charset="-122"/>
                <a:ea typeface=".萍方-简" panose="020B0300000000000000" charset="-122"/>
              </a:rPr>
              <a:t>5%</a:t>
            </a:r>
            <a:r>
              <a:rPr lang="zh-CN" altLang="en-US" sz="4000" b="1">
                <a:latin typeface=".萍方-简" panose="020B0300000000000000" charset="-122"/>
                <a:ea typeface=".萍方-简" panose="020B0300000000000000" charset="-122"/>
              </a:rPr>
              <a:t>？</a:t>
            </a:r>
            <a:endParaRPr lang="zh-CN" altLang="en-US" sz="4000" b="1">
              <a:latin typeface=".萍方-简" panose="020B0300000000000000" charset="-122"/>
              <a:ea typeface=".萍方-简" panose="020B0300000000000000" charset="-122"/>
            </a:endParaRPr>
          </a:p>
          <a:p>
            <a:pPr>
              <a:buNone/>
            </a:pPr>
            <a:r>
              <a:rPr lang="zh-CN" altLang="en-US" sz="4000" b="1">
                <a:latin typeface=".萍方-简" panose="020B0300000000000000" charset="-122"/>
                <a:ea typeface=".萍方-简" panose="020B0300000000000000" charset="-122"/>
              </a:rPr>
              <a:t>（ </a:t>
            </a:r>
            <a:r>
              <a:rPr lang="en-US" altLang="zh-CN" sz="4000" b="1">
                <a:latin typeface=".萍方-简" panose="020B0300000000000000" charset="-122"/>
                <a:ea typeface=".萍方-简" panose="020B0300000000000000" charset="-122"/>
              </a:rPr>
              <a:t>3</a:t>
            </a:r>
            <a:r>
              <a:rPr lang="zh-CN" altLang="en-US" sz="4000" b="1">
                <a:latin typeface=".萍方-简" panose="020B0300000000000000" charset="-122"/>
                <a:ea typeface=".萍方-简" panose="020B0300000000000000" charset="-122"/>
              </a:rPr>
              <a:t>） </a:t>
            </a:r>
            <a:r>
              <a:rPr lang="en-US" altLang="zh-CN" sz="4000" b="1">
                <a:latin typeface=".萍方-简" panose="020B0300000000000000" charset="-122"/>
                <a:ea typeface=".萍方-简" panose="020B0300000000000000" charset="-122"/>
              </a:rPr>
              <a:t>RAG </a:t>
            </a:r>
            <a:r>
              <a:rPr lang="zh-CN" altLang="en-US" sz="4000" b="1">
                <a:latin typeface=".萍方-简" panose="020B0300000000000000" charset="-122"/>
                <a:ea typeface=".萍方-简" panose="020B0300000000000000" charset="-122"/>
              </a:rPr>
              <a:t>应用的“外挂”知识库是动态的，在不断维护的过程中，可能会产生新的知识干扰。 因此， 定期检测与重新评估是确保应用质量的重要手段。</a:t>
            </a:r>
            <a:endParaRPr lang="zh-CN" altLang="en-US" sz="4000" b="1">
              <a:latin typeface=".萍方-简" panose="020B0300000000000000" charset="-122"/>
              <a:ea typeface=".萍方-简" panose="020B0300000000000000" charset="-122"/>
            </a:endParaRPr>
          </a:p>
          <a:p>
            <a:pPr>
              <a:buNone/>
            </a:pPr>
            <a:r>
              <a:rPr lang="zh-CN" altLang="en-US" sz="4000" b="1">
                <a:latin typeface=".萍方-简" panose="020B0300000000000000" charset="-122"/>
                <a:ea typeface=".萍方-简" panose="020B0300000000000000" charset="-122"/>
              </a:rPr>
              <a:t>（ </a:t>
            </a:r>
            <a:r>
              <a:rPr lang="en-US" altLang="zh-CN" sz="4000" b="1">
                <a:latin typeface=".萍方-简" panose="020B0300000000000000" charset="-122"/>
                <a:ea typeface=".萍方-简" panose="020B0300000000000000" charset="-122"/>
              </a:rPr>
              <a:t>4</a:t>
            </a:r>
            <a:r>
              <a:rPr lang="zh-CN" altLang="en-US" sz="4000" b="1">
                <a:latin typeface=".萍方-简" panose="020B0300000000000000" charset="-122"/>
                <a:ea typeface=".萍方-简" panose="020B0300000000000000" charset="-122"/>
              </a:rPr>
              <a:t>）由于 </a:t>
            </a:r>
            <a:r>
              <a:rPr lang="en-US" altLang="zh-CN" sz="4000" b="1">
                <a:latin typeface=".萍方-简" panose="020B0300000000000000" charset="-122"/>
                <a:ea typeface=".萍方-简" panose="020B0300000000000000" charset="-122"/>
              </a:rPr>
              <a:t>RAG </a:t>
            </a:r>
            <a:r>
              <a:rPr lang="zh-CN" altLang="en-US" sz="4000" b="1">
                <a:latin typeface=".萍方-简" panose="020B0300000000000000" charset="-122"/>
                <a:ea typeface=".萍方-简" panose="020B0300000000000000" charset="-122"/>
              </a:rPr>
              <a:t>应用依赖基础大模型，那么如何在大量的商业与开源大模型中选择最适合企业的大模型或如何知道大模型升级一次版本对 </a:t>
            </a:r>
            <a:r>
              <a:rPr lang="en-US" altLang="zh-CN" sz="4000" b="1">
                <a:latin typeface=".萍方-简" panose="020B0300000000000000" charset="-122"/>
                <a:ea typeface=".萍方-简" panose="020B0300000000000000" charset="-122"/>
              </a:rPr>
              <a:t>RAG </a:t>
            </a:r>
            <a:r>
              <a:rPr lang="zh-CN" altLang="en-US" sz="4000" b="1">
                <a:latin typeface=".萍方-简" panose="020B0300000000000000" charset="-122"/>
                <a:ea typeface=".萍方-简" panose="020B0300000000000000" charset="-122"/>
              </a:rPr>
              <a:t>应用产生了多大影响？</a:t>
            </a:r>
            <a:endParaRPr lang="zh-CN" altLang="en-US" sz="3600">
              <a:effectLst/>
              <a:latin typeface=".萍方-简" panose="020B0300000000000000" charset="-122"/>
              <a:ea typeface=".萍方-简" panose="020B0300000000000000"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应用的评估方法</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953196" y="2061340"/>
            <a:ext cx="22103094" cy="79849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人工评估</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lvl="8" indent="0"/>
            <a:r>
              <a:rPr lang="zh-CN" altLang="en-US" sz="4000">
                <a:latin typeface=".萍方-简" panose="020B0300000000000000" charset="-122"/>
                <a:ea typeface=".萍方-简" panose="020B0300000000000000" charset="-122"/>
              </a:rPr>
              <a:t>人工评估是</a:t>
            </a:r>
            <a:r>
              <a:rPr lang="en-US" altLang="zh-CN" sz="4000">
                <a:latin typeface=".萍方-简" panose="020B0300000000000000" charset="-122"/>
                <a:ea typeface=".萍方-简" panose="020B0300000000000000" charset="-122"/>
              </a:rPr>
              <a:t>RAG</a:t>
            </a:r>
            <a:r>
              <a:rPr lang="zh-CN" altLang="en-US" sz="4000">
                <a:latin typeface=".萍方-简" panose="020B0300000000000000" charset="-122"/>
                <a:ea typeface=".萍方-简" panose="020B0300000000000000" charset="-122"/>
              </a:rPr>
              <a:t>评估的基础方法，通过邀请专家或人工评估员对</a:t>
            </a:r>
            <a:r>
              <a:rPr lang="en-US" altLang="zh-CN" sz="4000">
                <a:latin typeface=".萍方-简" panose="020B0300000000000000" charset="-122"/>
                <a:ea typeface=".萍方-简" panose="020B0300000000000000" charset="-122"/>
              </a:rPr>
              <a:t>RAG</a:t>
            </a:r>
            <a:r>
              <a:rPr lang="zh-CN" altLang="en-US" sz="4000">
                <a:latin typeface=".萍方-简" panose="020B0300000000000000" charset="-122"/>
                <a:ea typeface=".萍方-简" panose="020B0300000000000000" charset="-122"/>
              </a:rPr>
              <a:t>生成的结果进行质量评估。评估标准通常包括准确性、连贯性、相关性等。</a:t>
            </a:r>
            <a:endParaRPr lang="en-US" altLang="zh-CN" sz="4000">
              <a:latin typeface=".萍方-简" panose="020B0300000000000000" charset="-122"/>
              <a:ea typeface=".萍方-简" panose="020B0300000000000000" charset="-122"/>
            </a:endParaRPr>
          </a:p>
          <a:p>
            <a:pPr marL="360045" lvl="6" indent="0"/>
            <a:r>
              <a:rPr lang="zh-CN" altLang="en-US" sz="4000">
                <a:latin typeface=".萍方-简" panose="020B0300000000000000" charset="-122"/>
                <a:ea typeface=".萍方-简" panose="020B0300000000000000" charset="-122"/>
              </a:rPr>
              <a:t>尽管人工评估能够提供高质量的反馈，但这种方法耗时费力，且受限于评估员的主观性和经验差异。</a:t>
            </a:r>
            <a:endParaRPr lang="en-US" altLang="zh-CN" sz="4000">
              <a:latin typeface=".萍方-简" panose="020B0300000000000000" charset="-122"/>
              <a:ea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自动化评估</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lvl="1" indent="0"/>
            <a:r>
              <a:rPr lang="zh-CN" altLang="en-US" sz="4000">
                <a:latin typeface=".萍方-简" panose="020B0300000000000000" charset="-122"/>
                <a:ea typeface=".萍方-简" panose="020B0300000000000000" charset="-122"/>
              </a:rPr>
              <a:t>自动化评估是当前</a:t>
            </a:r>
            <a:r>
              <a:rPr lang="en-US" altLang="zh-CN" sz="4000">
                <a:latin typeface=".萍方-简" panose="020B0300000000000000" charset="-122"/>
                <a:ea typeface=".萍方-简" panose="020B0300000000000000" charset="-122"/>
              </a:rPr>
              <a:t>RAG</a:t>
            </a:r>
            <a:r>
              <a:rPr lang="zh-CN" altLang="en-US" sz="4000">
                <a:latin typeface=".萍方-简" panose="020B0300000000000000" charset="-122"/>
                <a:ea typeface=".萍方-简" panose="020B0300000000000000" charset="-122"/>
              </a:rPr>
              <a:t>评估的主流和发展方向。通过利用大型语言模型和相关算法，自动化评估工具能够实现对</a:t>
            </a:r>
            <a:r>
              <a:rPr lang="en-US" altLang="zh-CN" sz="4000">
                <a:latin typeface=".萍方-简" panose="020B0300000000000000" charset="-122"/>
                <a:ea typeface=".萍方-简" panose="020B0300000000000000" charset="-122"/>
              </a:rPr>
              <a:t>RAG</a:t>
            </a:r>
            <a:r>
              <a:rPr lang="zh-CN" altLang="en-US" sz="4000">
                <a:latin typeface=".萍方-简" panose="020B0300000000000000" charset="-122"/>
                <a:ea typeface=".萍方-简" panose="020B0300000000000000" charset="-122"/>
              </a:rPr>
              <a:t>生成文本的质量评分，从而快速评估模型性能。</a:t>
            </a:r>
            <a:endParaRPr lang="en-US" altLang="zh-CN" sz="4000">
              <a:latin typeface=".萍方-简" panose="020B0300000000000000" charset="-122"/>
              <a:ea typeface=".萍方-简" panose="020B0300000000000000" charset="-122"/>
            </a:endParaRPr>
          </a:p>
          <a:p>
            <a:pPr marL="360045" lvl="1" indent="0"/>
            <a:r>
              <a:rPr lang="zh-CN" altLang="en-US" sz="4000">
                <a:latin typeface=".萍方-简" panose="020B0300000000000000" charset="-122"/>
                <a:ea typeface=".萍方-简" panose="020B0300000000000000" charset="-122"/>
              </a:rPr>
              <a:t>这种方法不仅提高了评估效率，还降低了人力成本。</a:t>
            </a: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应用的评估依据与指标</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943173" y="1911781"/>
            <a:ext cx="22103094" cy="29066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基于大模型的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应用与传统应用有很大的不同：传统应用的输出大多是确定的且易于衡量的，比如输出一个确定的数值；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应用的输入和输出都是自然语言，其输出一般是一段文字，无法通过简单的定量判断评估其相关性与准确性等，往往需要借助更智能的工具与评估模型。</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3" name="文本框 2"/>
          <p:cNvSpPr txBox="1"/>
          <p:nvPr/>
        </p:nvSpPr>
        <p:spPr>
          <a:xfrm>
            <a:off x="943173" y="5801135"/>
            <a:ext cx="22103094" cy="348371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任何</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系统的有效性和性能都严重依赖于这两个核心组件：检索器和生成器。</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检索器必须高效地识别和检索最相关的文档，而生成器应该使用检索到的信息生成连贯、相关和准确的响应。</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在部署之前，对这些组件进行严格评估对于确保</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模型的最佳性能和可靠性至关重要。</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应用的评估类型和输入</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243044" y="1859788"/>
            <a:ext cx="22103094" cy="292971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为了评估</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系统，我们通常使用两种类型的评估：</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检索评估</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响应评估</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3" name="文本框 2"/>
          <p:cNvSpPr txBox="1"/>
          <p:nvPr/>
        </p:nvSpPr>
        <p:spPr>
          <a:xfrm>
            <a:off x="1243044" y="5601907"/>
            <a:ext cx="22103094" cy="179863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检索评估的主要目标是评估上下文相关性，即检索到的文档与用户查询的匹配程度。</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它确保提供给生成组件的上下文是相关和准确的。</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4" name="文本框 3"/>
          <p:cNvSpPr txBox="1"/>
          <p:nvPr/>
        </p:nvSpPr>
        <p:spPr>
          <a:xfrm>
            <a:off x="1243044" y="8381607"/>
            <a:ext cx="22103094" cy="179863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响应评估适用于系统的生成组件。</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这些评估衡量系统根据检索到的文档提供的上下文有效地生成响应的能力。</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t>
            </a:r>
            <a:r>
              <a:rPr lang="zh-CN" altLang="en-US" b="1">
                <a:latin typeface=".萍方-简" panose="020B0300000000000000" charset="-122"/>
                <a:ea typeface=".萍方-简" panose="020B0300000000000000" charset="-122"/>
                <a:cs typeface=".萍方-简" panose="020B0300000000000000" charset="-122"/>
              </a:rPr>
              <a:t>应用的评估类型和输入</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243044" y="2538690"/>
            <a:ext cx="21347014" cy="971618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应用的评估依据，即评估模块的输入一般包括以下要素</a:t>
            </a:r>
            <a:r>
              <a:rPr lang="zh-CN" altLang="en-US" sz="4000">
                <a:latin typeface=".萍方-简" panose="020B0300000000000000" charset="-122"/>
                <a:ea typeface=".萍方-简" panose="020B0300000000000000" charset="-122"/>
                <a:cs typeface=".萍方-简" panose="020B0300000000000000" charset="-122"/>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）输入问题（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question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）：用户在使用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应用时的输入问题。</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2</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）生成的答案（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）：需要评估的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应用的输出，即问题的答案。</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3</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）：用于增强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应用输出的参考上下文，通常在检索阶段生成。</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4</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）参考答案（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reference_answer</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）：输入问题的真实的正确答案，通常需要人类标注。</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基于这些评估依据，对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应用进行评估时，按评估类型的常见指标如下：</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上下文相关性（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上下文精度（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Precision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上下文召回率（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Recall</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3" name="文本框 2"/>
          <p:cNvSpPr txBox="1"/>
          <p:nvPr/>
        </p:nvSpPr>
        <p:spPr>
          <a:xfrm>
            <a:off x="12192000" y="9378676"/>
            <a:ext cx="9933947" cy="179863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忠实度（</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答案相关性（</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检索评估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920318" y="1775853"/>
            <a:ext cx="22103094" cy="179863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常见评估指标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上下文相关性</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检索出的上下文与输入问题之间的相关性，即上下文中有多少内容与输入问题相关。</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4" name="文本框 3"/>
          <p:cNvSpPr txBox="1"/>
          <p:nvPr/>
        </p:nvSpPr>
        <p:spPr>
          <a:xfrm>
            <a:off x="1507065" y="4631717"/>
            <a:ext cx="20929601" cy="686668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若用户提问 “埃菲尔铁塔的建造年份？”，</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检索器返回：</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埃菲尔铁塔于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1887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年动工，</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1889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年竣工。</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巴黎是法国的文化中心。</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尽管第二个片段与巴黎相关，但未包含建造年份的信息。</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此时</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会根据关键信息（如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1887”“1889”</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）的存在与否进行评分，而非仅统计相关片段的数量，这个一般用的比较少。</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检索评估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920317" y="1775788"/>
                <a:ext cx="22103094" cy="69007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常见评估指标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上下文精度（ </a:t>
                </a:r>
                <a:r>
                  <a:rPr kumimoji="0" lang="en-US" altLang="zh-CN"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Precision</a:t>
                </a:r>
                <a:r>
                  <a:rPr kumimoji="0" lang="zh-CN" altLang="en-US"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在具体的定义上，这个有点争议</a:t>
                </a:r>
                <a:r>
                  <a:rPr lang="zh-CN" altLang="en-US" sz="4000">
                    <a:latin typeface=".萍方-简" panose="020B0300000000000000" charset="-122"/>
                    <a:ea typeface=".萍方-简" panose="020B0300000000000000" charset="-122"/>
                    <a:cs typeface=".萍方-简" panose="020B0300000000000000" charset="-122"/>
                  </a:rPr>
                  <a:t>，</a:t>
                </a:r>
                <a:endParaRPr lang="en-US" altLang="zh-CN" sz="4000">
                  <a:latin typeface=".萍方-简" panose="020B0300000000000000" charset="-122"/>
                  <a:ea typeface=".萍方-简" panose="020B0300000000000000" charset="-122"/>
                  <a:cs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zh-CN" altLang="en-US" sz="4000">
                    <a:latin typeface=".萍方-简" panose="020B0300000000000000" charset="-122"/>
                    <a:ea typeface=".萍方-简" panose="020B0300000000000000" charset="-122"/>
                    <a:cs typeface=".萍方-简" panose="020B0300000000000000" charset="-122"/>
                  </a:rPr>
                  <a:t>一种说法是：检索出的上下文（</a:t>
                </a:r>
                <a:r>
                  <a:rPr lang="en-US" altLang="zh-CN" sz="4000">
                    <a:latin typeface=".萍方-简" panose="020B0300000000000000" charset="-122"/>
                    <a:ea typeface=".萍方-简" panose="020B0300000000000000" charset="-122"/>
                    <a:cs typeface=".萍方-简" panose="020B0300000000000000" charset="-122"/>
                  </a:rPr>
                  <a:t>context</a:t>
                </a:r>
                <a:r>
                  <a:rPr lang="zh-CN" altLang="en-US" sz="4000">
                    <a:latin typeface=".萍方-简" panose="020B0300000000000000" charset="-122"/>
                    <a:ea typeface=".萍方-简" panose="020B0300000000000000" charset="-122"/>
                    <a:cs typeface=".萍方-简" panose="020B0300000000000000" charset="-122"/>
                  </a:rPr>
                  <a:t>）中与参考答案（</a:t>
                </a:r>
                <a:r>
                  <a:rPr lang="en-US" altLang="zh-CN" sz="4000">
                    <a:latin typeface=".萍方-简" panose="020B0300000000000000" charset="-122"/>
                    <a:ea typeface=".萍方-简" panose="020B0300000000000000" charset="-122"/>
                    <a:cs typeface=".萍方-简" panose="020B0300000000000000" charset="-122"/>
                  </a:rPr>
                  <a:t>reference_answer</a:t>
                </a:r>
                <a:r>
                  <a:rPr lang="zh-CN" altLang="en-US" sz="4000">
                    <a:latin typeface=".萍方-简" panose="020B0300000000000000" charset="-122"/>
                    <a:ea typeface=".萍方-简" panose="020B0300000000000000" charset="-122"/>
                    <a:cs typeface=".萍方-简" panose="020B0300000000000000" charset="-122"/>
                  </a:rPr>
                  <a:t>）相关的部分在上下文（</a:t>
                </a:r>
                <a:r>
                  <a:rPr lang="en-US" altLang="zh-CN" sz="4000">
                    <a:latin typeface=".萍方-简" panose="020B0300000000000000" charset="-122"/>
                    <a:ea typeface=".萍方-简" panose="020B0300000000000000" charset="-122"/>
                    <a:cs typeface=".萍方-简" panose="020B0300000000000000" charset="-122"/>
                  </a:rPr>
                  <a:t>context</a:t>
                </a:r>
                <a:r>
                  <a:rPr lang="zh-CN" altLang="en-US" sz="4000">
                    <a:latin typeface=".萍方-简" panose="020B0300000000000000" charset="-122"/>
                    <a:ea typeface=".萍方-简" panose="020B0300000000000000" charset="-122"/>
                    <a:cs typeface=".萍方-简" panose="020B0300000000000000" charset="-122"/>
                  </a:rPr>
                  <a:t>）中是否出现在最前面的位置，这种较为常用。</a:t>
                </a:r>
                <a:endParaRPr lang="en-US" altLang="zh-CN" sz="4000">
                  <a:latin typeface=".萍方-简" panose="020B0300000000000000" charset="-122"/>
                  <a:ea typeface=".萍方-简" panose="020B0300000000000000" charset="-122"/>
                  <a:cs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zh-CN" altLang="en-US" sz="4000">
                    <a:latin typeface=".萍方-简" panose="020B0300000000000000" charset="-122"/>
                    <a:ea typeface=".萍方-简" panose="020B0300000000000000" charset="-122"/>
                    <a:cs typeface=".萍方-简" panose="020B0300000000000000" charset="-122"/>
                  </a:rPr>
                  <a:t>另一种说法是：检索到的上下文（</a:t>
                </a:r>
                <a:r>
                  <a:rPr lang="en-US" altLang="zh-CN" sz="4000">
                    <a:latin typeface=".萍方-简" panose="020B0300000000000000" charset="-122"/>
                    <a:ea typeface=".萍方-简" panose="020B0300000000000000" charset="-122"/>
                    <a:cs typeface=".萍方-简" panose="020B0300000000000000" charset="-122"/>
                  </a:rPr>
                  <a:t>context</a:t>
                </a:r>
                <a:r>
                  <a:rPr lang="zh-CN" altLang="en-US" sz="4000">
                    <a:latin typeface=".萍方-简" panose="020B0300000000000000" charset="-122"/>
                    <a:ea typeface=".萍方-简" panose="020B0300000000000000" charset="-122"/>
                    <a:cs typeface=".萍方-简" panose="020B0300000000000000" charset="-122"/>
                  </a:rPr>
                  <a:t>）中 相关信息的比例，可以理解为</a:t>
                </a:r>
                <a:endParaRPr lang="en-US" altLang="zh-CN" sz="4000">
                  <a:latin typeface=".萍方-简" panose="020B0300000000000000" charset="-122"/>
                  <a:ea typeface=".萍方-简" panose="020B0300000000000000" charset="-122"/>
                  <a:cs typeface=".萍方-简" panose="020B0300000000000000" charset="-122"/>
                </a:endParaRPr>
              </a:p>
              <a:p>
                <a:pPr marL="0" marR="0" indent="0" algn="l" defTabSz="2438400" rtl="0" fontAlgn="auto" latinLnBrk="0" hangingPunct="0">
                  <a:lnSpc>
                    <a:spcPct val="90000"/>
                  </a:lnSpc>
                  <a:spcBef>
                    <a:spcPts val="4500"/>
                  </a:spcBef>
                  <a:spcAft>
                    <a:spcPts val="0"/>
                  </a:spcAft>
                  <a:buClrTx/>
                  <a:buSzTx/>
                  <a:buFontTx/>
                  <a:buNone/>
                </a:pPr>
                <a:r>
                  <a:rPr lang="zh-CN" altLang="en-US" sz="4000">
                    <a:latin typeface=".萍方-简" panose="020B0300000000000000" charset="-122"/>
                    <a:ea typeface=".萍方-简" panose="020B0300000000000000" charset="-122"/>
                    <a:cs typeface=".萍方-简" panose="020B0300000000000000" charset="-122"/>
                  </a:rPr>
                  <a:t>​</a:t>
                </a:r>
                <a:endParaRPr lang="zh-CN" altLang="en-US" sz="4000">
                  <a:latin typeface=".萍方-简" panose="020B0300000000000000" charset="-122"/>
                  <a:ea typeface=".萍方-简" panose="020B0300000000000000" charset="-122"/>
                  <a:cs typeface=".萍方-简" panose="020B0300000000000000" charset="-122"/>
                </a:endParaRPr>
              </a:p>
              <a:p>
                <a14:m>
                  <m:oMathPara xmlns:m="http://schemas.openxmlformats.org/officeDocument/2006/math">
                    <m:oMathParaPr>
                      <m:jc m:val="centerGroup"/>
                    </m:oMathParaPr>
                    <m:oMath xmlns:m="http://schemas.openxmlformats.org/officeDocument/2006/math">
                      <m:r>
                        <a:rPr lang="en-US" altLang="zh-CN" sz="4000" i="1">
                          <a:latin typeface="Cambria Math" panose="02040503050406030204" pitchFamily="18" charset="0"/>
                          <a:ea typeface=".萍方-简" panose="020B0300000000000000" charset="-122"/>
                          <a:cs typeface=".萍方-简" panose="020B0300000000000000" charset="-122"/>
                        </a:rPr>
                        <m:t>𝐶𝑜𝑛𝑡𝑒𝑥𝑡</m:t>
                      </m:r>
                      <m:r>
                        <a:rPr lang="en-US" altLang="zh-CN" sz="4000" i="1">
                          <a:latin typeface="Cambria Math" panose="02040503050406030204" pitchFamily="18" charset="0"/>
                          <a:ea typeface=".萍方-简" panose="020B0300000000000000" charset="-122"/>
                          <a:cs typeface=".萍方-简" panose="020B0300000000000000" charset="-122"/>
                        </a:rPr>
                        <m:t> </m:t>
                      </m:r>
                      <m:r>
                        <a:rPr lang="en-US" altLang="zh-CN" sz="4000" i="1">
                          <a:latin typeface="Cambria Math" panose="02040503050406030204" pitchFamily="18" charset="0"/>
                          <a:ea typeface=".萍方-简" panose="020B0300000000000000" charset="-122"/>
                          <a:cs typeface=".萍方-简" panose="020B0300000000000000" charset="-122"/>
                        </a:rPr>
                        <m:t>𝑃𝑟𝑒𝑐𝑖𝑠𝑖𝑜𝑛</m:t>
                      </m:r>
                      <m:r>
                        <a:rPr lang="en-US" altLang="zh-CN" sz="4000" i="1">
                          <a:latin typeface="Cambria Math" panose="02040503050406030204" pitchFamily="18" charset="0"/>
                          <a:ea typeface=".萍方-简" panose="020B0300000000000000" charset="-122"/>
                          <a:cs typeface=".萍方-简" panose="020B0300000000000000" charset="-122"/>
                        </a:rPr>
                        <m:t>=</m:t>
                      </m:r>
                      <m:f>
                        <m:fPr>
                          <m:ctrlPr>
                            <a:rPr kumimoji="0" lang="en-US" altLang="zh-CN" sz="4000" b="0" i="1" u="none" strike="noStrike" cap="none" spc="0" normalizeH="0" baseline="0" smtClean="0">
                              <a:ln>
                                <a:noFill/>
                              </a:ln>
                              <a:solidFill>
                                <a:srgbClr val="000000"/>
                              </a:solidFill>
                              <a:effectLst/>
                              <a:uFillTx/>
                              <a:latin typeface="Cambria Math" panose="02040503050406030204" pitchFamily="18" charset="0"/>
                              <a:ea typeface=".萍方-简" panose="020B0300000000000000" charset="-122"/>
                              <a:cs typeface=".萍方-简" panose="020B0300000000000000" charset="-122"/>
                              <a:sym typeface="Helvetica Neue" panose="02000503000000020004"/>
                            </a:rPr>
                          </m:ctrlPr>
                        </m:fPr>
                        <m:num>
                          <m:r>
                            <a:rPr lang="zh-CN" altLang="en-US" sz="4000" i="1">
                              <a:latin typeface="Cambria Math" panose="02040503050406030204" pitchFamily="18" charset="0"/>
                              <a:ea typeface=".萍方-简" panose="020B0300000000000000" charset="-122"/>
                              <a:cs typeface=".萍方-简" panose="020B0300000000000000" charset="-122"/>
                            </a:rPr>
                            <m:t>上下文中与问题相关的信息数量</m:t>
                          </m:r>
                        </m:num>
                        <m:den>
                          <m:r>
                            <a:rPr lang="zh-CN" altLang="en-US" sz="4000" i="1">
                              <a:latin typeface="Cambria Math" panose="02040503050406030204" pitchFamily="18" charset="0"/>
                              <a:ea typeface=".萍方-简" panose="020B0300000000000000" charset="-122"/>
                              <a:cs typeface=".萍方-简" panose="020B0300000000000000" charset="-122"/>
                            </a:rPr>
                            <m:t>上下文总信息数量</m:t>
                          </m:r>
                        </m:den>
                      </m:f>
                    </m:oMath>
                  </m:oMathPara>
                </a14:m>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mc:Choice>
        <mc:Fallback>
          <p:sp>
            <p:nvSpPr>
              <p:cNvPr id="2" name="文本框 1"/>
              <p:cNvSpPr txBox="1">
                <a:spLocks noRot="1" noChangeAspect="1" noMove="1" noResize="1" noEditPoints="1" noAdjustHandles="1" noChangeArrowheads="1" noChangeShapeType="1" noTextEdit="1"/>
              </p:cNvSpPr>
              <p:nvPr/>
            </p:nvSpPr>
            <p:spPr>
              <a:xfrm>
                <a:off x="920317" y="1775788"/>
                <a:ext cx="22103094" cy="6900735"/>
              </a:xfrm>
              <a:prstGeom prst="rect">
                <a:avLst/>
              </a:prstGeom>
              <a:blipFill rotWithShape="1">
                <a:blip r:embed="rId1"/>
                <a:stretch>
                  <a:fillRect l="-1" t="-1219" r="1" b="8"/>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4" name="文本框 3"/>
          <p:cNvSpPr txBox="1"/>
          <p:nvPr/>
        </p:nvSpPr>
        <p:spPr>
          <a:xfrm>
            <a:off x="1507064" y="9325805"/>
            <a:ext cx="20929601" cy="402744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问题：“苹果公司的总部在哪里？”</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上下文：“苹果公司（</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Apple Inc.</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）成立于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1976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年，总部位于美国加利福尼亚州库比蒂诺市，</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CEO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是蒂姆・库克，主要产品包括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iPhone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和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Mac</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分析：问题关注 “总部位置”，上下文中仅 “加利福尼亚州库比蒂诺市” 相关，其余（成立时间、</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CEO</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、产品）无关 → 精确率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1/4=25%</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检索评估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920317" y="2068373"/>
                <a:ext cx="22103094" cy="464364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常见评估指标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上下文召回率（ </a:t>
                </a:r>
                <a:r>
                  <a:rPr kumimoji="0" lang="en-US" altLang="zh-CN"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Recall</a:t>
                </a:r>
                <a:r>
                  <a:rPr kumimoji="0" lang="zh-CN" altLang="en-US" sz="4000" b="1"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衡量检索到的上下文中是否包含回答问题所需的全部关键信息，或者说检索到的上下文</a:t>
                </a:r>
                <a:r>
                  <a:rPr lang="zh-CN" altLang="en-US" sz="4000">
                    <a:latin typeface=".萍方-简" panose="020B0300000000000000" charset="-122"/>
                    <a:ea typeface=".萍方-简" panose="020B0300000000000000" charset="-122"/>
                    <a:cs typeface=".萍方-简" panose="020B0300000000000000" charset="-122"/>
                  </a:rPr>
                  <a:t>（</a:t>
                </a:r>
                <a:r>
                  <a:rPr lang="en-US" altLang="zh-CN" sz="4000">
                    <a:latin typeface=".萍方-简" panose="020B0300000000000000" charset="-122"/>
                    <a:ea typeface=".萍方-简" panose="020B0300000000000000" charset="-122"/>
                    <a:cs typeface=".萍方-简" panose="020B0300000000000000" charset="-122"/>
                  </a:rPr>
                  <a:t>context</a:t>
                </a:r>
                <a:r>
                  <a:rPr lang="zh-CN" altLang="en-US" sz="4000">
                    <a:latin typeface=".萍方-简" panose="020B0300000000000000" charset="-122"/>
                    <a:ea typeface=".萍方-简" panose="020B0300000000000000" charset="-122"/>
                    <a:cs typeface=".萍方-简" panose="020B0300000000000000" charset="-122"/>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与参考答案（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reference_answer</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）之间的一致程度，有时也称为命中率（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hit_rate</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lang="zh-CN" altLang="en-US" sz="4000">
                  <a:latin typeface=".萍方-简" panose="020B0300000000000000" charset="-122"/>
                  <a:ea typeface=".萍方-简" panose="020B0300000000000000" charset="-122"/>
                  <a:cs typeface=".萍方-简" panose="020B0300000000000000" charset="-122"/>
                </a:endParaRPr>
              </a:p>
              <a:p>
                <a14:m>
                  <m:oMathPara xmlns:m="http://schemas.openxmlformats.org/officeDocument/2006/math">
                    <m:oMathParaPr>
                      <m:jc m:val="centerGroup"/>
                    </m:oMathParaPr>
                    <m:oMath xmlns:m="http://schemas.openxmlformats.org/officeDocument/2006/math">
                      <m:r>
                        <a:rPr lang="en-US" altLang="zh-CN" sz="4000" i="1">
                          <a:latin typeface="Cambria Math" panose="02040503050406030204" pitchFamily="18" charset="0"/>
                          <a:ea typeface=".萍方-简" panose="020B0300000000000000" charset="-122"/>
                          <a:cs typeface=".萍方-简" panose="020B0300000000000000" charset="-122"/>
                        </a:rPr>
                        <m:t>𝐶𝑜𝑛𝑡𝑒𝑥𝑡</m:t>
                      </m:r>
                      <m:r>
                        <a:rPr lang="en-US" altLang="zh-CN" sz="4000" i="1">
                          <a:latin typeface="Cambria Math" panose="02040503050406030204" pitchFamily="18" charset="0"/>
                          <a:ea typeface=".萍方-简" panose="020B0300000000000000" charset="-122"/>
                          <a:cs typeface=".萍方-简" panose="020B0300000000000000" charset="-122"/>
                        </a:rPr>
                        <m:t> </m:t>
                      </m:r>
                      <m:r>
                        <a:rPr lang="en-US" altLang="zh-CN" sz="4000" i="1">
                          <a:latin typeface="Cambria Math" panose="02040503050406030204" pitchFamily="18" charset="0"/>
                          <a:ea typeface=".萍方-简" panose="020B0300000000000000" charset="-122"/>
                          <a:cs typeface=".萍方-简" panose="020B0300000000000000" charset="-122"/>
                        </a:rPr>
                        <m:t>𝑅𝑒𝑐𝑎𝑙𝑙</m:t>
                      </m:r>
                      <m:r>
                        <a:rPr lang="en-US" altLang="zh-CN" sz="4000" i="1">
                          <a:latin typeface="Cambria Math" panose="02040503050406030204" pitchFamily="18" charset="0"/>
                          <a:ea typeface=".萍方-简" panose="020B0300000000000000" charset="-122"/>
                          <a:cs typeface=".萍方-简" panose="020B0300000000000000" charset="-122"/>
                        </a:rPr>
                        <m:t>=</m:t>
                      </m:r>
                      <m:f>
                        <m:fPr>
                          <m:ctrlPr>
                            <a:rPr kumimoji="0" lang="en-US" altLang="zh-CN" sz="4000" b="0" i="1" u="none" strike="noStrike" cap="none" spc="0" normalizeH="0" baseline="0" smtClean="0">
                              <a:ln>
                                <a:noFill/>
                              </a:ln>
                              <a:solidFill>
                                <a:srgbClr val="000000"/>
                              </a:solidFill>
                              <a:effectLst/>
                              <a:uFillTx/>
                              <a:latin typeface="Cambria Math" panose="02040503050406030204" pitchFamily="18" charset="0"/>
                              <a:ea typeface=".萍方-简" panose="020B0300000000000000" charset="-122"/>
                              <a:cs typeface=".萍方-简" panose="020B0300000000000000" charset="-122"/>
                              <a:sym typeface="Helvetica Neue" panose="02000503000000020004"/>
                            </a:rPr>
                          </m:ctrlPr>
                        </m:fPr>
                        <m:num>
                          <m:r>
                            <a:rPr lang="zh-CN" altLang="en-US" sz="4000" i="1">
                              <a:latin typeface="Cambria Math" panose="02040503050406030204" pitchFamily="18" charset="0"/>
                              <a:ea typeface=".萍方-简" panose="020B0300000000000000" charset="-122"/>
                              <a:cs typeface=".萍方-简" panose="020B0300000000000000" charset="-122"/>
                            </a:rPr>
                            <m:t>上下文中包含的关键信息数量</m:t>
                          </m:r>
                        </m:num>
                        <m:den>
                          <m:r>
                            <a:rPr lang="zh-CN" altLang="en-US" sz="4000" i="1">
                              <a:latin typeface="Cambria Math" panose="02040503050406030204" pitchFamily="18" charset="0"/>
                              <a:ea typeface=".萍方-简" panose="020B0300000000000000" charset="-122"/>
                              <a:cs typeface=".萍方-简" panose="020B0300000000000000" charset="-122"/>
                            </a:rPr>
                            <m:t>参考答案中关键</m:t>
                          </m:r>
                          <m:r>
                            <a:rPr lang="zh-CN" altLang="en-US" sz="4000" i="1" smtClean="0">
                              <a:latin typeface="Cambria Math" panose="02040503050406030204" pitchFamily="18" charset="0"/>
                              <a:ea typeface=".萍方-简" panose="020B0300000000000000" charset="-122"/>
                              <a:cs typeface=".萍方-简" panose="020B0300000000000000" charset="-122"/>
                            </a:rPr>
                            <m:t>信息数量</m:t>
                          </m:r>
                        </m:den>
                      </m:f>
                    </m:oMath>
                  </m:oMathPara>
                </a14:m>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mc:Choice>
        <mc:Fallback>
          <p:sp>
            <p:nvSpPr>
              <p:cNvPr id="2" name="文本框 1"/>
              <p:cNvSpPr txBox="1">
                <a:spLocks noRot="1" noChangeAspect="1" noMove="1" noResize="1" noEditPoints="1" noAdjustHandles="1" noChangeArrowheads="1" noChangeShapeType="1" noTextEdit="1"/>
              </p:cNvSpPr>
              <p:nvPr/>
            </p:nvSpPr>
            <p:spPr>
              <a:xfrm>
                <a:off x="920317" y="2068373"/>
                <a:ext cx="22103094" cy="4643644"/>
              </a:xfrm>
              <a:prstGeom prst="rect">
                <a:avLst/>
              </a:prstGeom>
              <a:blipFill rotWithShape="1">
                <a:blip r:embed="rId1"/>
                <a:stretch>
                  <a:fillRect l="-1" t="-2041" r="1" b="1"/>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4" name="文本框 3"/>
          <p:cNvSpPr txBox="1"/>
          <p:nvPr/>
        </p:nvSpPr>
        <p:spPr>
          <a:xfrm>
            <a:off x="1727199" y="7600712"/>
            <a:ext cx="20929601" cy="518161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问题：“</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三体</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的作者是谁？哪一年出版？”</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参考答案：“刘慈欣，</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2006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上下文：“刘慈欣，中国科幻作家，</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2006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年开始在</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科幻世界</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连载</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三体</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分析：参考答案的关键信息是 “刘慈欣” 和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2006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年”，上下文均包含 → 召回率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100%</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反例：若上下文仅包含 “刘慈欣”，未提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2006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年”，则召回率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50%</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响应评估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037862" y="2036148"/>
            <a:ext cx="22103094" cy="4614789"/>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响应评估适用于系统的生成组件。这些评估衡量系统根据检索到的文档提供的上下文有效地生成响应的能力。</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其中的常见评估指标：</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忠实度（</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答案相关性（</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3" name="文本框 2"/>
          <p:cNvSpPr txBox="1"/>
          <p:nvPr/>
        </p:nvSpPr>
        <p:spPr>
          <a:xfrm>
            <a:off x="1478129" y="7335528"/>
            <a:ext cx="22103094" cy="29066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忠实度检查生成的响应是否准确无误，即生成的答案与检索出的上下文的一致性，或者说生成的答案能否从检索出的上下文中推理出来</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答案相关性指生成的答案与输入问题的相关性，即生成的答案是否完整且不冗余地回答了输入问题，不考虑生成的答案的正确性。</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响应评估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004984" y="1725725"/>
            <a:ext cx="22103094" cy="403770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常见评估指标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忠实度（</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生成的答案（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）是否完全基于提供的上下文（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）信息，没有捏造、幻觉或与上下文矛盾的内容。</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将生成答案拆解为原子事实（如时间、地点、事件），逐一检查是否能在上下文中找到直接依据，如果存在上下文未提及的信息</a:t>
            </a:r>
            <a:r>
              <a:rPr lang="zh-CN" altLang="en-US" sz="4000">
                <a:latin typeface=".萍方-简" panose="020B0300000000000000" charset="-122"/>
                <a:ea typeface=".萍方-简" panose="020B0300000000000000" charset="-122"/>
                <a:cs typeface=".萍方-简" panose="020B0300000000000000" charset="-122"/>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即使正确，若上下文无依据也视为不忠实</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4" name="文本框 3"/>
          <p:cNvSpPr txBox="1"/>
          <p:nvPr/>
        </p:nvSpPr>
        <p:spPr>
          <a:xfrm>
            <a:off x="1591730" y="6357413"/>
            <a:ext cx="20929601" cy="628960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marR="0" indent="0" algn="l" defTabSz="2438400" rtl="0" fontAlgn="auto" latinLnBrk="0" hangingPunct="0">
              <a:lnSpc>
                <a:spcPct val="90000"/>
              </a:lnSpc>
              <a:spcBef>
                <a:spcPts val="4500"/>
              </a:spcBef>
              <a:spcAft>
                <a:spcPts val="0"/>
              </a:spcAft>
              <a:buClrTx/>
              <a:buSzTx/>
              <a:buFontTx/>
              <a:buNone/>
            </a:pP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问题：“爱因斯坦在哪一年获得诺贝尔奖？”</a:t>
            </a:r>
            <a:endPar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生成答案：“爱因斯坦于 </a:t>
            </a:r>
            <a:r>
              <a:rPr kumimoji="0" lang="en-US" altLang="ja-JP"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1921 </a:t>
            </a: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年因光电效应研究获得诺贝尔物理学奖。”</a:t>
            </a:r>
            <a:endPar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a:t>
            </a:r>
            <a:r>
              <a:rPr kumimoji="0" lang="en-US" altLang="ja-JP"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1921 </a:t>
            </a: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年诺贝尔物理学奖得主阿尔伯特・爱因斯坦，获奖理由为‘发现光电效应定律’。”</a:t>
            </a:r>
            <a:endPar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分析：答案中 “</a:t>
            </a:r>
            <a:r>
              <a:rPr kumimoji="0" lang="en-US" altLang="ja-JP"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1921 </a:t>
            </a: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年”“光电效应”“诺贝尔物理学奖” 均来自上下文，无额外信息 → 忠实度 </a:t>
            </a:r>
            <a:r>
              <a:rPr kumimoji="0" lang="en-US" altLang="ja-JP"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100%</a:t>
            </a: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反例：若答案添加 “他当时在普林斯顿大学任教”（上下文未提及），则忠实度下降。</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响应评估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971117" y="1992825"/>
            <a:ext cx="22103094" cy="235263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常见评估指标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答案相关性（</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生成的答案（</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）是否直接、清晰地回答了用户原始的查询问题（</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question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。即使答案忠实于上下文，但如果答非所问，那么这个答案也是无效的。</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4" name="文本框 3"/>
          <p:cNvSpPr txBox="1"/>
          <p:nvPr/>
        </p:nvSpPr>
        <p:spPr>
          <a:xfrm>
            <a:off x="1255744" y="5205947"/>
            <a:ext cx="20929601" cy="460453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问题：“如何煮咖啡？”</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生成答案：“咖啡豆需研磨至中粗度，用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90℃</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热水冲泡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3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分钟。”</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分析：答案直接针对 “如何煮” 的步骤，包含关键动作（研磨、冲泡温度、时间）→ 相关性高。</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反例：若答案为 “咖啡豆起源于埃塞俄比亚”（回答 “起源” 而非 “方法”），则相关性低</a:t>
            </a:r>
            <a:r>
              <a:rPr kumimoji="0" lang="ja-JP"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评估指标总结</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表格 4"/>
          <p:cNvGraphicFramePr>
            <a:graphicFrameLocks noGrp="1"/>
          </p:cNvGraphicFramePr>
          <p:nvPr/>
        </p:nvGraphicFramePr>
        <p:xfrm>
          <a:off x="587656" y="1725725"/>
          <a:ext cx="23237544" cy="11753204"/>
        </p:xfrm>
        <a:graphic>
          <a:graphicData uri="http://schemas.openxmlformats.org/drawingml/2006/table">
            <a:tbl>
              <a:tblPr firstRow="1" bandRow="1">
                <a:tableStyleId>{69CF1AB2-1976-4502-BF36-3FF5EA218861}</a:tableStyleId>
              </a:tblPr>
              <a:tblGrid>
                <a:gridCol w="4966477"/>
                <a:gridCol w="2523067"/>
                <a:gridCol w="9516533"/>
                <a:gridCol w="6231467"/>
              </a:tblGrid>
              <a:tr h="1587689">
                <a:tc>
                  <a:txBody>
                    <a:bodyPr/>
                    <a:lstStyle/>
                    <a:p>
                      <a:pPr algn="ctr"/>
                      <a:r>
                        <a:rPr lang="zh-CN" altLang="en-US" sz="4400">
                          <a:latin typeface=".萍方-简" panose="020B0300000000000000" charset="-122"/>
                          <a:ea typeface=".萍方-简" panose="020B0300000000000000" charset="-122"/>
                        </a:rPr>
                        <a:t>指标</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归属</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相关评估输入</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含义</a:t>
                      </a:r>
                      <a:endParaRPr lang="zh-CN" altLang="en-US" sz="4400">
                        <a:latin typeface=".萍方-简" panose="020B0300000000000000" charset="-122"/>
                        <a:ea typeface=".萍方-简" panose="020B0300000000000000" charset="-122"/>
                      </a:endParaRPr>
                    </a:p>
                  </a:txBody>
                  <a:tcPr anchor="ctr"/>
                </a:tc>
              </a:tr>
              <a:tr h="2033103">
                <a:tc>
                  <a:txBody>
                    <a:bodyPr/>
                    <a:lstStyle/>
                    <a:p>
                      <a:pPr algn="ctr"/>
                      <a:r>
                        <a:rPr lang="en-US" altLang="zh-CN" sz="4400">
                          <a:latin typeface=".萍方-简" panose="020B0300000000000000" charset="-122"/>
                          <a:ea typeface=".萍方-简" panose="020B0300000000000000" charset="-122"/>
                        </a:rPr>
                        <a:t>context_recall</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检索</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上下文（</a:t>
                      </a:r>
                      <a:r>
                        <a:rPr lang="en-US" altLang="zh-CN" sz="3600">
                          <a:latin typeface=".萍方-简" panose="020B0300000000000000" charset="-122"/>
                          <a:ea typeface=".萍方-简" panose="020B0300000000000000" charset="-122"/>
                        </a:rPr>
                        <a:t>context</a:t>
                      </a:r>
                      <a:r>
                        <a:rPr lang="zh-CN" altLang="en-US" sz="3600">
                          <a:latin typeface=".萍方-简" panose="020B0300000000000000" charset="-122"/>
                          <a:ea typeface=".萍方-简" panose="020B0300000000000000" charset="-122"/>
                        </a:rPr>
                        <a:t>）、参考答案（</a:t>
                      </a:r>
                      <a:r>
                        <a:rPr lang="en-US" altLang="zh-CN" sz="3600">
                          <a:latin typeface=".萍方-简" panose="020B0300000000000000" charset="-122"/>
                          <a:ea typeface=".萍方-简" panose="020B0300000000000000" charset="-122"/>
                        </a:rPr>
                        <a:t>reference_answer</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上下文中覆盖用户问题所需关键信息的比例</a:t>
                      </a:r>
                      <a:endParaRPr lang="zh-CN" altLang="en-US" sz="3600">
                        <a:latin typeface=".萍方-简" panose="020B0300000000000000" charset="-122"/>
                        <a:ea typeface=".萍方-简" panose="020B0300000000000000" charset="-122"/>
                      </a:endParaRPr>
                    </a:p>
                  </a:txBody>
                  <a:tcPr anchor="ctr"/>
                </a:tc>
              </a:tr>
              <a:tr h="2033103">
                <a:tc>
                  <a:txBody>
                    <a:bodyPr/>
                    <a:lstStyle/>
                    <a:p>
                      <a:pPr algn="ctr"/>
                      <a:r>
                        <a:rPr lang="en-US" altLang="zh-CN" sz="4400">
                          <a:latin typeface=".萍方-简" panose="020B0300000000000000" charset="-122"/>
                          <a:ea typeface=".萍方-简" panose="020B0300000000000000" charset="-122"/>
                        </a:rPr>
                        <a:t>context_precision</a:t>
                      </a:r>
                      <a:endParaRPr lang="zh-CN" altLang="en-US" sz="4400">
                        <a:latin typeface=".萍方-简" panose="020B0300000000000000" charset="-122"/>
                        <a:ea typeface=".萍方-简" panose="020B0300000000000000" charset="-122"/>
                      </a:endParaRPr>
                    </a:p>
                  </a:txBody>
                  <a:tcPr anchor="ctr"/>
                </a:tc>
                <a:tc>
                  <a:txBody>
                    <a:bodyPr/>
                    <a:lstStyle/>
                    <a:p>
                      <a:pPr marL="0" marR="0" lvl="0" indent="0" algn="ctr" defTabSz="584200" rtl="0" eaLnBrk="1" fontAlgn="auto" latinLnBrk="0" hangingPunct="1">
                        <a:lnSpc>
                          <a:spcPct val="100000"/>
                        </a:lnSpc>
                        <a:spcBef>
                          <a:spcPts val="0"/>
                        </a:spcBef>
                        <a:spcAft>
                          <a:spcPts val="0"/>
                        </a:spcAft>
                        <a:buClrTx/>
                        <a:buSzTx/>
                        <a:buFontTx/>
                        <a:buNone/>
                        <a:defRPr/>
                      </a:pPr>
                      <a:r>
                        <a:rPr lang="zh-CN" altLang="en-US" sz="4400">
                          <a:latin typeface=".萍方-简" panose="020B0300000000000000" charset="-122"/>
                          <a:ea typeface=".萍方-简" panose="020B0300000000000000" charset="-122"/>
                        </a:rPr>
                        <a:t>检索</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上下文（</a:t>
                      </a:r>
                      <a:r>
                        <a:rPr lang="en-US" altLang="zh-CN" sz="3600">
                          <a:latin typeface=".萍方-简" panose="020B0300000000000000" charset="-122"/>
                          <a:ea typeface=".萍方-简" panose="020B0300000000000000" charset="-122"/>
                        </a:rPr>
                        <a:t>context</a:t>
                      </a:r>
                      <a:r>
                        <a:rPr lang="zh-CN" altLang="en-US" sz="3600">
                          <a:latin typeface=".萍方-简" panose="020B0300000000000000" charset="-122"/>
                          <a:ea typeface=".萍方-简" panose="020B0300000000000000" charset="-122"/>
                        </a:rPr>
                        <a:t>）</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参考答案（</a:t>
                      </a:r>
                      <a:r>
                        <a:rPr lang="en-US" altLang="zh-CN" sz="3600">
                          <a:latin typeface=".萍方-简" panose="020B0300000000000000" charset="-122"/>
                          <a:ea typeface=".萍方-简" panose="020B0300000000000000" charset="-122"/>
                        </a:rPr>
                        <a:t>reference_answer</a:t>
                      </a:r>
                      <a:r>
                        <a:rPr lang="zh-CN" altLang="en-US" sz="3600">
                          <a:latin typeface=".萍方-简" panose="020B0300000000000000" charset="-122"/>
                          <a:ea typeface=".萍方-简" panose="020B0300000000000000" charset="-122"/>
                        </a:rPr>
                        <a:t>）或者问题（ </a:t>
                      </a:r>
                      <a:r>
                        <a:rPr lang="en-US" altLang="zh-CN" sz="3600">
                          <a:latin typeface=".萍方-简" panose="020B0300000000000000" charset="-122"/>
                          <a:ea typeface=".萍方-简" panose="020B0300000000000000" charset="-122"/>
                        </a:rPr>
                        <a:t>question</a:t>
                      </a:r>
                      <a:r>
                        <a:rPr lang="zh-CN" altLang="en-US" sz="3600">
                          <a:latin typeface=".萍方-简" panose="020B0300000000000000" charset="-122"/>
                          <a:ea typeface=".萍方-简" panose="020B0300000000000000" charset="-122"/>
                        </a:rPr>
                        <a:t>）</a:t>
                      </a:r>
                      <a:r>
                        <a:rPr lang="en-US" altLang="zh-CN" sz="3600">
                          <a:latin typeface=".萍方-简" panose="020B0300000000000000" charset="-122"/>
                          <a:ea typeface=".萍方-简" panose="020B0300000000000000" charset="-122"/>
                        </a:rPr>
                        <a:t>+ </a:t>
                      </a:r>
                      <a:r>
                        <a:rPr lang="zh-CN" altLang="en-US" sz="3600">
                          <a:latin typeface=".萍方-简" panose="020B0300000000000000" charset="-122"/>
                          <a:ea typeface=".萍方-简" panose="020B0300000000000000" charset="-122"/>
                        </a:rPr>
                        <a:t>上下文（ </a:t>
                      </a:r>
                      <a:r>
                        <a:rPr lang="en-US" altLang="zh-CN" sz="3600">
                          <a:latin typeface=".萍方-简" panose="020B0300000000000000" charset="-122"/>
                          <a:ea typeface=".萍方-简" panose="020B0300000000000000" charset="-122"/>
                        </a:rPr>
                        <a:t>context</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上下文的关键信息位置是否靠前或者是上下文的关键信息所占比例</a:t>
                      </a:r>
                      <a:endParaRPr lang="zh-CN" altLang="en-US" sz="3600">
                        <a:latin typeface=".萍方-简" panose="020B0300000000000000" charset="-122"/>
                        <a:ea typeface=".萍方-简" panose="020B0300000000000000" charset="-122"/>
                      </a:endParaRPr>
                    </a:p>
                  </a:txBody>
                  <a:tcPr anchor="ctr"/>
                </a:tc>
              </a:tr>
              <a:tr h="2033103">
                <a:tc>
                  <a:txBody>
                    <a:bodyPr/>
                    <a:lstStyle/>
                    <a:p>
                      <a:pPr algn="ctr"/>
                      <a:r>
                        <a:rPr lang="en-US" altLang="zh-CN" sz="4400">
                          <a:latin typeface=".萍方-简" panose="020B0300000000000000" charset="-122"/>
                          <a:ea typeface=".萍方-简" panose="020B0300000000000000" charset="-122"/>
                        </a:rPr>
                        <a:t>faithfulness</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响应</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答案（</a:t>
                      </a:r>
                      <a:r>
                        <a:rPr lang="en-US" altLang="zh-CN" sz="3600">
                          <a:latin typeface=".萍方-简" panose="020B0300000000000000" charset="-122"/>
                          <a:ea typeface=".萍方-简" panose="020B0300000000000000" charset="-122"/>
                        </a:rPr>
                        <a:t>answer</a:t>
                      </a:r>
                      <a:r>
                        <a:rPr lang="zh-CN" altLang="en-US" sz="3600">
                          <a:latin typeface=".萍方-简" panose="020B0300000000000000" charset="-122"/>
                          <a:ea typeface=".萍方-简" panose="020B0300000000000000" charset="-122"/>
                        </a:rPr>
                        <a:t>）、上下文（</a:t>
                      </a:r>
                      <a:r>
                        <a:rPr lang="en-US" altLang="zh-CN" sz="3600">
                          <a:latin typeface=".萍方-简" panose="020B0300000000000000" charset="-122"/>
                          <a:ea typeface=".萍方-简" panose="020B0300000000000000" charset="-122"/>
                        </a:rPr>
                        <a:t>context</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生成的答案是否完全基于提供的上下文信息</a:t>
                      </a:r>
                      <a:endParaRPr lang="zh-CN" altLang="en-US" sz="3600">
                        <a:latin typeface=".萍方-简" panose="020B0300000000000000" charset="-122"/>
                        <a:ea typeface=".萍方-简" panose="020B0300000000000000" charset="-122"/>
                      </a:endParaRPr>
                    </a:p>
                  </a:txBody>
                  <a:tcPr anchor="ctr"/>
                </a:tc>
              </a:tr>
              <a:tr h="2033103">
                <a:tc>
                  <a:txBody>
                    <a:bodyPr/>
                    <a:lstStyle/>
                    <a:p>
                      <a:pPr algn="ctr"/>
                      <a:r>
                        <a:rPr lang="en-US" altLang="zh-CN" sz="4400">
                          <a:latin typeface=".萍方-简" panose="020B0300000000000000" charset="-122"/>
                          <a:ea typeface=".萍方-简" panose="020B0300000000000000" charset="-122"/>
                        </a:rPr>
                        <a:t>answer_relevancy</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响应</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答案（</a:t>
                      </a:r>
                      <a:r>
                        <a:rPr lang="en-US" altLang="zh-CN" sz="3600">
                          <a:latin typeface=".萍方-简" panose="020B0300000000000000" charset="-122"/>
                          <a:ea typeface=".萍方-简" panose="020B0300000000000000" charset="-122"/>
                        </a:rPr>
                        <a:t>answer</a:t>
                      </a:r>
                      <a:r>
                        <a:rPr lang="zh-CN" altLang="en-US" sz="3600">
                          <a:latin typeface=".萍方-简" panose="020B0300000000000000" charset="-122"/>
                          <a:ea typeface=".萍方-简" panose="020B0300000000000000" charset="-122"/>
                        </a:rPr>
                        <a:t>）、问题（</a:t>
                      </a:r>
                      <a:r>
                        <a:rPr lang="en-US" altLang="zh-CN" sz="3600">
                          <a:latin typeface=".萍方-简" panose="020B0300000000000000" charset="-122"/>
                          <a:ea typeface=".萍方-简" panose="020B0300000000000000" charset="-122"/>
                        </a:rPr>
                        <a:t>question</a:t>
                      </a:r>
                      <a:r>
                        <a:rPr lang="zh-CN" altLang="en-US" sz="3600">
                          <a:latin typeface=".萍方-简" panose="020B0300000000000000" charset="-122"/>
                          <a:ea typeface=".萍方-简" panose="020B0300000000000000" charset="-122"/>
                        </a:rPr>
                        <a:t>） </a:t>
                      </a:r>
                      <a:endParaRPr lang="zh-CN" altLang="en-US" sz="36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生成的答案是否直接、清晰地回答了用户原始的查询问题</a:t>
                      </a:r>
                      <a:endParaRPr lang="zh-CN" altLang="en-US" sz="3600">
                        <a:latin typeface=".萍方-简" panose="020B0300000000000000" charset="-122"/>
                        <a:ea typeface=".萍方-简" panose="020B0300000000000000" charset="-122"/>
                      </a:endParaRPr>
                    </a:p>
                  </a:txBody>
                  <a:tcPr anchor="ctr"/>
                </a:tc>
              </a:tr>
              <a:tr h="2033103">
                <a:tc>
                  <a:txBody>
                    <a:bodyPr/>
                    <a:lstStyle/>
                    <a:p>
                      <a:pPr algn="ctr"/>
                      <a:r>
                        <a:rPr lang="en-US" altLang="zh-CN" sz="4400">
                          <a:latin typeface=".萍方-简" panose="020B0300000000000000" charset="-122"/>
                          <a:ea typeface=".萍方-简" panose="020B0300000000000000" charset="-122"/>
                        </a:rPr>
                        <a:t>context_relevancy</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检索</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问题（ </a:t>
                      </a:r>
                      <a:r>
                        <a:rPr lang="en-US" altLang="zh-CN" sz="3600">
                          <a:latin typeface=".萍方-简" panose="020B0300000000000000" charset="-122"/>
                          <a:ea typeface=".萍方-简" panose="020B0300000000000000" charset="-122"/>
                        </a:rPr>
                        <a:t>question</a:t>
                      </a:r>
                      <a:r>
                        <a:rPr lang="zh-CN" altLang="en-US" sz="3600">
                          <a:latin typeface=".萍方-简" panose="020B0300000000000000" charset="-122"/>
                          <a:ea typeface=".萍方-简" panose="020B0300000000000000" charset="-122"/>
                        </a:rPr>
                        <a:t>）、上下文（ </a:t>
                      </a:r>
                      <a:r>
                        <a:rPr lang="en-US" altLang="zh-CN" sz="3600">
                          <a:latin typeface=".萍方-简" panose="020B0300000000000000" charset="-122"/>
                          <a:ea typeface=".萍方-简" panose="020B0300000000000000" charset="-122"/>
                        </a:rPr>
                        <a:t>context</a:t>
                      </a:r>
                      <a:r>
                        <a:rPr lang="zh-CN" altLang="en-US" sz="3600">
                          <a:latin typeface=".萍方-简" panose="020B0300000000000000" charset="-122"/>
                          <a:ea typeface=".萍方-简" panose="020B0300000000000000" charset="-122"/>
                        </a:rPr>
                        <a:t>）</a:t>
                      </a:r>
                      <a:endParaRPr lang="zh-CN" altLang="en-US" sz="3600">
                        <a:latin typeface=".萍方-简" panose="020B0300000000000000" charset="-122"/>
                        <a:ea typeface=".萍方-简" panose="020B0300000000000000" charset="-122"/>
                      </a:endParaRPr>
                    </a:p>
                  </a:txBody>
                  <a:tcPr anchor="ctr"/>
                </a:tc>
                <a:tc>
                  <a:txBody>
                    <a:bodyPr/>
                    <a:lstStyle/>
                    <a:p>
                      <a:pPr algn="ctr"/>
                      <a:r>
                        <a:rPr lang="zh-CN" altLang="en-US" sz="3600">
                          <a:latin typeface=".萍方-简" panose="020B0300000000000000" charset="-122"/>
                          <a:ea typeface=".萍方-简" panose="020B0300000000000000" charset="-122"/>
                        </a:rPr>
                        <a:t>上下文中有多少内容与输入问题相关，较少使用</a:t>
                      </a:r>
                      <a:endParaRPr lang="zh-CN" altLang="en-US" sz="3600">
                        <a:latin typeface=".萍方-简" panose="020B0300000000000000" charset="-122"/>
                        <a:ea typeface=".萍方-简" panose="020B0300000000000000" charset="-122"/>
                      </a:endParaRPr>
                    </a:p>
                  </a:txBody>
                  <a:tcPr anchor="ctr"/>
                </a:tc>
              </a:tr>
            </a:tbl>
          </a:graphicData>
        </a:graphic>
      </p:graphicFrame>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zh-CN" altLang="en-US">
                <a:latin typeface=".萍方-简" panose="020B0300000000000000" charset="-122"/>
                <a:ea typeface=".萍方-简" panose="020B0300000000000000" charset="-122"/>
              </a:rPr>
              <a:t>常用的</a:t>
            </a:r>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评估工具介绍</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Ragas</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1243044" y="1725725"/>
            <a:ext cx="21556133" cy="358944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en-US" altLang="zh-CN" sz="4200">
                <a:solidFill>
                  <a:schemeClr val="tx1"/>
                </a:solidFill>
                <a:latin typeface=".萍方-简" panose="020B0300000000000000" charset="-122"/>
                <a:ea typeface=".萍方-简" panose="020B0300000000000000" charset="-122"/>
              </a:rPr>
              <a:t>RAGAs</a:t>
            </a:r>
            <a:r>
              <a:rPr lang="zh-CN" altLang="en-US" sz="4200">
                <a:solidFill>
                  <a:schemeClr val="tx1"/>
                </a:solidFill>
                <a:latin typeface=".萍方-简" panose="020B0300000000000000" charset="-122"/>
                <a:ea typeface=".萍方-简" panose="020B0300000000000000" charset="-122"/>
              </a:rPr>
              <a:t>是一个用于评测检索增强生成（</a:t>
            </a:r>
            <a:r>
              <a:rPr lang="en-US" altLang="zh-CN" sz="4200">
                <a:solidFill>
                  <a:schemeClr val="tx1"/>
                </a:solidFill>
                <a:latin typeface=".萍方-简" panose="020B0300000000000000" charset="-122"/>
                <a:ea typeface=".萍方-简" panose="020B0300000000000000" charset="-122"/>
              </a:rPr>
              <a:t>RAG</a:t>
            </a:r>
            <a:r>
              <a:rPr lang="zh-CN" altLang="en-US" sz="4200">
                <a:solidFill>
                  <a:schemeClr val="tx1"/>
                </a:solidFill>
                <a:latin typeface=".萍方-简" panose="020B0300000000000000" charset="-122"/>
                <a:ea typeface=".萍方-简" panose="020B0300000000000000" charset="-122"/>
              </a:rPr>
              <a:t>）应用的评测框架，它的核心目标是提供一套综合性的评测指标和方法，以量化地评测</a:t>
            </a:r>
            <a:r>
              <a:rPr lang="en-US" altLang="zh-CN" sz="4200">
                <a:solidFill>
                  <a:schemeClr val="tx1"/>
                </a:solidFill>
                <a:latin typeface=".萍方-简" panose="020B0300000000000000" charset="-122"/>
                <a:ea typeface=".萍方-简" panose="020B0300000000000000" charset="-122"/>
              </a:rPr>
              <a:t>RAG</a:t>
            </a:r>
            <a:r>
              <a:rPr lang="zh-CN" altLang="en-US" sz="4200">
                <a:solidFill>
                  <a:schemeClr val="tx1"/>
                </a:solidFill>
                <a:latin typeface=".萍方-简" panose="020B0300000000000000" charset="-122"/>
                <a:ea typeface=".萍方-简" panose="020B0300000000000000" charset="-122"/>
              </a:rPr>
              <a:t>管道</a:t>
            </a:r>
            <a:r>
              <a:rPr lang="en-US" altLang="zh-CN" sz="4200">
                <a:solidFill>
                  <a:schemeClr val="tx1"/>
                </a:solidFill>
                <a:latin typeface=".萍方-简" panose="020B0300000000000000" charset="-122"/>
                <a:ea typeface=".萍方-简" panose="020B0300000000000000" charset="-122"/>
              </a:rPr>
              <a:t>(RAG Pipeline)</a:t>
            </a:r>
            <a:r>
              <a:rPr lang="zh-CN" altLang="en-US" sz="4200">
                <a:solidFill>
                  <a:schemeClr val="tx1"/>
                </a:solidFill>
                <a:latin typeface=".萍方-简" panose="020B0300000000000000" charset="-122"/>
                <a:ea typeface=".萍方-简" panose="020B0300000000000000" charset="-122"/>
              </a:rPr>
              <a:t>在不同组件层面上的性能。</a:t>
            </a:r>
            <a:endParaRPr lang="en-US" altLang="zh-CN" sz="4200">
              <a:solidFill>
                <a:schemeClr val="tx1"/>
              </a:solidFill>
              <a:latin typeface=".萍方-简" panose="020B0300000000000000" charset="-122"/>
              <a:ea typeface=".萍方-简" panose="020B0300000000000000" charset="-122"/>
            </a:endParaRPr>
          </a:p>
          <a:p>
            <a:pPr marL="0" indent="0">
              <a:buNone/>
            </a:pPr>
            <a:r>
              <a:rPr lang="en-US" altLang="zh-CN" sz="4200">
                <a:solidFill>
                  <a:schemeClr val="tx1"/>
                </a:solidFill>
                <a:latin typeface=".萍方-简" panose="020B0300000000000000" charset="-122"/>
                <a:ea typeface=".萍方-简" panose="020B0300000000000000" charset="-122"/>
              </a:rPr>
              <a:t>RAGAs</a:t>
            </a:r>
            <a:r>
              <a:rPr lang="zh-CN" altLang="en-US" sz="4200">
                <a:solidFill>
                  <a:schemeClr val="tx1"/>
                </a:solidFill>
                <a:latin typeface=".萍方-简" panose="020B0300000000000000" charset="-122"/>
                <a:ea typeface=".萍方-简" panose="020B0300000000000000" charset="-122"/>
              </a:rPr>
              <a:t>特别适用于那些结合了检索（</a:t>
            </a:r>
            <a:r>
              <a:rPr lang="en-US" altLang="zh-CN" sz="4200">
                <a:solidFill>
                  <a:schemeClr val="tx1"/>
                </a:solidFill>
                <a:latin typeface=".萍方-简" panose="020B0300000000000000" charset="-122"/>
                <a:ea typeface=".萍方-简" panose="020B0300000000000000" charset="-122"/>
              </a:rPr>
              <a:t>Retrieval</a:t>
            </a:r>
            <a:r>
              <a:rPr lang="zh-CN" altLang="en-US" sz="4200">
                <a:solidFill>
                  <a:schemeClr val="tx1"/>
                </a:solidFill>
                <a:latin typeface=".萍方-简" panose="020B0300000000000000" charset="-122"/>
                <a:ea typeface=".萍方-简" panose="020B0300000000000000" charset="-122"/>
              </a:rPr>
              <a:t>）和生成（</a:t>
            </a:r>
            <a:r>
              <a:rPr lang="en-US" altLang="zh-CN" sz="4200">
                <a:solidFill>
                  <a:schemeClr val="tx1"/>
                </a:solidFill>
                <a:latin typeface=".萍方-简" panose="020B0300000000000000" charset="-122"/>
                <a:ea typeface=".萍方-简" panose="020B0300000000000000" charset="-122"/>
              </a:rPr>
              <a:t>Generation</a:t>
            </a:r>
            <a:r>
              <a:rPr lang="zh-CN" altLang="en-US" sz="4200">
                <a:solidFill>
                  <a:schemeClr val="tx1"/>
                </a:solidFill>
                <a:latin typeface=".萍方-简" panose="020B0300000000000000" charset="-122"/>
                <a:ea typeface=".萍方-简" panose="020B0300000000000000" charset="-122"/>
              </a:rPr>
              <a:t>）两个主要组件的</a:t>
            </a:r>
            <a:r>
              <a:rPr lang="en-US" altLang="zh-CN" sz="4200">
                <a:solidFill>
                  <a:schemeClr val="tx1"/>
                </a:solidFill>
                <a:latin typeface=".萍方-简" panose="020B0300000000000000" charset="-122"/>
                <a:ea typeface=".萍方-简" panose="020B0300000000000000" charset="-122"/>
              </a:rPr>
              <a:t>RAG</a:t>
            </a:r>
            <a:r>
              <a:rPr lang="zh-CN" altLang="en-US" sz="4200">
                <a:solidFill>
                  <a:schemeClr val="tx1"/>
                </a:solidFill>
                <a:latin typeface=".萍方-简" panose="020B0300000000000000" charset="-122"/>
                <a:ea typeface=".萍方-简" panose="020B0300000000000000" charset="-122"/>
              </a:rPr>
              <a:t>系统，支持</a:t>
            </a:r>
            <a:r>
              <a:rPr lang="en-US" altLang="zh-CN" sz="4200">
                <a:solidFill>
                  <a:schemeClr val="tx1"/>
                </a:solidFill>
                <a:latin typeface=".萍方-简" panose="020B0300000000000000" charset="-122"/>
                <a:ea typeface=".萍方-简" panose="020B0300000000000000" charset="-122"/>
              </a:rPr>
              <a:t>Langchain </a:t>
            </a:r>
            <a:r>
              <a:rPr lang="zh-CN" altLang="en-US" sz="4200">
                <a:solidFill>
                  <a:schemeClr val="tx1"/>
                </a:solidFill>
                <a:latin typeface=".萍方-简" panose="020B0300000000000000" charset="-122"/>
                <a:ea typeface=".萍方-简" panose="020B0300000000000000" charset="-122"/>
              </a:rPr>
              <a:t>和 </a:t>
            </a:r>
            <a:r>
              <a:rPr lang="en-US" altLang="zh-CN" sz="4200">
                <a:solidFill>
                  <a:schemeClr val="tx1"/>
                </a:solidFill>
                <a:latin typeface=".萍方-简" panose="020B0300000000000000" charset="-122"/>
                <a:ea typeface=".萍方-简" panose="020B0300000000000000" charset="-122"/>
              </a:rPr>
              <a:t>Llama-Index</a:t>
            </a:r>
            <a:r>
              <a:rPr lang="zh-CN" altLang="en-US" sz="4200">
                <a:solidFill>
                  <a:schemeClr val="tx1"/>
                </a:solidFill>
                <a:latin typeface=".萍方-简" panose="020B0300000000000000" charset="-122"/>
                <a:ea typeface=".萍方-简" panose="020B0300000000000000" charset="-122"/>
              </a:rPr>
              <a:t>。</a:t>
            </a:r>
            <a:endParaRPr lang="zh-CN" altLang="en-US" sz="4200">
              <a:solidFill>
                <a:schemeClr val="tx1"/>
              </a:solidFill>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4488424" y="5298708"/>
            <a:ext cx="14464242" cy="7221775"/>
          </a:xfrm>
          <a:prstGeom prst="rect">
            <a:avLst/>
          </a:prstGeom>
        </p:spPr>
      </p:pic>
      <p:sp>
        <p:nvSpPr>
          <p:cNvPr id="6" name="文本框 5"/>
          <p:cNvSpPr txBox="1"/>
          <p:nvPr/>
        </p:nvSpPr>
        <p:spPr>
          <a:xfrm>
            <a:off x="1405466" y="12607262"/>
            <a:ext cx="15206133" cy="75713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微软雅黑 Light" panose="020B0502040204020203" pitchFamily="34" charset="-122"/>
                <a:ea typeface="微软雅黑 Light" panose="020B0502040204020203" pitchFamily="34" charset="-122"/>
              </a:rPr>
              <a:t>https://github.com/explodinggradients/ragas</a:t>
            </a:r>
            <a:endParaRPr lang="en-US" altLang="zh-CN">
              <a:latin typeface="微软雅黑 Light" panose="020B0502040204020203" pitchFamily="34" charset="-122"/>
              <a:ea typeface="微软雅黑 Light" panose="020B0502040204020203" pitchFamily="34"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Ragas</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1243044" y="1725725"/>
            <a:ext cx="21556133" cy="416190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571500" indent="-571500">
              <a:buFontTx/>
              <a:buChar char="-"/>
            </a:pPr>
            <a:r>
              <a:rPr lang="zh-CN" altLang="en-US" sz="4200">
                <a:solidFill>
                  <a:schemeClr val="tx1"/>
                </a:solidFill>
                <a:latin typeface=".萍方-简" panose="020B0300000000000000" charset="-122"/>
                <a:ea typeface=".萍方-简" panose="020B0300000000000000" charset="-122"/>
              </a:rPr>
              <a:t>评估检索质量：  </a:t>
            </a:r>
            <a:r>
              <a:rPr lang="en-US" altLang="zh-CN" sz="4200">
                <a:solidFill>
                  <a:schemeClr val="tx1"/>
                </a:solidFill>
                <a:latin typeface=".萍方-简" panose="020B0300000000000000" charset="-122"/>
                <a:ea typeface=".萍方-简" panose="020B0300000000000000" charset="-122"/>
              </a:rPr>
              <a:t> </a:t>
            </a:r>
            <a:endParaRPr lang="en-US" altLang="zh-CN" sz="4200">
              <a:solidFill>
                <a:schemeClr val="tx1"/>
              </a:solidFill>
              <a:latin typeface=".萍方-简" panose="020B0300000000000000" charset="-122"/>
              <a:ea typeface=".萍方-简" panose="020B0300000000000000" charset="-122"/>
            </a:endParaRPr>
          </a:p>
          <a:p>
            <a:r>
              <a:rPr lang="en-US" altLang="zh-CN" sz="4200">
                <a:solidFill>
                  <a:schemeClr val="tx1"/>
                </a:solidFill>
                <a:latin typeface=".萍方-简" panose="020B0300000000000000" charset="-122"/>
                <a:ea typeface=".萍方-简" panose="020B0300000000000000" charset="-122"/>
              </a:rPr>
              <a:t>	context_precision   context_recall</a:t>
            </a:r>
            <a:endParaRPr lang="en-US" altLang="zh-CN" sz="4200">
              <a:solidFill>
                <a:schemeClr val="tx1"/>
              </a:solidFill>
              <a:latin typeface=".萍方-简" panose="020B0300000000000000" charset="-122"/>
              <a:ea typeface=".萍方-简" panose="020B0300000000000000" charset="-122"/>
            </a:endParaRPr>
          </a:p>
          <a:p>
            <a:pPr marL="571500" indent="-571500">
              <a:buFontTx/>
              <a:buChar char="-"/>
            </a:pPr>
            <a:r>
              <a:rPr lang="zh-CN" altLang="en-US" sz="4200">
                <a:solidFill>
                  <a:schemeClr val="tx1"/>
                </a:solidFill>
                <a:latin typeface=".萍方-简" panose="020B0300000000000000" charset="-122"/>
                <a:ea typeface=".萍方-简" panose="020B0300000000000000" charset="-122"/>
              </a:rPr>
              <a:t>评估生成质量：  </a:t>
            </a:r>
            <a:r>
              <a:rPr lang="en-US" altLang="zh-CN" sz="4200">
                <a:solidFill>
                  <a:schemeClr val="tx1"/>
                </a:solidFill>
                <a:latin typeface=".萍方-简" panose="020B0300000000000000" charset="-122"/>
                <a:ea typeface=".萍方-简" panose="020B0300000000000000" charset="-122"/>
              </a:rPr>
              <a:t> </a:t>
            </a:r>
            <a:endParaRPr lang="en-US" altLang="zh-CN" sz="4200">
              <a:solidFill>
                <a:schemeClr val="tx1"/>
              </a:solidFill>
              <a:latin typeface=".萍方-简" panose="020B0300000000000000" charset="-122"/>
              <a:ea typeface=".萍方-简" panose="020B0300000000000000" charset="-122"/>
            </a:endParaRPr>
          </a:p>
          <a:p>
            <a:r>
              <a:rPr lang="en-US" altLang="zh-CN" sz="4200">
                <a:solidFill>
                  <a:schemeClr val="tx1"/>
                </a:solidFill>
                <a:latin typeface=".萍方-简" panose="020B0300000000000000" charset="-122"/>
                <a:ea typeface=".萍方-简" panose="020B0300000000000000" charset="-122"/>
              </a:rPr>
              <a:t>	faithfulness   answer_relevancy</a:t>
            </a:r>
            <a:endParaRPr lang="zh-CN" altLang="en-US" sz="4200">
              <a:solidFill>
                <a:schemeClr val="tx1"/>
              </a:solidFill>
              <a:latin typeface=".萍方-简" panose="020B0300000000000000" charset="-122"/>
              <a:ea typeface=".萍方-简" panose="020B0300000000000000" charset="-122"/>
            </a:endParaRPr>
          </a:p>
        </p:txBody>
      </p:sp>
      <p:sp>
        <p:nvSpPr>
          <p:cNvPr id="3" name="文本框 2"/>
          <p:cNvSpPr txBox="1"/>
          <p:nvPr/>
        </p:nvSpPr>
        <p:spPr>
          <a:xfrm>
            <a:off x="1243043" y="6858000"/>
            <a:ext cx="21556133" cy="358944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en-US" altLang="zh-CN" sz="4200">
                <a:solidFill>
                  <a:schemeClr val="tx1"/>
                </a:solidFill>
                <a:latin typeface=".萍方-简" panose="020B0300000000000000" charset="-122"/>
                <a:ea typeface=".萍方-简" panose="020B0300000000000000" charset="-122"/>
              </a:rPr>
              <a:t>Ragas </a:t>
            </a:r>
            <a:r>
              <a:rPr lang="zh-CN" altLang="en-US" sz="4200">
                <a:solidFill>
                  <a:schemeClr val="tx1"/>
                </a:solidFill>
                <a:latin typeface=".萍方-简" panose="020B0300000000000000" charset="-122"/>
                <a:ea typeface=".萍方-简" panose="020B0300000000000000" charset="-122"/>
              </a:rPr>
              <a:t>的 </a:t>
            </a:r>
            <a:r>
              <a:rPr lang="en-US" altLang="zh-CN" sz="4200">
                <a:solidFill>
                  <a:schemeClr val="tx1"/>
                </a:solidFill>
                <a:latin typeface=".萍方-简" panose="020B0300000000000000" charset="-122"/>
                <a:ea typeface=".萍方-简" panose="020B0300000000000000" charset="-122"/>
              </a:rPr>
              <a:t>Context Precision</a:t>
            </a:r>
            <a:r>
              <a:rPr lang="zh-CN" altLang="en-US" sz="4200">
                <a:solidFill>
                  <a:schemeClr val="tx1"/>
                </a:solidFill>
                <a:latin typeface=".萍方-简" panose="020B0300000000000000" charset="-122"/>
                <a:ea typeface=".萍方-简" panose="020B0300000000000000" charset="-122"/>
              </a:rPr>
              <a:t>（上下文精度）是一种衡量检索系统返回的上下文（文本块集合）中与查询相关的文本块比例的指标。</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它的定义稍稍有点不同，它通过对每个相关文本块的位置</a:t>
            </a:r>
            <a:r>
              <a:rPr lang="en-US" altLang="zh-CN" sz="4200">
                <a:solidFill>
                  <a:schemeClr val="tx1"/>
                </a:solidFill>
                <a:latin typeface=".萍方-简" panose="020B0300000000000000" charset="-122"/>
                <a:ea typeface=".萍方-简" panose="020B0300000000000000" charset="-122"/>
              </a:rPr>
              <a:t>k</a:t>
            </a:r>
            <a:r>
              <a:rPr lang="zh-CN" altLang="en-US" sz="4200">
                <a:solidFill>
                  <a:schemeClr val="tx1"/>
                </a:solidFill>
                <a:latin typeface=".萍方-简" panose="020B0300000000000000" charset="-122"/>
                <a:ea typeface=".萍方-简" panose="020B0300000000000000" charset="-122"/>
              </a:rPr>
              <a:t>计算</a:t>
            </a:r>
            <a:r>
              <a:rPr lang="en-US" altLang="zh-CN" sz="4200">
                <a:solidFill>
                  <a:schemeClr val="tx1"/>
                </a:solidFill>
                <a:latin typeface=".萍方-简" panose="020B0300000000000000" charset="-122"/>
                <a:ea typeface=".萍方-简" panose="020B0300000000000000" charset="-122"/>
              </a:rPr>
              <a:t>Precision@k</a:t>
            </a:r>
            <a:r>
              <a:rPr lang="zh-CN" altLang="en-US" sz="4200">
                <a:solidFill>
                  <a:schemeClr val="tx1"/>
                </a:solidFill>
                <a:latin typeface=".萍方-简" panose="020B0300000000000000" charset="-122"/>
                <a:ea typeface=".萍方-简" panose="020B0300000000000000" charset="-122"/>
              </a:rPr>
              <a:t>值，反映关注相关文本块的排序质量（如是否排在前列），而传统 </a:t>
            </a:r>
            <a:r>
              <a:rPr lang="en-US" altLang="zh-CN" sz="4200">
                <a:solidFill>
                  <a:schemeClr val="tx1"/>
                </a:solidFill>
                <a:latin typeface=".萍方-简" panose="020B0300000000000000" charset="-122"/>
                <a:ea typeface=".萍方-简" panose="020B0300000000000000" charset="-122"/>
              </a:rPr>
              <a:t>Context Precision </a:t>
            </a:r>
            <a:r>
              <a:rPr lang="zh-CN" altLang="en-US" sz="4200">
                <a:solidFill>
                  <a:schemeClr val="tx1"/>
                </a:solidFill>
                <a:latin typeface=".萍方-简" panose="020B0300000000000000" charset="-122"/>
                <a:ea typeface=".萍方-简" panose="020B0300000000000000" charset="-122"/>
              </a:rPr>
              <a:t>则反映检索结果的整体相关性密度。</a:t>
            </a:r>
            <a:endParaRPr lang="zh-CN" altLang="en-US" sz="4200">
              <a:solidFill>
                <a:schemeClr val="tx1"/>
              </a:solidFill>
              <a:latin typeface=".萍方-简" panose="020B0300000000000000" charset="-122"/>
              <a:ea typeface=".萍方-简" panose="020B0300000000000000"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latin typeface=".萍方-简" panose="020B0300000000000000" charset="-122"/>
                <a:ea typeface=".萍方-简" panose="020B0300000000000000" charset="-122"/>
                <a:cs typeface=".萍方-简" panose="020B0300000000000000" charset="-122"/>
              </a:rPr>
              <a:t>Trulens</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960188" y="1638066"/>
            <a:ext cx="22463623" cy="300774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0" indent="0">
              <a:buNone/>
            </a:pPr>
            <a:r>
              <a:rPr lang="en-US" altLang="zh-CN" sz="4200">
                <a:solidFill>
                  <a:schemeClr val="tx1"/>
                </a:solidFill>
                <a:latin typeface=".萍方-简" panose="020B0300000000000000" charset="-122"/>
                <a:ea typeface=".萍方-简" panose="020B0300000000000000" charset="-122"/>
              </a:rPr>
              <a:t>TruLens</a:t>
            </a:r>
            <a:r>
              <a:rPr lang="zh-CN" altLang="en-US" sz="4200">
                <a:solidFill>
                  <a:schemeClr val="tx1"/>
                </a:solidFill>
                <a:latin typeface=".萍方-简" panose="020B0300000000000000" charset="-122"/>
                <a:ea typeface=".萍方-简" panose="020B0300000000000000" charset="-122"/>
              </a:rPr>
              <a:t>是一款旨在评估和改进 </a:t>
            </a:r>
            <a:r>
              <a:rPr lang="en-US" altLang="zh-CN" sz="4200">
                <a:solidFill>
                  <a:schemeClr val="tx1"/>
                </a:solidFill>
                <a:latin typeface=".萍方-简" panose="020B0300000000000000" charset="-122"/>
                <a:ea typeface=".萍方-简" panose="020B0300000000000000" charset="-122"/>
              </a:rPr>
              <a:t>LLM </a:t>
            </a:r>
            <a:r>
              <a:rPr lang="zh-CN" altLang="en-US" sz="4200">
                <a:solidFill>
                  <a:schemeClr val="tx1"/>
                </a:solidFill>
                <a:latin typeface=".萍方-简" panose="020B0300000000000000" charset="-122"/>
                <a:ea typeface=".萍方-简" panose="020B0300000000000000" charset="-122"/>
              </a:rPr>
              <a:t>应用的软件工具，相对独立，可以集成 </a:t>
            </a:r>
            <a:r>
              <a:rPr lang="en-US" altLang="zh-CN" sz="4200">
                <a:solidFill>
                  <a:schemeClr val="tx1"/>
                </a:solidFill>
                <a:latin typeface=".萍方-简" panose="020B0300000000000000" charset="-122"/>
                <a:ea typeface=".萍方-简" panose="020B0300000000000000" charset="-122"/>
              </a:rPr>
              <a:t>LangChain </a:t>
            </a:r>
            <a:r>
              <a:rPr lang="zh-CN" altLang="en-US" sz="4200">
                <a:solidFill>
                  <a:schemeClr val="tx1"/>
                </a:solidFill>
                <a:latin typeface=".萍方-简" panose="020B0300000000000000" charset="-122"/>
                <a:ea typeface=".萍方-简" panose="020B0300000000000000" charset="-122"/>
              </a:rPr>
              <a:t>或 </a:t>
            </a:r>
            <a:r>
              <a:rPr lang="en-US" altLang="zh-CN" sz="4200">
                <a:solidFill>
                  <a:schemeClr val="tx1"/>
                </a:solidFill>
                <a:latin typeface=".萍方-简" panose="020B0300000000000000" charset="-122"/>
                <a:ea typeface=".萍方-简" panose="020B0300000000000000" charset="-122"/>
              </a:rPr>
              <a:t>LlamaIndex </a:t>
            </a:r>
            <a:r>
              <a:rPr lang="zh-CN" altLang="en-US" sz="4200">
                <a:solidFill>
                  <a:schemeClr val="tx1"/>
                </a:solidFill>
                <a:latin typeface=".萍方-简" panose="020B0300000000000000" charset="-122"/>
                <a:ea typeface=".萍方-简" panose="020B0300000000000000" charset="-122"/>
              </a:rPr>
              <a:t>等 </a:t>
            </a:r>
            <a:r>
              <a:rPr lang="en-US" altLang="zh-CN" sz="4200">
                <a:solidFill>
                  <a:schemeClr val="tx1"/>
                </a:solidFill>
                <a:latin typeface=".萍方-简" panose="020B0300000000000000" charset="-122"/>
                <a:ea typeface=".萍方-简" panose="020B0300000000000000" charset="-122"/>
              </a:rPr>
              <a:t>LLM </a:t>
            </a:r>
            <a:r>
              <a:rPr lang="zh-CN" altLang="en-US" sz="4200">
                <a:solidFill>
                  <a:schemeClr val="tx1"/>
                </a:solidFill>
                <a:latin typeface=".萍方-简" panose="020B0300000000000000" charset="-122"/>
                <a:ea typeface=".萍方-简" panose="020B0300000000000000" charset="-122"/>
              </a:rPr>
              <a:t>开发框架。</a:t>
            </a:r>
            <a:endParaRPr lang="en-US" altLang="zh-CN" sz="4200">
              <a:solidFill>
                <a:schemeClr val="tx1"/>
              </a:solidFill>
              <a:latin typeface=".萍方-简" panose="020B0300000000000000" charset="-122"/>
              <a:ea typeface=".萍方-简" panose="020B0300000000000000" charset="-122"/>
            </a:endParaRPr>
          </a:p>
          <a:p>
            <a:pPr marL="0" indent="0">
              <a:buNone/>
            </a:pPr>
            <a:r>
              <a:rPr lang="zh-CN" altLang="en-US" sz="4200">
                <a:solidFill>
                  <a:schemeClr val="tx1"/>
                </a:solidFill>
                <a:latin typeface=".萍方-简" panose="020B0300000000000000" charset="-122"/>
                <a:ea typeface=".萍方-简" panose="020B0300000000000000" charset="-122"/>
              </a:rPr>
              <a:t>使用反馈功能来客观地衡量 </a:t>
            </a:r>
            <a:r>
              <a:rPr lang="en-US" altLang="zh-CN" sz="4200">
                <a:solidFill>
                  <a:schemeClr val="tx1"/>
                </a:solidFill>
                <a:latin typeface=".萍方-简" panose="020B0300000000000000" charset="-122"/>
                <a:ea typeface=".萍方-简" panose="020B0300000000000000" charset="-122"/>
              </a:rPr>
              <a:t>LLM </a:t>
            </a:r>
            <a:r>
              <a:rPr lang="zh-CN" altLang="en-US" sz="4200">
                <a:solidFill>
                  <a:schemeClr val="tx1"/>
                </a:solidFill>
                <a:latin typeface=".萍方-简" panose="020B0300000000000000" charset="-122"/>
                <a:ea typeface=".萍方-简" panose="020B0300000000000000" charset="-122"/>
              </a:rPr>
              <a:t>应用的质量和效果。包括分析相关性、适用性和有害性等方面。</a:t>
            </a:r>
            <a:r>
              <a:rPr lang="en-US" altLang="zh-CN" sz="4200">
                <a:solidFill>
                  <a:schemeClr val="tx1"/>
                </a:solidFill>
                <a:latin typeface=".萍方-简" panose="020B0300000000000000" charset="-122"/>
                <a:ea typeface=".萍方-简" panose="020B0300000000000000" charset="-122"/>
              </a:rPr>
              <a:t>TruLens </a:t>
            </a:r>
            <a:r>
              <a:rPr lang="zh-CN" altLang="en-US" sz="4200">
                <a:solidFill>
                  <a:schemeClr val="tx1"/>
                </a:solidFill>
                <a:latin typeface=".萍方-简" panose="020B0300000000000000" charset="-122"/>
                <a:ea typeface=".萍方-简" panose="020B0300000000000000" charset="-122"/>
              </a:rPr>
              <a:t>提供程序化反馈，支持 </a:t>
            </a:r>
            <a:r>
              <a:rPr lang="en-US" altLang="zh-CN" sz="4200">
                <a:solidFill>
                  <a:schemeClr val="tx1"/>
                </a:solidFill>
                <a:latin typeface=".萍方-简" panose="020B0300000000000000" charset="-122"/>
                <a:ea typeface=".萍方-简" panose="020B0300000000000000" charset="-122"/>
              </a:rPr>
              <a:t>LLM </a:t>
            </a:r>
            <a:r>
              <a:rPr lang="zh-CN" altLang="en-US" sz="4200">
                <a:solidFill>
                  <a:schemeClr val="tx1"/>
                </a:solidFill>
                <a:latin typeface=".萍方-简" panose="020B0300000000000000" charset="-122"/>
                <a:ea typeface=".萍方-简" panose="020B0300000000000000" charset="-122"/>
              </a:rPr>
              <a:t>应用的快速迭代，这比人工反馈更快速、更可扩展。</a:t>
            </a:r>
            <a:endParaRPr lang="zh-CN" altLang="en-US" sz="4200">
              <a:solidFill>
                <a:schemeClr val="tx1"/>
              </a:solidFill>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2266452" y="4645812"/>
            <a:ext cx="19171147" cy="8568922"/>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1652481" y="5274521"/>
            <a:ext cx="20834986" cy="2413212"/>
          </a:xfrm>
          <a:prstGeom prst="rect">
            <a:avLst/>
          </a:prstGeom>
        </p:spPr>
        <p:txBody>
          <a:bodyPr>
            <a:normAutofit fontScale="90000"/>
          </a:bodyPr>
          <a:lstStyle/>
          <a:p>
            <a:r>
              <a:rPr lang="zh-CN" altLang="en-US">
                <a:latin typeface=".萍方-简" panose="020B0300000000000000" charset="-122"/>
                <a:ea typeface=".萍方-简" panose="020B0300000000000000" charset="-122"/>
              </a:rPr>
              <a:t>应用实战</a:t>
            </a:r>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：实战医疗评估深入了解指标和优化方向</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pic>
        <p:nvPicPr>
          <p:cNvPr id="4" name="图片 3"/>
          <p:cNvPicPr>
            <a:picLocks noChangeAspect="1"/>
          </p:cNvPicPr>
          <p:nvPr/>
        </p:nvPicPr>
        <p:blipFill>
          <a:blip r:embed="rId1"/>
          <a:stretch>
            <a:fillRect/>
          </a:stretch>
        </p:blipFill>
        <p:spPr>
          <a:xfrm>
            <a:off x="538686" y="3488461"/>
            <a:ext cx="23306625" cy="3418947"/>
          </a:xfrm>
          <a:prstGeom prst="rect">
            <a:avLst/>
          </a:prstGeom>
        </p:spPr>
      </p:pic>
      <p:sp>
        <p:nvSpPr>
          <p:cNvPr id="3" name="文本框 2"/>
          <p:cNvSpPr txBox="1"/>
          <p:nvPr/>
        </p:nvSpPr>
        <p:spPr>
          <a:xfrm>
            <a:off x="718112" y="7316787"/>
            <a:ext cx="22480556" cy="348371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在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应用中使用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RAGAS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评估框架获取</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（忠实度）、</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answer_relevancy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（答案相关性）、</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context_recall</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（上下文召回率）、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context_precision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（上下文精度）四个指标后，</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需结合业务场景优先级和指标间的关联性综合分析性能瓶颈，并通过系统性优化策略提升整体效果。</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2" name="文本框 1"/>
          <p:cNvSpPr txBox="1"/>
          <p:nvPr/>
        </p:nvSpPr>
        <p:spPr>
          <a:xfrm>
            <a:off x="951721" y="1937394"/>
            <a:ext cx="22480556" cy="6675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lang="zh-CN" altLang="en-US" sz="4000" b="1">
                <a:solidFill>
                  <a:srgbClr val="FF0000"/>
                </a:solidFill>
                <a:latin typeface=".萍方-简" panose="020B0300000000000000" charset="-122"/>
                <a:ea typeface=".萍方-简" panose="020B0300000000000000" charset="-122"/>
                <a:cs typeface=".萍方-简" panose="020B0300000000000000" charset="-122"/>
              </a:rPr>
              <a:t>温馨提示：在评估前准备好</a:t>
            </a:r>
            <a:r>
              <a:rPr lang="en-US" altLang="zh-CN" sz="4000" b="1">
                <a:solidFill>
                  <a:srgbClr val="FF0000"/>
                </a:solidFill>
                <a:latin typeface=".萍方-简" panose="020B0300000000000000" charset="-122"/>
                <a:ea typeface=".萍方-简" panose="020B0300000000000000" charset="-122"/>
                <a:cs typeface=".萍方-简" panose="020B0300000000000000" charset="-122"/>
              </a:rPr>
              <a:t>Tokens</a:t>
            </a:r>
            <a:r>
              <a:rPr lang="zh-CN" altLang="en-US" sz="4000" b="1">
                <a:solidFill>
                  <a:srgbClr val="FF0000"/>
                </a:solidFill>
                <a:latin typeface=".萍方-简" panose="020B0300000000000000" charset="-122"/>
                <a:ea typeface=".萍方-简" panose="020B0300000000000000" charset="-122"/>
                <a:cs typeface=".萍方-简" panose="020B0300000000000000" charset="-122"/>
              </a:rPr>
              <a:t>大量消耗的心理预期</a:t>
            </a:r>
            <a:r>
              <a:rPr kumimoji="0" lang="zh-CN" altLang="en-US" sz="4000" b="1" i="0" u="none" strike="noStrike" cap="none" spc="0" normalizeH="0" baseline="0">
                <a:ln>
                  <a:noFill/>
                </a:ln>
                <a:solidFill>
                  <a:srgbClr val="FF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1" i="0" u="none" strike="noStrike" cap="none" spc="0" normalizeH="0" baseline="0">
              <a:ln>
                <a:noFill/>
              </a:ln>
              <a:solidFill>
                <a:srgbClr val="FF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140453" y="2267558"/>
            <a:ext cx="22103094" cy="57227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这四个指标之间是有协同关系的，</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的性能是检索器和生成器协同工作的结果，指标之间存在紧密的关联：</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检索器是生成器的基础：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Recall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和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Precision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直接决定了输入给生成器的上下文质量。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理想状态： 高召回率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高精确率。检索器能找到所有相关信息，且只找到相关信息。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现实权衡： 在大规模数据集中，召回率和精确率往往难以兼得。提高召回率（找全）可能牺牲精确率（引入噪声），反之亦然。</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971120" y="4177233"/>
            <a:ext cx="22103094" cy="459170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生成器依赖高质量输入：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和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 Relevancy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的表现很大程度上取决于检索器提供的上下文。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如果上下文不完整（低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Recall</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），生成器可能因缺乏信息而无法给出完整或准确的答案（影响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），甚至可能被迫“猜测”（影响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如果上下文充满噪声（低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Precision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），生成器可能难以聚焦关键信息，导致答案冗余、偏题（影响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 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），或错误地依据了不相关信息（影响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6" name="文本框 5"/>
          <p:cNvSpPr txBox="1"/>
          <p:nvPr/>
        </p:nvSpPr>
        <p:spPr>
          <a:xfrm>
            <a:off x="971120" y="2063954"/>
            <a:ext cx="21719547" cy="122111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很多业务场景，如技术文档问答或客服，倾向于优先保证信息不遗漏，因此 “高召回率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中等精确率” 常常是可接受甚至追求的目标</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1243044" y="1887995"/>
            <a:ext cx="22103094" cy="177555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同时对于</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context_recall</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和</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context_precision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这两个指标，如果各有高低，比较难判断的时候，我们还会引入</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F1</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分数进行综合评估，</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F1</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分数用来平衡精确度和召回率，目标是找到适合特定应用需求的最佳平衡，是精确度和召回率的调和平均值：</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mc:AlternateContent xmlns:mc="http://schemas.openxmlformats.org/markup-compatibility/2006">
        <mc:Choice xmlns:a14="http://schemas.microsoft.com/office/drawing/2010/main" Requires="a14">
          <p:sp>
            <p:nvSpPr>
              <p:cNvPr id="3" name="文本框 2"/>
              <p:cNvSpPr txBox="1"/>
              <p:nvPr/>
            </p:nvSpPr>
            <p:spPr>
              <a:xfrm>
                <a:off x="1243044" y="4199984"/>
                <a:ext cx="22103094" cy="12720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14:m>
                  <m:oMathPara xmlns:m="http://schemas.openxmlformats.org/officeDocument/2006/math">
                    <m:oMathParaPr>
                      <m:jc m:val="centerGroup"/>
                    </m:oMathParaPr>
                    <m:oMath xmlns:m="http://schemas.openxmlformats.org/officeDocument/2006/math">
                      <m:r>
                        <a:rPr lang="en-US" altLang="zh-CN" sz="4000" i="1">
                          <a:latin typeface="Cambria Math" panose="02040503050406030204" pitchFamily="18" charset="0"/>
                          <a:ea typeface=".萍方-简" panose="020B0300000000000000" charset="-122"/>
                          <a:cs typeface=".萍方-简" panose="020B0300000000000000" charset="-122"/>
                        </a:rPr>
                        <m:t>𝐹</m:t>
                      </m:r>
                      <m:r>
                        <a:rPr lang="en-US" altLang="zh-CN" sz="4000" i="1">
                          <a:latin typeface="Cambria Math" panose="02040503050406030204" pitchFamily="18" charset="0"/>
                          <a:ea typeface=".萍方-简" panose="020B0300000000000000" charset="-122"/>
                          <a:cs typeface=".萍方-简" panose="020B0300000000000000" charset="-122"/>
                        </a:rPr>
                        <m:t>1</m:t>
                      </m:r>
                      <m:r>
                        <a:rPr lang="zh-CN" altLang="en-US" sz="4000" i="1">
                          <a:latin typeface="Cambria Math" panose="02040503050406030204" pitchFamily="18" charset="0"/>
                          <a:ea typeface=".萍方-简" panose="020B0300000000000000" charset="-122"/>
                          <a:cs typeface=".萍方-简" panose="020B0300000000000000" charset="-122"/>
                        </a:rPr>
                        <m:t>分数</m:t>
                      </m:r>
                      <m:r>
                        <a:rPr kumimoji="0" lang="en-US" altLang="zh-CN" sz="4000" b="0" i="1" u="none" strike="noStrike" cap="none" spc="0" normalizeH="0" baseline="0" smtClean="0">
                          <a:ln>
                            <a:noFill/>
                          </a:ln>
                          <a:solidFill>
                            <a:srgbClr val="000000"/>
                          </a:solidFill>
                          <a:effectLst/>
                          <a:uFillTx/>
                          <a:latin typeface="Cambria Math" panose="02040503050406030204" pitchFamily="18" charset="0"/>
                          <a:ea typeface=".萍方-简" panose="020B0300000000000000" charset="-122"/>
                          <a:cs typeface=".萍方-简" panose="020B0300000000000000" charset="-122"/>
                          <a:sym typeface="Helvetica Neue" panose="02000503000000020004"/>
                        </a:rPr>
                        <m:t>=</m:t>
                      </m:r>
                      <m:r>
                        <a:rPr kumimoji="0" lang="en-US" altLang="zh-CN" sz="4000" b="0" i="1" u="none" strike="noStrike" cap="none" spc="0" normalizeH="0" baseline="0" smtClean="0">
                          <a:ln>
                            <a:noFill/>
                          </a:ln>
                          <a:solidFill>
                            <a:srgbClr val="000000"/>
                          </a:solidFill>
                          <a:effectLst/>
                          <a:uFillTx/>
                          <a:latin typeface="Cambria Math" panose="02040503050406030204" pitchFamily="18" charset="0"/>
                          <a:ea typeface=".萍方-简" panose="020B0300000000000000" charset="-122"/>
                          <a:cs typeface=".萍方-简" panose="020B0300000000000000" charset="-122"/>
                          <a:sym typeface="Helvetica Neue" panose="02000503000000020004"/>
                        </a:rPr>
                        <m:t>2</m:t>
                      </m:r>
                      <m:r>
                        <a:rPr kumimoji="0" lang="en-US" altLang="zh-CN" sz="4000" b="0" i="1" u="none" strike="noStrike" cap="none" spc="0" normalizeH="0" baseline="0" smtClean="0">
                          <a:ln>
                            <a:noFill/>
                          </a:ln>
                          <a:solidFill>
                            <a:srgbClr val="000000"/>
                          </a:solidFill>
                          <a:effectLst/>
                          <a:uFillTx/>
                          <a:latin typeface="Cambria Math" panose="02040503050406030204" pitchFamily="18" charset="0"/>
                          <a:ea typeface=".萍方-简" panose="020B0300000000000000" charset="-122"/>
                          <a:cs typeface=".萍方-简" panose="020B0300000000000000" charset="-122"/>
                          <a:sym typeface="Helvetica Neue" panose="02000503000000020004"/>
                        </a:rPr>
                        <m:t>∗</m:t>
                      </m:r>
                      <m:f>
                        <m:fPr>
                          <m:ctrlPr>
                            <a:rPr kumimoji="0" lang="en-US" altLang="zh-CN" sz="4000" b="0" i="1" u="none" strike="noStrike" cap="none" spc="0" normalizeH="0" baseline="0" smtClean="0">
                              <a:ln>
                                <a:noFill/>
                              </a:ln>
                              <a:solidFill>
                                <a:srgbClr val="000000"/>
                              </a:solidFill>
                              <a:effectLst/>
                              <a:uFillTx/>
                              <a:latin typeface="Cambria Math" panose="02040503050406030204" pitchFamily="18" charset="0"/>
                              <a:ea typeface=".萍方-简" panose="020B0300000000000000" charset="-122"/>
                              <a:cs typeface=".萍方-简" panose="020B0300000000000000" charset="-122"/>
                              <a:sym typeface="Helvetica Neue" panose="02000503000000020004"/>
                            </a:rPr>
                          </m:ctrlPr>
                        </m:fPr>
                        <m:num>
                          <m:r>
                            <a:rPr lang="zh-CN" altLang="en-US" sz="4000" i="1">
                              <a:latin typeface="Cambria Math" panose="02040503050406030204" pitchFamily="18" charset="0"/>
                              <a:ea typeface=".萍方-简" panose="020B0300000000000000" charset="-122"/>
                              <a:cs typeface=".萍方-简" panose="020B0300000000000000" charset="-122"/>
                            </a:rPr>
                            <m:t>准确率</m:t>
                          </m:r>
                          <m:r>
                            <a:rPr lang="en-US" altLang="zh-CN" sz="4000" b="0" i="1" smtClean="0">
                              <a:latin typeface="Cambria Math" panose="02040503050406030204" pitchFamily="18" charset="0"/>
                              <a:ea typeface=".萍方-简" panose="020B0300000000000000" charset="-122"/>
                              <a:cs typeface=".萍方-简" panose="020B0300000000000000" charset="-122"/>
                            </a:rPr>
                            <m:t>∗</m:t>
                          </m:r>
                          <m:r>
                            <a:rPr lang="zh-CN" altLang="en-US" sz="4000" i="1">
                              <a:latin typeface="Cambria Math" panose="02040503050406030204" pitchFamily="18" charset="0"/>
                              <a:ea typeface=".萍方-简" panose="020B0300000000000000" charset="-122"/>
                              <a:cs typeface=".萍方-简" panose="020B0300000000000000" charset="-122"/>
                            </a:rPr>
                            <m:t>召回率</m:t>
                          </m:r>
                        </m:num>
                        <m:den>
                          <m:r>
                            <a:rPr lang="zh-CN" altLang="en-US" sz="4000" i="1">
                              <a:latin typeface="Cambria Math" panose="02040503050406030204" pitchFamily="18" charset="0"/>
                              <a:ea typeface=".萍方-简" panose="020B0300000000000000" charset="-122"/>
                              <a:cs typeface=".萍方-简" panose="020B0300000000000000" charset="-122"/>
                            </a:rPr>
                            <m:t>准确</m:t>
                          </m:r>
                          <m:r>
                            <a:rPr lang="zh-CN" altLang="en-US" sz="4000" i="1" smtClean="0">
                              <a:latin typeface="Cambria Math" panose="02040503050406030204" pitchFamily="18" charset="0"/>
                              <a:ea typeface=".萍方-简" panose="020B0300000000000000" charset="-122"/>
                              <a:cs typeface=".萍方-简" panose="020B0300000000000000" charset="-122"/>
                            </a:rPr>
                            <m:t>率</m:t>
                          </m:r>
                          <m:r>
                            <a:rPr lang="en-US" altLang="zh-CN" sz="4000" b="0" i="1" smtClean="0">
                              <a:latin typeface="Cambria Math" panose="02040503050406030204" pitchFamily="18" charset="0"/>
                              <a:ea typeface=".萍方-简" panose="020B0300000000000000" charset="-122"/>
                              <a:cs typeface=".萍方-简" panose="020B0300000000000000" charset="-122"/>
                            </a:rPr>
                            <m:t>+</m:t>
                          </m:r>
                          <m:r>
                            <a:rPr lang="zh-CN" altLang="en-US" sz="4000" i="1">
                              <a:latin typeface="Cambria Math" panose="02040503050406030204" pitchFamily="18" charset="0"/>
                              <a:ea typeface=".萍方-简" panose="020B0300000000000000" charset="-122"/>
                              <a:cs typeface=".萍方-简" panose="020B0300000000000000" charset="-122"/>
                            </a:rPr>
                            <m:t>召回率</m:t>
                          </m:r>
                        </m:den>
                      </m:f>
                    </m:oMath>
                  </m:oMathPara>
                </a14:m>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mc:Choice>
        <mc:Fallback>
          <p:sp>
            <p:nvSpPr>
              <p:cNvPr id="3" name="文本框 2"/>
              <p:cNvSpPr txBox="1">
                <a:spLocks noRot="1" noChangeAspect="1" noMove="1" noResize="1" noEditPoints="1" noAdjustHandles="1" noChangeArrowheads="1" noChangeShapeType="1" noTextEdit="1"/>
              </p:cNvSpPr>
              <p:nvPr/>
            </p:nvSpPr>
            <p:spPr>
              <a:xfrm>
                <a:off x="1243044" y="4199984"/>
                <a:ext cx="22103094" cy="1272080"/>
              </a:xfrm>
              <a:prstGeom prst="rect">
                <a:avLst/>
              </a:prstGeom>
              <a:blipFill rotWithShape="1">
                <a:blip r:embed="rId1"/>
                <a:stretch>
                  <a:fillRect l="-2" t="-7" r="2" b="21"/>
                </a:stretch>
              </a:blipFill>
              <a:ln w="12700" cap="flat">
                <a:noFill/>
                <a:miter lim="400000"/>
              </a:ln>
            </p:spPr>
            <p:style>
              <a:lnRef idx="0">
                <a:srgbClr val="FFFFFF"/>
              </a:lnRef>
              <a:fillRef idx="0">
                <a:srgbClr val="FFFFFF"/>
              </a:fillRef>
              <a:effectRef idx="0">
                <a:srgbClr val="FFFFFF"/>
              </a:effectRef>
              <a:fontRef idx="none"/>
            </p:style>
            <p:txBody>
              <a:bodyPr/>
              <a:lstStyle/>
              <a:p>
                <a:r>
                  <a:rPr lang="zh-CN" altLang="en-US">
                    <a:noFill/>
                  </a:rPr>
                  <a:t> </a:t>
                </a:r>
              </a:p>
            </p:txBody>
          </p:sp>
        </mc:Fallback>
      </mc:AlternateContent>
      <p:sp>
        <p:nvSpPr>
          <p:cNvPr id="5" name="文本框 4"/>
          <p:cNvSpPr txBox="1"/>
          <p:nvPr/>
        </p:nvSpPr>
        <p:spPr>
          <a:xfrm>
            <a:off x="1243044" y="6526265"/>
            <a:ext cx="22103094" cy="406079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比如有两组</a:t>
            </a:r>
            <a:r>
              <a:rPr lang="zh-CN" altLang="en-US" sz="4000">
                <a:latin typeface=".萍方-简" panose="020B0300000000000000" charset="-122"/>
                <a:ea typeface=".萍方-简" panose="020B0300000000000000" charset="-122"/>
                <a:cs typeface=".萍方-简" panose="020B0300000000000000" charset="-122"/>
              </a:rPr>
              <a:t>指标，其中</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context_recall</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和</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context_precision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分别是：</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第一组：</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context_recall=0.6667, context_precision=0.4511</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第二组：</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context_recall=1.0000, context_precision=0.3869</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现在假设两组的</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和</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answer_relevancy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一样，这两组哪个更优？优多少？优在哪里？</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2" name="文本框 1"/>
          <p:cNvSpPr txBox="1"/>
          <p:nvPr/>
        </p:nvSpPr>
        <p:spPr>
          <a:xfrm>
            <a:off x="1243044" y="11494227"/>
            <a:ext cx="22103094" cy="6675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lang="zh-CN" altLang="en-US" sz="4000">
                <a:latin typeface=".萍方-简" panose="020B0300000000000000" charset="-122"/>
                <a:ea typeface=".萍方-简" panose="020B0300000000000000" charset="-122"/>
                <a:cs typeface=".萍方-简" panose="020B0300000000000000" charset="-122"/>
              </a:rPr>
              <a:t>多高算高？多低算低？</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124511" y="1912642"/>
            <a:ext cx="19923623" cy="78059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指标等级标准</a:t>
            </a:r>
            <a:endParaRPr kumimoji="0" lang="en-US" altLang="zh-CN"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graphicFrame>
        <p:nvGraphicFramePr>
          <p:cNvPr id="7" name="表格 6"/>
          <p:cNvGraphicFramePr>
            <a:graphicFrameLocks noGrp="1"/>
          </p:cNvGraphicFramePr>
          <p:nvPr/>
        </p:nvGraphicFramePr>
        <p:xfrm>
          <a:off x="1243044" y="2997215"/>
          <a:ext cx="22429756" cy="9279467"/>
        </p:xfrm>
        <a:graphic>
          <a:graphicData uri="http://schemas.openxmlformats.org/drawingml/2006/table">
            <a:tbl>
              <a:tblPr firstRow="1" bandRow="1">
                <a:tableStyleId>{69CF1AB2-1976-4502-BF36-3FF5EA218861}</a:tableStyleId>
              </a:tblPr>
              <a:tblGrid>
                <a:gridCol w="4741380"/>
                <a:gridCol w="4422094"/>
                <a:gridCol w="4422094"/>
                <a:gridCol w="4422094"/>
                <a:gridCol w="4422094"/>
              </a:tblGrid>
              <a:tr h="1585825">
                <a:tc>
                  <a:txBody>
                    <a:bodyPr/>
                    <a:lstStyle/>
                    <a:p>
                      <a:pPr algn="ctr"/>
                      <a:r>
                        <a:rPr lang="zh-CN" altLang="en-US" sz="4400">
                          <a:latin typeface=".萍方-简" panose="020B0300000000000000" charset="-122"/>
                          <a:ea typeface=".萍方-简" panose="020B0300000000000000" charset="-122"/>
                        </a:rPr>
                        <a:t>指标</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高</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中</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低</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满分</a:t>
                      </a:r>
                      <a:endParaRPr lang="zh-CN" altLang="en-US" sz="4400">
                        <a:latin typeface=".萍方-简" panose="020B0300000000000000" charset="-122"/>
                        <a:ea typeface=".萍方-简" panose="020B0300000000000000" charset="-122"/>
                      </a:endParaRPr>
                    </a:p>
                  </a:txBody>
                  <a:tcPr anchor="ctr"/>
                </a:tc>
              </a:tr>
              <a:tr h="1903731">
                <a:tc>
                  <a:txBody>
                    <a:bodyPr/>
                    <a:lstStyle/>
                    <a:p>
                      <a:pPr algn="ctr"/>
                      <a:r>
                        <a:rPr lang="en-US" altLang="zh-CN" sz="4400">
                          <a:latin typeface=".萍方-简" panose="020B0300000000000000" charset="-122"/>
                          <a:ea typeface=".萍方-简" panose="020B0300000000000000" charset="-122"/>
                        </a:rPr>
                        <a:t>context_recall</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 </a:t>
                      </a:r>
                      <a:r>
                        <a:rPr lang="en-US" altLang="zh-CN" sz="4400">
                          <a:latin typeface=".萍方-简" panose="020B0300000000000000" charset="-122"/>
                          <a:ea typeface=".萍方-简" panose="020B0300000000000000" charset="-122"/>
                        </a:rPr>
                        <a:t>0.8</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0.5 ~ 0.8</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&lt; 0.5</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1.0</a:t>
                      </a:r>
                      <a:endParaRPr lang="zh-CN" altLang="en-US" sz="4400">
                        <a:latin typeface=".萍方-简" panose="020B0300000000000000" charset="-122"/>
                        <a:ea typeface=".萍方-简" panose="020B0300000000000000" charset="-122"/>
                      </a:endParaRPr>
                    </a:p>
                  </a:txBody>
                  <a:tcPr anchor="ctr"/>
                </a:tc>
              </a:tr>
              <a:tr h="2102043">
                <a:tc>
                  <a:txBody>
                    <a:bodyPr/>
                    <a:lstStyle/>
                    <a:p>
                      <a:pPr algn="ctr"/>
                      <a:r>
                        <a:rPr lang="en-US" altLang="zh-CN" sz="4400">
                          <a:latin typeface=".萍方-简" panose="020B0300000000000000" charset="-122"/>
                          <a:ea typeface=".萍方-简" panose="020B0300000000000000" charset="-122"/>
                        </a:rPr>
                        <a:t>context_precision</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 </a:t>
                      </a:r>
                      <a:r>
                        <a:rPr lang="en-US" altLang="zh-CN" sz="4400">
                          <a:latin typeface=".萍方-简" panose="020B0300000000000000" charset="-122"/>
                          <a:ea typeface=".萍方-简" panose="020B0300000000000000" charset="-122"/>
                        </a:rPr>
                        <a:t>0.7</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0.4 ~ 0.7</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&lt; 0.4</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1.0</a:t>
                      </a:r>
                      <a:endParaRPr lang="zh-CN" altLang="en-US" sz="4400">
                        <a:latin typeface=".萍方-简" panose="020B0300000000000000" charset="-122"/>
                        <a:ea typeface=".萍方-简" panose="020B0300000000000000" charset="-122"/>
                      </a:endParaRPr>
                    </a:p>
                  </a:txBody>
                  <a:tcPr anchor="ctr"/>
                </a:tc>
              </a:tr>
              <a:tr h="1585825">
                <a:tc>
                  <a:txBody>
                    <a:bodyPr/>
                    <a:lstStyle/>
                    <a:p>
                      <a:pPr algn="ctr"/>
                      <a:r>
                        <a:rPr lang="en-US" altLang="zh-CN" sz="4400">
                          <a:latin typeface=".萍方-简" panose="020B0300000000000000" charset="-122"/>
                          <a:ea typeface=".萍方-简" panose="020B0300000000000000" charset="-122"/>
                        </a:rPr>
                        <a:t>faithfulness</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 </a:t>
                      </a:r>
                      <a:r>
                        <a:rPr lang="en-US" altLang="zh-CN" sz="4400">
                          <a:latin typeface=".萍方-简" panose="020B0300000000000000" charset="-122"/>
                          <a:ea typeface=".萍方-简" panose="020B0300000000000000" charset="-122"/>
                        </a:rPr>
                        <a:t>0.9</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0.7 ~ 0.9</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&lt; 0.7</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1.0</a:t>
                      </a:r>
                      <a:endParaRPr lang="zh-CN" altLang="en-US" sz="4400">
                        <a:latin typeface=".萍方-简" panose="020B0300000000000000" charset="-122"/>
                        <a:ea typeface=".萍方-简" panose="020B0300000000000000" charset="-122"/>
                      </a:endParaRPr>
                    </a:p>
                  </a:txBody>
                  <a:tcPr anchor="ctr"/>
                </a:tc>
              </a:tr>
              <a:tr h="2102043">
                <a:tc>
                  <a:txBody>
                    <a:bodyPr/>
                    <a:lstStyle/>
                    <a:p>
                      <a:pPr algn="ctr"/>
                      <a:r>
                        <a:rPr lang="en-US" altLang="zh-CN" sz="4400">
                          <a:latin typeface=".萍方-简" panose="020B0300000000000000" charset="-122"/>
                          <a:ea typeface=".萍方-简" panose="020B0300000000000000" charset="-122"/>
                        </a:rPr>
                        <a:t>answer_relevancy</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 </a:t>
                      </a:r>
                      <a:r>
                        <a:rPr lang="en-US" altLang="zh-CN" sz="4400">
                          <a:latin typeface=".萍方-简" panose="020B0300000000000000" charset="-122"/>
                          <a:ea typeface=".萍方-简" panose="020B0300000000000000" charset="-122"/>
                        </a:rPr>
                        <a:t>0.9</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0.7 ~ 0.9</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&lt; 0.7</a:t>
                      </a:r>
                      <a:endParaRPr lang="zh-CN" altLang="en-US" sz="4400">
                        <a:latin typeface=".萍方-简" panose="020B0300000000000000" charset="-122"/>
                        <a:ea typeface=".萍方-简" panose="020B0300000000000000" charset="-122"/>
                      </a:endParaRPr>
                    </a:p>
                  </a:txBody>
                  <a:tcPr anchor="ctr"/>
                </a:tc>
                <a:tc>
                  <a:txBody>
                    <a:bodyPr/>
                    <a:lstStyle/>
                    <a:p>
                      <a:pPr algn="ctr"/>
                      <a:r>
                        <a:rPr lang="en-US" altLang="zh-CN" sz="4400">
                          <a:latin typeface=".萍方-简" panose="020B0300000000000000" charset="-122"/>
                          <a:ea typeface=".萍方-简" panose="020B0300000000000000" charset="-122"/>
                        </a:rPr>
                        <a:t>1.0</a:t>
                      </a:r>
                      <a:endParaRPr lang="zh-CN" altLang="en-US" sz="4400">
                        <a:latin typeface=".萍方-简" panose="020B0300000000000000" charset="-122"/>
                        <a:ea typeface=".萍方-简" panose="020B0300000000000000" charset="-122"/>
                      </a:endParaRPr>
                    </a:p>
                  </a:txBody>
                  <a:tcPr anchor="ctr"/>
                </a:tc>
              </a:tr>
            </a:tbl>
          </a:graphicData>
        </a:graphic>
      </p:graphicFrame>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3" y="1864848"/>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诊断性能瓶颈：对症下药的前提</a:t>
            </a:r>
            <a:endParaRPr lang="zh-CN" altLang="en-US">
              <a:latin typeface=".萍方-简" panose="020B0300000000000000" charset="-122"/>
              <a:ea typeface=".萍方-简" panose="020B0300000000000000" charset="-122"/>
            </a:endParaRPr>
          </a:p>
        </p:txBody>
      </p:sp>
      <p:graphicFrame>
        <p:nvGraphicFramePr>
          <p:cNvPr id="5" name="表格 4"/>
          <p:cNvGraphicFramePr>
            <a:graphicFrameLocks noGrp="1"/>
          </p:cNvGraphicFramePr>
          <p:nvPr/>
        </p:nvGraphicFramePr>
        <p:xfrm>
          <a:off x="994055" y="2635187"/>
          <a:ext cx="22666822" cy="10303156"/>
        </p:xfrm>
        <a:graphic>
          <a:graphicData uri="http://schemas.openxmlformats.org/drawingml/2006/table">
            <a:tbl>
              <a:tblPr firstRow="1" bandRow="1">
                <a:tableStyleId>{69CF1AB2-1976-4502-BF36-3FF5EA218861}</a:tableStyleId>
              </a:tblPr>
              <a:tblGrid>
                <a:gridCol w="4580468"/>
                <a:gridCol w="14393444"/>
                <a:gridCol w="3692910"/>
              </a:tblGrid>
              <a:tr h="1140946">
                <a:tc>
                  <a:txBody>
                    <a:bodyPr/>
                    <a:lstStyle/>
                    <a:p>
                      <a:pPr algn="ctr"/>
                      <a:r>
                        <a:rPr lang="zh-CN" altLang="en-US" sz="4400">
                          <a:latin typeface=".萍方-简" panose="020B0300000000000000" charset="-122"/>
                          <a:ea typeface=".萍方-简" panose="020B0300000000000000" charset="-122"/>
                        </a:rPr>
                        <a:t>指标</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可能的问题场景</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核心问题指向</a:t>
                      </a:r>
                      <a:endParaRPr lang="zh-CN" altLang="en-US" sz="4400">
                        <a:latin typeface=".萍方-简" panose="020B0300000000000000" charset="-122"/>
                        <a:ea typeface=".萍方-简" panose="020B0300000000000000" charset="-122"/>
                      </a:endParaRPr>
                    </a:p>
                  </a:txBody>
                  <a:tcPr anchor="ctr"/>
                </a:tc>
              </a:tr>
              <a:tr h="1832442">
                <a:tc>
                  <a:txBody>
                    <a:bodyPr/>
                    <a:lstStyle/>
                    <a:p>
                      <a:pPr algn="ctr"/>
                      <a:r>
                        <a:rPr lang="en-US" altLang="zh-CN" sz="3800">
                          <a:latin typeface=".萍方-简" panose="020B0300000000000000" charset="-122"/>
                          <a:ea typeface=".萍方-简" panose="020B0300000000000000" charset="-122"/>
                        </a:rPr>
                        <a:t>context_recall</a:t>
                      </a:r>
                      <a:r>
                        <a:rPr lang="zh-CN" altLang="en-US" sz="3800">
                          <a:latin typeface=".萍方-简" panose="020B0300000000000000" charset="-122"/>
                          <a:ea typeface=".萍方-简" panose="020B0300000000000000" charset="-122"/>
                        </a:rPr>
                        <a:t>低</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检索器未覆盖关键文档（如知识库缺失）、嵌入模型语义匹配能力不足等</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检索器</a:t>
                      </a:r>
                      <a:endParaRPr lang="zh-CN" altLang="en-US" sz="3800">
                        <a:latin typeface=".萍方-简" panose="020B0300000000000000" charset="-122"/>
                        <a:ea typeface=".萍方-简" panose="020B0300000000000000" charset="-122"/>
                      </a:endParaRPr>
                    </a:p>
                  </a:txBody>
                  <a:tcPr anchor="ctr"/>
                </a:tc>
              </a:tr>
              <a:tr h="1832442">
                <a:tc>
                  <a:txBody>
                    <a:bodyPr/>
                    <a:lstStyle/>
                    <a:p>
                      <a:pPr algn="ctr"/>
                      <a:r>
                        <a:rPr lang="en-US" altLang="zh-CN" sz="3800">
                          <a:latin typeface=".萍方-简" panose="020B0300000000000000" charset="-122"/>
                          <a:ea typeface=".萍方-简" panose="020B0300000000000000" charset="-122"/>
                        </a:rPr>
                        <a:t>context_precision</a:t>
                      </a:r>
                      <a:r>
                        <a:rPr lang="zh-CN" altLang="en-US" sz="3800">
                          <a:latin typeface=".萍方-简" panose="020B0300000000000000" charset="-122"/>
                          <a:ea typeface=".萍方-简" panose="020B0300000000000000" charset="-122"/>
                        </a:rPr>
                        <a:t>低</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检索器返回大量无关文档、向量数据库索引策略有误、相关文档排名低等</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检索器</a:t>
                      </a:r>
                      <a:endParaRPr lang="zh-CN" altLang="en-US" sz="3800">
                        <a:latin typeface=".萍方-简" panose="020B0300000000000000" charset="-122"/>
                        <a:ea typeface=".萍方-简" panose="020B0300000000000000" charset="-122"/>
                      </a:endParaRPr>
                    </a:p>
                  </a:txBody>
                  <a:tcPr anchor="ctr"/>
                </a:tc>
              </a:tr>
              <a:tr h="1832442">
                <a:tc>
                  <a:txBody>
                    <a:bodyPr/>
                    <a:lstStyle/>
                    <a:p>
                      <a:pPr algn="ctr"/>
                      <a:r>
                        <a:rPr lang="en-US" altLang="zh-CN" sz="3800">
                          <a:latin typeface=".萍方-简" panose="020B0300000000000000" charset="-122"/>
                          <a:ea typeface=".萍方-简" panose="020B0300000000000000" charset="-122"/>
                        </a:rPr>
                        <a:t>faithfulness</a:t>
                      </a:r>
                      <a:r>
                        <a:rPr lang="zh-CN" altLang="en-US" sz="3800">
                          <a:latin typeface=".萍方-简" panose="020B0300000000000000" charset="-122"/>
                          <a:ea typeface=".萍方-简" panose="020B0300000000000000" charset="-122"/>
                        </a:rPr>
                        <a:t>低</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 生成模型未严格遵循上下文（如提示词未明确要求 “基于提供的信息回答”）、上下文过长导致信息稀释等</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生成器</a:t>
                      </a:r>
                      <a:endParaRPr lang="zh-CN" altLang="en-US" sz="3800">
                        <a:latin typeface=".萍方-简" panose="020B0300000000000000" charset="-122"/>
                        <a:ea typeface=".萍方-简" panose="020B0300000000000000" charset="-122"/>
                      </a:endParaRPr>
                    </a:p>
                  </a:txBody>
                  <a:tcPr anchor="ctr"/>
                </a:tc>
              </a:tr>
              <a:tr h="1832442">
                <a:tc>
                  <a:txBody>
                    <a:bodyPr/>
                    <a:lstStyle/>
                    <a:p>
                      <a:pPr algn="ctr"/>
                      <a:r>
                        <a:rPr lang="en-US" altLang="zh-CN" sz="3800">
                          <a:latin typeface=".萍方-简" panose="020B0300000000000000" charset="-122"/>
                          <a:ea typeface=".萍方-简" panose="020B0300000000000000" charset="-122"/>
                        </a:rPr>
                        <a:t>answer_relevancy</a:t>
                      </a:r>
                      <a:r>
                        <a:rPr lang="zh-CN" altLang="en-US" sz="3800">
                          <a:latin typeface=".萍方-简" panose="020B0300000000000000" charset="-122"/>
                          <a:ea typeface=".萍方-简" panose="020B0300000000000000" charset="-122"/>
                        </a:rPr>
                        <a:t>低</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 生成模型未准确理解问题意图（如问题复杂时未使用链式提示分解）、上下文与问题关联性弱等</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生成器</a:t>
                      </a:r>
                      <a:endParaRPr lang="zh-CN" altLang="en-US" sz="3800">
                        <a:latin typeface=".萍方-简" panose="020B0300000000000000" charset="-122"/>
                        <a:ea typeface=".萍方-简" panose="020B0300000000000000" charset="-122"/>
                      </a:endParaRPr>
                    </a:p>
                  </a:txBody>
                  <a:tcPr anchor="ctr"/>
                </a:tc>
              </a:tr>
              <a:tr h="1832442">
                <a:tc>
                  <a:txBody>
                    <a:bodyPr/>
                    <a:lstStyle/>
                    <a:p>
                      <a:pPr algn="ctr"/>
                      <a:r>
                        <a:rPr lang="zh-CN" altLang="en-US" sz="4400">
                          <a:latin typeface=".萍方-简" panose="020B0300000000000000" charset="-122"/>
                          <a:ea typeface=".萍方-简" panose="020B0300000000000000" charset="-122"/>
                        </a:rPr>
                        <a:t>四个指标均低</a:t>
                      </a:r>
                      <a:endParaRPr lang="zh-CN" altLang="en-US" sz="4400">
                        <a:latin typeface=".萍方-简" panose="020B0300000000000000" charset="-122"/>
                        <a:ea typeface=".萍方-简" panose="020B0300000000000000" charset="-122"/>
                      </a:endParaRPr>
                    </a:p>
                  </a:txBody>
                  <a:tcPr anchor="ctr"/>
                </a:tc>
                <a:tc>
                  <a:txBody>
                    <a:bodyPr/>
                    <a:lstStyle/>
                    <a:p>
                      <a:pPr algn="ctr"/>
                      <a:r>
                        <a:rPr lang="zh-CN" altLang="en-US" sz="3800">
                          <a:latin typeface=".萍方-简" panose="020B0300000000000000" charset="-122"/>
                          <a:ea typeface=".萍方-简" panose="020B0300000000000000" charset="-122"/>
                        </a:rPr>
                        <a:t>系统性问题，很可能是检索质量极差（</a:t>
                      </a:r>
                      <a:r>
                        <a:rPr lang="en-US" altLang="zh-CN" sz="3800">
                          <a:latin typeface=".萍方-简" panose="020B0300000000000000" charset="-122"/>
                          <a:ea typeface=".萍方-简" panose="020B0300000000000000" charset="-122"/>
                        </a:rPr>
                        <a:t>Recall </a:t>
                      </a:r>
                      <a:r>
                        <a:rPr lang="zh-CN" altLang="en-US" sz="3800">
                          <a:latin typeface=".萍方-简" panose="020B0300000000000000" charset="-122"/>
                          <a:ea typeface=".萍方-简" panose="020B0300000000000000" charset="-122"/>
                        </a:rPr>
                        <a:t>和 </a:t>
                      </a:r>
                      <a:r>
                        <a:rPr lang="en-US" altLang="zh-CN" sz="3800">
                          <a:latin typeface=".萍方-简" panose="020B0300000000000000" charset="-122"/>
                          <a:ea typeface=".萍方-简" panose="020B0300000000000000" charset="-122"/>
                        </a:rPr>
                        <a:t>Precision </a:t>
                      </a:r>
                      <a:r>
                        <a:rPr lang="zh-CN" altLang="en-US" sz="3800">
                          <a:latin typeface=".萍方-简" panose="020B0300000000000000" charset="-122"/>
                          <a:ea typeface=".萍方-简" panose="020B0300000000000000" charset="-122"/>
                        </a:rPr>
                        <a:t>都低），导致生成器输入混乱，进而影响 </a:t>
                      </a:r>
                      <a:r>
                        <a:rPr lang="en-US" altLang="zh-CN" sz="3800">
                          <a:latin typeface=".萍方-简" panose="020B0300000000000000" charset="-122"/>
                          <a:ea typeface=".萍方-简" panose="020B0300000000000000" charset="-122"/>
                        </a:rPr>
                        <a:t>Faithfulness </a:t>
                      </a:r>
                      <a:r>
                        <a:rPr lang="zh-CN" altLang="en-US" sz="3800">
                          <a:latin typeface=".萍方-简" panose="020B0300000000000000" charset="-122"/>
                          <a:ea typeface=".萍方-简" panose="020B0300000000000000" charset="-122"/>
                        </a:rPr>
                        <a:t>和 </a:t>
                      </a:r>
                      <a:r>
                        <a:rPr lang="en-US" altLang="zh-CN" sz="3800">
                          <a:latin typeface=".萍方-简" panose="020B0300000000000000" charset="-122"/>
                          <a:ea typeface=".萍方-简" panose="020B0300000000000000" charset="-122"/>
                        </a:rPr>
                        <a:t>Relevancy</a:t>
                      </a:r>
                      <a:r>
                        <a:rPr lang="zh-CN" altLang="en-US" sz="3800">
                          <a:latin typeface=".萍方-简" panose="020B0300000000000000" charset="-122"/>
                          <a:ea typeface=".萍方-简" panose="020B0300000000000000" charset="-122"/>
                        </a:rPr>
                        <a:t>。也可能是问题本身超出系统能力范围。</a:t>
                      </a:r>
                      <a:endParaRPr lang="zh-CN" altLang="en-US" sz="3800">
                        <a:latin typeface=".萍方-简" panose="020B0300000000000000" charset="-122"/>
                        <a:ea typeface=".萍方-简" panose="020B0300000000000000" charset="-122"/>
                      </a:endParaRPr>
                    </a:p>
                  </a:txBody>
                  <a:tcPr anchor="ctr"/>
                </a:tc>
                <a:tc>
                  <a:txBody>
                    <a:bodyPr/>
                    <a:lstStyle/>
                    <a:p>
                      <a:pPr algn="ctr"/>
                      <a:r>
                        <a:rPr lang="zh-CN" altLang="en-US" sz="4400">
                          <a:latin typeface=".萍方-简" panose="020B0300000000000000" charset="-122"/>
                          <a:ea typeface=".萍方-简" panose="020B0300000000000000" charset="-122"/>
                        </a:rPr>
                        <a:t>检索器优先</a:t>
                      </a:r>
                      <a:endParaRPr lang="zh-CN" altLang="en-US" sz="4400">
                        <a:latin typeface=".萍方-简" panose="020B0300000000000000" charset="-122"/>
                        <a:ea typeface=".萍方-简" panose="020B0300000000000000" charset="-122"/>
                      </a:endParaRPr>
                    </a:p>
                  </a:txBody>
                  <a:tcPr anchor="ctr"/>
                </a:tc>
              </a:tr>
            </a:tbl>
          </a:graphicData>
        </a:graphic>
      </p:graphicFrame>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1931703"/>
            <a:ext cx="20888823" cy="631483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系统性优化路径与策略：从基础到协同</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当面临性能问题，特别是多个指标偏低时，应该如何着手优化？</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核心优化原则：先固根基，再求精进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检索器优先</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依赖关系： 生成器的输出质量上限受限于检索器提供的输入质量。“</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Garbage In, Garbage Out”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。优化检索器是提升整体性能的杠杆点。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成本效益： 优化检索策略（如调整参数、混合检索、重排序）通常比大规模微调生成模型或复杂的提示工程更快见效，成本也相对较低。</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2" name="文本框 1"/>
          <p:cNvSpPr txBox="1"/>
          <p:nvPr/>
        </p:nvSpPr>
        <p:spPr>
          <a:xfrm>
            <a:off x="1056777" y="9246130"/>
            <a:ext cx="20888823" cy="292971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分阶段优化策略：</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algn="l" defTabSz="2438400" rtl="0" fontAlgn="auto" latinLnBrk="0" hangingPunct="0">
              <a:lnSpc>
                <a:spcPct val="90000"/>
              </a:lnSpc>
              <a:spcBef>
                <a:spcPts val="4500"/>
              </a:spcBef>
              <a:spcAft>
                <a:spcPts val="0"/>
              </a:spcAft>
              <a:buClrTx/>
              <a:buSzTx/>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第一阶段：夯实检索基础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优化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 Recall &amp; Context Precision)</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algn="l" defTabSz="2438400" rtl="0" fontAlgn="auto" latinLnBrk="0" hangingPunct="0">
              <a:lnSpc>
                <a:spcPct val="90000"/>
              </a:lnSpc>
              <a:spcBef>
                <a:spcPts val="4500"/>
              </a:spcBef>
              <a:spcAft>
                <a:spcPts val="0"/>
              </a:spcAft>
              <a:buClrTx/>
              <a:buSzTx/>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第二阶段：提升生成质量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优化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 &amp; Answer Relevancy)</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2022990"/>
            <a:ext cx="19923623" cy="9670019"/>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提升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context_recall</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（上下文召回率）</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检索器增强：</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lvl="5" indent="-571500">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混合检索：结合</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BM25</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（关键词匹配）和向量检索，例如在医疗场景中，使用</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BM25</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召回包含特定症状术语的文档，再用向量检索补充相关病例。</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lvl="5" indent="-571500">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查询改写：通过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LLM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将用户问题扩展为多个同义词或子问题，例如将 “如何治疗糖尿病” 改写为 “糖尿病的药物治疗方案” 和 “饮食管理方法”，提升检索覆盖范围。</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知识库优化：</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数据清洗：去除重复或低质量文档（如网页爬取的广告内容），确保检索空间的有效性。</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增量更新：定期补充新数据（如行业报告、政策文件），并重新构建索引，避免知识滞后。</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2072273"/>
            <a:ext cx="19923623" cy="516878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提升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context_precision</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（上下文精度）</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重排序技术</a:t>
            </a:r>
            <a:r>
              <a:rPr lang="zh-CN" altLang="en-US" sz="4000">
                <a:latin typeface=".萍方-简" panose="020B0300000000000000" charset="-122"/>
                <a:ea typeface=".萍方-简" panose="020B0300000000000000" charset="-122"/>
                <a:cs typeface=".萍方-简" panose="020B0300000000000000" charset="-122"/>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对检索结果进行二次排序，例如在法律场景中，优先展示与案件类型匹配的法律条文。</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分块策略优化</a:t>
            </a:r>
            <a:r>
              <a:rPr lang="zh-CN" altLang="en-US" sz="4000">
                <a:latin typeface=".萍方-简" panose="020B0300000000000000" charset="-122"/>
                <a:ea typeface=".萍方-简" panose="020B0300000000000000" charset="-122"/>
                <a:cs typeface=".萍方-简" panose="020B0300000000000000" charset="-122"/>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语义分块</a:t>
            </a:r>
            <a:r>
              <a:rPr lang="zh-CN" altLang="en-US" sz="4000">
                <a:latin typeface=".萍方-简" panose="020B0300000000000000" charset="-122"/>
                <a:ea typeface=".萍方-简" panose="020B0300000000000000" charset="-122"/>
                <a:cs typeface=".萍方-简" panose="020B0300000000000000" charset="-122"/>
              </a:rPr>
              <a:t>、调整块大小、动态分块</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algn="l" defTabSz="2438400" rtl="0" fontAlgn="auto" latinLnBrk="0" hangingPunct="0">
              <a:lnSpc>
                <a:spcPct val="90000"/>
              </a:lnSpc>
              <a:spcBef>
                <a:spcPts val="4500"/>
              </a:spcBef>
              <a:spcAft>
                <a:spcPts val="0"/>
              </a:spcAft>
              <a:buClrTx/>
              <a:buSzTx/>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调整检索参数</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优化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Top-K</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、相似度阈值、 通过实验确定混合检索权重的最优权重、平衡召回率和精度等。</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3265192"/>
            <a:ext cx="19923623" cy="91160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提升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faithfulness</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（忠实度）</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生成器约束：</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提示词工程：在提示中明确要求 “仅基于提供的上下文回答”，并添加示例（如 “根据上下文，以下哪项是正确的：</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事实核查：在生成答案后，使用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LLM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对答案进行二次验证</a:t>
            </a:r>
            <a:r>
              <a:rPr lang="zh-CN" altLang="en-US" sz="4000">
                <a:latin typeface=".萍方-简" panose="020B0300000000000000" charset="-122"/>
                <a:ea typeface=".萍方-简" panose="020B0300000000000000" charset="-122"/>
                <a:cs typeface=".萍方-简" panose="020B0300000000000000" charset="-122"/>
              </a:rPr>
              <a:t>等</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上下文截断与增强：</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截断策略：优先保留上下文开头和结尾的关键信息（如论文摘要、法律条文标题），避免因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LLM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输入长度限制导致中间信息丢失。</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元数据增强：为每个文档块添加标题、关键词等元数据，帮助生成模型快速定位关键信息。</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
        <p:nvSpPr>
          <p:cNvPr id="3" name="文本框 2"/>
          <p:cNvSpPr txBox="1"/>
          <p:nvPr/>
        </p:nvSpPr>
        <p:spPr>
          <a:xfrm>
            <a:off x="960188" y="1790772"/>
            <a:ext cx="22463623" cy="65729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4000">
                <a:latin typeface=".萍方-简" panose="020B0300000000000000" charset="-122"/>
                <a:ea typeface=".萍方-简" panose="020B0300000000000000" charset="-122"/>
              </a:rPr>
              <a:t>在良好检索，检索器已能提供相对靠谱的上下文基础上，确保答案忠实、相关</a:t>
            </a:r>
            <a:endParaRPr lang="zh-CN" altLang="en-US" sz="4000">
              <a:latin typeface=".萍方-简" panose="020B0300000000000000" charset="-122"/>
              <a:ea typeface=".萍方-简" panose="020B0300000000000000" charset="-122"/>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1984328"/>
            <a:ext cx="19923623" cy="856202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提升</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answer_relevancy</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（答案相关性）</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问题理解优化：</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问题分类：对用户问题进行分类（如 “事实型”“比较型”“建议型”），并针对不同类型生成结构化提示（如 “请分点回答</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多轮对话：在答案中添加追问提示（如 “是否需要更详细的解释？”），引导用户明确需求。</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生成策略调整：</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摘要压缩：对上下文进行摘要，去除冗余信息后再输入生成器，提升回答的针对性。</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571500" marR="0" indent="-571500" algn="l" defTabSz="2438400" rtl="0" fontAlgn="auto" latinLnBrk="0" hangingPunct="0">
              <a:lnSpc>
                <a:spcPct val="90000"/>
              </a:lnSpc>
              <a:spcBef>
                <a:spcPts val="4500"/>
              </a:spcBef>
              <a:spcAft>
                <a:spcPts val="0"/>
              </a:spcAft>
              <a:buClrTx/>
              <a:buSzTx/>
              <a:buFont typeface="Arial" panose="020B0604020202020204" pitchFamily="34" charset="0"/>
              <a:buChar char="•"/>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对比学习：微调生成模型，使其学习问题与答案的匹配模式。</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2004388"/>
            <a:ext cx="20719489" cy="867282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设定合理的性能目标：因地制宜的阈值</a:t>
            </a:r>
            <a:endParaRPr kumimoji="0" lang="en-US" altLang="zh-CN"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指标的理想值并非一成不变，需结合业务场景的风险和需求来设定</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核心指标通用基准范围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参考</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Faithfulness: ≥ 0.85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是行业普遍追求的目标。低于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0.7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可能存在严重幻觉。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Answer Relevancy: ≥ 0.8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保证较好的用户体验。低于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0.6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可能用户难以接受。开放域问答≥</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0.7</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也可以接受（如维基百科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QA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场景中，</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RAGAS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默认测试集平均得分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0.72</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Context Recall: ≥ 0.7-0.8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是常见目标。知识密集型场景要求更高。若知识库规模庞大且允许部分信息缺失（如新闻摘要），可降至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0.6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360045"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Context Precision: ≥ 0.7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通常是好的起点。高风险场景要求更高。</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395444" y="1768447"/>
            <a:ext cx="19923623" cy="1095806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行业阈值建议</a:t>
            </a:r>
            <a:endParaRPr kumimoji="0" lang="en-US" altLang="zh-CN"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医疗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法律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高风险</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核心</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Faithfulness ≥ 0.9, Context Recall ≥ 0.9</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关注</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任何事实错误或信息遗漏都可能导致严重后果。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客服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电商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咨询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效率与体验并重</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核心</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Answer Relevancy ≥ 0.8, Context Precision ≥ 0.7</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关注</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回答需直接解决问题，避免冗余信息干扰用户。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通用问答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内容生成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平衡信息覆盖与相关性</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核心</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Answer Relevancy ≥ 0.7, Context Recall ≥ 0.7</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关注</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在开放域中，保持答案相关性和信息覆盖面的平衡。</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1</a:t>
            </a:r>
            <a:r>
              <a:rPr lang="zh-CN" altLang="en-US" b="1">
                <a:latin typeface=".萍方-简" panose="020B0300000000000000" charset="-122"/>
                <a:ea typeface=".萍方-简" panose="020B0300000000000000" charset="-122"/>
                <a:cs typeface=".萍方-简" panose="020B0300000000000000" charset="-122"/>
              </a:rPr>
              <a:t>：医疗评估</a:t>
            </a:r>
            <a:endParaRPr lang="en-US" altLang="zh-CN" b="1">
              <a:latin typeface=".萍方-简" panose="020B0300000000000000" charset="-122"/>
              <a:ea typeface=".萍方-简" panose="020B0300000000000000" charset="-122"/>
              <a:cs typeface=".萍方-简" panose="020B0300000000000000" charset="-122"/>
            </a:endParaRPr>
          </a:p>
        </p:txBody>
      </p:sp>
      <p:sp>
        <p:nvSpPr>
          <p:cNvPr id="6" name="文本框 5"/>
          <p:cNvSpPr txBox="1"/>
          <p:nvPr/>
        </p:nvSpPr>
        <p:spPr>
          <a:xfrm>
            <a:off x="1243044" y="1968864"/>
            <a:ext cx="19923623" cy="811882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持续评估与优化的闭环</a:t>
            </a:r>
            <a:endParaRPr kumimoji="0" lang="en-US" altLang="zh-CN"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通过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RAGAS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的四大核心指标，我们可以：</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1.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量化理解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应用在检索和生成环节的具体表现。</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2.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诊断分析 指标间的协同关系和潜在的性能瓶颈。</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3.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指导优化 遵循“检索优先、生成增强、协同调优”的系统性路径。</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4.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设定目标 结合业务场景制定合理的性能阈值。</a:t>
            </a:r>
            <a:endPar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最终，</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应用的性能提升是一个持续迭代的过程。定期使用这些指标进行评估，结合用户反馈，不断调整优化策略，才能打造出真正高效、可靠的 </a:t>
            </a:r>
            <a:r>
              <a:rPr kumimoji="0" lang="en-US" altLang="zh-CN"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RAG </a:t>
            </a:r>
            <a:r>
              <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系统。</a:t>
            </a:r>
            <a:endParaRPr kumimoji="0" lang="zh-CN" altLang="en-US" sz="40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2397547" y="5206788"/>
            <a:ext cx="20005253" cy="2040680"/>
          </a:xfrm>
          <a:prstGeom prst="rect">
            <a:avLst/>
          </a:prstGeom>
        </p:spPr>
        <p:txBody>
          <a:bodyPr>
            <a:normAutofit fontScale="90000"/>
          </a:bodyPr>
          <a:lstStyle/>
          <a:p>
            <a:r>
              <a:rPr lang="zh-CN" altLang="en-US">
                <a:latin typeface=".萍方-简" panose="020B0300000000000000" charset="-122"/>
                <a:ea typeface=".萍方-简" panose="020B0300000000000000" charset="-122"/>
              </a:rPr>
              <a:t>应用实战</a:t>
            </a:r>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：评估选择合适的知识块大小</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2</a:t>
            </a:r>
            <a:r>
              <a:rPr lang="zh-CN" altLang="en-US" b="1">
                <a:latin typeface=".萍方-简" panose="020B0300000000000000" charset="-122"/>
                <a:ea typeface=".萍方-简" panose="020B0300000000000000" charset="-122"/>
                <a:cs typeface=".萍方-简" panose="020B0300000000000000" charset="-122"/>
              </a:rPr>
              <a:t>：选择合适的知识块大小</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056777" y="2034181"/>
            <a:ext cx="22666823" cy="848475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这是一个相对简单，但容易被忽视的基础参数问题。</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在将外部知识特别是文档进行向量化存储时，都会使用 </a:t>
            </a:r>
            <a:r>
              <a:rPr lang="en-US" altLang="zh-CN">
                <a:latin typeface=".萍方-简" panose="020B0300000000000000" charset="-122"/>
                <a:ea typeface=".萍方-简" panose="020B0300000000000000" charset="-122"/>
              </a:rPr>
              <a:t>chunk_size </a:t>
            </a:r>
            <a:r>
              <a:rPr lang="zh-CN" altLang="en-US">
                <a:latin typeface=".萍方-简" panose="020B0300000000000000" charset="-122"/>
                <a:ea typeface=".萍方-简" panose="020B0300000000000000" charset="-122"/>
              </a:rPr>
              <a:t>这个决定把原始知识分割成多大块（ </a:t>
            </a:r>
            <a:r>
              <a:rPr lang="en-US" altLang="zh-CN">
                <a:latin typeface=".萍方-简" panose="020B0300000000000000" charset="-122"/>
                <a:ea typeface=".萍方-简" panose="020B0300000000000000" charset="-122"/>
              </a:rPr>
              <a:t>Chunk</a:t>
            </a:r>
            <a:r>
              <a:rPr lang="zh-CN" altLang="en-US">
                <a:latin typeface=".萍方-简" panose="020B0300000000000000" charset="-122"/>
                <a:ea typeface=".萍方-简" panose="020B0300000000000000" charset="-122"/>
              </a:rPr>
              <a:t>）的简单参数，而知识块也是后面从向量库中检索上下文知识的基本单位。因此</a:t>
            </a:r>
            <a:r>
              <a:rPr lang="en-US" altLang="zh-CN">
                <a:latin typeface=".萍方-简" panose="020B0300000000000000" charset="-122"/>
                <a:ea typeface=".萍方-简" panose="020B0300000000000000" charset="-122"/>
              </a:rPr>
              <a:t>chunk_size </a:t>
            </a:r>
            <a:r>
              <a:rPr lang="zh-CN" altLang="en-US">
                <a:latin typeface=".萍方-简" panose="020B0300000000000000" charset="-122"/>
                <a:ea typeface=".萍方-简" panose="020B0300000000000000" charset="-122"/>
              </a:rPr>
              <a:t>在很大程度上会影响后面的检索与响应质量。</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 </a:t>
            </a:r>
            <a:r>
              <a:rPr lang="en-US" altLang="zh-CN">
                <a:latin typeface=".萍方-简" panose="020B0300000000000000" charset="-122"/>
                <a:ea typeface=".萍方-简" panose="020B0300000000000000" charset="-122"/>
              </a:rPr>
              <a:t>1</a:t>
            </a:r>
            <a:r>
              <a:rPr lang="zh-CN" altLang="en-US">
                <a:latin typeface=".萍方-简" panose="020B0300000000000000" charset="-122"/>
                <a:ea typeface=".萍方-简" panose="020B0300000000000000" charset="-122"/>
              </a:rPr>
              <a:t>） </a:t>
            </a:r>
            <a:r>
              <a:rPr lang="en-US" altLang="zh-CN">
                <a:latin typeface=".萍方-简" panose="020B0300000000000000" charset="-122"/>
                <a:ea typeface=".萍方-简" panose="020B0300000000000000" charset="-122"/>
              </a:rPr>
              <a:t>chunk_size </a:t>
            </a:r>
            <a:r>
              <a:rPr lang="zh-CN" altLang="en-US">
                <a:latin typeface=".萍方-简" panose="020B0300000000000000" charset="-122"/>
                <a:ea typeface=".萍方-简" panose="020B0300000000000000" charset="-122"/>
              </a:rPr>
              <a:t>越小，产生的知识块越多、粒度越小。尽管知识块越小，语义越精确，但是风险是携带的上下文越少，可能导致需要的重要信息不出现在检索出的顶部知识块中（特别是当 </a:t>
            </a:r>
            <a:r>
              <a:rPr lang="en-US" altLang="zh-CN">
                <a:latin typeface=".萍方-简" panose="020B0300000000000000" charset="-122"/>
                <a:ea typeface=".萍方-简" panose="020B0300000000000000" charset="-122"/>
              </a:rPr>
              <a:t>top_K </a:t>
            </a:r>
            <a:r>
              <a:rPr lang="zh-CN" altLang="en-US">
                <a:latin typeface=".萍方-简" panose="020B0300000000000000" charset="-122"/>
                <a:ea typeface=".萍方-简" panose="020B0300000000000000" charset="-122"/>
              </a:rPr>
              <a:t>比较小时）。</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 </a:t>
            </a:r>
            <a:r>
              <a:rPr lang="en-US" altLang="zh-CN">
                <a:latin typeface=".萍方-简" panose="020B0300000000000000" charset="-122"/>
                <a:ea typeface=".萍方-简" panose="020B0300000000000000" charset="-122"/>
              </a:rPr>
              <a:t>2</a:t>
            </a:r>
            <a:r>
              <a:rPr lang="zh-CN" altLang="en-US">
                <a:latin typeface=".萍方-简" panose="020B0300000000000000" charset="-122"/>
                <a:ea typeface=".萍方-简" panose="020B0300000000000000" charset="-122"/>
              </a:rPr>
              <a:t>） </a:t>
            </a:r>
            <a:r>
              <a:rPr lang="en-US" altLang="zh-CN">
                <a:latin typeface=".萍方-简" panose="020B0300000000000000" charset="-122"/>
                <a:ea typeface=".萍方-简" panose="020B0300000000000000" charset="-122"/>
              </a:rPr>
              <a:t>chunk_size </a:t>
            </a:r>
            <a:r>
              <a:rPr lang="zh-CN" altLang="en-US">
                <a:latin typeface=".萍方-简" panose="020B0300000000000000" charset="-122"/>
                <a:ea typeface=".萍方-简" panose="020B0300000000000000" charset="-122"/>
              </a:rPr>
              <a:t>越大，携带的上下文越完整，但也带来语义不精确的隐患。此外，过大的 </a:t>
            </a:r>
            <a:r>
              <a:rPr lang="en-US" altLang="zh-CN">
                <a:latin typeface=".萍方-简" panose="020B0300000000000000" charset="-122"/>
                <a:ea typeface=".萍方-简" panose="020B0300000000000000" charset="-122"/>
              </a:rPr>
              <a:t>chunk_size </a:t>
            </a:r>
            <a:r>
              <a:rPr lang="zh-CN" altLang="en-US">
                <a:latin typeface=".萍方-简" panose="020B0300000000000000" charset="-122"/>
                <a:ea typeface=".萍方-简" panose="020B0300000000000000" charset="-122"/>
              </a:rPr>
              <a:t>可能导致性能下降、携带的上下文过多，从而导致上下文窗口溢出及 </a:t>
            </a:r>
            <a:r>
              <a:rPr lang="en-US" altLang="zh-CN">
                <a:latin typeface=".萍方-简" panose="020B0300000000000000" charset="-122"/>
                <a:ea typeface=".萍方-简" panose="020B0300000000000000" charset="-122"/>
              </a:rPr>
              <a:t>token </a:t>
            </a:r>
            <a:r>
              <a:rPr lang="zh-CN" altLang="en-US">
                <a:latin typeface=".萍方-简" panose="020B0300000000000000" charset="-122"/>
                <a:ea typeface=".萍方-简" panose="020B0300000000000000" charset="-122"/>
              </a:rPr>
              <a:t>成本升高。</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2</a:t>
            </a:r>
            <a:r>
              <a:rPr lang="zh-CN" altLang="en-US" b="1">
                <a:latin typeface=".萍方-简" panose="020B0300000000000000" charset="-122"/>
                <a:ea typeface=".萍方-简" panose="020B0300000000000000" charset="-122"/>
                <a:cs typeface=".萍方-简" panose="020B0300000000000000" charset="-122"/>
              </a:rPr>
              <a:t>：选择合适的知识块大小</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989043" y="2152714"/>
            <a:ext cx="22666823" cy="773224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知识块大小是否合适有时候与 </a:t>
            </a:r>
            <a:r>
              <a:rPr lang="en-US" altLang="zh-CN">
                <a:latin typeface=".萍方-简" panose="020B0300000000000000" charset="-122"/>
                <a:ea typeface=".萍方-简" panose="020B0300000000000000" charset="-122"/>
              </a:rPr>
              <a:t>RAG </a:t>
            </a:r>
            <a:r>
              <a:rPr lang="zh-CN" altLang="en-US">
                <a:latin typeface=".萍方-简" panose="020B0300000000000000" charset="-122"/>
                <a:ea typeface=".萍方-简" panose="020B0300000000000000" charset="-122"/>
              </a:rPr>
              <a:t>应用需要完成的任务类型有关。</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对于常见的事实性问答，你可能只需要少量特定的知识块，而对于摘要、总结、对比之类的任务，你可能需要更大的知识块甚至全部知识块。</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因此，确定最合适的知识块大小本质上就是取得某种“平衡”。在不牺牲性能的条件下，你要尽可能捕获最重要的知识信息。</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我们知道，常见的分块方式有：固定大小分块；句子分割；递归分割；专门分块（比如按标题）；语义分块等等</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但是每个块的大小依然是很重要的参数，多大分块合适？</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2</a:t>
            </a:r>
            <a:r>
              <a:rPr lang="zh-CN" altLang="en-US" b="1">
                <a:latin typeface=".萍方-简" panose="020B0300000000000000" charset="-122"/>
                <a:ea typeface=".萍方-简" panose="020B0300000000000000" charset="-122"/>
                <a:cs typeface=".萍方-简" panose="020B0300000000000000" charset="-122"/>
              </a:rPr>
              <a:t>：选择合适的知识块大小</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005976" y="1932580"/>
            <a:ext cx="22666823" cy="715516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通用场景推荐</a:t>
            </a:r>
            <a:endParaRPr lang="zh-CN" altLang="en-US">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128-512 tokens</a:t>
            </a:r>
            <a:r>
              <a:rPr lang="zh-CN" altLang="en-US">
                <a:latin typeface=".萍方-简" panose="020B0300000000000000" charset="-122"/>
                <a:ea typeface=".萍方-简" panose="020B0300000000000000" charset="-122"/>
              </a:rPr>
              <a:t>：这是最常见的分块区间，平衡了上下文完整性和检索效率。例如：微软研究指出，</a:t>
            </a:r>
            <a:r>
              <a:rPr lang="en-US" altLang="zh-CN">
                <a:latin typeface=".萍方-简" panose="020B0300000000000000" charset="-122"/>
                <a:ea typeface=".萍方-简" panose="020B0300000000000000" charset="-122"/>
              </a:rPr>
              <a:t>512 tokens </a:t>
            </a:r>
            <a:r>
              <a:rPr lang="zh-CN" altLang="en-US">
                <a:latin typeface=".萍方-简" panose="020B0300000000000000" charset="-122"/>
                <a:ea typeface=".萍方-简" panose="020B0300000000000000" charset="-122"/>
              </a:rPr>
              <a:t>是较小块的基准，而企业级应用中甚至会采用 </a:t>
            </a:r>
            <a:r>
              <a:rPr lang="en-US" altLang="zh-CN">
                <a:latin typeface=".萍方-简" panose="020B0300000000000000" charset="-122"/>
                <a:ea typeface=".萍方-简" panose="020B0300000000000000" charset="-122"/>
              </a:rPr>
              <a:t>100 tokens </a:t>
            </a:r>
            <a:r>
              <a:rPr lang="zh-CN" altLang="en-US">
                <a:latin typeface=".萍方-简" panose="020B0300000000000000" charset="-122"/>
                <a:ea typeface=".萍方-简" panose="020B0300000000000000" charset="-122"/>
              </a:rPr>
              <a:t>的块大小以提升精准度。</a:t>
            </a:r>
            <a:endParaRPr lang="zh-CN" altLang="en-US">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Databricks </a:t>
            </a:r>
            <a:r>
              <a:rPr lang="zh-CN" altLang="en-US">
                <a:latin typeface=".萍方-简" panose="020B0300000000000000" charset="-122"/>
                <a:ea typeface=".萍方-简" panose="020B0300000000000000" charset="-122"/>
              </a:rPr>
              <a:t>实验使用 </a:t>
            </a:r>
            <a:r>
              <a:rPr lang="en-US" altLang="zh-CN">
                <a:latin typeface=".萍方-简" panose="020B0300000000000000" charset="-122"/>
                <a:ea typeface=".萍方-简" panose="020B0300000000000000" charset="-122"/>
              </a:rPr>
              <a:t>512 tokens </a:t>
            </a:r>
            <a:r>
              <a:rPr lang="zh-CN" altLang="en-US">
                <a:latin typeface=".萍方-简" panose="020B0300000000000000" charset="-122"/>
                <a:ea typeface=".萍方-简" panose="020B0300000000000000" charset="-122"/>
              </a:rPr>
              <a:t>块大小和 </a:t>
            </a:r>
            <a:r>
              <a:rPr lang="en-US" altLang="zh-CN">
                <a:latin typeface=".萍方-简" panose="020B0300000000000000" charset="-122"/>
                <a:ea typeface=".萍方-简" panose="020B0300000000000000" charset="-122"/>
              </a:rPr>
              <a:t>256 tokens </a:t>
            </a:r>
            <a:r>
              <a:rPr lang="zh-CN" altLang="en-US">
                <a:latin typeface=".萍方-简" panose="020B0300000000000000" charset="-122"/>
                <a:ea typeface=".萍方-简" panose="020B0300000000000000" charset="-122"/>
              </a:rPr>
              <a:t>重叠步幅，在长上下文场景中表现优异。</a:t>
            </a:r>
            <a:endParaRPr lang="zh-CN" altLang="en-US">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1024 tokens</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LlamaIndex </a:t>
            </a:r>
            <a:r>
              <a:rPr lang="zh-CN" altLang="en-US">
                <a:latin typeface=".萍方-简" panose="020B0300000000000000" charset="-122"/>
                <a:ea typeface=".萍方-简" panose="020B0300000000000000" charset="-122"/>
              </a:rPr>
              <a:t>测试显示，该大小在响应时间和质量（忠实度、相关性）之间取得最佳平衡，尤其适合需要更多上下文的复杂任务</a:t>
            </a:r>
            <a:endParaRPr lang="en-US" altLang="zh-CN">
              <a:latin typeface=".萍方-简" panose="020B0300000000000000" charset="-122"/>
              <a:ea typeface=".萍方-简" panose="020B0300000000000000" charset="-122"/>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2</a:t>
            </a:r>
            <a:r>
              <a:rPr lang="zh-CN" altLang="en-US" b="1">
                <a:latin typeface=".萍方-简" panose="020B0300000000000000" charset="-122"/>
                <a:ea typeface=".萍方-简" panose="020B0300000000000000" charset="-122"/>
                <a:cs typeface=".萍方-简" panose="020B0300000000000000" charset="-122"/>
              </a:rPr>
              <a:t>：选择合适的知识块大小</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005976" y="1932580"/>
            <a:ext cx="22666823" cy="582556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细分场景推荐</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技术文档 </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学术论文：采用</a:t>
            </a:r>
            <a:r>
              <a:rPr lang="en-US" altLang="zh-CN">
                <a:latin typeface=".萍方-简" panose="020B0300000000000000" charset="-122"/>
                <a:ea typeface=".萍方-简" panose="020B0300000000000000" charset="-122"/>
              </a:rPr>
              <a:t>200-300 tokens</a:t>
            </a:r>
            <a:r>
              <a:rPr lang="zh-CN" altLang="en-US">
                <a:latin typeface=".萍方-简" panose="020B0300000000000000" charset="-122"/>
                <a:ea typeface=".萍方-简" panose="020B0300000000000000" charset="-122"/>
              </a:rPr>
              <a:t>，确保专业术语和逻辑结构的完整性。例如，微软分析显示，技术文档分块过大会导致术语稀释，影响检索准确性。</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长叙事文本（如小说）：可扩展至</a:t>
            </a:r>
            <a:r>
              <a:rPr lang="en-US" altLang="zh-CN">
                <a:latin typeface=".萍方-简" panose="020B0300000000000000" charset="-122"/>
                <a:ea typeface=".萍方-简" panose="020B0300000000000000" charset="-122"/>
              </a:rPr>
              <a:t>500-1000 tokens</a:t>
            </a:r>
            <a:r>
              <a:rPr lang="zh-CN" altLang="en-US">
                <a:latin typeface=".萍方-简" panose="020B0300000000000000" charset="-122"/>
                <a:ea typeface=".萍方-简" panose="020B0300000000000000" charset="-122"/>
              </a:rPr>
              <a:t>，减少分块数量以保留情节连贯性。</a:t>
            </a:r>
            <a:endParaRPr lang="zh-CN" altLang="en-US">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社交媒体 </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短文本：使用</a:t>
            </a:r>
            <a:r>
              <a:rPr lang="en-US" altLang="zh-CN">
                <a:latin typeface=".萍方-简" panose="020B0300000000000000" charset="-122"/>
                <a:ea typeface=".萍方-简" panose="020B0300000000000000" charset="-122"/>
              </a:rPr>
              <a:t>100-200 tokens</a:t>
            </a:r>
            <a:r>
              <a:rPr lang="zh-CN" altLang="en-US">
                <a:latin typeface=".萍方-简" panose="020B0300000000000000" charset="-122"/>
                <a:ea typeface=".萍方-简" panose="020B0300000000000000" charset="-122"/>
              </a:rPr>
              <a:t>，适配碎片化内容的检索需求</a:t>
            </a:r>
            <a:endParaRPr lang="en-US" altLang="zh-CN">
              <a:latin typeface=".萍方-简" panose="020B0300000000000000" charset="-122"/>
              <a:ea typeface=".萍方-简" panose="020B0300000000000000" charset="-122"/>
            </a:endParaRPr>
          </a:p>
        </p:txBody>
      </p:sp>
      <p:sp>
        <p:nvSpPr>
          <p:cNvPr id="3" name="文本框 2"/>
          <p:cNvSpPr txBox="1"/>
          <p:nvPr/>
        </p:nvSpPr>
        <p:spPr>
          <a:xfrm>
            <a:off x="1005975" y="8942981"/>
            <a:ext cx="22666823" cy="209993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可以看到，具体的分块大小，其实是没有一个放之四海而皆准的数值，所以在企业级应用场景中，最好的办法就是使用应用评估框架与评估数据集来评估不同的 </a:t>
            </a:r>
            <a:r>
              <a:rPr lang="en-US" altLang="zh-CN">
                <a:latin typeface=".萍方-简" panose="020B0300000000000000" charset="-122"/>
                <a:ea typeface=".萍方-简" panose="020B0300000000000000" charset="-122"/>
              </a:rPr>
              <a:t>chunk_size </a:t>
            </a:r>
            <a:r>
              <a:rPr lang="zh-CN" altLang="en-US">
                <a:latin typeface=".萍方-简" panose="020B0300000000000000" charset="-122"/>
                <a:ea typeface=".萍方-简" panose="020B0300000000000000" charset="-122"/>
              </a:rPr>
              <a:t>下的各种性能指标，进而做出最优的选择。</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2</a:t>
            </a:r>
            <a:r>
              <a:rPr lang="zh-CN" altLang="en-US" b="1">
                <a:latin typeface=".萍方-简" panose="020B0300000000000000" charset="-122"/>
                <a:ea typeface=".萍方-简" panose="020B0300000000000000" charset="-122"/>
                <a:cs typeface=".萍方-简" panose="020B0300000000000000" charset="-122"/>
              </a:rPr>
              <a:t>：选择合适的知识块大小</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858588" y="1772553"/>
            <a:ext cx="22666823" cy="209993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评估中，使用</a:t>
            </a:r>
            <a:r>
              <a:rPr lang="en-US" altLang="zh-CN">
                <a:latin typeface=".萍方-简" panose="020B0300000000000000" charset="-122"/>
                <a:ea typeface=".萍方-简" panose="020B0300000000000000" charset="-122"/>
              </a:rPr>
              <a:t>LangChain</a:t>
            </a:r>
            <a:r>
              <a:rPr lang="zh-CN" altLang="en-US">
                <a:latin typeface=".萍方-简" panose="020B0300000000000000" charset="-122"/>
                <a:ea typeface=".萍方-简" panose="020B0300000000000000" charset="-122"/>
              </a:rPr>
              <a:t>的</a:t>
            </a:r>
            <a:r>
              <a:rPr lang="en-US" altLang="zh-CN">
                <a:latin typeface=".萍方-简" panose="020B0300000000000000" charset="-122"/>
                <a:ea typeface=".萍方-简" panose="020B0300000000000000" charset="-122"/>
              </a:rPr>
              <a:t>RecursiveCharacterTextSplitter</a:t>
            </a:r>
            <a:r>
              <a:rPr lang="zh-CN" altLang="en-US">
                <a:latin typeface=".萍方-简" panose="020B0300000000000000" charset="-122"/>
                <a:ea typeface=".萍方-简" panose="020B0300000000000000" charset="-122"/>
              </a:rPr>
              <a:t>分块，默认分割符，</a:t>
            </a:r>
            <a:r>
              <a:rPr lang="en-US" altLang="zh-CN">
                <a:latin typeface=".萍方-简" panose="020B0300000000000000" charset="-122"/>
                <a:ea typeface=".萍方-简" panose="020B0300000000000000" charset="-122"/>
              </a:rPr>
              <a:t>chunk_overlap</a:t>
            </a:r>
            <a:r>
              <a:rPr lang="zh-CN" altLang="en-US">
                <a:latin typeface=".萍方-简" panose="020B0300000000000000" charset="-122"/>
                <a:ea typeface=".萍方-简" panose="020B0300000000000000" charset="-122"/>
              </a:rPr>
              <a:t>为</a:t>
            </a:r>
            <a:r>
              <a:rPr lang="en-US" altLang="zh-CN">
                <a:latin typeface=".萍方-简" panose="020B0300000000000000" charset="-122"/>
                <a:ea typeface=".萍方-简" panose="020B0300000000000000" charset="-122"/>
              </a:rPr>
              <a:t>chunk_size</a:t>
            </a:r>
            <a:r>
              <a:rPr lang="zh-CN" altLang="en-US">
                <a:latin typeface=".萍方-简" panose="020B0300000000000000" charset="-122"/>
                <a:ea typeface=".萍方-简" panose="020B0300000000000000" charset="-122"/>
              </a:rPr>
              <a:t>的</a:t>
            </a:r>
            <a:r>
              <a:rPr lang="en-US" altLang="zh-CN">
                <a:latin typeface=".萍方-简" panose="020B0300000000000000" charset="-122"/>
                <a:ea typeface=".萍方-简" panose="020B0300000000000000" charset="-122"/>
              </a:rPr>
              <a:t>20%</a:t>
            </a:r>
            <a:r>
              <a:rPr lang="zh-CN" altLang="en-US">
                <a:latin typeface=".萍方-简" panose="020B0300000000000000" charset="-122"/>
                <a:ea typeface=".萍方-简" panose="020B0300000000000000" charset="-122"/>
              </a:rPr>
              <a:t>，使用阿里百炼系列模型，向量数据库</a:t>
            </a:r>
            <a:r>
              <a:rPr lang="en-US" altLang="zh-CN">
                <a:latin typeface=".萍方-简" panose="020B0300000000000000" charset="-122"/>
                <a:ea typeface=".萍方-简" panose="020B0300000000000000" charset="-122"/>
              </a:rPr>
              <a:t>FAISS</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 </a:t>
            </a:r>
            <a:r>
              <a:rPr lang="zh-CN" altLang="en-US">
                <a:latin typeface=".萍方-简" panose="020B0300000000000000" charset="-122"/>
                <a:ea typeface=".萍方-简" panose="020B0300000000000000" charset="-122"/>
              </a:rPr>
              <a:t>仅使用单纯向量检索，未使用任何</a:t>
            </a:r>
            <a:r>
              <a:rPr lang="en-US" altLang="zh-CN">
                <a:latin typeface=".萍方-简" panose="020B0300000000000000" charset="-122"/>
                <a:ea typeface=".萍方-简" panose="020B0300000000000000" charset="-122"/>
              </a:rPr>
              <a:t>AdvanceRAG</a:t>
            </a:r>
            <a:r>
              <a:rPr lang="zh-CN" altLang="en-US">
                <a:latin typeface=".萍方-简" panose="020B0300000000000000" charset="-122"/>
                <a:ea typeface=".萍方-简" panose="020B0300000000000000" charset="-122"/>
              </a:rPr>
              <a:t>技术，</a:t>
            </a:r>
            <a:r>
              <a:rPr lang="en-US" altLang="zh-CN">
                <a:latin typeface=".萍方-简" panose="020B0300000000000000" charset="-122"/>
                <a:ea typeface=".萍方-简" panose="020B0300000000000000" charset="-122"/>
              </a:rPr>
              <a:t>top_K = 10</a:t>
            </a:r>
            <a:r>
              <a:rPr lang="zh-CN" altLang="en-US">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p:txBody>
      </p:sp>
      <p:pic>
        <p:nvPicPr>
          <p:cNvPr id="5" name="图片 4"/>
          <p:cNvPicPr>
            <a:picLocks noChangeAspect="1"/>
          </p:cNvPicPr>
          <p:nvPr/>
        </p:nvPicPr>
        <p:blipFill>
          <a:blip r:embed="rId1"/>
          <a:stretch>
            <a:fillRect/>
          </a:stretch>
        </p:blipFill>
        <p:spPr>
          <a:xfrm>
            <a:off x="869440" y="4927280"/>
            <a:ext cx="22395840" cy="1727869"/>
          </a:xfrm>
          <a:prstGeom prst="rect">
            <a:avLst/>
          </a:prstGeom>
        </p:spPr>
      </p:pic>
      <p:sp>
        <p:nvSpPr>
          <p:cNvPr id="6" name="文本框 5"/>
          <p:cNvSpPr txBox="1"/>
          <p:nvPr/>
        </p:nvSpPr>
        <p:spPr>
          <a:xfrm>
            <a:off x="858587" y="6940956"/>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chunk_size = 256 </a:t>
            </a:r>
            <a:r>
              <a:rPr lang="zh-CN" altLang="en-US">
                <a:latin typeface=".萍方-简" panose="020B0300000000000000" charset="-122"/>
                <a:ea typeface=".萍方-简" panose="020B0300000000000000" charset="-122"/>
              </a:rPr>
              <a:t>，将分块为</a:t>
            </a:r>
            <a:r>
              <a:rPr lang="en-US" altLang="zh-CN">
                <a:latin typeface=".萍方-简" panose="020B0300000000000000" charset="-122"/>
                <a:ea typeface=".萍方-简" panose="020B0300000000000000" charset="-122"/>
              </a:rPr>
              <a:t>821</a:t>
            </a:r>
            <a:r>
              <a:rPr lang="zh-CN" altLang="en-US">
                <a:latin typeface=".萍方-简" panose="020B0300000000000000" charset="-122"/>
                <a:ea typeface=".萍方-简" panose="020B0300000000000000" charset="-122"/>
              </a:rPr>
              <a:t>个</a:t>
            </a:r>
            <a:endParaRPr lang="en-US" altLang="zh-CN">
              <a:latin typeface=".萍方-简" panose="020B0300000000000000" charset="-122"/>
              <a:ea typeface=".萍方-简" panose="020B0300000000000000" charset="-122"/>
            </a:endParaRPr>
          </a:p>
        </p:txBody>
      </p:sp>
      <p:sp>
        <p:nvSpPr>
          <p:cNvPr id="10" name="文本框 9"/>
          <p:cNvSpPr txBox="1"/>
          <p:nvPr/>
        </p:nvSpPr>
        <p:spPr>
          <a:xfrm>
            <a:off x="858588" y="4188773"/>
            <a:ext cx="12192000"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chunk_size = 128 </a:t>
            </a:r>
            <a:r>
              <a:rPr lang="zh-CN" altLang="en-US">
                <a:latin typeface=".萍方-简" panose="020B0300000000000000" charset="-122"/>
                <a:ea typeface=".萍方-简" panose="020B0300000000000000" charset="-122"/>
              </a:rPr>
              <a:t>，将分块为</a:t>
            </a:r>
            <a:r>
              <a:rPr lang="en-US" altLang="zh-CN">
                <a:latin typeface=".萍方-简" panose="020B0300000000000000" charset="-122"/>
                <a:ea typeface=".萍方-简" panose="020B0300000000000000" charset="-122"/>
              </a:rPr>
              <a:t>1546</a:t>
            </a:r>
            <a:r>
              <a:rPr lang="zh-CN" altLang="en-US">
                <a:latin typeface=".萍方-简" panose="020B0300000000000000" charset="-122"/>
                <a:ea typeface=".萍方-简" panose="020B0300000000000000" charset="-122"/>
              </a:rPr>
              <a:t>个</a:t>
            </a:r>
            <a:endParaRPr lang="en-US" altLang="zh-CN">
              <a:latin typeface=".萍方-简" panose="020B0300000000000000" charset="-122"/>
              <a:ea typeface=".萍方-简" panose="020B0300000000000000" charset="-122"/>
            </a:endParaRPr>
          </a:p>
        </p:txBody>
      </p:sp>
      <p:pic>
        <p:nvPicPr>
          <p:cNvPr id="14" name="图片 13"/>
          <p:cNvPicPr>
            <a:picLocks noChangeAspect="1"/>
          </p:cNvPicPr>
          <p:nvPr/>
        </p:nvPicPr>
        <p:blipFill>
          <a:blip r:embed="rId2"/>
          <a:stretch>
            <a:fillRect/>
          </a:stretch>
        </p:blipFill>
        <p:spPr>
          <a:xfrm>
            <a:off x="858587" y="7711295"/>
            <a:ext cx="22406693" cy="1977842"/>
          </a:xfrm>
          <a:prstGeom prst="rect">
            <a:avLst/>
          </a:prstGeom>
        </p:spPr>
      </p:pic>
      <p:sp>
        <p:nvSpPr>
          <p:cNvPr id="15" name="文本框 14"/>
          <p:cNvSpPr txBox="1"/>
          <p:nvPr/>
        </p:nvSpPr>
        <p:spPr>
          <a:xfrm>
            <a:off x="858587" y="10074306"/>
            <a:ext cx="226668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chunk_size = 512 </a:t>
            </a:r>
            <a:r>
              <a:rPr lang="zh-CN" altLang="en-US">
                <a:latin typeface=".萍方-简" panose="020B0300000000000000" charset="-122"/>
                <a:ea typeface=".萍方-简" panose="020B0300000000000000" charset="-122"/>
              </a:rPr>
              <a:t>，将分块为</a:t>
            </a:r>
            <a:r>
              <a:rPr lang="en-US" altLang="zh-CN">
                <a:latin typeface=".萍方-简" panose="020B0300000000000000" charset="-122"/>
                <a:ea typeface=".萍方-简" panose="020B0300000000000000" charset="-122"/>
              </a:rPr>
              <a:t>462</a:t>
            </a:r>
            <a:r>
              <a:rPr lang="zh-CN" altLang="en-US">
                <a:latin typeface=".萍方-简" panose="020B0300000000000000" charset="-122"/>
                <a:ea typeface=".萍方-简" panose="020B0300000000000000" charset="-122"/>
              </a:rPr>
              <a:t>个</a:t>
            </a:r>
            <a:endParaRPr lang="en-US" altLang="zh-CN">
              <a:latin typeface=".萍方-简" panose="020B0300000000000000" charset="-122"/>
              <a:ea typeface=".萍方-简" panose="020B0300000000000000" charset="-122"/>
            </a:endParaRPr>
          </a:p>
        </p:txBody>
      </p:sp>
      <p:pic>
        <p:nvPicPr>
          <p:cNvPr id="17" name="图片 16"/>
          <p:cNvPicPr>
            <a:picLocks noChangeAspect="1"/>
          </p:cNvPicPr>
          <p:nvPr/>
        </p:nvPicPr>
        <p:blipFill>
          <a:blip r:embed="rId3"/>
          <a:stretch>
            <a:fillRect/>
          </a:stretch>
        </p:blipFill>
        <p:spPr>
          <a:xfrm>
            <a:off x="858587" y="10796510"/>
            <a:ext cx="22406693" cy="2005578"/>
          </a:xfrm>
          <a:prstGeom prst="rect">
            <a:avLst/>
          </a:prstGeom>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2</a:t>
            </a:r>
            <a:r>
              <a:rPr lang="zh-CN" altLang="en-US" b="1">
                <a:latin typeface=".萍方-简" panose="020B0300000000000000" charset="-122"/>
                <a:ea typeface=".萍方-简" panose="020B0300000000000000" charset="-122"/>
                <a:cs typeface=".萍方-简" panose="020B0300000000000000" charset="-122"/>
              </a:rPr>
              <a:t>：选择合适的知识块大小</a:t>
            </a:r>
            <a:endParaRPr lang="en-US" altLang="zh-CN" b="1">
              <a:latin typeface=".萍方-简" panose="020B0300000000000000" charset="-122"/>
              <a:ea typeface=".萍方-简" panose="020B0300000000000000" charset="-122"/>
              <a:cs typeface=".萍方-简" panose="020B0300000000000000" charset="-122"/>
            </a:endParaRPr>
          </a:p>
        </p:txBody>
      </p:sp>
      <p:sp>
        <p:nvSpPr>
          <p:cNvPr id="3" name="文本框 2"/>
          <p:cNvSpPr txBox="1"/>
          <p:nvPr/>
        </p:nvSpPr>
        <p:spPr>
          <a:xfrm>
            <a:off x="13643253" y="2094285"/>
            <a:ext cx="9250613" cy="212211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综合来看，</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种分块大小下</a:t>
            </a:r>
            <a:r>
              <a:rPr lang="en-US" altLang="zh-CN">
                <a:latin typeface=".萍方-简" panose="020B0300000000000000" charset="-122"/>
                <a:ea typeface=".萍方-简" panose="020B0300000000000000" charset="-122"/>
              </a:rPr>
              <a:t>RAG</a:t>
            </a:r>
            <a:r>
              <a:rPr lang="zh-CN" altLang="en-US">
                <a:latin typeface=".萍方-简" panose="020B0300000000000000" charset="-122"/>
                <a:ea typeface=".萍方-简" panose="020B0300000000000000" charset="-122"/>
              </a:rPr>
              <a:t>应用的性能都不错，大部分指标差距几乎都在</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以内。</a:t>
            </a:r>
            <a:endParaRPr lang="en-US" altLang="zh-CN">
              <a:latin typeface=".萍方-简" panose="020B0300000000000000" charset="-122"/>
              <a:ea typeface=".萍方-简" panose="020B0300000000000000" charset="-122"/>
            </a:endParaRPr>
          </a:p>
        </p:txBody>
      </p:sp>
      <p:sp>
        <p:nvSpPr>
          <p:cNvPr id="8" name="文本框 7"/>
          <p:cNvSpPr txBox="1"/>
          <p:nvPr/>
        </p:nvSpPr>
        <p:spPr>
          <a:xfrm>
            <a:off x="1061787" y="8495085"/>
            <a:ext cx="22560213" cy="467140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如果要优中选优，</a:t>
            </a:r>
            <a:r>
              <a:rPr lang="en-US" altLang="zh-CN">
                <a:latin typeface=".萍方-简" panose="020B0300000000000000" charset="-122"/>
                <a:ea typeface=".萍方-简" panose="020B0300000000000000" charset="-122"/>
              </a:rPr>
              <a:t>chunk_size=128 </a:t>
            </a:r>
            <a:r>
              <a:rPr lang="zh-CN" altLang="en-US">
                <a:latin typeface=".萍方-简" panose="020B0300000000000000" charset="-122"/>
                <a:ea typeface=".萍方-简" panose="020B0300000000000000" charset="-122"/>
              </a:rPr>
              <a:t>的指标组表现最优。</a:t>
            </a:r>
            <a:r>
              <a:rPr lang="en-US" altLang="zh-CN">
                <a:latin typeface=".萍方-简" panose="020B0300000000000000" charset="-122"/>
                <a:ea typeface=".萍方-简" panose="020B0300000000000000" charset="-122"/>
              </a:rPr>
              <a:t>F1 </a:t>
            </a:r>
            <a:r>
              <a:rPr lang="zh-CN" altLang="en-US">
                <a:latin typeface=".萍方-简" panose="020B0300000000000000" charset="-122"/>
                <a:ea typeface=".萍方-简" panose="020B0300000000000000" charset="-122"/>
              </a:rPr>
              <a:t>分数最高，说明上下文质量综合最优，在信息完整性（</a:t>
            </a:r>
            <a:r>
              <a:rPr lang="en-US" altLang="zh-CN">
                <a:latin typeface=".萍方-简" panose="020B0300000000000000" charset="-122"/>
                <a:ea typeface=".萍方-简" panose="020B0300000000000000" charset="-122"/>
              </a:rPr>
              <a:t>Recall</a:t>
            </a:r>
            <a:r>
              <a:rPr lang="zh-CN" altLang="en-US">
                <a:latin typeface=".萍方-简" panose="020B0300000000000000" charset="-122"/>
                <a:ea typeface=".萍方-简" panose="020B0300000000000000" charset="-122"/>
              </a:rPr>
              <a:t>）和纯净度（</a:t>
            </a:r>
            <a:r>
              <a:rPr lang="en-US" altLang="zh-CN">
                <a:latin typeface=".萍方-简" panose="020B0300000000000000" charset="-122"/>
                <a:ea typeface=".萍方-简" panose="020B0300000000000000" charset="-122"/>
              </a:rPr>
              <a:t>Precision</a:t>
            </a:r>
            <a:r>
              <a:rPr lang="zh-CN" altLang="en-US">
                <a:latin typeface=".萍方-简" panose="020B0300000000000000" charset="-122"/>
                <a:ea typeface=".萍方-简" panose="020B0300000000000000" charset="-122"/>
              </a:rPr>
              <a:t>）之间达到最佳平衡，</a:t>
            </a:r>
            <a:r>
              <a:rPr lang="en-US" altLang="zh-CN">
                <a:latin typeface=".萍方-简" panose="020B0300000000000000" charset="-122"/>
                <a:ea typeface=".萍方-简" panose="020B0300000000000000" charset="-122"/>
              </a:rPr>
              <a:t>Faithfulness </a:t>
            </a:r>
            <a:r>
              <a:rPr lang="zh-CN" altLang="en-US">
                <a:latin typeface=".萍方-简" panose="020B0300000000000000" charset="-122"/>
                <a:ea typeface=".萍方-简" panose="020B0300000000000000" charset="-122"/>
              </a:rPr>
              <a:t>和 </a:t>
            </a:r>
            <a:r>
              <a:rPr lang="en-US" altLang="zh-CN">
                <a:latin typeface=".萍方-简" panose="020B0300000000000000" charset="-122"/>
                <a:ea typeface=".萍方-简" panose="020B0300000000000000" charset="-122"/>
              </a:rPr>
              <a:t>Answer Relevancy </a:t>
            </a:r>
            <a:r>
              <a:rPr lang="zh-CN" altLang="en-US">
                <a:latin typeface=".萍方-简" panose="020B0300000000000000" charset="-122"/>
                <a:ea typeface=".萍方-简" panose="020B0300000000000000" charset="-122"/>
              </a:rPr>
              <a:t>均处于高位，既保证回答忠实于手册内容，又能有效关联用户问题。大分块在回答相关性和信息召回上有一定优势，但上下文精确率的显著下降和 </a:t>
            </a:r>
            <a:r>
              <a:rPr lang="en-US" altLang="zh-CN">
                <a:latin typeface=".萍方-简" panose="020B0300000000000000" charset="-122"/>
                <a:ea typeface=".萍方-简" panose="020B0300000000000000" charset="-122"/>
              </a:rPr>
              <a:t>F1 </a:t>
            </a:r>
            <a:r>
              <a:rPr lang="zh-CN" altLang="en-US">
                <a:latin typeface=".萍方-简" panose="020B0300000000000000" charset="-122"/>
                <a:ea typeface=".萍方-简" panose="020B0300000000000000" charset="-122"/>
              </a:rPr>
              <a:t>分数的降低表明其引入了过多无关信息。</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另外，成本也是</a:t>
            </a:r>
            <a:r>
              <a:rPr lang="en-US" altLang="zh-CN">
                <a:latin typeface=".萍方-简" panose="020B0300000000000000" charset="-122"/>
                <a:ea typeface=".萍方-简" panose="020B0300000000000000" charset="-122"/>
              </a:rPr>
              <a:t>128</a:t>
            </a:r>
            <a:r>
              <a:rPr lang="zh-CN" altLang="en-US">
                <a:latin typeface=".萍方-简" panose="020B0300000000000000" charset="-122"/>
                <a:ea typeface=".萍方-简" panose="020B0300000000000000" charset="-122"/>
              </a:rPr>
              <a:t>指标组的一大显著优势。</a:t>
            </a:r>
            <a:endParaRPr lang="en-US" altLang="zh-CN">
              <a:latin typeface=".萍方-简" panose="020B0300000000000000" charset="-122"/>
              <a:ea typeface=".萍方-简" panose="020B0300000000000000" charset="-122"/>
            </a:endParaRPr>
          </a:p>
        </p:txBody>
      </p:sp>
      <p:pic>
        <p:nvPicPr>
          <p:cNvPr id="7" name="图片 6"/>
          <p:cNvPicPr>
            <a:picLocks noChangeAspect="1"/>
          </p:cNvPicPr>
          <p:nvPr/>
        </p:nvPicPr>
        <p:blipFill>
          <a:blip r:embed="rId1"/>
          <a:stretch>
            <a:fillRect/>
          </a:stretch>
        </p:blipFill>
        <p:spPr>
          <a:xfrm>
            <a:off x="1087129" y="1742262"/>
            <a:ext cx="12370079" cy="6480503"/>
          </a:xfrm>
          <a:prstGeom prst="rect">
            <a:avLst/>
          </a:prstGeom>
        </p:spPr>
      </p:pic>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2397547" y="5206788"/>
            <a:ext cx="20005253" cy="2040680"/>
          </a:xfrm>
          <a:prstGeom prst="rect">
            <a:avLst/>
          </a:prstGeom>
        </p:spPr>
        <p:txBody>
          <a:bodyPr>
            <a:normAutofit fontScale="90000"/>
          </a:bodyPr>
          <a:lstStyle/>
          <a:p>
            <a:r>
              <a:rPr lang="zh-CN" altLang="en-US">
                <a:latin typeface=".萍方-简" panose="020B0300000000000000" charset="-122"/>
                <a:ea typeface=".萍方-简" panose="020B0300000000000000" charset="-122"/>
              </a:rPr>
              <a:t>应用实战</a:t>
            </a:r>
            <a:r>
              <a:rPr lang="en-US" altLang="zh-CN">
                <a:latin typeface=".萍方-简" panose="020B0300000000000000" charset="-122"/>
                <a:ea typeface=".萍方-简" panose="020B0300000000000000" charset="-122"/>
              </a:rPr>
              <a:t>3</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2023</a:t>
            </a:r>
            <a:r>
              <a:rPr lang="zh-CN" altLang="en-US">
                <a:latin typeface=".萍方-简" panose="020B0300000000000000" charset="-122"/>
                <a:ea typeface=".萍方-简" panose="020B0300000000000000" charset="-122"/>
              </a:rPr>
              <a:t>全球智能汽车</a:t>
            </a:r>
            <a:r>
              <a:rPr lang="en-US" altLang="zh-CN">
                <a:latin typeface=".萍方-简" panose="020B0300000000000000" charset="-122"/>
                <a:ea typeface=".萍方-简" panose="020B0300000000000000" charset="-122"/>
              </a:rPr>
              <a:t>AI</a:t>
            </a:r>
            <a:r>
              <a:rPr lang="zh-CN" altLang="en-US">
                <a:latin typeface=".萍方-简" panose="020B0300000000000000" charset="-122"/>
                <a:ea typeface=".萍方-简" panose="020B0300000000000000" charset="-122"/>
              </a:rPr>
              <a:t>挑战赛</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3</a:t>
            </a:r>
            <a:r>
              <a:rPr lang="zh-CN" altLang="en-US" b="1">
                <a:latin typeface=".萍方-简" panose="020B0300000000000000" charset="-122"/>
                <a:ea typeface=".萍方-简" panose="020B0300000000000000" charset="-122"/>
                <a:cs typeface=".萍方-简" panose="020B0300000000000000" charset="-122"/>
              </a:rPr>
              <a:t>：</a:t>
            </a:r>
            <a:r>
              <a:rPr lang="en-US" altLang="zh-CN" b="1">
                <a:latin typeface=".萍方-简" panose="020B0300000000000000" charset="-122"/>
                <a:ea typeface=".萍方-简" panose="020B0300000000000000" charset="-122"/>
                <a:cs typeface=".萍方-简" panose="020B0300000000000000" charset="-122"/>
              </a:rPr>
              <a:t>2023</a:t>
            </a:r>
            <a:r>
              <a:rPr lang="zh-CN" altLang="en-US" b="1">
                <a:latin typeface=".萍方-简" panose="020B0300000000000000" charset="-122"/>
                <a:ea typeface=".萍方-简" panose="020B0300000000000000" charset="-122"/>
                <a:cs typeface=".萍方-简" panose="020B0300000000000000" charset="-122"/>
              </a:rPr>
              <a:t>全球智能汽车</a:t>
            </a:r>
            <a:r>
              <a:rPr lang="en-US" altLang="zh-CN" b="1">
                <a:latin typeface=".萍方-简" panose="020B0300000000000000" charset="-122"/>
                <a:ea typeface=".萍方-简" panose="020B0300000000000000" charset="-122"/>
                <a:cs typeface=".萍方-简" panose="020B0300000000000000" charset="-122"/>
              </a:rPr>
              <a:t>AI</a:t>
            </a:r>
            <a:r>
              <a:rPr lang="zh-CN" altLang="en-US" b="1">
                <a:latin typeface=".萍方-简" panose="020B0300000000000000" charset="-122"/>
                <a:ea typeface=".萍方-简" panose="020B0300000000000000" charset="-122"/>
                <a:cs typeface=".萍方-简" panose="020B0300000000000000" charset="-122"/>
              </a:rPr>
              <a:t>挑战赛</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092696" y="1793376"/>
            <a:ext cx="22666823" cy="276473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在我们上面的实战中，</a:t>
            </a:r>
            <a:r>
              <a:rPr lang="en-US" altLang="zh-CN">
                <a:latin typeface=".萍方-简" panose="020B0300000000000000" charset="-122"/>
                <a:ea typeface=".萍方-简" panose="020B0300000000000000" charset="-122"/>
              </a:rPr>
              <a:t>128</a:t>
            </a:r>
            <a:r>
              <a:rPr lang="zh-CN" altLang="en-US">
                <a:latin typeface=".萍方-简" panose="020B0300000000000000" charset="-122"/>
                <a:ea typeface=".萍方-简" panose="020B0300000000000000" charset="-122"/>
              </a:rPr>
              <a:t>指标组的召回率在三者中最低，能否继续提高？提高后对其他指标是否有影响？前面我们已经知道，提高召回率有</a:t>
            </a: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混合检索或者查询改写之类的方法</a:t>
            </a:r>
            <a:r>
              <a:rPr lang="zh-CN" altLang="en-US">
                <a:latin typeface=".萍方-简" panose="020B0300000000000000" charset="-122"/>
                <a:ea typeface=".萍方-简" panose="020B0300000000000000" charset="-122"/>
                <a:cs typeface=".萍方-简" panose="020B0300000000000000" charset="-122"/>
              </a:rPr>
              <a:t>。</a:t>
            </a:r>
            <a:r>
              <a:rPr kumimoji="0" lang="zh-CN" altLang="en-US" sz="4800" b="0" i="0" u="none" strike="noStrike" cap="none" spc="0" normalizeH="0" baseline="0">
                <a:ln>
                  <a:noFill/>
                </a:ln>
                <a:solidFill>
                  <a:srgbClr val="000000"/>
                </a:solidFill>
                <a:effectLst/>
                <a:uFillTx/>
                <a:latin typeface=".萍方-简" panose="020B0300000000000000" charset="-122"/>
                <a:ea typeface=".萍方-简" panose="020B0300000000000000" charset="-122"/>
                <a:cs typeface=".萍方-简" panose="020B0300000000000000" charset="-122"/>
                <a:sym typeface="Helvetica Neue" panose="02000503000000020004"/>
              </a:rPr>
              <a:t>我们接下来试试，维持其他参数不变，但是改变检索器为混合检索，作为对照组，我们还同时引入一个上下文压缩检索器</a:t>
            </a:r>
            <a:endParaRPr lang="zh-CN" altLang="en-US">
              <a:latin typeface=".萍方-简" panose="020B0300000000000000" charset="-122"/>
              <a:ea typeface=".萍方-简" panose="020B0300000000000000" charset="-122"/>
            </a:endParaRPr>
          </a:p>
        </p:txBody>
      </p:sp>
      <p:pic>
        <p:nvPicPr>
          <p:cNvPr id="7" name="图片 6"/>
          <p:cNvPicPr>
            <a:picLocks noChangeAspect="1"/>
          </p:cNvPicPr>
          <p:nvPr/>
        </p:nvPicPr>
        <p:blipFill>
          <a:blip r:embed="rId1"/>
          <a:stretch>
            <a:fillRect/>
          </a:stretch>
        </p:blipFill>
        <p:spPr>
          <a:xfrm>
            <a:off x="1243044" y="5506971"/>
            <a:ext cx="22594351" cy="2180762"/>
          </a:xfrm>
          <a:prstGeom prst="rect">
            <a:avLst/>
          </a:prstGeom>
        </p:spPr>
      </p:pic>
      <p:pic>
        <p:nvPicPr>
          <p:cNvPr id="9" name="图片 8"/>
          <p:cNvPicPr>
            <a:picLocks noChangeAspect="1"/>
          </p:cNvPicPr>
          <p:nvPr/>
        </p:nvPicPr>
        <p:blipFill>
          <a:blip r:embed="rId2"/>
          <a:stretch>
            <a:fillRect/>
          </a:stretch>
        </p:blipFill>
        <p:spPr>
          <a:xfrm>
            <a:off x="1243044" y="8848195"/>
            <a:ext cx="22490974" cy="1972205"/>
          </a:xfrm>
          <a:prstGeom prst="rect">
            <a:avLst/>
          </a:prstGeom>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3</a:t>
            </a:r>
            <a:r>
              <a:rPr lang="zh-CN" altLang="en-US" b="1">
                <a:latin typeface=".萍方-简" panose="020B0300000000000000" charset="-122"/>
                <a:ea typeface=".萍方-简" panose="020B0300000000000000" charset="-122"/>
                <a:cs typeface=".萍方-简" panose="020B0300000000000000" charset="-122"/>
              </a:rPr>
              <a:t>：</a:t>
            </a:r>
            <a:r>
              <a:rPr lang="en-US" altLang="zh-CN" b="1">
                <a:latin typeface=".萍方-简" panose="020B0300000000000000" charset="-122"/>
                <a:ea typeface=".萍方-简" panose="020B0300000000000000" charset="-122"/>
                <a:cs typeface=".萍方-简" panose="020B0300000000000000" charset="-122"/>
              </a:rPr>
              <a:t>2023</a:t>
            </a:r>
            <a:r>
              <a:rPr lang="zh-CN" altLang="en-US" b="1">
                <a:latin typeface=".萍方-简" panose="020B0300000000000000" charset="-122"/>
                <a:ea typeface=".萍方-简" panose="020B0300000000000000" charset="-122"/>
                <a:cs typeface=".萍方-简" panose="020B0300000000000000" charset="-122"/>
              </a:rPr>
              <a:t>全球智能汽车</a:t>
            </a:r>
            <a:r>
              <a:rPr lang="en-US" altLang="zh-CN" b="1">
                <a:latin typeface=".萍方-简" panose="020B0300000000000000" charset="-122"/>
                <a:ea typeface=".萍方-简" panose="020B0300000000000000" charset="-122"/>
                <a:cs typeface=".萍方-简" panose="020B0300000000000000" charset="-122"/>
              </a:rPr>
              <a:t>AI</a:t>
            </a:r>
            <a:r>
              <a:rPr lang="zh-CN" altLang="en-US" b="1">
                <a:latin typeface=".萍方-简" panose="020B0300000000000000" charset="-122"/>
                <a:ea typeface=".萍方-简" panose="020B0300000000000000" charset="-122"/>
                <a:cs typeface=".萍方-简" panose="020B0300000000000000" charset="-122"/>
              </a:rPr>
              <a:t>挑战赛</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243044" y="8431242"/>
            <a:ext cx="13382345"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现在请试着分析三组指标，给出你的结论！</a:t>
            </a:r>
            <a:endParaRPr lang="zh-CN" altLang="en-US">
              <a:latin typeface=".萍方-简" panose="020B0300000000000000" charset="-122"/>
              <a:ea typeface=".萍方-简" panose="020B0300000000000000" charset="-122"/>
            </a:endParaRPr>
          </a:p>
        </p:txBody>
      </p:sp>
      <p:pic>
        <p:nvPicPr>
          <p:cNvPr id="12" name="图片 11"/>
          <p:cNvPicPr>
            <a:picLocks noChangeAspect="1"/>
          </p:cNvPicPr>
          <p:nvPr/>
        </p:nvPicPr>
        <p:blipFill>
          <a:blip r:embed="rId1"/>
          <a:stretch>
            <a:fillRect/>
          </a:stretch>
        </p:blipFill>
        <p:spPr>
          <a:xfrm>
            <a:off x="768609" y="1803728"/>
            <a:ext cx="22432715" cy="6024786"/>
          </a:xfrm>
          <a:prstGeom prst="rect">
            <a:avLst/>
          </a:prstGeom>
        </p:spPr>
      </p:pic>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3</a:t>
            </a:r>
            <a:r>
              <a:rPr lang="zh-CN" altLang="en-US" b="1">
                <a:latin typeface=".萍方-简" panose="020B0300000000000000" charset="-122"/>
                <a:ea typeface=".萍方-简" panose="020B0300000000000000" charset="-122"/>
                <a:cs typeface=".萍方-简" panose="020B0300000000000000" charset="-122"/>
              </a:rPr>
              <a:t>：</a:t>
            </a:r>
            <a:r>
              <a:rPr lang="en-US" altLang="zh-CN" b="1">
                <a:latin typeface=".萍方-简" panose="020B0300000000000000" charset="-122"/>
                <a:ea typeface=".萍方-简" panose="020B0300000000000000" charset="-122"/>
                <a:cs typeface=".萍方-简" panose="020B0300000000000000" charset="-122"/>
              </a:rPr>
              <a:t>2023</a:t>
            </a:r>
            <a:r>
              <a:rPr lang="zh-CN" altLang="en-US" b="1">
                <a:latin typeface=".萍方-简" panose="020B0300000000000000" charset="-122"/>
                <a:ea typeface=".萍方-简" panose="020B0300000000000000" charset="-122"/>
                <a:cs typeface=".萍方-简" panose="020B0300000000000000" charset="-122"/>
              </a:rPr>
              <a:t>全球智能汽车</a:t>
            </a:r>
            <a:r>
              <a:rPr lang="en-US" altLang="zh-CN" b="1">
                <a:latin typeface=".萍方-简" panose="020B0300000000000000" charset="-122"/>
                <a:ea typeface=".萍方-简" panose="020B0300000000000000" charset="-122"/>
                <a:cs typeface=".萍方-简" panose="020B0300000000000000" charset="-122"/>
              </a:rPr>
              <a:t>AI</a:t>
            </a:r>
            <a:r>
              <a:rPr lang="zh-CN" altLang="en-US" b="1">
                <a:latin typeface=".萍方-简" panose="020B0300000000000000" charset="-122"/>
                <a:ea typeface=".萍方-简" panose="020B0300000000000000" charset="-122"/>
                <a:cs typeface=".萍方-简" panose="020B0300000000000000" charset="-122"/>
              </a:rPr>
              <a:t>挑战赛</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1188788" y="1844175"/>
            <a:ext cx="220064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从结果来看，毫无疑问我们希望提升召回率的想法通过混合检索切切实实的达到了，在召回率提升的同时，回答相关性和忠实度也得到了提升。</a:t>
            </a:r>
            <a:endParaRPr lang="zh-CN" altLang="en-US">
              <a:latin typeface=".萍方-简" panose="020B0300000000000000" charset="-122"/>
              <a:ea typeface=".萍方-简" panose="020B0300000000000000" charset="-122"/>
            </a:endParaRPr>
          </a:p>
        </p:txBody>
      </p:sp>
      <p:sp>
        <p:nvSpPr>
          <p:cNvPr id="5" name="文本框 4"/>
          <p:cNvSpPr txBox="1"/>
          <p:nvPr/>
        </p:nvSpPr>
        <p:spPr>
          <a:xfrm>
            <a:off x="1243044" y="3863105"/>
            <a:ext cx="22006423" cy="830932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en-US" altLang="zh-CN">
                <a:latin typeface=".萍方-简" panose="020B0300000000000000" charset="-122"/>
                <a:ea typeface=".萍方-简" panose="020B0300000000000000" charset="-122"/>
              </a:rPr>
              <a:t>mix_retriever</a:t>
            </a:r>
            <a:r>
              <a:rPr lang="zh-CN" altLang="en-US">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context_recall=1.0</a:t>
            </a:r>
            <a:r>
              <a:rPr lang="zh-CN" altLang="en-US">
                <a:latin typeface=".萍方-简" panose="020B0300000000000000" charset="-122"/>
                <a:ea typeface=".萍方-简" panose="020B0300000000000000" charset="-122"/>
              </a:rPr>
              <a:t>：表示检索器完美召回了所有相关文档，没有遗漏关键信息。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faithfulness=0.9848</a:t>
            </a:r>
            <a:r>
              <a:rPr lang="zh-CN" altLang="en-US">
                <a:latin typeface=".萍方-简" panose="020B0300000000000000" charset="-122"/>
                <a:ea typeface=".萍方-简" panose="020B0300000000000000" charset="-122"/>
              </a:rPr>
              <a:t>：回答忠实度极高，几乎完全基于检索到的上下文生成，较少引入虚构内容。</a:t>
            </a:r>
            <a:endParaRPr lang="en-US" altLang="zh-CN">
              <a:latin typeface=".萍方-简" panose="020B0300000000000000" charset="-122"/>
              <a:ea typeface=".萍方-简" panose="020B0300000000000000" charset="-122"/>
            </a:endParaRPr>
          </a:p>
          <a:p>
            <a:r>
              <a:rPr lang="zh-CN" altLang="en-US">
                <a:latin typeface=".萍方-简" panose="020B0300000000000000" charset="-122"/>
                <a:ea typeface=".萍方-简" panose="020B0300000000000000" charset="-122"/>
              </a:rPr>
              <a:t>但是：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context_precision=0.4811</a:t>
            </a:r>
            <a:r>
              <a:rPr lang="zh-CN" altLang="en-US">
                <a:latin typeface=".萍方-简" panose="020B0300000000000000" charset="-122"/>
                <a:ea typeface=".萍方-简" panose="020B0300000000000000" charset="-122"/>
              </a:rPr>
              <a:t>：精确率极低，意味着检索结果中近一半是不相关文档，引入大量噪音，可能增加模型处理负担，甚至干扰回答相关性。</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F1 </a:t>
            </a:r>
            <a:r>
              <a:rPr lang="zh-CN" altLang="en-US">
                <a:latin typeface=".萍方-简" panose="020B0300000000000000" charset="-122"/>
                <a:ea typeface=".萍方-简" panose="020B0300000000000000" charset="-122"/>
              </a:rPr>
              <a:t>分数 </a:t>
            </a:r>
            <a:r>
              <a:rPr lang="en-US" altLang="zh-CN">
                <a:latin typeface=".萍方-简" panose="020B0300000000000000" charset="-122"/>
                <a:ea typeface=".萍方-简" panose="020B0300000000000000" charset="-122"/>
              </a:rPr>
              <a:t>= 0.6497</a:t>
            </a:r>
            <a:r>
              <a:rPr lang="zh-CN" altLang="en-US">
                <a:latin typeface=".萍方-简" panose="020B0300000000000000" charset="-122"/>
                <a:ea typeface=".萍方-简" panose="020B0300000000000000" charset="-122"/>
              </a:rPr>
              <a:t>：精确率和召回率失衡，综合表现一般。</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3</a:t>
            </a:r>
            <a:r>
              <a:rPr lang="zh-CN" altLang="en-US" b="1">
                <a:latin typeface=".萍方-简" panose="020B0300000000000000" charset="-122"/>
                <a:ea typeface=".萍方-简" panose="020B0300000000000000" charset="-122"/>
                <a:cs typeface=".萍方-简" panose="020B0300000000000000" charset="-122"/>
              </a:rPr>
              <a:t>：</a:t>
            </a:r>
            <a:r>
              <a:rPr lang="en-US" altLang="zh-CN" b="1">
                <a:latin typeface=".萍方-简" panose="020B0300000000000000" charset="-122"/>
                <a:ea typeface=".萍方-简" panose="020B0300000000000000" charset="-122"/>
                <a:cs typeface=".萍方-简" panose="020B0300000000000000" charset="-122"/>
              </a:rPr>
              <a:t>2023</a:t>
            </a:r>
            <a:r>
              <a:rPr lang="zh-CN" altLang="en-US" b="1">
                <a:latin typeface=".萍方-简" panose="020B0300000000000000" charset="-122"/>
                <a:ea typeface=".萍方-简" panose="020B0300000000000000" charset="-122"/>
                <a:cs typeface=".萍方-简" panose="020B0300000000000000" charset="-122"/>
              </a:rPr>
              <a:t>全球智能汽车</a:t>
            </a:r>
            <a:r>
              <a:rPr lang="en-US" altLang="zh-CN" b="1">
                <a:latin typeface=".萍方-简" panose="020B0300000000000000" charset="-122"/>
                <a:ea typeface=".萍方-简" panose="020B0300000000000000" charset="-122"/>
                <a:cs typeface=".萍方-简" panose="020B0300000000000000" charset="-122"/>
              </a:rPr>
              <a:t>AI</a:t>
            </a:r>
            <a:r>
              <a:rPr lang="zh-CN" altLang="en-US" b="1">
                <a:latin typeface=".萍方-简" panose="020B0300000000000000" charset="-122"/>
                <a:ea typeface=".萍方-简" panose="020B0300000000000000" charset="-122"/>
                <a:cs typeface=".萍方-简" panose="020B0300000000000000" charset="-122"/>
              </a:rPr>
              <a:t>挑战赛</a:t>
            </a:r>
            <a:endParaRPr lang="en-US" altLang="zh-CN" b="1">
              <a:latin typeface=".萍方-简" panose="020B0300000000000000" charset="-122"/>
              <a:ea typeface=".萍方-简" panose="020B0300000000000000" charset="-122"/>
              <a:cs typeface=".萍方-简" panose="020B0300000000000000" charset="-122"/>
            </a:endParaRPr>
          </a:p>
        </p:txBody>
      </p:sp>
      <p:sp>
        <p:nvSpPr>
          <p:cNvPr id="5" name="文本框 4"/>
          <p:cNvSpPr txBox="1"/>
          <p:nvPr/>
        </p:nvSpPr>
        <p:spPr>
          <a:xfrm>
            <a:off x="1243044" y="1949638"/>
            <a:ext cx="22006423" cy="830932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对照组</a:t>
            </a:r>
            <a:r>
              <a:rPr lang="en-US" altLang="zh-CN">
                <a:latin typeface=".萍方-简" panose="020B0300000000000000" charset="-122"/>
                <a:ea typeface=".萍方-简" panose="020B0300000000000000" charset="-122"/>
              </a:rPr>
              <a:t>compression_retriever</a:t>
            </a:r>
            <a:r>
              <a:rPr lang="zh-CN" altLang="en-US">
                <a:latin typeface=".萍方-简" panose="020B0300000000000000" charset="-122"/>
                <a:ea typeface=".萍方-简" panose="020B0300000000000000" charset="-122"/>
              </a:rPr>
              <a:t>：</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context_precision=0.8057</a:t>
            </a:r>
            <a:r>
              <a:rPr lang="zh-CN" altLang="en-US">
                <a:latin typeface=".萍方-简" panose="020B0300000000000000" charset="-122"/>
                <a:ea typeface=".萍方-简" panose="020B0300000000000000" charset="-122"/>
              </a:rPr>
              <a:t>：精确率较高，检索结果相关性较好。</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faithfulness=0.9770</a:t>
            </a:r>
            <a:r>
              <a:rPr lang="zh-CN" altLang="en-US">
                <a:latin typeface=".萍方-简" panose="020B0300000000000000" charset="-122"/>
                <a:ea typeface=".萍方-简" panose="020B0300000000000000" charset="-122"/>
              </a:rPr>
              <a:t>：忠实度接近 </a:t>
            </a:r>
            <a:r>
              <a:rPr lang="en-US" altLang="zh-CN">
                <a:latin typeface=".萍方-简" panose="020B0300000000000000" charset="-122"/>
                <a:ea typeface=".萍方-简" panose="020B0300000000000000" charset="-122"/>
              </a:rPr>
              <a:t>mix_retriever</a:t>
            </a:r>
            <a:r>
              <a:rPr lang="zh-CN" altLang="en-US">
                <a:latin typeface=".萍方-简" panose="020B0300000000000000" charset="-122"/>
                <a:ea typeface=".萍方-简" panose="020B0300000000000000" charset="-122"/>
              </a:rPr>
              <a:t>，回答可靠性较强。</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context_recall=0.7037</a:t>
            </a:r>
            <a:r>
              <a:rPr lang="zh-CN" altLang="en-US">
                <a:latin typeface=".萍方-简" panose="020B0300000000000000" charset="-122"/>
                <a:ea typeface=".萍方-简" panose="020B0300000000000000" charset="-122"/>
              </a:rPr>
              <a:t>：召回率显著低于前两者，可能遗漏大量关键文档，导致回答缺乏必要信息。</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answer_relevancy=0.8227</a:t>
            </a:r>
            <a:r>
              <a:rPr lang="zh-CN" altLang="en-US">
                <a:latin typeface=".萍方-简" panose="020B0300000000000000" charset="-122"/>
                <a:ea typeface=".萍方-简" panose="020B0300000000000000" charset="-122"/>
              </a:rPr>
              <a:t>：回答相关性最低，可能因召回不足或压缩过程中信息损失导致。</a:t>
            </a:r>
            <a:endParaRPr lang="en-US" altLang="zh-CN">
              <a:latin typeface=".萍方-简" panose="020B0300000000000000" charset="-122"/>
              <a:ea typeface=".萍方-简" panose="020B0300000000000000" charset="-122"/>
            </a:endParaRPr>
          </a:p>
          <a:p>
            <a:r>
              <a:rPr lang="en-US" altLang="zh-CN">
                <a:latin typeface=".萍方-简" panose="020B0300000000000000" charset="-122"/>
                <a:ea typeface=".萍方-简" panose="020B0300000000000000" charset="-122"/>
              </a:rPr>
              <a:t>F1 </a:t>
            </a:r>
            <a:r>
              <a:rPr lang="zh-CN" altLang="en-US">
                <a:latin typeface=".萍方-简" panose="020B0300000000000000" charset="-122"/>
                <a:ea typeface=".萍方-简" panose="020B0300000000000000" charset="-122"/>
              </a:rPr>
              <a:t>分数 </a:t>
            </a:r>
            <a:r>
              <a:rPr lang="en-US" altLang="zh-CN">
                <a:latin typeface=".萍方-简" panose="020B0300000000000000" charset="-122"/>
                <a:ea typeface=".萍方-简" panose="020B0300000000000000" charset="-122"/>
              </a:rPr>
              <a:t>= 0.7513</a:t>
            </a:r>
            <a:r>
              <a:rPr lang="zh-CN" altLang="en-US">
                <a:latin typeface=".萍方-简" panose="020B0300000000000000" charset="-122"/>
                <a:ea typeface=".萍方-简" panose="020B0300000000000000" charset="-122"/>
              </a:rPr>
              <a:t>：主要受限于召回率和回答相关性的不足。</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3</a:t>
            </a:r>
            <a:r>
              <a:rPr lang="zh-CN" altLang="en-US" b="1">
                <a:latin typeface=".萍方-简" panose="020B0300000000000000" charset="-122"/>
                <a:ea typeface=".萍方-简" panose="020B0300000000000000" charset="-122"/>
                <a:cs typeface=".萍方-简" panose="020B0300000000000000" charset="-122"/>
              </a:rPr>
              <a:t>：</a:t>
            </a:r>
            <a:r>
              <a:rPr lang="en-US" altLang="zh-CN" b="1">
                <a:latin typeface=".萍方-简" panose="020B0300000000000000" charset="-122"/>
                <a:ea typeface=".萍方-简" panose="020B0300000000000000" charset="-122"/>
                <a:cs typeface=".萍方-简" panose="020B0300000000000000" charset="-122"/>
              </a:rPr>
              <a:t>2023</a:t>
            </a:r>
            <a:r>
              <a:rPr lang="zh-CN" altLang="en-US" b="1">
                <a:latin typeface=".萍方-简" panose="020B0300000000000000" charset="-122"/>
                <a:ea typeface=".萍方-简" panose="020B0300000000000000" charset="-122"/>
                <a:cs typeface=".萍方-简" panose="020B0300000000000000" charset="-122"/>
              </a:rPr>
              <a:t>全球智能汽车</a:t>
            </a:r>
            <a:r>
              <a:rPr lang="en-US" altLang="zh-CN" b="1">
                <a:latin typeface=".萍方-简" panose="020B0300000000000000" charset="-122"/>
                <a:ea typeface=".萍方-简" panose="020B0300000000000000" charset="-122"/>
                <a:cs typeface=".萍方-简" panose="020B0300000000000000" charset="-122"/>
              </a:rPr>
              <a:t>AI</a:t>
            </a:r>
            <a:r>
              <a:rPr lang="zh-CN" altLang="en-US" b="1">
                <a:latin typeface=".萍方-简" panose="020B0300000000000000" charset="-122"/>
                <a:ea typeface=".萍方-简" panose="020B0300000000000000" charset="-122"/>
                <a:cs typeface=".萍方-简" panose="020B0300000000000000" charset="-122"/>
              </a:rPr>
              <a:t>挑战赛</a:t>
            </a:r>
            <a:endParaRPr lang="en-US" altLang="zh-CN" b="1">
              <a:latin typeface=".萍方-简" panose="020B0300000000000000" charset="-122"/>
              <a:ea typeface=".萍方-简" panose="020B0300000000000000" charset="-122"/>
              <a:cs typeface=".萍方-简" panose="020B0300000000000000" charset="-122"/>
            </a:endParaRPr>
          </a:p>
        </p:txBody>
      </p:sp>
      <p:sp>
        <p:nvSpPr>
          <p:cNvPr id="5" name="文本框 4"/>
          <p:cNvSpPr txBox="1"/>
          <p:nvPr/>
        </p:nvSpPr>
        <p:spPr>
          <a:xfrm>
            <a:off x="1243044" y="1949638"/>
            <a:ext cx="22006423" cy="649036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从这三组指标来看：</a:t>
            </a:r>
            <a:endParaRPr lang="en-US" altLang="zh-CN">
              <a:latin typeface=".萍方-简" panose="020B0300000000000000" charset="-122"/>
              <a:ea typeface=".萍方-简" panose="020B0300000000000000" charset="-122"/>
            </a:endParaRPr>
          </a:p>
          <a:p>
            <a:pPr marL="360045"/>
            <a:r>
              <a:rPr lang="en-US" altLang="zh-CN">
                <a:latin typeface=".萍方-简" panose="020B0300000000000000" charset="-122"/>
                <a:ea typeface=".萍方-简" panose="020B0300000000000000" charset="-122"/>
              </a:rPr>
              <a:t>faiss_retriever</a:t>
            </a:r>
            <a:r>
              <a:rPr lang="zh-CN" altLang="en-US">
                <a:latin typeface=".萍方-简" panose="020B0300000000000000" charset="-122"/>
                <a:ea typeface=".萍方-简" panose="020B0300000000000000" charset="-122"/>
              </a:rPr>
              <a:t>：</a:t>
            </a:r>
            <a:r>
              <a:rPr lang="en-US" altLang="zh-CN">
                <a:latin typeface=".萍方-简" panose="020B0300000000000000" charset="-122"/>
                <a:ea typeface=".萍方-简" panose="020B0300000000000000" charset="-122"/>
              </a:rPr>
              <a:t>F1 </a:t>
            </a:r>
            <a:r>
              <a:rPr lang="zh-CN" altLang="en-US">
                <a:latin typeface=".萍方-简" panose="020B0300000000000000" charset="-122"/>
                <a:ea typeface=".萍方-简" panose="020B0300000000000000" charset="-122"/>
              </a:rPr>
              <a:t>分数最高（</a:t>
            </a:r>
            <a:r>
              <a:rPr lang="en-US" altLang="zh-CN">
                <a:latin typeface=".萍方-简" panose="020B0300000000000000" charset="-122"/>
                <a:ea typeface=".萍方-简" panose="020B0300000000000000" charset="-122"/>
              </a:rPr>
              <a:t>0.8773</a:t>
            </a:r>
            <a:r>
              <a:rPr lang="zh-CN" altLang="en-US">
                <a:latin typeface=".萍方-简" panose="020B0300000000000000" charset="-122"/>
                <a:ea typeface=".萍方-简" panose="020B0300000000000000" charset="-122"/>
              </a:rPr>
              <a:t>），精确率和召回率均处于高位（</a:t>
            </a:r>
            <a:r>
              <a:rPr lang="en-US" altLang="zh-CN">
                <a:latin typeface=".萍方-简" panose="020B0300000000000000" charset="-122"/>
                <a:ea typeface=".萍方-简" panose="020B0300000000000000" charset="-122"/>
              </a:rPr>
              <a:t>0.90/0.85</a:t>
            </a:r>
            <a:r>
              <a:rPr lang="zh-CN" altLang="en-US">
                <a:latin typeface=".萍方-简" panose="020B0300000000000000" charset="-122"/>
                <a:ea typeface=".萍方-简" panose="020B0300000000000000" charset="-122"/>
              </a:rPr>
              <a:t>），回答相关性（</a:t>
            </a:r>
            <a:r>
              <a:rPr lang="en-US" altLang="zh-CN">
                <a:latin typeface=".萍方-简" panose="020B0300000000000000" charset="-122"/>
                <a:ea typeface=".萍方-简" panose="020B0300000000000000" charset="-122"/>
              </a:rPr>
              <a:t>0.8994</a:t>
            </a:r>
            <a:r>
              <a:rPr lang="zh-CN" altLang="en-US">
                <a:latin typeface=".萍方-简" panose="020B0300000000000000" charset="-122"/>
                <a:ea typeface=".萍方-简" panose="020B0300000000000000" charset="-122"/>
              </a:rPr>
              <a:t>）和忠实度（</a:t>
            </a:r>
            <a:r>
              <a:rPr lang="en-US" altLang="zh-CN">
                <a:latin typeface=".萍方-简" panose="020B0300000000000000" charset="-122"/>
                <a:ea typeface=".萍方-简" panose="020B0300000000000000" charset="-122"/>
              </a:rPr>
              <a:t>0.9650</a:t>
            </a:r>
            <a:r>
              <a:rPr lang="zh-CN" altLang="en-US">
                <a:latin typeface=".萍方-简" panose="020B0300000000000000" charset="-122"/>
                <a:ea typeface=".萍方-简" panose="020B0300000000000000" charset="-122"/>
              </a:rPr>
              <a:t>）也表现优异。</a:t>
            </a:r>
            <a:endParaRPr lang="en-US" altLang="zh-CN">
              <a:latin typeface=".萍方-简" panose="020B0300000000000000" charset="-122"/>
              <a:ea typeface=".萍方-简" panose="020B0300000000000000" charset="-122"/>
            </a:endParaRPr>
          </a:p>
          <a:p>
            <a:pPr marL="360045"/>
            <a:r>
              <a:rPr lang="en-US" altLang="zh-CN">
                <a:latin typeface=".萍方-简" panose="020B0300000000000000" charset="-122"/>
                <a:ea typeface=".萍方-简" panose="020B0300000000000000" charset="-122"/>
              </a:rPr>
              <a:t>mix_retriever</a:t>
            </a:r>
            <a:r>
              <a:rPr lang="zh-CN" altLang="en-US">
                <a:latin typeface=".萍方-简" panose="020B0300000000000000" charset="-122"/>
                <a:ea typeface=".萍方-简" panose="020B0300000000000000" charset="-122"/>
              </a:rPr>
              <a:t>：召回率极致但精确率拖后腿，这种指标较为适合对 “零遗漏” 有绝对需求的场景（如极端严格的法律合规审查，医疗领域）。</a:t>
            </a:r>
            <a:endParaRPr lang="en-US" altLang="zh-CN">
              <a:latin typeface=".萍方-简" panose="020B0300000000000000" charset="-122"/>
              <a:ea typeface=".萍方-简" panose="020B0300000000000000" charset="-122"/>
            </a:endParaRPr>
          </a:p>
          <a:p>
            <a:pPr marL="360045"/>
            <a:r>
              <a:rPr lang="en-US" altLang="zh-CN">
                <a:latin typeface=".萍方-简" panose="020B0300000000000000" charset="-122"/>
                <a:ea typeface=".萍方-简" panose="020B0300000000000000" charset="-122"/>
              </a:rPr>
              <a:t>compression_retriever</a:t>
            </a:r>
            <a:r>
              <a:rPr lang="zh-CN" altLang="en-US">
                <a:latin typeface=".萍方-简" panose="020B0300000000000000" charset="-122"/>
                <a:ea typeface=".萍方-简" panose="020B0300000000000000" charset="-122"/>
              </a:rPr>
              <a:t>：各项指标无突出优势：召回率和回答相关性较低，仅适合对检索效率（如压缩存储）有特殊要求且对信息完整性要求不高的场景。</a:t>
            </a:r>
            <a:endParaRPr lang="zh-CN" altLang="en-US">
              <a:latin typeface=".萍方-简" panose="020B0300000000000000" charset="-122"/>
              <a:ea typeface=".萍方-简" panose="020B0300000000000000" charset="-122"/>
            </a:endParaRPr>
          </a:p>
        </p:txBody>
      </p:sp>
      <p:sp>
        <p:nvSpPr>
          <p:cNvPr id="2" name="文本框 1"/>
          <p:cNvSpPr txBox="1"/>
          <p:nvPr/>
        </p:nvSpPr>
        <p:spPr>
          <a:xfrm>
            <a:off x="1188788" y="9853642"/>
            <a:ext cx="220064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总的来说，</a:t>
            </a:r>
            <a:r>
              <a:rPr lang="en-US" altLang="zh-CN">
                <a:latin typeface=".萍方-简" panose="020B0300000000000000" charset="-122"/>
                <a:ea typeface=".萍方-简" panose="020B0300000000000000" charset="-122"/>
              </a:rPr>
              <a:t>faiss_retriever </a:t>
            </a:r>
            <a:r>
              <a:rPr lang="zh-CN" altLang="en-US">
                <a:latin typeface=".萍方-简" panose="020B0300000000000000" charset="-122"/>
                <a:ea typeface=".萍方-简" panose="020B0300000000000000" charset="-122"/>
              </a:rPr>
              <a:t>的指标表现最优，</a:t>
            </a:r>
            <a:r>
              <a:rPr lang="en-US" altLang="zh-CN">
                <a:latin typeface=".萍方-简" panose="020B0300000000000000" charset="-122"/>
                <a:ea typeface=".萍方-简" panose="020B0300000000000000" charset="-122"/>
              </a:rPr>
              <a:t>mix_retriever</a:t>
            </a:r>
            <a:r>
              <a:rPr lang="zh-CN" altLang="en-US">
                <a:latin typeface=".萍方-简" panose="020B0300000000000000" charset="-122"/>
                <a:ea typeface=".萍方-简" panose="020B0300000000000000" charset="-122"/>
              </a:rPr>
              <a:t>是次优选择，但是需要对</a:t>
            </a:r>
            <a:r>
              <a:rPr lang="en-US" altLang="zh-CN">
                <a:latin typeface=".萍方-简" panose="020B0300000000000000" charset="-122"/>
                <a:ea typeface=".萍方-简" panose="020B0300000000000000" charset="-122"/>
              </a:rPr>
              <a:t>context_precision</a:t>
            </a:r>
            <a:r>
              <a:rPr lang="zh-CN" altLang="en-US">
                <a:latin typeface=".萍方-简" panose="020B0300000000000000" charset="-122"/>
                <a:ea typeface=".萍方-简" panose="020B0300000000000000" charset="-122"/>
              </a:rPr>
              <a:t>做进一步提升，或者严格限定使用场景。</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74169"/>
            <a:ext cx="11948023" cy="1082098"/>
          </a:xfrm>
          <a:prstGeom prst="rect">
            <a:avLst/>
          </a:prstGeom>
        </p:spPr>
        <p:txBody>
          <a:bodyPr>
            <a:normAutofit/>
          </a:bodyPr>
          <a:lstStyle/>
          <a:p>
            <a:pPr defTabSz="742950">
              <a:defRPr sz="4950"/>
            </a:pPr>
            <a:r>
              <a:rPr lang="zh-CN" altLang="en-US" b="1">
                <a:latin typeface=".萍方-简" panose="020B0300000000000000" charset="-122"/>
                <a:ea typeface=".萍方-简" panose="020B0300000000000000" charset="-122"/>
                <a:cs typeface=".萍方-简" panose="020B0300000000000000" charset="-122"/>
              </a:rPr>
              <a:t>应用实战</a:t>
            </a:r>
            <a:r>
              <a:rPr lang="en-US" altLang="zh-CN" b="1">
                <a:latin typeface=".萍方-简" panose="020B0300000000000000" charset="-122"/>
                <a:ea typeface=".萍方-简" panose="020B0300000000000000" charset="-122"/>
                <a:cs typeface=".萍方-简" panose="020B0300000000000000" charset="-122"/>
              </a:rPr>
              <a:t>3</a:t>
            </a:r>
            <a:r>
              <a:rPr lang="zh-CN" altLang="en-US" b="1">
                <a:latin typeface=".萍方-简" panose="020B0300000000000000" charset="-122"/>
                <a:ea typeface=".萍方-简" panose="020B0300000000000000" charset="-122"/>
                <a:cs typeface=".萍方-简" panose="020B0300000000000000" charset="-122"/>
              </a:rPr>
              <a:t>：</a:t>
            </a:r>
            <a:r>
              <a:rPr lang="en-US" altLang="zh-CN" b="1">
                <a:latin typeface=".萍方-简" panose="020B0300000000000000" charset="-122"/>
                <a:ea typeface=".萍方-简" panose="020B0300000000000000" charset="-122"/>
                <a:cs typeface=".萍方-简" panose="020B0300000000000000" charset="-122"/>
              </a:rPr>
              <a:t>2023</a:t>
            </a:r>
            <a:r>
              <a:rPr lang="zh-CN" altLang="en-US" b="1">
                <a:latin typeface=".萍方-简" panose="020B0300000000000000" charset="-122"/>
                <a:ea typeface=".萍方-简" panose="020B0300000000000000" charset="-122"/>
                <a:cs typeface=".萍方-简" panose="020B0300000000000000" charset="-122"/>
              </a:rPr>
              <a:t>全球智能汽车</a:t>
            </a:r>
            <a:r>
              <a:rPr lang="en-US" altLang="zh-CN" b="1">
                <a:latin typeface=".萍方-简" panose="020B0300000000000000" charset="-122"/>
                <a:ea typeface=".萍方-简" panose="020B0300000000000000" charset="-122"/>
                <a:cs typeface=".萍方-简" panose="020B0300000000000000" charset="-122"/>
              </a:rPr>
              <a:t>AI</a:t>
            </a:r>
            <a:r>
              <a:rPr lang="zh-CN" altLang="en-US" b="1">
                <a:latin typeface=".萍方-简" panose="020B0300000000000000" charset="-122"/>
                <a:ea typeface=".萍方-简" panose="020B0300000000000000" charset="-122"/>
                <a:cs typeface=".萍方-简" panose="020B0300000000000000" charset="-122"/>
              </a:rPr>
              <a:t>挑战赛</a:t>
            </a:r>
            <a:endParaRPr lang="en-US" altLang="zh-CN" b="1">
              <a:latin typeface=".萍方-简" panose="020B0300000000000000" charset="-122"/>
              <a:ea typeface=".萍方-简" panose="020B0300000000000000" charset="-122"/>
              <a:cs typeface=".萍方-简" panose="020B0300000000000000" charset="-122"/>
            </a:endParaRPr>
          </a:p>
        </p:txBody>
      </p:sp>
      <p:sp>
        <p:nvSpPr>
          <p:cNvPr id="2" name="文本框 1"/>
          <p:cNvSpPr txBox="1"/>
          <p:nvPr/>
        </p:nvSpPr>
        <p:spPr>
          <a:xfrm>
            <a:off x="917855" y="1827243"/>
            <a:ext cx="220064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回到我们的初心，希望提升召回率的想法实现了，回答相关性和忠实度也得到了提升，但是精确率太低了，有没有办法改善？</a:t>
            </a:r>
            <a:endParaRPr lang="zh-CN" altLang="en-US">
              <a:latin typeface=".萍方-简" panose="020B0300000000000000" charset="-122"/>
              <a:ea typeface=".萍方-简" panose="020B0300000000000000" charset="-122"/>
            </a:endParaRPr>
          </a:p>
        </p:txBody>
      </p:sp>
      <p:pic>
        <p:nvPicPr>
          <p:cNvPr id="4" name="图片 3"/>
          <p:cNvPicPr>
            <a:picLocks noChangeAspect="1"/>
          </p:cNvPicPr>
          <p:nvPr/>
        </p:nvPicPr>
        <p:blipFill>
          <a:blip r:embed="rId1"/>
          <a:stretch>
            <a:fillRect/>
          </a:stretch>
        </p:blipFill>
        <p:spPr>
          <a:xfrm>
            <a:off x="821995" y="4820245"/>
            <a:ext cx="22740010" cy="5445189"/>
          </a:xfrm>
          <a:prstGeom prst="rect">
            <a:avLst/>
          </a:prstGeom>
        </p:spPr>
      </p:pic>
      <p:sp>
        <p:nvSpPr>
          <p:cNvPr id="6" name="文本框 5"/>
          <p:cNvSpPr txBox="1"/>
          <p:nvPr/>
        </p:nvSpPr>
        <p:spPr>
          <a:xfrm>
            <a:off x="917854" y="4049906"/>
            <a:ext cx="22006423" cy="770339"/>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改进后的效果：</a:t>
            </a:r>
            <a:endParaRPr lang="zh-CN" altLang="en-US">
              <a:latin typeface=".萍方-简" panose="020B0300000000000000" charset="-122"/>
              <a:ea typeface=".萍方-简" panose="020B0300000000000000" charset="-122"/>
            </a:endParaRPr>
          </a:p>
        </p:txBody>
      </p:sp>
      <p:sp>
        <p:nvSpPr>
          <p:cNvPr id="3" name="文本框 2"/>
          <p:cNvSpPr txBox="1"/>
          <p:nvPr/>
        </p:nvSpPr>
        <p:spPr>
          <a:xfrm>
            <a:off x="638935" y="11171189"/>
            <a:ext cx="22006423" cy="1435136"/>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a:latin typeface=".萍方-简" panose="020B0300000000000000" charset="-122"/>
                <a:ea typeface=".萍方-简" panose="020B0300000000000000" charset="-122"/>
              </a:rPr>
              <a:t>作业：</a:t>
            </a:r>
            <a:r>
              <a:rPr lang="en-US" altLang="zh-CN">
                <a:latin typeface=".萍方-简" panose="020B0300000000000000" charset="-122"/>
                <a:ea typeface=".萍方-简" panose="020B0300000000000000" charset="-122"/>
              </a:rPr>
              <a:t>Top_k= 10 ,</a:t>
            </a:r>
            <a:r>
              <a:rPr lang="zh-CN" altLang="en-US">
                <a:latin typeface=".萍方-简" panose="020B0300000000000000" charset="-122"/>
                <a:ea typeface=".萍方-简" panose="020B0300000000000000" charset="-122"/>
              </a:rPr>
              <a:t>希望降低成本，测试下，找出一个你觉得比较合适的</a:t>
            </a:r>
            <a:r>
              <a:rPr lang="en-US" altLang="zh-CN">
                <a:latin typeface=".萍方-简" panose="020B0300000000000000" charset="-122"/>
                <a:ea typeface=".萍方-简" panose="020B0300000000000000" charset="-122"/>
              </a:rPr>
              <a:t>top_k</a:t>
            </a:r>
            <a:r>
              <a:rPr lang="zh-CN" altLang="en-US">
                <a:latin typeface=".萍方-简" panose="020B0300000000000000" charset="-122"/>
                <a:ea typeface=".萍方-简" panose="020B0300000000000000" charset="-122"/>
              </a:rPr>
              <a:t>大小</a:t>
            </a:r>
            <a:endParaRPr lang="zh-CN" altLang="en-US">
              <a:latin typeface=".萍方-简" panose="020B0300000000000000" charset="-122"/>
              <a:ea typeface=".萍方-简" panose="020B0300000000000000" charset="-122"/>
            </a:endParaRP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12155</Words>
  <Application>WPS 演示</Application>
  <PresentationFormat>自定义</PresentationFormat>
  <Paragraphs>588</Paragraphs>
  <Slides>53</Slides>
  <Notes>53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53</vt:i4>
      </vt:variant>
    </vt:vector>
  </HeadingPairs>
  <TitlesOfParts>
    <vt:vector size="71" baseType="lpstr">
      <vt:lpstr>Arial</vt:lpstr>
      <vt:lpstr>宋体</vt:lpstr>
      <vt:lpstr>Wingdings</vt:lpstr>
      <vt:lpstr>Helvetica Neue</vt:lpstr>
      <vt:lpstr>Helvetica Neue Medium</vt:lpstr>
      <vt:lpstr>PingFang SC Semibold</vt:lpstr>
      <vt:lpstr>PingFang SC Light</vt:lpstr>
      <vt:lpstr>.萍方-简</vt:lpstr>
      <vt:lpstr>微软雅黑</vt:lpstr>
      <vt:lpstr>更纱黑体 SC Light</vt:lpstr>
      <vt:lpstr>黑体</vt:lpstr>
      <vt:lpstr>微软雅黑</vt:lpstr>
      <vt:lpstr>微软雅黑 Light</vt:lpstr>
      <vt:lpstr>Wingdings</vt:lpstr>
      <vt:lpstr>Arial Unicode MS</vt:lpstr>
      <vt:lpstr>Cambria Math</vt:lpstr>
      <vt:lpstr>MS PGothic</vt:lpstr>
      <vt:lpstr>21_BasicWhite</vt:lpstr>
      <vt:lpstr>PowerPoint 演示文稿</vt:lpstr>
      <vt:lpstr>本阶段课程安排</vt:lpstr>
      <vt:lpstr>本阶段上课须知</vt:lpstr>
      <vt:lpstr>本阶段环境</vt:lpstr>
      <vt:lpstr>本阶段环境</vt:lpstr>
      <vt:lpstr>PowerPoint 演示文稿</vt:lpstr>
      <vt:lpstr>PowerPoint 演示文稿</vt:lpstr>
      <vt:lpstr>RAG评估的依据和指标</vt:lpstr>
      <vt:lpstr>RAG应用的评估必要性</vt:lpstr>
      <vt:lpstr>RAG应用的评估方法</vt:lpstr>
      <vt:lpstr>RAG应用的评估依据与指标</vt:lpstr>
      <vt:lpstr>RAG应用的评估类型和输入</vt:lpstr>
      <vt:lpstr>RAG应用的评估类型和输入</vt:lpstr>
      <vt:lpstr>检索评估</vt:lpstr>
      <vt:lpstr>检索评估</vt:lpstr>
      <vt:lpstr>检索评估</vt:lpstr>
      <vt:lpstr>响应评估</vt:lpstr>
      <vt:lpstr>响应评估</vt:lpstr>
      <vt:lpstr>响应评估</vt:lpstr>
      <vt:lpstr>评估指标总结</vt:lpstr>
      <vt:lpstr>常用的RAG评估工具介绍</vt:lpstr>
      <vt:lpstr>Ragas</vt:lpstr>
      <vt:lpstr>Ragas</vt:lpstr>
      <vt:lpstr>Trulens</vt:lpstr>
      <vt:lpstr>应用实战1：实战医疗评估深入了解指标和优化方向</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应用实战1：医疗评估</vt:lpstr>
      <vt:lpstr>应用实战2：评估选择合适的知识块大小</vt:lpstr>
      <vt:lpstr>应用实战2：选择合适的知识块大小</vt:lpstr>
      <vt:lpstr>应用实战2：选择合适的知识块大小</vt:lpstr>
      <vt:lpstr>应用实战2：选择合适的知识块大小</vt:lpstr>
      <vt:lpstr>应用实战2：选择合适的知识块大小</vt:lpstr>
      <vt:lpstr>应用实战2：选择合适的知识块大小</vt:lpstr>
      <vt:lpstr>应用实战2：选择合适的知识块大小</vt:lpstr>
      <vt:lpstr>应用实战3：2023全球智能汽车AI挑战赛</vt:lpstr>
      <vt:lpstr>应用实战3：2023全球智能汽车AI挑战赛</vt:lpstr>
      <vt:lpstr>应用实战3：2023全球智能汽车AI挑战赛</vt:lpstr>
      <vt:lpstr>应用实战3：2023全球智能汽车AI挑战赛</vt:lpstr>
      <vt:lpstr>应用实战3：2023全球智能汽车AI挑战赛</vt:lpstr>
      <vt:lpstr>应用实战3：2023全球智能汽车AI挑战赛</vt:lpstr>
      <vt:lpstr>应用实战3：2023全球智能汽车AI挑战赛</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郭培</cp:lastModifiedBy>
  <cp:revision>205</cp:revision>
  <dcterms:created xsi:type="dcterms:W3CDTF">2025-03-08T12:13:00Z</dcterms:created>
  <dcterms:modified xsi:type="dcterms:W3CDTF">2026-01-04T14:02:56Z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788BC8F5AE1B41898161E6F2DDF15955_13</vt:lpwstr>
  </property>
  <property fmtid="{D5CDD505-2E9C-101B-9397-08002B2CF9AE}" pid="3" name="KSOProductBuildVer">
    <vt:lpwstr>2052-12.1.0.24034</vt:lpwstr>
  </property>
</Properties>
</file>