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 r:id="rId3"/>
    <p:sldId id="258" r:id="rId5"/>
    <p:sldId id="288" r:id="rId6"/>
    <p:sldId id="319" r:id="rId7"/>
    <p:sldId id="320" r:id="rId8"/>
    <p:sldId id="356" r:id="rId9"/>
    <p:sldId id="377" r:id="rId10"/>
    <p:sldId id="357" r:id="rId11"/>
    <p:sldId id="378" r:id="rId12"/>
    <p:sldId id="398" r:id="rId13"/>
    <p:sldId id="399" r:id="rId14"/>
    <p:sldId id="358" r:id="rId15"/>
    <p:sldId id="379" r:id="rId16"/>
    <p:sldId id="381" r:id="rId17"/>
    <p:sldId id="382" r:id="rId18"/>
    <p:sldId id="375" r:id="rId19"/>
    <p:sldId id="366" r:id="rId20"/>
    <p:sldId id="400" r:id="rId21"/>
    <p:sldId id="359" r:id="rId22"/>
    <p:sldId id="308" r:id="rId23"/>
    <p:sldId id="376" r:id="rId24"/>
    <p:sldId id="391" r:id="rId25"/>
    <p:sldId id="350" r:id="rId26"/>
    <p:sldId id="384" r:id="rId27"/>
    <p:sldId id="362" r:id="rId28"/>
    <p:sldId id="386" r:id="rId29"/>
    <p:sldId id="387" r:id="rId30"/>
    <p:sldId id="385" r:id="rId31"/>
    <p:sldId id="388" r:id="rId32"/>
    <p:sldId id="390" r:id="rId33"/>
    <p:sldId id="392" r:id="rId34"/>
    <p:sldId id="394" r:id="rId35"/>
    <p:sldId id="395" r:id="rId36"/>
    <p:sldId id="401" r:id="rId37"/>
    <p:sldId id="397" r:id="rId38"/>
    <p:sldId id="402" r:id="rId39"/>
    <p:sldId id="403" r:id="rId40"/>
    <p:sldId id="404" r:id="rId4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331" autoAdjust="0"/>
  </p:normalViewPr>
  <p:slideViewPr>
    <p:cSldViewPr snapToGrid="0">
      <p:cViewPr varScale="1">
        <p:scale>
          <a:sx n="56" d="100"/>
          <a:sy n="56" d="100"/>
        </p:scale>
        <p:origin x="7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customXml" Target="../customXml/item1.xml"/><Relationship Id="rId45" Type="http://schemas.openxmlformats.org/officeDocument/2006/relationships/customXmlProps" Target="../customXml/itemProps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Shape 67"/>
          <p:cNvSpPr>
            <a:spLocks noGrp="1" noRot="1" noChangeAspect="1"/>
          </p:cNvSpPr>
          <p:nvPr>
            <p:ph type="sldImg"/>
          </p:nvPr>
        </p:nvSpPr>
        <p:spPr>
          <a:xfrm>
            <a:off x="1143000" y="685800"/>
            <a:ext cx="4572000" cy="3429000"/>
          </a:xfrm>
          <a:prstGeom prst="rect">
            <a:avLst/>
          </a:prstGeom>
        </p:spPr>
        <p:txBody>
          <a:bodyPr/>
          <a:lstStyle/>
          <a:p/>
        </p:txBody>
      </p:sp>
      <p:sp>
        <p:nvSpPr>
          <p:cNvPr id="68" name="Shape 6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r>
              <a:rPr lang="zh-CN" altLang="en-US">
                <a:effectLst/>
                <a:latin typeface=".萍方-简" panose="020B0300000000000000" charset="-122"/>
                <a:ea typeface=".萍方-简" panose="020B0300000000000000" charset="-122"/>
                <a:sym typeface="+mn-ea"/>
              </a:rPr>
              <a:t>在许多</a:t>
            </a:r>
            <a:r>
              <a:rPr lang="en-US" altLang="zh-CN">
                <a:effectLst/>
                <a:latin typeface=".萍方-简" panose="020B0300000000000000" charset="-122"/>
                <a:ea typeface=".萍方-简" panose="020B0300000000000000" charset="-122"/>
                <a:sym typeface="+mn-ea"/>
              </a:rPr>
              <a:t>LLM</a:t>
            </a:r>
            <a:r>
              <a:rPr lang="zh-CN" altLang="en-US">
                <a:effectLst/>
                <a:latin typeface=".萍方-简" panose="020B0300000000000000" charset="-122"/>
                <a:ea typeface=".萍方-简" panose="020B0300000000000000" charset="-122"/>
                <a:sym typeface="+mn-ea"/>
              </a:rPr>
              <a:t>应用程序中，用户特定的数据不在大模型中，可能在外部系统或文档中。如何使用这些外部数据来增强呢？</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r>
              <a:rPr lang="zh-CN" altLang="en-US">
                <a:effectLst/>
                <a:latin typeface=".萍方-简" panose="020B0300000000000000" charset="-122"/>
                <a:ea typeface=".萍方-简" panose="020B0300000000000000" charset="-122"/>
                <a:sym typeface="+mn-ea"/>
              </a:rPr>
              <a:t>在许多</a:t>
            </a:r>
            <a:r>
              <a:rPr lang="en-US" altLang="zh-CN">
                <a:effectLst/>
                <a:latin typeface=".萍方-简" panose="020B0300000000000000" charset="-122"/>
                <a:ea typeface=".萍方-简" panose="020B0300000000000000" charset="-122"/>
                <a:sym typeface="+mn-ea"/>
              </a:rPr>
              <a:t>LLM</a:t>
            </a:r>
            <a:r>
              <a:rPr lang="zh-CN" altLang="en-US">
                <a:effectLst/>
                <a:latin typeface=".萍方-简" panose="020B0300000000000000" charset="-122"/>
                <a:ea typeface=".萍方-简" panose="020B0300000000000000" charset="-122"/>
                <a:sym typeface="+mn-ea"/>
              </a:rPr>
              <a:t>应用程序中，用户特定的数据不在大模型中，可能在外部系统或文档中。如何使用这些外部数据来增强呢？</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
    <p:bg>
      <p:bgPr>
        <a:solidFill>
          <a:srgbClr val="000000"/>
        </a:solidFill>
        <a:effectLst/>
      </p:bgPr>
    </p:bg>
    <p:spTree>
      <p:nvGrpSpPr>
        <p:cNvPr id="1" name=""/>
        <p:cNvGrpSpPr/>
        <p:nvPr/>
      </p:nvGrpSpPr>
      <p:grpSpPr>
        <a:xfrm>
          <a:off x="0" y="0"/>
          <a:ext cx="0" cy="0"/>
          <a:chOff x="0" y="0"/>
          <a:chExt cx="0" cy="0"/>
        </a:xfrm>
      </p:grpSpPr>
      <p:pic>
        <p:nvPicPr>
          <p:cNvPr id="19" name="wallhaven-rdvvlq.jpg" descr="wallhaven-rdvvlq.jpg"/>
          <p:cNvPicPr>
            <a:picLocks noChangeAspect="1"/>
          </p:cNvPicPr>
          <p:nvPr/>
        </p:nvPicPr>
        <p:blipFill>
          <a:blip r:embed="rId2">
            <a:alphaModFix amt="73715"/>
          </a:blip>
          <a:stretch>
            <a:fillRect/>
          </a:stretch>
        </p:blipFill>
        <p:spPr>
          <a:xfrm>
            <a:off x="-1" y="8708"/>
            <a:ext cx="24384001" cy="13698584"/>
          </a:xfrm>
          <a:prstGeom prst="rect">
            <a:avLst/>
          </a:prstGeom>
          <a:ln w="12700">
            <a:miter lim="400000"/>
            <a:headEnd/>
            <a:tailEnd/>
          </a:ln>
        </p:spPr>
      </p:pic>
      <p:pic>
        <p:nvPicPr>
          <p:cNvPr id="20" name="未命名.png" descr="未命名.png"/>
          <p:cNvPicPr>
            <a:picLocks noChangeAspect="1"/>
          </p:cNvPicPr>
          <p:nvPr/>
        </p:nvPicPr>
        <p:blipFill>
          <a:blip r:embed="rId3"/>
          <a:stretch>
            <a:fillRect/>
          </a:stretch>
        </p:blipFill>
        <p:spPr>
          <a:xfrm>
            <a:off x="20477455" y="411980"/>
            <a:ext cx="1750700" cy="461019"/>
          </a:xfrm>
          <a:prstGeom prst="rect">
            <a:avLst/>
          </a:prstGeom>
          <a:ln w="12700">
            <a:miter lim="400000"/>
            <a:headEnd/>
            <a:tailEnd/>
          </a:ln>
        </p:spPr>
      </p:pic>
      <p:pic>
        <p:nvPicPr>
          <p:cNvPr id="21" name="未命名2.png" descr="未命名2.png"/>
          <p:cNvPicPr>
            <a:picLocks noChangeAspect="1"/>
          </p:cNvPicPr>
          <p:nvPr/>
        </p:nvPicPr>
        <p:blipFill>
          <a:blip r:embed="rId4"/>
          <a:stretch>
            <a:fillRect/>
          </a:stretch>
        </p:blipFill>
        <p:spPr>
          <a:xfrm>
            <a:off x="22201103" y="-81128"/>
            <a:ext cx="1929647" cy="1447235"/>
          </a:xfrm>
          <a:prstGeom prst="rect">
            <a:avLst/>
          </a:prstGeom>
          <a:ln w="12700">
            <a:miter lim="400000"/>
            <a:headEnd/>
            <a:tailEnd/>
          </a:ln>
        </p:spPr>
      </p:pic>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29"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标题">
    <p:bg>
      <p:bgPr>
        <a:solidFill>
          <a:srgbClr val="000000"/>
        </a:solidFill>
        <a:effectLst/>
      </p:bgPr>
    </p:bg>
    <p:spTree>
      <p:nvGrpSpPr>
        <p:cNvPr id="1" name=""/>
        <p:cNvGrpSpPr/>
        <p:nvPr/>
      </p:nvGrpSpPr>
      <p:grpSpPr>
        <a:xfrm>
          <a:off x="0" y="0"/>
          <a:ext cx="0" cy="0"/>
          <a:chOff x="0" y="0"/>
          <a:chExt cx="0" cy="0"/>
        </a:xfrm>
      </p:grpSpPr>
      <p:pic>
        <p:nvPicPr>
          <p:cNvPr id="37" name="wallhaven-qzqvp7.png" descr="wallhaven-qzqvp7.png"/>
          <p:cNvPicPr>
            <a:picLocks noChangeAspect="1"/>
          </p:cNvPicPr>
          <p:nvPr/>
        </p:nvPicPr>
        <p:blipFill>
          <a:blip r:embed="rId2">
            <a:alphaModFix amt="68948"/>
          </a:blip>
          <a:stretch>
            <a:fillRect/>
          </a:stretch>
        </p:blipFill>
        <p:spPr>
          <a:xfrm>
            <a:off x="-496866" y="-2093472"/>
            <a:ext cx="25377732" cy="16918490"/>
          </a:xfrm>
          <a:prstGeom prst="rect">
            <a:avLst/>
          </a:prstGeom>
          <a:ln w="12700">
            <a:miter lim="400000"/>
            <a:headEnd/>
            <a:tailEnd/>
          </a:ln>
        </p:spPr>
      </p:pic>
      <p:pic>
        <p:nvPicPr>
          <p:cNvPr id="38" name="未命名.png" descr="未命名.png"/>
          <p:cNvPicPr>
            <a:picLocks noChangeAspect="1"/>
          </p:cNvPicPr>
          <p:nvPr/>
        </p:nvPicPr>
        <p:blipFill>
          <a:blip r:embed="rId3"/>
          <a:stretch>
            <a:fillRect/>
          </a:stretch>
        </p:blipFill>
        <p:spPr>
          <a:xfrm>
            <a:off x="20477455" y="411980"/>
            <a:ext cx="1750701" cy="461019"/>
          </a:xfrm>
          <a:prstGeom prst="rect">
            <a:avLst/>
          </a:prstGeom>
          <a:ln w="12700">
            <a:miter lim="400000"/>
            <a:headEnd/>
            <a:tailEnd/>
          </a:ln>
        </p:spPr>
      </p:pic>
      <p:pic>
        <p:nvPicPr>
          <p:cNvPr id="39" name="未命名2.png" descr="未命名2.png"/>
          <p:cNvPicPr>
            <a:picLocks noChangeAspect="1"/>
          </p:cNvPicPr>
          <p:nvPr/>
        </p:nvPicPr>
        <p:blipFill>
          <a:blip r:embed="rId4"/>
          <a:stretch>
            <a:fillRect/>
          </a:stretch>
        </p:blipFill>
        <p:spPr>
          <a:xfrm>
            <a:off x="22201103" y="-81128"/>
            <a:ext cx="1929648" cy="1447235"/>
          </a:xfrm>
          <a:prstGeom prst="rect">
            <a:avLst/>
          </a:prstGeom>
          <a:ln w="12700">
            <a:miter lim="400000"/>
            <a:headEnd/>
            <a:tailEnd/>
          </a:ln>
        </p:spPr>
      </p:pic>
      <p:sp>
        <p:nvSpPr>
          <p:cNvPr id="40" name="幻灯片标题"/>
          <p:cNvSpPr txBox="1">
            <a:spLocks noGrp="1"/>
          </p:cNvSpPr>
          <p:nvPr>
            <p:ph type="title" hasCustomPrompt="1"/>
          </p:nvPr>
        </p:nvSpPr>
        <p:spPr>
          <a:xfrm>
            <a:off x="5746308" y="5399214"/>
            <a:ext cx="13119984" cy="2187118"/>
          </a:xfrm>
          <a:prstGeom prst="rect">
            <a:avLst/>
          </a:prstGeom>
        </p:spPr>
        <p:txBody>
          <a:bodyPr anchor="ctr"/>
          <a:lstStyle>
            <a:lvl1pPr algn="ctr" defTabSz="2438400">
              <a:lnSpc>
                <a:spcPct val="80000"/>
              </a:lnSpc>
              <a:defRPr sz="10000" spc="-200">
                <a:solidFill>
                  <a:srgbClr val="FFFFFF"/>
                </a:solidFill>
              </a:defRPr>
            </a:lvl1pPr>
          </a:lstStyle>
          <a:p>
            <a:r>
              <a:t>幻灯片标题</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内容">
    <p:spTree>
      <p:nvGrpSpPr>
        <p:cNvPr id="1" name=""/>
        <p:cNvGrpSpPr/>
        <p:nvPr/>
      </p:nvGrpSpPr>
      <p:grpSpPr>
        <a:xfrm>
          <a:off x="0" y="0"/>
          <a:ext cx="0" cy="0"/>
          <a:chOff x="0" y="0"/>
          <a:chExt cx="0" cy="0"/>
        </a:xfrm>
      </p:grpSpPr>
      <p:pic>
        <p:nvPicPr>
          <p:cNvPr id="48" name="未命名.jpg" descr="未命名.jpg"/>
          <p:cNvPicPr>
            <a:picLocks noChangeAspect="1"/>
          </p:cNvPicPr>
          <p:nvPr/>
        </p:nvPicPr>
        <p:blipFill>
          <a:blip r:embed="rId2">
            <a:alphaModFix amt="80028"/>
          </a:blip>
          <a:stretch>
            <a:fillRect/>
          </a:stretch>
        </p:blipFill>
        <p:spPr>
          <a:xfrm>
            <a:off x="19841111" y="430850"/>
            <a:ext cx="1636706" cy="737026"/>
          </a:xfrm>
          <a:prstGeom prst="rect">
            <a:avLst/>
          </a:prstGeom>
          <a:ln w="12700">
            <a:miter lim="400000"/>
            <a:headEnd/>
            <a:tailEnd/>
          </a:ln>
        </p:spPr>
      </p:pic>
      <p:pic>
        <p:nvPicPr>
          <p:cNvPr id="49" name="未命名.jpg" descr="未命名.jpg"/>
          <p:cNvPicPr>
            <a:picLocks noChangeAspect="1"/>
          </p:cNvPicPr>
          <p:nvPr/>
        </p:nvPicPr>
        <p:blipFill>
          <a:blip r:embed="rId3">
            <a:alphaModFix amt="80000"/>
          </a:blip>
          <a:stretch>
            <a:fillRect/>
          </a:stretch>
        </p:blipFill>
        <p:spPr>
          <a:xfrm>
            <a:off x="21688890" y="597552"/>
            <a:ext cx="2015020" cy="530623"/>
          </a:xfrm>
          <a:prstGeom prst="rect">
            <a:avLst/>
          </a:prstGeom>
          <a:ln w="12700">
            <a:miter lim="400000"/>
            <a:headEnd/>
            <a:tailEnd/>
          </a:ln>
        </p:spPr>
      </p:pic>
      <p:sp>
        <p:nvSpPr>
          <p:cNvPr id="50" name="线条"/>
          <p:cNvSpPr/>
          <p:nvPr/>
        </p:nvSpPr>
        <p:spPr>
          <a:xfrm>
            <a:off x="581148" y="1527029"/>
            <a:ext cx="23221704" cy="1"/>
          </a:xfrm>
          <a:prstGeom prst="line">
            <a:avLst/>
          </a:prstGeom>
          <a:ln w="25400">
            <a:solidFill>
              <a:srgbClr val="7F9191"/>
            </a:solidFill>
            <a:miter lim="400000"/>
          </a:ln>
        </p:spPr>
        <p:txBody>
          <a:bodyPr lIns="50800" tIns="50800" rIns="50800" bIns="50800" anchor="ctr"/>
          <a:lstStyle/>
          <a:p/>
        </p:txBody>
      </p:sp>
      <p:sp>
        <p:nvSpPr>
          <p:cNvPr id="51" name="幻灯片标题"/>
          <p:cNvSpPr txBox="1">
            <a:spLocks noGrp="1"/>
          </p:cNvSpPr>
          <p:nvPr>
            <p:ph type="title" hasCustomPrompt="1"/>
          </p:nvPr>
        </p:nvSpPr>
        <p:spPr>
          <a:xfrm>
            <a:off x="1243044" y="374169"/>
            <a:ext cx="10477501" cy="977388"/>
          </a:xfrm>
          <a:prstGeom prst="rect">
            <a:avLst/>
          </a:prstGeom>
        </p:spPr>
        <p:txBody>
          <a:bodyPr anchor="ctr"/>
          <a:lstStyle>
            <a:lvl1pPr>
              <a:defRPr>
                <a:solidFill>
                  <a:srgbClr val="3D3D3D"/>
                </a:solidFill>
              </a:defRPr>
            </a:lvl1pPr>
          </a:lstStyle>
          <a:p>
            <a:r>
              <a:t>幻灯片标题</a:t>
            </a:r>
          </a:p>
        </p:txBody>
      </p:sp>
      <p:pic>
        <p:nvPicPr>
          <p:cNvPr id="52" name="20250308172252.png" descr="20250308172252.png"/>
          <p:cNvPicPr>
            <a:picLocks noChangeAspect="1"/>
          </p:cNvPicPr>
          <p:nvPr/>
        </p:nvPicPr>
        <p:blipFill>
          <a:blip r:embed="rId4">
            <a:alphaModFix amt="53471"/>
          </a:blip>
          <a:srcRect b="52457"/>
          <a:stretch>
            <a:fillRect/>
          </a:stretch>
        </p:blipFill>
        <p:spPr>
          <a:xfrm>
            <a:off x="18329327" y="12979486"/>
            <a:ext cx="5829796" cy="530650"/>
          </a:xfrm>
          <a:prstGeom prst="rect">
            <a:avLst/>
          </a:prstGeom>
          <a:ln w="12700">
            <a:miter lim="400000"/>
            <a:headEnd/>
            <a:tailEnd/>
          </a:ln>
        </p:spPr>
      </p:pic>
      <p:sp>
        <p:nvSpPr>
          <p:cNvPr id="53" name="矩形"/>
          <p:cNvSpPr/>
          <p:nvPr/>
        </p:nvSpPr>
        <p:spPr>
          <a:xfrm>
            <a:off x="569800" y="494350"/>
            <a:ext cx="269381" cy="737026"/>
          </a:xfrm>
          <a:prstGeom prst="rect">
            <a:avLst/>
          </a:prstGeom>
          <a:solidFill>
            <a:srgbClr val="414141"/>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defRPr>
            </a:pPr>
          </a:p>
        </p:txBody>
      </p:sp>
      <p:sp>
        <p:nvSpPr>
          <p:cNvPr id="5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6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5.jpeg"/><Relationship Id="rId7" Type="http://schemas.openxmlformats.org/officeDocument/2006/relationships/image" Target="../media/image1.jpeg"/><Relationship Id="rId6" Type="http://schemas.openxmlformats.org/officeDocument/2006/relationships/image" Target="../media/image7.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20250308172252.png" descr="20250308172252.png"/>
          <p:cNvPicPr>
            <a:picLocks noChangeAspect="1"/>
          </p:cNvPicPr>
          <p:nvPr/>
        </p:nvPicPr>
        <p:blipFill>
          <a:blip r:embed="rId6">
            <a:alphaModFix amt="53471"/>
          </a:blip>
          <a:srcRect b="52457"/>
          <a:stretch>
            <a:fillRect/>
          </a:stretch>
        </p:blipFill>
        <p:spPr>
          <a:xfrm>
            <a:off x="18329327" y="12979486"/>
            <a:ext cx="5829796" cy="530650"/>
          </a:xfrm>
          <a:prstGeom prst="rect">
            <a:avLst/>
          </a:prstGeom>
          <a:ln w="12700">
            <a:miter lim="400000"/>
            <a:headEnd/>
            <a:tailEnd/>
          </a:ln>
        </p:spPr>
      </p:pic>
      <p:pic>
        <p:nvPicPr>
          <p:cNvPr id="3" name="wallhaven-rdvvlq.jpg" descr="wallhaven-rdvvlq.jpg"/>
          <p:cNvPicPr>
            <a:picLocks noChangeAspect="1"/>
          </p:cNvPicPr>
          <p:nvPr/>
        </p:nvPicPr>
        <p:blipFill>
          <a:blip r:embed="rId7"/>
          <a:srcRect l="51258" t="79" r="120" b="91"/>
          <a:stretch>
            <a:fillRect/>
          </a:stretch>
        </p:blipFill>
        <p:spPr>
          <a:xfrm>
            <a:off x="-3362115" y="-131565"/>
            <a:ext cx="12119241" cy="13979130"/>
          </a:xfrm>
          <a:custGeom>
            <a:avLst/>
            <a:gdLst/>
            <a:ahLst/>
            <a:cxnLst>
              <a:cxn ang="0">
                <a:pos x="wd2" y="hd2"/>
              </a:cxn>
              <a:cxn ang="5400000">
                <a:pos x="wd2" y="hd2"/>
              </a:cxn>
              <a:cxn ang="10800000">
                <a:pos x="wd2" y="hd2"/>
              </a:cxn>
              <a:cxn ang="16200000">
                <a:pos x="wd2" y="hd2"/>
              </a:cxn>
            </a:cxnLst>
            <a:rect l="0" t="0" r="r" b="b"/>
            <a:pathLst>
              <a:path w="21042" h="21600" extrusionOk="0">
                <a:moveTo>
                  <a:pt x="18981" y="0"/>
                </a:moveTo>
                <a:lnTo>
                  <a:pt x="0" y="40"/>
                </a:lnTo>
                <a:lnTo>
                  <a:pt x="0" y="21600"/>
                </a:lnTo>
                <a:lnTo>
                  <a:pt x="18464" y="21600"/>
                </a:lnTo>
                <a:cubicBezTo>
                  <a:pt x="19187" y="20932"/>
                  <a:pt x="19470" y="19979"/>
                  <a:pt x="19213" y="19080"/>
                </a:cubicBezTo>
                <a:cubicBezTo>
                  <a:pt x="18981" y="18273"/>
                  <a:pt x="18317" y="17557"/>
                  <a:pt x="18425" y="16720"/>
                </a:cubicBezTo>
                <a:cubicBezTo>
                  <a:pt x="18575" y="15561"/>
                  <a:pt x="20094" y="14917"/>
                  <a:pt x="20234" y="13755"/>
                </a:cubicBezTo>
                <a:cubicBezTo>
                  <a:pt x="20419" y="12209"/>
                  <a:pt x="18254" y="11381"/>
                  <a:pt x="18043" y="9903"/>
                </a:cubicBezTo>
                <a:cubicBezTo>
                  <a:pt x="17839" y="8471"/>
                  <a:pt x="19494" y="7572"/>
                  <a:pt x="20268" y="6333"/>
                </a:cubicBezTo>
                <a:cubicBezTo>
                  <a:pt x="21600" y="4201"/>
                  <a:pt x="21238" y="1468"/>
                  <a:pt x="18981" y="0"/>
                </a:cubicBezTo>
                <a:close/>
              </a:path>
            </a:pathLst>
          </a:custGeom>
          <a:ln w="12700">
            <a:miter lim="400000"/>
            <a:headEnd/>
            <a:tailEnd/>
          </a:ln>
        </p:spPr>
      </p:pic>
      <p:grpSp>
        <p:nvGrpSpPr>
          <p:cNvPr id="7" name="成组"/>
          <p:cNvGrpSpPr/>
          <p:nvPr/>
        </p:nvGrpSpPr>
        <p:grpSpPr>
          <a:xfrm>
            <a:off x="2356553" y="5489648"/>
            <a:ext cx="2146301" cy="2334715"/>
            <a:chOff x="0" y="0"/>
            <a:chExt cx="2146300" cy="2334713"/>
          </a:xfrm>
        </p:grpSpPr>
        <p:sp>
          <p:nvSpPr>
            <p:cNvPr id="4" name="目录"/>
            <p:cNvSpPr txBox="1"/>
            <p:nvPr/>
          </p:nvSpPr>
          <p:spPr>
            <a:xfrm>
              <a:off x="0" y="0"/>
              <a:ext cx="2146300" cy="1524001"/>
            </a:xfrm>
            <a:prstGeom prst="rect">
              <a:avLst/>
            </a:prstGeom>
            <a:noFill/>
            <a:ln w="12700" cap="flat">
              <a:noFill/>
              <a:miter lim="400000"/>
            </a:ln>
            <a:effectLst/>
          </p:spPr>
          <p:txBody>
            <a:bodyPr wrap="none" lIns="50800" tIns="50800" rIns="50800" bIns="50800" numCol="1" anchor="ctr">
              <a:spAutoFit/>
            </a:bodyPr>
            <a:lstStyle>
              <a:lvl1pPr>
                <a:defRPr sz="8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t>目录</a:t>
              </a:r>
            </a:p>
          </p:txBody>
        </p:sp>
        <p:sp>
          <p:nvSpPr>
            <p:cNvPr id="5" name="线条"/>
            <p:cNvSpPr/>
            <p:nvPr/>
          </p:nvSpPr>
          <p:spPr>
            <a:xfrm>
              <a:off x="167770" y="1506240"/>
              <a:ext cx="1810760" cy="1"/>
            </a:xfrm>
            <a:prstGeom prst="line">
              <a:avLst/>
            </a:prstGeom>
            <a:noFill/>
            <a:ln w="25400" cap="flat">
              <a:solidFill>
                <a:srgbClr val="FFFFFF"/>
              </a:solidFill>
              <a:prstDash val="solid"/>
              <a:miter lim="400000"/>
            </a:ln>
            <a:effectLst/>
          </p:spPr>
          <p:txBody>
            <a:bodyPr wrap="square" lIns="50800" tIns="50800" rIns="50800" bIns="50800" numCol="1" anchor="ctr">
              <a:noAutofit/>
            </a:bodyPr>
            <a:lstStyle/>
            <a:p/>
          </p:txBody>
        </p:sp>
        <p:sp>
          <p:nvSpPr>
            <p:cNvPr id="6" name="Content"/>
            <p:cNvSpPr txBox="1"/>
            <p:nvPr/>
          </p:nvSpPr>
          <p:spPr>
            <a:xfrm>
              <a:off x="90169" y="1521913"/>
              <a:ext cx="1965961" cy="812801"/>
            </a:xfrm>
            <a:prstGeom prst="rect">
              <a:avLst/>
            </a:prstGeom>
            <a:noFill/>
            <a:ln w="12700" cap="flat">
              <a:noFill/>
              <a:miter lim="400000"/>
            </a:ln>
            <a:effectLst/>
          </p:spPr>
          <p:txBody>
            <a:bodyPr wrap="none" lIns="50800" tIns="50800" rIns="50800" bIns="50800" numCol="1" anchor="ctr">
              <a:spAutoFit/>
            </a:bodyPr>
            <a:lstStyle>
              <a:lvl1pPr>
                <a:defRPr sz="4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Content</a:t>
              </a:r>
            </a:p>
          </p:txBody>
        </p:sp>
      </p:grpSp>
      <p:sp>
        <p:nvSpPr>
          <p:cNvPr id="8" name="正文级别 1…"/>
          <p:cNvSpPr txBox="1">
            <a:spLocks noGrp="1"/>
          </p:cNvSpPr>
          <p:nvPr>
            <p:ph type="body" idx="1" hasCustomPrompt="1"/>
          </p:nvPr>
        </p:nvSpPr>
        <p:spPr>
          <a:xfrm>
            <a:off x="10258676" y="2729994"/>
            <a:ext cx="21971001" cy="8256012"/>
          </a:xfrm>
          <a:prstGeom prst="rect">
            <a:avLst/>
          </a:prstGeom>
          <a:ln w="12700">
            <a:miter lim="400000"/>
          </a:ln>
        </p:spPr>
        <p:txBody>
          <a:bodyPr lIns="50800" tIns="50800" rIns="50800" bIns="50800" anchor="ctr">
            <a:normAutofit/>
          </a:bodyPr>
          <a:lstStyle/>
          <a:p>
            <a:r>
              <a:t>幻灯片项目符号文本</a:t>
            </a:r>
          </a:p>
          <a:p>
            <a:pPr lvl="1"/>
          </a:p>
          <a:p>
            <a:pPr lvl="2"/>
          </a:p>
          <a:p>
            <a:pPr lvl="3"/>
          </a:p>
          <a:p>
            <a:pPr lvl="4"/>
          </a:p>
        </p:txBody>
      </p:sp>
      <p:pic>
        <p:nvPicPr>
          <p:cNvPr id="9" name="未命名.jpg" descr="未命名.jpg"/>
          <p:cNvPicPr>
            <a:picLocks noChangeAspect="1"/>
          </p:cNvPicPr>
          <p:nvPr/>
        </p:nvPicPr>
        <p:blipFill>
          <a:blip r:embed="rId8">
            <a:alphaModFix amt="80028"/>
          </a:blip>
          <a:stretch>
            <a:fillRect/>
          </a:stretch>
        </p:blipFill>
        <p:spPr>
          <a:xfrm>
            <a:off x="19841111" y="430850"/>
            <a:ext cx="1636706" cy="737026"/>
          </a:xfrm>
          <a:prstGeom prst="rect">
            <a:avLst/>
          </a:prstGeom>
          <a:ln w="12700">
            <a:miter lim="400000"/>
            <a:headEnd/>
            <a:tailEnd/>
          </a:ln>
        </p:spPr>
      </p:pic>
      <p:pic>
        <p:nvPicPr>
          <p:cNvPr id="10" name="未命名.jpg" descr="未命名.jpg"/>
          <p:cNvPicPr>
            <a:picLocks noChangeAspect="1"/>
          </p:cNvPicPr>
          <p:nvPr/>
        </p:nvPicPr>
        <p:blipFill>
          <a:blip r:embed="rId9">
            <a:alphaModFix amt="80000"/>
          </a:blip>
          <a:stretch>
            <a:fillRect/>
          </a:stretch>
        </p:blipFill>
        <p:spPr>
          <a:xfrm>
            <a:off x="21688890" y="597552"/>
            <a:ext cx="2015020" cy="530623"/>
          </a:xfrm>
          <a:prstGeom prst="rect">
            <a:avLst/>
          </a:prstGeom>
          <a:ln w="12700">
            <a:miter lim="400000"/>
            <a:headEnd/>
            <a:tailEnd/>
          </a:ln>
        </p:spPr>
      </p:pic>
      <p:sp>
        <p:nvSpPr>
          <p:cNvPr id="11" name="幻灯片标题"/>
          <p:cNvSpPr txBox="1">
            <a:spLocks noGrp="1"/>
          </p:cNvSpPr>
          <p:nvPr>
            <p:ph type="title" hasCustomPrompt="1"/>
          </p:nvPr>
        </p:nvSpPr>
        <p:spPr>
          <a:xfrm>
            <a:off x="12763346" y="3944134"/>
            <a:ext cx="13118449" cy="983210"/>
          </a:xfrm>
          <a:prstGeom prst="rect">
            <a:avLst/>
          </a:prstGeom>
          <a:ln w="12700">
            <a:miter lim="400000"/>
          </a:ln>
        </p:spPr>
        <p:txBody>
          <a:bodyPr lIns="50800" tIns="50800" rIns="50800" bIns="50800">
            <a:normAutofit/>
          </a:bodyPr>
          <a:lstStyle/>
          <a:p>
            <a:r>
              <a:t>幻灯片标题</a:t>
            </a:r>
          </a:p>
        </p:txBody>
      </p:sp>
      <p:sp>
        <p:nvSpPr>
          <p:cNvPr id="12" name="幻灯片编号"/>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vl2pPr marL="0" marR="0" indent="457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2pPr>
      <a:lvl3pPr marL="0" marR="0" indent="914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3pPr>
      <a:lvl4pPr marL="0" marR="0" indent="1371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4pPr>
      <a:lvl5pPr marL="0" marR="0" indent="18288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5pPr>
      <a:lvl6pPr marL="0" marR="0" indent="22860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6pPr>
      <a:lvl7pPr marL="0" marR="0" indent="2743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7pPr>
      <a:lvl8pPr marL="0" marR="0" indent="3200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8pPr>
      <a:lvl9pPr marL="0" marR="0" indent="3657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9pPr>
    </p:titleStyle>
    <p:bodyStyle>
      <a:lvl1pPr marL="609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vl2pPr marL="1219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2pPr>
      <a:lvl3pPr marL="1828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3pPr>
      <a:lvl4pPr marL="2438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4pPr>
      <a:lvl5pPr marL="30480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5pPr>
      <a:lvl6pPr marL="3657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6pPr>
      <a:lvl7pPr marL="4267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7pPr>
      <a:lvl8pPr marL="4876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8pPr>
      <a:lvl9pPr marL="5486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3672743" y="3507853"/>
            <a:ext cx="17038512" cy="4650775"/>
            <a:chOff x="-1" y="0"/>
            <a:chExt cx="17038510" cy="4650773"/>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 y="1551972"/>
              <a:ext cx="17038510" cy="309880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300000000000000" charset="-122"/>
                  <a:ea typeface=".萍方-简" panose="020B0300000000000000" charset="-122"/>
                </a:rPr>
                <a:t>LLamaIndex</a:t>
              </a:r>
              <a:r>
                <a:rPr lang="zh-CN" altLang="en-US">
                  <a:latin typeface=".萍方-简" panose="020B0300000000000000" charset="-122"/>
                  <a:ea typeface=".萍方-简" panose="020B0300000000000000" charset="-122"/>
                </a:rPr>
                <a:t>从入门到精通</a:t>
              </a:r>
              <a:endParaRPr lang="zh-CN" altLang="en-US">
                <a:latin typeface=".萍方-简" panose="020B0300000000000000" charset="-122"/>
                <a:ea typeface=".萍方-简" panose="020B0300000000000000" charset="-122"/>
              </a:endParaRPr>
            </a:p>
            <a:p>
              <a:endParaRPr lang="zh-CN" altLang="en-US">
                <a:latin typeface=".萍方-简" panose="020B0300000000000000" charset="-122"/>
                <a:ea typeface=".萍方-简" panose="020B0300000000000000" charset="-122"/>
              </a:endParaRPr>
            </a:p>
            <a:p>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这里是目录 1…"/>
          <p:cNvSpPr txBox="1">
            <a:spLocks noGrp="1"/>
          </p:cNvSpPr>
          <p:nvPr>
            <p:ph type="body" idx="1"/>
          </p:nvPr>
        </p:nvSpPr>
        <p:spPr>
          <a:xfrm>
            <a:off x="9703039" y="1636598"/>
            <a:ext cx="14308427" cy="9116070"/>
          </a:xfrm>
          <a:prstGeom prst="rect">
            <a:avLst/>
          </a:prstGeom>
        </p:spPr>
        <p:txBody>
          <a:bodyPr>
            <a:normAutofit/>
          </a:bodyPr>
          <a:lstStyle/>
          <a:p>
            <a:pPr>
              <a:buFont typeface="Wingdings" panose="05000000000000000000" charset="0"/>
              <a:buChar char=""/>
            </a:pPr>
            <a:r>
              <a:rPr lang="en-US" b="1">
                <a:solidFill>
                  <a:srgbClr val="002060"/>
                </a:solidFill>
                <a:latin typeface=".萍方-简" panose="020B0300000000000000" charset="-122"/>
                <a:ea typeface=".萍方-简" panose="020B0300000000000000" charset="-122"/>
                <a:cs typeface=".萍方-简" panose="020B0300000000000000" charset="-122"/>
                <a:sym typeface="+mn-ea"/>
              </a:rPr>
              <a:t>LlamaIndex</a:t>
            </a:r>
            <a:r>
              <a:rPr lang="zh-CN" altLang="en-US" b="1">
                <a:solidFill>
                  <a:srgbClr val="002060"/>
                </a:solidFill>
                <a:latin typeface=".萍方-简" panose="020B0300000000000000" charset="-122"/>
                <a:ea typeface=".萍方-简" panose="020B0300000000000000" charset="-122"/>
                <a:cs typeface=".萍方-简" panose="020B0300000000000000" charset="-122"/>
                <a:sym typeface="+mn-ea"/>
              </a:rPr>
              <a:t>通识</a:t>
            </a:r>
            <a:endParaRPr lang="en-US" altLang="zh-CN" b="1">
              <a:solidFill>
                <a:srgbClr val="002060"/>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b="1">
                <a:solidFill>
                  <a:srgbClr val="002060"/>
                </a:solidFill>
                <a:latin typeface=".萍方-简" panose="020B0300000000000000" charset="-122"/>
                <a:ea typeface=".萍方-简" panose="020B0300000000000000" charset="-122"/>
                <a:cs typeface=".萍方-简" panose="020B0300000000000000" charset="-122"/>
              </a:rPr>
              <a:t>LlamaIndex</a:t>
            </a:r>
            <a:r>
              <a:rPr lang="zh-CN" altLang="en-US" b="1">
                <a:solidFill>
                  <a:srgbClr val="002060"/>
                </a:solidFill>
                <a:latin typeface=".萍方-简" panose="020B0300000000000000" charset="-122"/>
                <a:ea typeface=".萍方-简" panose="020B0300000000000000" charset="-122"/>
                <a:cs typeface=".萍方-简" panose="020B0300000000000000" charset="-122"/>
              </a:rPr>
              <a:t>与</a:t>
            </a:r>
            <a:r>
              <a:rPr lang="en-US" b="1">
                <a:solidFill>
                  <a:srgbClr val="002060"/>
                </a:solidFill>
                <a:latin typeface=".萍方-简" panose="020B0300000000000000" charset="-122"/>
                <a:ea typeface=".萍方-简" panose="020B0300000000000000" charset="-122"/>
                <a:cs typeface=".萍方-简" panose="020B0300000000000000" charset="-122"/>
              </a:rPr>
              <a:t>RAG</a:t>
            </a:r>
            <a:r>
              <a:rPr lang="zh-CN" altLang="en-US" b="1">
                <a:solidFill>
                  <a:srgbClr val="002060"/>
                </a:solidFill>
                <a:latin typeface=".萍方-简" panose="020B0300000000000000" charset="-122"/>
                <a:ea typeface=".萍方-简" panose="020B0300000000000000" charset="-122"/>
                <a:cs typeface=".萍方-简" panose="020B0300000000000000" charset="-122"/>
              </a:rPr>
              <a:t>实战</a:t>
            </a:r>
            <a:endParaRPr lang="en-US" b="1">
              <a:solidFill>
                <a:srgbClr val="002060"/>
              </a:solidFill>
              <a:latin typeface=".萍方-简" panose="020B0300000000000000" charset="-122"/>
              <a:ea typeface=".萍方-简" panose="020B0300000000000000" charset="-122"/>
              <a:cs typeface=".萍方-简" panose="020B0300000000000000" charset="-122"/>
            </a:endParaRPr>
          </a:p>
          <a:p>
            <a:pPr>
              <a:buFont typeface="Wingdings" panose="05000000000000000000" charset="0"/>
              <a:buChar char=""/>
            </a:pPr>
            <a:r>
              <a:rPr lang="en-US" b="1">
                <a:solidFill>
                  <a:srgbClr val="002060"/>
                </a:solidFill>
                <a:latin typeface=".萍方-简" panose="020B0300000000000000" charset="-122"/>
                <a:ea typeface=".萍方-简" panose="020B0300000000000000" charset="-122"/>
                <a:cs typeface=".萍方-简" panose="020B0300000000000000" charset="-122"/>
                <a:sym typeface="+mn-ea"/>
              </a:rPr>
              <a:t>LlamaIndex</a:t>
            </a:r>
            <a:r>
              <a:rPr lang="zh-CN" altLang="en-US" b="1">
                <a:solidFill>
                  <a:srgbClr val="002060"/>
                </a:solidFill>
                <a:latin typeface=".萍方-简" panose="020B0300000000000000" charset="-122"/>
                <a:ea typeface=".萍方-简" panose="020B0300000000000000" charset="-122"/>
                <a:cs typeface=".萍方-简" panose="020B0300000000000000" charset="-122"/>
                <a:sym typeface="+mn-ea"/>
              </a:rPr>
              <a:t>工作流</a:t>
            </a:r>
            <a:endParaRPr lang="zh-CN" altLang="en-US" b="1" dirty="0">
              <a:solidFill>
                <a:srgbClr val="002060"/>
              </a:solidFill>
              <a:latin typeface=".萍方-简" panose="020B0300000000000000" charset="-122"/>
              <a:ea typeface=".萍方-简" panose="020B0300000000000000" charset="-122"/>
              <a:cs typeface=".萍方-简" panose="020B0300000000000000" charset="-122"/>
              <a:sym typeface="+mn-ea"/>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755207" y="5545307"/>
            <a:ext cx="23036125" cy="2074693"/>
          </a:xfrm>
          <a:prstGeom prst="rect">
            <a:avLst/>
          </a:prstGeom>
        </p:spPr>
        <p:txBody>
          <a:bodyPr>
            <a:normAutofit/>
          </a:bodyPr>
          <a:lstStyle/>
          <a:p>
            <a:r>
              <a:rPr lang="en-US" altLang="zh-CN">
                <a:latin typeface=".萍方-简" panose="020B0300000000000000" charset="-122"/>
                <a:ea typeface=".萍方-简" panose="020B0300000000000000" charset="-122"/>
              </a:rPr>
              <a:t>LLamaIndex</a:t>
            </a:r>
            <a:r>
              <a:rPr lang="zh-CN" altLang="en-US">
                <a:latin typeface=".萍方-简" panose="020B0300000000000000" charset="-122"/>
                <a:ea typeface=".萍方-简" panose="020B0300000000000000" charset="-122"/>
              </a:rPr>
              <a:t>通识</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什么是</a:t>
            </a:r>
            <a:r>
              <a:rPr lang="en-US" altLang="zh-CN" b="1">
                <a:latin typeface=".萍方-简" panose="020B0300000000000000" charset="-122"/>
                <a:ea typeface=".萍方-简" panose="020B0300000000000000" charset="-122"/>
                <a:cs typeface=".萍方-简" panose="020B0300000000000000" charset="-122"/>
              </a:rPr>
              <a:t>LlamaIndex</a:t>
            </a:r>
            <a:endParaRPr lang="en-US" altLang="zh-CN" b="1">
              <a:latin typeface=".萍方-简" panose="020B0300000000000000" charset="-122"/>
              <a:ea typeface=".萍方-简" panose="020B0300000000000000" charset="-122"/>
              <a:cs typeface=".萍方-简" panose="020B0300000000000000" charset="-122"/>
            </a:endParaRPr>
          </a:p>
        </p:txBody>
      </p:sp>
      <p:sp>
        <p:nvSpPr>
          <p:cNvPr id="8" name="文本框 7"/>
          <p:cNvSpPr txBox="1"/>
          <p:nvPr/>
        </p:nvSpPr>
        <p:spPr>
          <a:xfrm>
            <a:off x="1243044" y="1829728"/>
            <a:ext cx="22565223" cy="77139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b="1">
                <a:latin typeface=".萍方-简" panose="020B0300000000000000" charset="-122"/>
                <a:ea typeface=".萍方-简" panose="020B0300000000000000" charset="-122"/>
                <a:cs typeface=".萍方-简" panose="020B0300000000000000" charset="-122"/>
                <a:sym typeface="+mn-ea"/>
              </a:rPr>
              <a:t>LlamaIndex</a:t>
            </a:r>
            <a:r>
              <a:rPr lang="zh-CN" altLang="en-US" b="1">
                <a:latin typeface=".萍方-简" panose="020B0300000000000000" charset="-122"/>
                <a:ea typeface=".萍方-简" panose="020B0300000000000000" charset="-122"/>
                <a:cs typeface=".萍方-简" panose="020B0300000000000000" charset="-122"/>
                <a:sym typeface="+mn-ea"/>
              </a:rPr>
              <a:t>是一个用于</a:t>
            </a:r>
            <a:r>
              <a:rPr lang="en-US" altLang="zh-CN" b="1">
                <a:latin typeface=".萍方-简" panose="020B0300000000000000" charset="-122"/>
                <a:ea typeface=".萍方-简" panose="020B0300000000000000" charset="-122"/>
                <a:cs typeface=".萍方-简" panose="020B0300000000000000" charset="-122"/>
                <a:sym typeface="+mn-ea"/>
              </a:rPr>
              <a:t>LLM</a:t>
            </a:r>
            <a:r>
              <a:rPr lang="zh-CN" altLang="en-US" b="1">
                <a:latin typeface=".萍方-简" panose="020B0300000000000000" charset="-122"/>
                <a:ea typeface=".萍方-简" panose="020B0300000000000000" charset="-122"/>
                <a:cs typeface=".萍方-简" panose="020B0300000000000000" charset="-122"/>
                <a:sym typeface="+mn-ea"/>
              </a:rPr>
              <a:t>应用程序的数据框架，用于注入，结构化，并访问私有或者特定领域数据</a:t>
            </a:r>
            <a:endParaRPr lang="zh-CN" altLang="en-US" b="1">
              <a:latin typeface=".萍方-简" panose="020B0300000000000000" charset="-122"/>
              <a:ea typeface=".萍方-简" panose="020B0300000000000000" charset="-122"/>
              <a:cs typeface=".萍方-简" panose="020B0300000000000000" charset="-122"/>
              <a:sym typeface="+mn-ea"/>
            </a:endParaRPr>
          </a:p>
          <a:p>
            <a:pPr>
              <a:buNone/>
            </a:pPr>
            <a:r>
              <a:rPr lang="en-US" altLang="zh-CN">
                <a:latin typeface=".萍方-简" panose="020B0300000000000000" charset="-122"/>
                <a:ea typeface=".萍方-简" panose="020B0300000000000000" charset="-122"/>
                <a:cs typeface=".萍方-简" panose="020B0300000000000000" charset="-122"/>
                <a:sym typeface="+mn-ea"/>
              </a:rPr>
              <a:t>LlamaIndex</a:t>
            </a:r>
            <a:r>
              <a:rPr lang="zh-CN" altLang="en-US">
                <a:latin typeface=".萍方-简" panose="020B0300000000000000" charset="-122"/>
                <a:ea typeface=".萍方-简" panose="020B0300000000000000" charset="-122"/>
                <a:cs typeface=".萍方-简" panose="020B0300000000000000" charset="-122"/>
                <a:sym typeface="+mn-ea"/>
              </a:rPr>
              <a:t>本身并不限制你如何使用</a:t>
            </a:r>
            <a:r>
              <a:rPr lang="en-US" altLang="zh-CN">
                <a:latin typeface=".萍方-简" panose="020B0300000000000000" charset="-122"/>
                <a:ea typeface=".萍方-简" panose="020B0300000000000000" charset="-122"/>
                <a:cs typeface=".萍方-简" panose="020B0300000000000000" charset="-122"/>
                <a:sym typeface="+mn-ea"/>
              </a:rPr>
              <a:t>LLM</a:t>
            </a:r>
            <a:r>
              <a:rPr lang="zh-CN" altLang="en-US">
                <a:latin typeface=".萍方-简" panose="020B0300000000000000" charset="-122"/>
                <a:ea typeface=".萍方-简" panose="020B0300000000000000" charset="-122"/>
                <a:cs typeface=".萍方-简" panose="020B0300000000000000" charset="-122"/>
                <a:sym typeface="+mn-ea"/>
              </a:rPr>
              <a:t>，它的核心价值在于让使用</a:t>
            </a:r>
            <a:r>
              <a:rPr lang="en-US" altLang="zh-CN">
                <a:latin typeface=".萍方-简" panose="020B0300000000000000" charset="-122"/>
                <a:ea typeface=".萍方-简" panose="020B0300000000000000" charset="-122"/>
                <a:cs typeface=".萍方-简" panose="020B0300000000000000" charset="-122"/>
                <a:sym typeface="+mn-ea"/>
              </a:rPr>
              <a:t>LLM</a:t>
            </a:r>
            <a:r>
              <a:rPr lang="zh-CN" altLang="en-US">
                <a:latin typeface=".萍方-简" panose="020B0300000000000000" charset="-122"/>
                <a:ea typeface=".萍方-简" panose="020B0300000000000000" charset="-122"/>
                <a:cs typeface=".萍方-简" panose="020B0300000000000000" charset="-122"/>
                <a:sym typeface="+mn-ea"/>
              </a:rPr>
              <a:t>变得更加容易，特别是当你需要</a:t>
            </a:r>
            <a:r>
              <a:rPr lang="en-US" altLang="zh-CN">
                <a:latin typeface=".萍方-简" panose="020B0300000000000000" charset="-122"/>
                <a:ea typeface=".萍方-简" panose="020B0300000000000000" charset="-122"/>
                <a:cs typeface=".萍方-简" panose="020B0300000000000000" charset="-122"/>
                <a:sym typeface="+mn-ea"/>
              </a:rPr>
              <a:t>LLM</a:t>
            </a:r>
            <a:r>
              <a:rPr lang="zh-CN" altLang="en-US">
                <a:latin typeface=".萍方-简" panose="020B0300000000000000" charset="-122"/>
                <a:ea typeface=".萍方-简" panose="020B0300000000000000" charset="-122"/>
                <a:cs typeface=".萍方-简" panose="020B0300000000000000" charset="-122"/>
                <a:sym typeface="+mn-ea"/>
              </a:rPr>
              <a:t>理解和使用数据时。</a:t>
            </a:r>
            <a:endParaRPr lang="zh-CN" altLang="en-US">
              <a:latin typeface=".萍方-简" panose="020B0300000000000000" charset="-122"/>
              <a:ea typeface=".萍方-简" panose="020B0300000000000000" charset="-122"/>
              <a:cs typeface=".萍方-简" panose="020B0300000000000000" charset="-122"/>
              <a:sym typeface="+mn-ea"/>
            </a:endParaRPr>
          </a:p>
          <a:p>
            <a:pPr>
              <a:buNone/>
            </a:pPr>
            <a:r>
              <a:rPr lang="en-US" altLang="zh-CN">
                <a:latin typeface=".萍方-简" panose="020B0300000000000000" charset="-122"/>
                <a:ea typeface=".萍方-简" panose="020B0300000000000000" charset="-122"/>
                <a:cs typeface=".萍方-简" panose="020B0300000000000000" charset="-122"/>
                <a:sym typeface="+mn-ea"/>
              </a:rPr>
              <a:t> </a:t>
            </a:r>
            <a:r>
              <a:rPr lang="zh-CN" altLang="en-US">
                <a:latin typeface=".萍方-简" panose="020B0300000000000000" charset="-122"/>
                <a:ea typeface=".萍方-简" panose="020B0300000000000000" charset="-122"/>
                <a:cs typeface=".萍方-简" panose="020B0300000000000000" charset="-122"/>
                <a:sym typeface="+mn-ea"/>
              </a:rPr>
              <a:t>创始人是</a:t>
            </a:r>
            <a:r>
              <a:rPr lang="en-US" altLang="zh-CN">
                <a:latin typeface=".萍方-简" panose="020B0300000000000000" charset="-122"/>
                <a:ea typeface=".萍方-简" panose="020B0300000000000000" charset="-122"/>
                <a:cs typeface=".萍方-简" panose="020B0300000000000000" charset="-122"/>
                <a:sym typeface="+mn-ea"/>
              </a:rPr>
              <a:t>Jerry Liu</a:t>
            </a:r>
            <a:r>
              <a:rPr lang="zh-CN" altLang="en-US">
                <a:latin typeface=".萍方-简" panose="020B0300000000000000" charset="-122"/>
                <a:ea typeface=".萍方-简" panose="020B0300000000000000" charset="-122"/>
                <a:cs typeface=".萍方-简" panose="020B0300000000000000" charset="-122"/>
                <a:sym typeface="+mn-ea"/>
              </a:rPr>
              <a:t>，但</a:t>
            </a:r>
            <a:r>
              <a:rPr lang="en-US" altLang="zh-CN">
                <a:latin typeface=".萍方-简" panose="020B0300000000000000" charset="-122"/>
                <a:ea typeface=".萍方-简" panose="020B0300000000000000" charset="-122"/>
                <a:cs typeface=".萍方-简" panose="020B0300000000000000" charset="-122"/>
                <a:sym typeface="+mn-ea"/>
              </a:rPr>
              <a:t> LlamaIndex </a:t>
            </a:r>
            <a:r>
              <a:rPr lang="zh-CN" altLang="en-US">
                <a:latin typeface=".萍方-简" panose="020B0300000000000000" charset="-122"/>
                <a:ea typeface=".萍方-简" panose="020B0300000000000000" charset="-122"/>
                <a:cs typeface=".萍方-简" panose="020B0300000000000000" charset="-122"/>
                <a:sym typeface="+mn-ea"/>
              </a:rPr>
              <a:t>是一个开源社区项目，目前已有数百位贡献者参与开发。</a:t>
            </a:r>
            <a:endParaRPr lang="en-US" altLang="zh-CN">
              <a:latin typeface=".萍方-简" panose="020B0300000000000000" charset="-122"/>
              <a:ea typeface=".萍方-简" panose="020B0300000000000000" charset="-122"/>
              <a:cs typeface=".萍方-简" panose="020B0300000000000000" charset="-122"/>
              <a:sym typeface="+mn-ea"/>
            </a:endParaRPr>
          </a:p>
          <a:p>
            <a:pPr>
              <a:buNone/>
            </a:pPr>
            <a:r>
              <a:rPr lang="zh-CN" altLang="en-US">
                <a:latin typeface=".萍方-简" panose="020B0300000000000000" charset="-122"/>
                <a:ea typeface=".萍方-简" panose="020B0300000000000000" charset="-122"/>
                <a:cs typeface=".萍方-简" panose="020B0300000000000000" charset="-122"/>
                <a:sym typeface="+mn-ea"/>
              </a:rPr>
              <a:t>项目由初创公司</a:t>
            </a:r>
            <a:r>
              <a:rPr lang="en-US" altLang="zh-CN">
                <a:latin typeface=".萍方-简" panose="020B0300000000000000" charset="-122"/>
                <a:ea typeface=".萍方-简" panose="020B0300000000000000" charset="-122"/>
                <a:cs typeface=".萍方-简" panose="020B0300000000000000" charset="-122"/>
                <a:sym typeface="+mn-ea"/>
              </a:rPr>
              <a:t> LlamaIndex Inc. </a:t>
            </a:r>
            <a:r>
              <a:rPr lang="zh-CN" altLang="en-US">
                <a:latin typeface=".萍方-简" panose="020B0300000000000000" charset="-122"/>
                <a:ea typeface=".萍方-简" panose="020B0300000000000000" charset="-122"/>
                <a:cs typeface=".萍方-简" panose="020B0300000000000000" charset="-122"/>
                <a:sym typeface="+mn-ea"/>
              </a:rPr>
              <a:t>支持，专注于构建企业级</a:t>
            </a:r>
            <a:r>
              <a:rPr lang="en-US" altLang="zh-CN">
                <a:latin typeface=".萍方-简" panose="020B0300000000000000" charset="-122"/>
                <a:ea typeface=".萍方-简" panose="020B0300000000000000" charset="-122"/>
                <a:cs typeface=".萍方-简" panose="020B0300000000000000" charset="-122"/>
                <a:sym typeface="+mn-ea"/>
              </a:rPr>
              <a:t> LLM </a:t>
            </a:r>
            <a:r>
              <a:rPr lang="zh-CN" altLang="en-US">
                <a:latin typeface=".萍方-简" panose="020B0300000000000000" charset="-122"/>
                <a:ea typeface=".萍方-简" panose="020B0300000000000000" charset="-122"/>
                <a:cs typeface=".萍方-简" panose="020B0300000000000000" charset="-122"/>
                <a:sym typeface="+mn-ea"/>
              </a:rPr>
              <a:t>数据框架。</a:t>
            </a:r>
            <a:endParaRPr lang="zh-CN" altLang="en-US">
              <a:latin typeface=".萍方-简" panose="020B0300000000000000" charset="-122"/>
              <a:ea typeface=".萍方-简" panose="020B0300000000000000" charset="-122"/>
              <a:cs typeface=".萍方-简" panose="020B0300000000000000" charset="-122"/>
              <a:sym typeface="+mn-ea"/>
            </a:endParaRPr>
          </a:p>
          <a:p>
            <a:pPr>
              <a:buNone/>
            </a:pPr>
            <a:endParaRPr lang="zh-CN" altLang="en-US">
              <a:latin typeface=".萍方-简" panose="020B0300000000000000" charset="-122"/>
              <a:ea typeface=".萍方-简" panose="020B0300000000000000" charset="-122"/>
              <a:cs typeface=".萍方-简" panose="020B0300000000000000" charset="-122"/>
              <a:sym typeface="+mn-ea"/>
            </a:endParaRPr>
          </a:p>
        </p:txBody>
      </p:sp>
      <p:sp>
        <p:nvSpPr>
          <p:cNvPr id="2" name="文本框 1"/>
          <p:cNvSpPr txBox="1"/>
          <p:nvPr/>
        </p:nvSpPr>
        <p:spPr>
          <a:xfrm>
            <a:off x="1242409" y="10584896"/>
            <a:ext cx="22565223" cy="199707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LLamaIndex</a:t>
            </a:r>
            <a:r>
              <a:rPr lang="zh-CN" altLang="en-US">
                <a:latin typeface=".萍方-简" panose="020B0300000000000000" charset="-122"/>
                <a:ea typeface=".萍方-简" panose="020B0300000000000000" charset="-122"/>
              </a:rPr>
              <a:t>官网参考</a:t>
            </a:r>
            <a:r>
              <a:rPr lang="en-US" altLang="zh-CN">
                <a:latin typeface=".萍方-简" panose="020B0300000000000000" charset="-122"/>
                <a:ea typeface=".萍方-简" panose="020B0300000000000000" charset="-122"/>
              </a:rPr>
              <a:t>:https://www.llamaindex.ai/</a:t>
            </a:r>
            <a:endParaRPr lang="en-US" altLang="zh-CN">
              <a:latin typeface=".萍方-简" panose="020B0300000000000000" charset="-122"/>
              <a:ea typeface=".萍方-简" panose="020B0300000000000000" charset="-122"/>
            </a:endParaRPr>
          </a:p>
          <a:p>
            <a:pPr>
              <a:buNone/>
            </a:pPr>
            <a:r>
              <a:rPr lang="zh-CN" altLang="en-US">
                <a:latin typeface=".萍方-简" panose="020B0300000000000000" charset="-122"/>
                <a:ea typeface=".萍方-简" panose="020B0300000000000000" charset="-122"/>
              </a:rPr>
              <a:t>官方文档</a:t>
            </a:r>
            <a:r>
              <a:rPr lang="en-US" altLang="zh-CN">
                <a:latin typeface=".萍方-简" panose="020B0300000000000000" charset="-122"/>
                <a:ea typeface=".萍方-简" panose="020B0300000000000000" charset="-122"/>
              </a:rPr>
              <a:t>:https://docs.llamaindex.ai/en/stable/</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b="1">
                <a:latin typeface=".萍方-简" panose="020B0300000000000000" charset="-122"/>
                <a:ea typeface=".萍方-简" panose="020B0300000000000000" charset="-122"/>
                <a:cs typeface=".萍方-简" panose="020B0300000000000000" charset="-122"/>
              </a:rPr>
              <a:t>基础组件介绍</a:t>
            </a:r>
            <a:endParaRPr 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08531"/>
            <a:ext cx="22565223" cy="141986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atin typeface=".萍方-简" panose="020B0300000000000000" charset="-122"/>
                <a:ea typeface=".萍方-简" panose="020B0300000000000000" charset="-122"/>
              </a:rPr>
              <a:t>LlamaIndex</a:t>
            </a:r>
            <a:r>
              <a:rPr lang="zh-CN" altLang="en-US">
                <a:latin typeface=".萍方-简" panose="020B0300000000000000" charset="-122"/>
                <a:ea typeface=".萍方-简" panose="020B0300000000000000" charset="-122"/>
              </a:rPr>
              <a:t>采用组件化方式，将大语言模型、向量数据库、索引、数据源等组件进行组合，实现大模型与数据源的交互。</a:t>
            </a:r>
            <a:endParaRPr lang="zh-CN" altLang="en-US">
              <a:latin typeface=".萍方-简" panose="020B0300000000000000" charset="-122"/>
              <a:ea typeface=".萍方-简" panose="020B0300000000000000" charset="-122"/>
            </a:endParaRPr>
          </a:p>
        </p:txBody>
      </p:sp>
      <p:graphicFrame>
        <p:nvGraphicFramePr>
          <p:cNvPr id="5" name="对象 4"/>
          <p:cNvGraphicFramePr/>
          <p:nvPr/>
        </p:nvGraphicFramePr>
        <p:xfrm>
          <a:off x="3248660" y="4317365"/>
          <a:ext cx="16983075" cy="6383655"/>
        </p:xfrm>
        <a:graphic>
          <a:graphicData uri="http://schemas.openxmlformats.org/presentationml/2006/ole">
            <mc:AlternateContent xmlns:mc="http://schemas.openxmlformats.org/markup-compatibility/2006">
              <mc:Choice xmlns:v="urn:schemas-microsoft-com:vml" Requires="v">
                <p:oleObj spid="_x0000_s6" name="" r:id="rId1" imgW="7190740" imgH="5791200" progId="Paint.Picture">
                  <p:embed/>
                </p:oleObj>
              </mc:Choice>
              <mc:Fallback>
                <p:oleObj name="" r:id="rId1" imgW="7190740" imgH="5791200" progId="Paint.Picture">
                  <p:embed/>
                  <p:pic>
                    <p:nvPicPr>
                      <p:cNvPr id="0" name="图片 5"/>
                      <p:cNvPicPr/>
                      <p:nvPr/>
                    </p:nvPicPr>
                    <p:blipFill>
                      <a:blip r:embed="rId2"/>
                      <a:stretch>
                        <a:fillRect/>
                      </a:stretch>
                    </p:blipFill>
                    <p:spPr>
                      <a:xfrm>
                        <a:off x="3248660" y="4317365"/>
                        <a:ext cx="16983075" cy="6383655"/>
                      </a:xfrm>
                      <a:prstGeom prst="rect">
                        <a:avLst/>
                      </a:prstGeom>
                    </p:spPr>
                  </p:pic>
                </p:oleObj>
              </mc:Fallback>
            </mc:AlternateContent>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LLM integrations </a:t>
            </a:r>
            <a:r>
              <a:rPr lang="zh-CN" altLang="en-US" b="1">
                <a:latin typeface=".萍方-简" panose="020B0300000000000000" charset="-122"/>
                <a:ea typeface=".萍方-简" panose="020B0300000000000000" charset="-122"/>
                <a:cs typeface=".萍方-简" panose="020B0300000000000000" charset="-122"/>
              </a:rPr>
              <a:t>介绍</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08531"/>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latin typeface=".萍方-简" panose="020B0300000000000000" charset="-122"/>
                <a:ea typeface=".萍方-简" panose="020B0300000000000000" charset="-122"/>
              </a:rPr>
              <a:t>千问模型：</a:t>
            </a:r>
            <a:endParaRPr lang="zh-CN" altLang="en-US">
              <a:latin typeface=".萍方-简" panose="020B0300000000000000" charset="-122"/>
              <a:ea typeface=".萍方-简" panose="020B0300000000000000" charset="-122"/>
            </a:endParaRPr>
          </a:p>
        </p:txBody>
      </p:sp>
      <p:sp>
        <p:nvSpPr>
          <p:cNvPr id="2" name="文本框 1"/>
          <p:cNvSpPr txBox="1"/>
          <p:nvPr/>
        </p:nvSpPr>
        <p:spPr>
          <a:xfrm>
            <a:off x="1243043" y="3235844"/>
            <a:ext cx="22565223" cy="811657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3600">
                <a:latin typeface=".萍方-简" panose="020B0300000000000000" charset="-122"/>
                <a:ea typeface=".萍方-简" panose="020B0300000000000000" charset="-122"/>
              </a:rPr>
              <a:t>from llama_index.llms.dashscope import DashScope, DashScopeGenerationModels</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dashscope_llm = </a:t>
            </a:r>
            <a:r>
              <a:rPr lang="en-US" altLang="zh-CN" sz="3600">
                <a:solidFill>
                  <a:srgbClr val="FF0000"/>
                </a:solidFill>
                <a:latin typeface=".萍方-简" panose="020B0300000000000000" charset="-122"/>
                <a:ea typeface=".萍方-简" panose="020B0300000000000000" charset="-122"/>
              </a:rPr>
              <a:t>DashScope</a:t>
            </a:r>
            <a:r>
              <a:rPr lang="en-US" altLang="zh-CN" sz="3600">
                <a:latin typeface=".萍方-简" panose="020B0300000000000000" charset="-122"/>
                <a:ea typeface=".萍方-简" panose="020B0300000000000000" charset="-122"/>
              </a:rPr>
              <a:t>(model_name=DashScopeGenerationModels.QWEN_MAX)</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resp = dashscope_llm.complete("</a:t>
            </a:r>
            <a:r>
              <a:rPr lang="zh-CN" altLang="en-US" sz="3600">
                <a:latin typeface=".萍方-简" panose="020B0300000000000000" charset="-122"/>
                <a:ea typeface=".萍方-简" panose="020B0300000000000000" charset="-122"/>
              </a:rPr>
              <a:t>你是谁</a:t>
            </a:r>
            <a:r>
              <a:rPr lang="en-US" altLang="zh-CN" sz="3600">
                <a:latin typeface=".萍方-简" panose="020B0300000000000000" charset="-122"/>
                <a:ea typeface=".萍方-简" panose="020B0300000000000000" charset="-122"/>
              </a:rPr>
              <a:t>?")</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print(resp)</a:t>
            </a:r>
            <a:endParaRPr lang="en-US" altLang="zh-CN" sz="3600">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流式输出</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responses = dashscope_llm.stream_complete("How to make cake?")</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for response in responses:</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print(response.delta, end="")</a:t>
            </a:r>
            <a:endParaRPr lang="en-US" altLang="zh-CN" sz="3600">
              <a:latin typeface=".萍方-简" panose="020B0300000000000000" charset="-122"/>
              <a:ea typeface=".萍方-简" panose="020B0300000000000000" charset="-122"/>
            </a:endParaRPr>
          </a:p>
        </p:txBody>
      </p:sp>
      <p:sp>
        <p:nvSpPr>
          <p:cNvPr id="6" name="文本框 5"/>
          <p:cNvSpPr txBox="1"/>
          <p:nvPr/>
        </p:nvSpPr>
        <p:spPr>
          <a:xfrm>
            <a:off x="909033" y="11641957"/>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https://docs.llamaindex.ai/en/stable/module_guides/models/llms/modules/</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LLM integrations </a:t>
            </a:r>
            <a:r>
              <a:rPr lang="zh-CN" altLang="en-US" b="1">
                <a:latin typeface=".萍方-简" panose="020B0300000000000000" charset="-122"/>
                <a:ea typeface=".萍方-简" panose="020B0300000000000000" charset="-122"/>
                <a:cs typeface=".萍方-简" panose="020B0300000000000000" charset="-122"/>
              </a:rPr>
              <a:t>介绍</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08531"/>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latin typeface=".萍方-简" panose="020B0300000000000000" charset="-122"/>
                <a:ea typeface=".萍方-简" panose="020B0300000000000000" charset="-122"/>
              </a:rPr>
              <a:t>嵌入模型：</a:t>
            </a:r>
            <a:endParaRPr lang="zh-CN" altLang="en-US">
              <a:latin typeface=".萍方-简" panose="020B0300000000000000" charset="-122"/>
              <a:ea typeface=".萍方-简" panose="020B0300000000000000" charset="-122"/>
            </a:endParaRPr>
          </a:p>
        </p:txBody>
      </p:sp>
      <p:sp>
        <p:nvSpPr>
          <p:cNvPr id="6" name="文本框 5"/>
          <p:cNvSpPr txBox="1"/>
          <p:nvPr/>
        </p:nvSpPr>
        <p:spPr>
          <a:xfrm>
            <a:off x="909033" y="11641957"/>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https://docs.llamaindex.ai/en/stable/module_guides/models/llms/modules/</a:t>
            </a:r>
            <a:endParaRPr lang="en-US" altLang="zh-CN">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4451350" y="2486660"/>
            <a:ext cx="13133705" cy="8272780"/>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b="1">
                <a:latin typeface=".萍方-简" panose="020B0300000000000000" charset="-122"/>
                <a:ea typeface=".萍方-简" panose="020B0300000000000000" charset="-122"/>
                <a:cs typeface=".萍方-简" panose="020B0300000000000000" charset="-122"/>
              </a:rPr>
              <a:t>提示词模板</a:t>
            </a:r>
            <a:endParaRPr 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08531"/>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PromptTemplate</a:t>
            </a:r>
            <a:endParaRPr lang="en-US" altLang="zh-CN">
              <a:latin typeface=".萍方-简" panose="020B0300000000000000" charset="-122"/>
              <a:ea typeface=".萍方-简" panose="020B0300000000000000" charset="-122"/>
            </a:endParaRPr>
          </a:p>
        </p:txBody>
      </p:sp>
      <p:sp>
        <p:nvSpPr>
          <p:cNvPr id="2" name="文本框 1"/>
          <p:cNvSpPr txBox="1"/>
          <p:nvPr/>
        </p:nvSpPr>
        <p:spPr>
          <a:xfrm>
            <a:off x="1243330" y="2923540"/>
            <a:ext cx="22565360" cy="102158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a:latin typeface=".萍方-简" panose="020B0300000000000000" charset="-122"/>
                <a:ea typeface=".萍方-简" panose="020B0300000000000000" charset="-122"/>
              </a:rPr>
              <a:t>在提示词模板中，通过</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关键字</a:t>
            </a:r>
            <a:r>
              <a:rPr lang="en-US" altLang="zh-CN">
                <a:latin typeface=".萍方-简" panose="020B0300000000000000" charset="-122"/>
                <a:ea typeface=".萍方-简" panose="020B0300000000000000" charset="-122"/>
              </a:rPr>
              <a:t> }} </a:t>
            </a:r>
            <a:r>
              <a:rPr lang="zh-CN" altLang="en-US">
                <a:latin typeface=".萍方-简" panose="020B0300000000000000" charset="-122"/>
                <a:ea typeface=".萍方-简" panose="020B0300000000000000" charset="-122"/>
              </a:rPr>
              <a:t>作为占位符，模板对象</a:t>
            </a:r>
            <a:r>
              <a:rPr lang="en-US" altLang="zh-CN">
                <a:latin typeface=".萍方-简" panose="020B0300000000000000" charset="-122"/>
                <a:ea typeface=".萍方-简" panose="020B0300000000000000" charset="-122"/>
              </a:rPr>
              <a:t>.format()</a:t>
            </a:r>
            <a:r>
              <a:rPr lang="zh-CN" altLang="en-US">
                <a:latin typeface=".萍方-简" panose="020B0300000000000000" charset="-122"/>
                <a:ea typeface=".萍方-简" panose="020B0300000000000000" charset="-122"/>
              </a:rPr>
              <a:t>进行赋值，从而动态生成提示词，常用的模板：</a:t>
            </a:r>
            <a:endParaRPr lang="zh-CN" altLang="en-US">
              <a:latin typeface=".萍方-简" panose="020B0300000000000000" charset="-122"/>
              <a:ea typeface=".萍方-简" panose="020B0300000000000000" charset="-122"/>
            </a:endParaRPr>
          </a:p>
          <a:p>
            <a:pPr lvl="8">
              <a:buNone/>
            </a:pPr>
            <a:r>
              <a:rPr lang="en-US" altLang="zh-CN">
                <a:latin typeface=".萍方-简" panose="020B0300000000000000" charset="-122"/>
                <a:ea typeface=".萍方-简" panose="020B0300000000000000" charset="-122"/>
                <a:sym typeface="+mn-ea"/>
              </a:rPr>
              <a:t>1.ChatPromptTemplate </a:t>
            </a:r>
            <a:endParaRPr lang="en-US" altLang="zh-CN">
              <a:latin typeface=".萍方-简" panose="020B0300000000000000" charset="-122"/>
              <a:ea typeface=".萍方-简" panose="020B0300000000000000" charset="-122"/>
            </a:endParaRPr>
          </a:p>
          <a:p>
            <a:pPr lvl="8">
              <a:buNone/>
            </a:pPr>
            <a:r>
              <a:rPr lang="en-US" altLang="zh-CN">
                <a:latin typeface=".萍方-简" panose="020B0300000000000000" charset="-122"/>
                <a:ea typeface=".萍方-简" panose="020B0300000000000000" charset="-122"/>
                <a:sym typeface="+mn-ea"/>
              </a:rPr>
              <a:t>2.LangchainPromptTemplate</a:t>
            </a:r>
            <a:endParaRPr lang="en-US" altLang="zh-CN">
              <a:latin typeface=".萍方-简" panose="020B0300000000000000" charset="-122"/>
              <a:ea typeface=".萍方-简" panose="020B0300000000000000" charset="-122"/>
            </a:endParaRPr>
          </a:p>
          <a:p>
            <a:pPr lvl="8">
              <a:buNone/>
            </a:pPr>
            <a:r>
              <a:rPr lang="en-US" altLang="zh-CN">
                <a:latin typeface=".萍方-简" panose="020B0300000000000000" charset="-122"/>
                <a:ea typeface=".萍方-简" panose="020B0300000000000000" charset="-122"/>
                <a:sym typeface="+mn-ea"/>
              </a:rPr>
              <a:t>3.RichPromptTemplate</a:t>
            </a:r>
            <a:endParaRPr lang="en-US" altLang="zh-CN">
              <a:latin typeface=".萍方-简" panose="020B0300000000000000" charset="-122"/>
              <a:ea typeface=".萍方-简" panose="020B0300000000000000" charset="-122"/>
              <a:sym typeface="+mn-ea"/>
            </a:endParaRPr>
          </a:p>
          <a:p>
            <a:pPr lvl="8">
              <a:buNone/>
            </a:pPr>
            <a:endParaRPr lang="zh-CN" altLang="en-US">
              <a:latin typeface=".萍方-简" panose="020B0300000000000000" charset="-122"/>
              <a:ea typeface=".萍方-简" panose="020B0300000000000000" charset="-122"/>
            </a:endParaRPr>
          </a:p>
          <a:p>
            <a:pPr>
              <a:buNone/>
            </a:pPr>
            <a:r>
              <a:rPr lang="zh-CN" altLang="en-US">
                <a:latin typeface=".萍方-简" panose="020B0300000000000000" charset="-122"/>
                <a:ea typeface=".萍方-简" panose="020B0300000000000000" charset="-122"/>
                <a:sym typeface="+mn-ea"/>
              </a:rPr>
              <a:t>优势：</a:t>
            </a:r>
            <a:endParaRPr lang="en-US" altLang="zh-CN">
              <a:latin typeface=".萍方-简" panose="020B0300000000000000" charset="-122"/>
              <a:ea typeface=".萍方-简" panose="020B0300000000000000" charset="-122"/>
            </a:endParaRPr>
          </a:p>
          <a:p>
            <a:pPr lvl="3"/>
            <a:r>
              <a:rPr lang="en-US" altLang="zh-CN">
                <a:latin typeface=".萍方-简" panose="020B0300000000000000" charset="-122"/>
                <a:ea typeface=".萍方-简" panose="020B0300000000000000" charset="-122"/>
                <a:sym typeface="+mn-ea"/>
              </a:rPr>
              <a:t>  1. </a:t>
            </a:r>
            <a:r>
              <a:rPr lang="zh-CN" altLang="en-US">
                <a:latin typeface=".萍方-简" panose="020B0300000000000000" charset="-122"/>
                <a:ea typeface=".萍方-简" panose="020B0300000000000000" charset="-122"/>
                <a:sym typeface="+mn-ea"/>
              </a:rPr>
              <a:t>清晰易懂的提示</a:t>
            </a:r>
            <a:r>
              <a:rPr lang="en-US" altLang="zh-CN">
                <a:latin typeface=".萍方-简" panose="020B0300000000000000" charset="-122"/>
                <a:ea typeface=".萍方-简" panose="020B0300000000000000" charset="-122"/>
                <a:sym typeface="+mn-ea"/>
              </a:rPr>
              <a:t>    2. </a:t>
            </a:r>
            <a:r>
              <a:rPr lang="zh-CN" altLang="en-US">
                <a:latin typeface=".萍方-简" panose="020B0300000000000000" charset="-122"/>
                <a:ea typeface=".萍方-简" panose="020B0300000000000000" charset="-122"/>
                <a:sym typeface="+mn-ea"/>
              </a:rPr>
              <a:t>增强可重用性</a:t>
            </a:r>
            <a:r>
              <a:rPr lang="en-US" altLang="zh-CN">
                <a:latin typeface=".萍方-简" panose="020B0300000000000000" charset="-122"/>
                <a:ea typeface=".萍方-简" panose="020B0300000000000000" charset="-122"/>
                <a:sym typeface="+mn-ea"/>
              </a:rPr>
              <a:t>   3. </a:t>
            </a:r>
            <a:r>
              <a:rPr lang="zh-CN" altLang="en-US">
                <a:latin typeface=".萍方-简" panose="020B0300000000000000" charset="-122"/>
                <a:ea typeface=".萍方-简" panose="020B0300000000000000" charset="-122"/>
                <a:sym typeface="+mn-ea"/>
              </a:rPr>
              <a:t>维护成本更低</a:t>
            </a:r>
            <a:endParaRPr lang="en-US" altLang="zh-CN">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 </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b="1">
                <a:latin typeface=".萍方-简" panose="020B0300000000000000" charset="-122"/>
                <a:ea typeface=".萍方-简" panose="020B0300000000000000" charset="-122"/>
                <a:cs typeface=".萍方-简" panose="020B0300000000000000" charset="-122"/>
                <a:sym typeface="+mn-ea"/>
              </a:rPr>
              <a:t>提示词模板</a:t>
            </a:r>
            <a:endParaRPr 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909034" y="10402291"/>
            <a:ext cx="22565223" cy="266128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sym typeface="+mn-ea"/>
              </a:rPr>
              <a:t>LlamaIndex</a:t>
            </a:r>
            <a:r>
              <a:rPr lang="zh-CN" altLang="en-US">
                <a:latin typeface=".萍方-简" panose="020B0300000000000000" charset="-122"/>
                <a:ea typeface=".萍方-简" panose="020B0300000000000000" charset="-122"/>
                <a:sym typeface="+mn-ea"/>
              </a:rPr>
              <a:t>本身内置了很多提示词，很多功能也是通过提示词来完成的。我们也可以对其进行个性化修改。</a:t>
            </a:r>
            <a:r>
              <a:rPr lang="en-US" altLang="zh-CN">
                <a:latin typeface=".萍方-简" panose="020B0300000000000000" charset="-122"/>
                <a:ea typeface=".萍方-简" panose="020B0300000000000000" charset="-122"/>
                <a:sym typeface="+mn-ea"/>
              </a:rPr>
              <a:t> </a:t>
            </a:r>
            <a:endParaRPr lang="en-US" altLang="zh-CN">
              <a:latin typeface=".萍方-简" panose="020B0300000000000000" charset="-122"/>
              <a:ea typeface=".萍方-简" panose="020B0300000000000000" charset="-122"/>
            </a:endParaRPr>
          </a:p>
          <a:p>
            <a:pPr>
              <a:buNone/>
            </a:pPr>
            <a:endParaRPr lang="en-US" altLang="zh-CN">
              <a:latin typeface=".萍方-简" panose="020B0300000000000000" charset="-122"/>
              <a:ea typeface=".萍方-简" panose="020B0300000000000000" charset="-122"/>
            </a:endParaRPr>
          </a:p>
        </p:txBody>
      </p:sp>
      <p:pic>
        <p:nvPicPr>
          <p:cNvPr id="10" name="图片 9"/>
          <p:cNvPicPr>
            <a:picLocks noChangeAspect="1"/>
          </p:cNvPicPr>
          <p:nvPr/>
        </p:nvPicPr>
        <p:blipFill>
          <a:blip r:embed="rId1"/>
          <a:stretch>
            <a:fillRect/>
          </a:stretch>
        </p:blipFill>
        <p:spPr>
          <a:xfrm>
            <a:off x="3317875" y="2574290"/>
            <a:ext cx="16593185" cy="6762115"/>
          </a:xfrm>
          <a:prstGeom prst="rect">
            <a:avLst/>
          </a:prstGeom>
        </p:spPr>
      </p:pic>
      <p:sp>
        <p:nvSpPr>
          <p:cNvPr id="11" name="文本框 10"/>
          <p:cNvSpPr txBox="1"/>
          <p:nvPr/>
        </p:nvSpPr>
        <p:spPr>
          <a:xfrm>
            <a:off x="909320" y="1736725"/>
            <a:ext cx="22565360" cy="98742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p>
            <a:pPr>
              <a:buNone/>
            </a:pPr>
            <a:r>
              <a:rPr lang="zh-CN" altLang="en-US">
                <a:latin typeface=".萍方-简" panose="020B0300000000000000" charset="-122"/>
                <a:ea typeface=".萍方-简" panose="020B0300000000000000" charset="-122"/>
                <a:sym typeface="+mn-ea"/>
              </a:rPr>
              <a:t>使用场景：</a:t>
            </a:r>
            <a:r>
              <a:rPr lang="en-US" altLang="zh-CN">
                <a:latin typeface=".萍方-简" panose="020B0300000000000000" charset="-122"/>
                <a:ea typeface=".萍方-简" panose="020B0300000000000000" charset="-122"/>
                <a:sym typeface="+mn-ea"/>
              </a:rPr>
              <a:t> </a:t>
            </a:r>
            <a:endParaRPr lang="en-US" altLang="zh-CN">
              <a:latin typeface=".萍方-简" panose="020B0300000000000000" charset="-122"/>
              <a:ea typeface=".萍方-简" panose="020B0300000000000000" charset="-122"/>
            </a:endParaRPr>
          </a:p>
          <a:p>
            <a:pPr>
              <a:buNone/>
            </a:pP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3007147" y="5155987"/>
            <a:ext cx="17600719" cy="2243879"/>
          </a:xfrm>
          <a:prstGeom prst="rect">
            <a:avLst/>
          </a:prstGeom>
        </p:spPr>
        <p:txBody>
          <a:bodyPr>
            <a:normAutofit/>
          </a:bodyPr>
          <a:lstStyle/>
          <a:p>
            <a:r>
              <a:rPr lang="en-US" altLang="zh-CN">
                <a:latin typeface=".萍方-简" panose="020B0300000000000000" charset="-122"/>
                <a:ea typeface=".萍方-简" panose="020B0300000000000000" charset="-122"/>
              </a:rPr>
              <a:t>LlamaIndex</a:t>
            </a:r>
            <a:r>
              <a:rPr lang="zh-CN" altLang="en-US">
                <a:latin typeface=".萍方-简" panose="020B0300000000000000" charset="-122"/>
                <a:ea typeface=".萍方-简" panose="020B0300000000000000" charset="-122"/>
              </a:rPr>
              <a:t>与</a:t>
            </a:r>
            <a:r>
              <a:rPr lang="en-US" altLang="zh-CN">
                <a:latin typeface=".萍方-简" panose="020B0300000000000000" charset="-122"/>
                <a:ea typeface=".萍方-简" panose="020B0300000000000000" charset="-122"/>
              </a:rPr>
              <a:t>RAG</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快速复习</a:t>
            </a: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流程</a:t>
            </a:r>
            <a:endParaRPr lang="zh-CN" altLang="en-US"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225001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2583815" y="4808220"/>
            <a:ext cx="18205450" cy="8222615"/>
          </a:xfrm>
          <a:prstGeom prst="rect">
            <a:avLst/>
          </a:prstGeom>
        </p:spPr>
      </p:pic>
      <p:sp>
        <p:nvSpPr>
          <p:cNvPr id="4" name="文本框 3"/>
          <p:cNvSpPr txBox="1"/>
          <p:nvPr/>
        </p:nvSpPr>
        <p:spPr>
          <a:xfrm>
            <a:off x="-1640840" y="1708785"/>
            <a:ext cx="22842220" cy="497522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p>
            <a:pPr marL="2286000" lvl="5" indent="457200">
              <a:buNone/>
            </a:pPr>
            <a:r>
              <a:rPr lang="en-US" altLang="zh-CN" sz="3200">
                <a:effectLst/>
                <a:latin typeface=".萍方-简" panose="020B0300000000000000" charset="-122"/>
                <a:ea typeface=".萍方-简" panose="020B0300000000000000" charset="-122"/>
              </a:rPr>
              <a:t>1. </a:t>
            </a:r>
            <a:r>
              <a:rPr lang="zh-CN" altLang="en-US" sz="3200">
                <a:effectLst/>
                <a:latin typeface=".萍方-简" panose="020B0300000000000000" charset="-122"/>
                <a:ea typeface=".萍方-简" panose="020B0300000000000000" charset="-122"/>
              </a:rPr>
              <a:t>索引你的数据：将你的专属数据加载并处理成可供检索的格式。</a:t>
            </a:r>
            <a:r>
              <a:rPr lang="en-US" altLang="zh-CN" sz="3200">
                <a:effectLst/>
                <a:latin typeface=".萍方-简" panose="020B0300000000000000" charset="-122"/>
                <a:ea typeface=".萍方-简" panose="020B0300000000000000" charset="-122"/>
              </a:rPr>
              <a:t>    2. </a:t>
            </a:r>
            <a:r>
              <a:rPr lang="zh-CN" altLang="en-US" sz="3200">
                <a:effectLst/>
                <a:latin typeface=".萍方-简" panose="020B0300000000000000" charset="-122"/>
                <a:ea typeface=".萍方-简" panose="020B0300000000000000" charset="-122"/>
              </a:rPr>
              <a:t>用户提问：用户向系统发起查询。</a:t>
            </a:r>
            <a:endParaRPr lang="zh-CN" altLang="en-US" sz="3200">
              <a:effectLst/>
              <a:latin typeface=".萍方-简" panose="020B0300000000000000" charset="-122"/>
              <a:ea typeface=".萍方-简" panose="020B0300000000000000" charset="-122"/>
            </a:endParaRPr>
          </a:p>
          <a:p>
            <a:pPr marL="2286000" lvl="5" indent="457200">
              <a:buNone/>
            </a:pPr>
            <a:r>
              <a:rPr lang="en-US" altLang="zh-CN" sz="3200">
                <a:effectLst/>
                <a:latin typeface=".萍方-简" panose="020B0300000000000000" charset="-122"/>
                <a:ea typeface=".萍方-简" panose="020B0300000000000000" charset="-122"/>
              </a:rPr>
              <a:t>3. </a:t>
            </a:r>
            <a:r>
              <a:rPr lang="zh-CN" altLang="en-US" sz="3200">
                <a:effectLst/>
                <a:latin typeface=".萍方-简" panose="020B0300000000000000" charset="-122"/>
                <a:ea typeface=".萍方-简" panose="020B0300000000000000" charset="-122"/>
              </a:rPr>
              <a:t>检索相关上下文：</a:t>
            </a:r>
            <a:r>
              <a:rPr lang="en-US" altLang="zh-CN" sz="3200">
                <a:effectLst/>
                <a:latin typeface=".萍方-简" panose="020B0300000000000000" charset="-122"/>
                <a:ea typeface=".萍方-简" panose="020B0300000000000000" charset="-122"/>
              </a:rPr>
              <a:t>RAG</a:t>
            </a:r>
            <a:r>
              <a:rPr lang="zh-CN" altLang="en-US" sz="3200">
                <a:effectLst/>
                <a:latin typeface=".萍方-简" panose="020B0300000000000000" charset="-122"/>
                <a:ea typeface=".萍方-简" panose="020B0300000000000000" charset="-122"/>
              </a:rPr>
              <a:t>系统从你的数据中筛选出与问题最相关的信息。</a:t>
            </a:r>
            <a:endParaRPr lang="zh-CN" altLang="en-US" sz="3200">
              <a:effectLst/>
              <a:latin typeface=".萍方-简" panose="020B0300000000000000" charset="-122"/>
              <a:ea typeface=".萍方-简" panose="020B0300000000000000" charset="-122"/>
            </a:endParaRPr>
          </a:p>
          <a:p>
            <a:pPr marL="2286000" lvl="5" indent="457200">
              <a:buNone/>
            </a:pPr>
            <a:r>
              <a:rPr lang="en-US" altLang="zh-CN" sz="3200">
                <a:effectLst/>
                <a:latin typeface=".萍方-简" panose="020B0300000000000000" charset="-122"/>
                <a:ea typeface=".萍方-简" panose="020B0300000000000000" charset="-122"/>
              </a:rPr>
              <a:t>4. </a:t>
            </a:r>
            <a:r>
              <a:rPr lang="zh-CN" altLang="en-US" sz="3200">
                <a:effectLst/>
                <a:latin typeface=".萍方-简" panose="020B0300000000000000" charset="-122"/>
                <a:ea typeface=".萍方-简" panose="020B0300000000000000" charset="-122"/>
              </a:rPr>
              <a:t>增强生成：将这些相关上下文、原始问题以及合适的提示词一起提交给</a:t>
            </a:r>
            <a:r>
              <a:rPr lang="en-US" altLang="zh-CN" sz="3200">
                <a:effectLst/>
                <a:latin typeface=".萍方-简" panose="020B0300000000000000" charset="-122"/>
                <a:ea typeface=".萍方-简" panose="020B0300000000000000" charset="-122"/>
              </a:rPr>
              <a:t>LLM</a:t>
            </a:r>
            <a:r>
              <a:rPr lang="zh-CN" altLang="en-US" sz="3200">
                <a:effectLst/>
                <a:latin typeface=".萍方-简" panose="020B0300000000000000" charset="-122"/>
                <a:ea typeface=".萍方-简" panose="020B0300000000000000" charset="-122"/>
              </a:rPr>
              <a:t>，由</a:t>
            </a:r>
            <a:r>
              <a:rPr lang="en-US" altLang="zh-CN" sz="3200">
                <a:effectLst/>
                <a:latin typeface=".萍方-简" panose="020B0300000000000000" charset="-122"/>
                <a:ea typeface=".萍方-简" panose="020B0300000000000000" charset="-122"/>
              </a:rPr>
              <a:t>LLM</a:t>
            </a:r>
            <a:r>
              <a:rPr lang="zh-CN" altLang="en-US" sz="3200">
                <a:effectLst/>
                <a:latin typeface=".萍方-简" panose="020B0300000000000000" charset="-122"/>
                <a:ea typeface=".萍方-简" panose="020B0300000000000000" charset="-122"/>
              </a:rPr>
              <a:t>生成最终回答。</a:t>
            </a:r>
            <a:endParaRPr lang="zh-CN" altLang="en-US" sz="3200">
              <a:effectLst/>
              <a:latin typeface=".萍方-简" panose="020B0300000000000000" charset="-122"/>
              <a:ea typeface=".萍方-简" panose="020B0300000000000000" charset="-122"/>
            </a:endParaRPr>
          </a:p>
          <a:p>
            <a:pPr>
              <a:buNone/>
            </a:pPr>
            <a:endParaRPr lang="zh-CN" altLang="en-US" sz="3200">
              <a:effectLst/>
              <a:latin typeface=".萍方-简" panose="020B0300000000000000" charset="-122"/>
              <a:ea typeface=".萍方-简" panose="020B0300000000000000"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Loading</a:t>
            </a:r>
            <a:r>
              <a:rPr lang="zh-CN" altLang="en-US" b="1">
                <a:latin typeface=".萍方-简" panose="020B0300000000000000" charset="-122"/>
                <a:ea typeface=".萍方-简" panose="020B0300000000000000" charset="-122"/>
                <a:cs typeface=".萍方-简" panose="020B0300000000000000" charset="-122"/>
              </a:rPr>
              <a:t>文档加载组件</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330" y="1908810"/>
            <a:ext cx="22565360" cy="166052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en-US" altLang="zh-CN">
                <a:latin typeface=".萍方-简" panose="020B0300000000000000" charset="-122"/>
                <a:ea typeface=".萍方-简" panose="020B0300000000000000" charset="-122"/>
              </a:rPr>
              <a:t>Llamalndex</a:t>
            </a:r>
            <a:r>
              <a:rPr lang="zh-CN" altLang="en-US">
                <a:latin typeface=".萍方-简" panose="020B0300000000000000" charset="-122"/>
                <a:ea typeface=".萍方-简" panose="020B0300000000000000" charset="-122"/>
              </a:rPr>
              <a:t>处理本地数据最基本的方式就是把本地文档加载成</a:t>
            </a:r>
            <a:r>
              <a:rPr lang="en-US" altLang="zh-CN">
                <a:latin typeface=".萍方-简" panose="020B0300000000000000" charset="-122"/>
                <a:ea typeface=".萍方-简" panose="020B0300000000000000" charset="-122"/>
              </a:rPr>
              <a:t>Document</a:t>
            </a:r>
            <a:r>
              <a:rPr lang="zh-CN" altLang="en-US">
                <a:latin typeface=".萍方-简" panose="020B0300000000000000" charset="-122"/>
                <a:ea typeface=".萍方-简" panose="020B0300000000000000" charset="-122"/>
              </a:rPr>
              <a:t>，再把文档内容拆分成</a:t>
            </a:r>
            <a:r>
              <a:rPr lang="en-US" altLang="zh-CN">
                <a:latin typeface=".萍方-简" panose="020B0300000000000000" charset="-122"/>
                <a:ea typeface=".萍方-简" panose="020B0300000000000000" charset="-122"/>
              </a:rPr>
              <a:t>Node</a:t>
            </a:r>
            <a:r>
              <a:rPr lang="zh-CN" altLang="en-US">
                <a:latin typeface=".萍方-简" panose="020B0300000000000000" charset="-122"/>
                <a:ea typeface=".萍方-简" panose="020B0300000000000000" charset="-122"/>
              </a:rPr>
              <a:t>。这些</a:t>
            </a:r>
            <a:r>
              <a:rPr lang="en-US" altLang="zh-CN">
                <a:latin typeface=".萍方-简" panose="020B0300000000000000" charset="-122"/>
                <a:ea typeface=".萍方-简" panose="020B0300000000000000" charset="-122"/>
              </a:rPr>
              <a:t>Node</a:t>
            </a:r>
            <a:r>
              <a:rPr lang="zh-CN" altLang="en-US">
                <a:latin typeface=".萍方-简" panose="020B0300000000000000" charset="-122"/>
                <a:ea typeface=".萍方-简" panose="020B0300000000000000" charset="-122"/>
              </a:rPr>
              <a:t>就是</a:t>
            </a:r>
            <a:r>
              <a:rPr lang="en-US" altLang="zh-CN">
                <a:latin typeface=".萍方-简" panose="020B0300000000000000" charset="-122"/>
                <a:ea typeface=".萍方-简" panose="020B0300000000000000" charset="-122"/>
              </a:rPr>
              <a:t>Llamalindex</a:t>
            </a:r>
            <a:r>
              <a:rPr lang="zh-CN" altLang="en-US">
                <a:latin typeface=".萍方-简" panose="020B0300000000000000" charset="-122"/>
                <a:ea typeface=".萍方-简" panose="020B0300000000000000" charset="-122"/>
              </a:rPr>
              <a:t>处理本地数据的基本单位。</a:t>
            </a:r>
            <a:endParaRPr lang="zh-CN" altLang="en-US">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Document </a:t>
            </a:r>
            <a:r>
              <a:rPr lang="zh-CN" altLang="en-US">
                <a:latin typeface=".萍方-简" panose="020B0300000000000000" charset="-122"/>
                <a:ea typeface=".萍方-简" panose="020B0300000000000000" charset="-122"/>
              </a:rPr>
              <a:t>对象主要包含以下一些重要的属性：</a:t>
            </a:r>
            <a:endParaRPr lang="zh-CN" altLang="en-US">
              <a:latin typeface=".萍方-简" panose="020B0300000000000000" charset="-122"/>
              <a:ea typeface=".萍方-简" panose="020B0300000000000000" charset="-122"/>
            </a:endParaRPr>
          </a:p>
          <a:p>
            <a:pPr lvl="1">
              <a:buNone/>
            </a:pPr>
            <a:r>
              <a:rPr lang="en-US" altLang="zh-CN" sz="4000">
                <a:latin typeface=".萍方-简" panose="020B0300000000000000" charset="-122"/>
                <a:ea typeface=".萍方-简" panose="020B0300000000000000" charset="-122"/>
              </a:rPr>
              <a:t>  - text: </a:t>
            </a:r>
            <a:r>
              <a:rPr lang="zh-CN" altLang="en-US" sz="4000">
                <a:latin typeface=".萍方-简" panose="020B0300000000000000" charset="-122"/>
                <a:ea typeface=".萍方-简" panose="020B0300000000000000" charset="-122"/>
              </a:rPr>
              <a:t>这个属性存储了文档的主要文本内容。</a:t>
            </a:r>
            <a:endParaRPr lang="zh-CN" altLang="en-US" sz="4000">
              <a:latin typeface=".萍方-简" panose="020B0300000000000000" charset="-122"/>
              <a:ea typeface=".萍方-简" panose="020B0300000000000000" charset="-122"/>
            </a:endParaRPr>
          </a:p>
          <a:p>
            <a:pPr lvl="1">
              <a:buNone/>
            </a:pPr>
            <a:r>
              <a:rPr lang="en-US" altLang="zh-CN" sz="4000">
                <a:latin typeface=".萍方-简" panose="020B0300000000000000" charset="-122"/>
                <a:ea typeface=".萍方-简" panose="020B0300000000000000" charset="-122"/>
              </a:rPr>
              <a:t>  - metadata: </a:t>
            </a:r>
            <a:r>
              <a:rPr lang="zh-CN" altLang="en-US" sz="4000">
                <a:latin typeface=".萍方-简" panose="020B0300000000000000" charset="-122"/>
                <a:ea typeface=".萍方-简" panose="020B0300000000000000" charset="-122"/>
              </a:rPr>
              <a:t>字典类型，你可以用它来存储关于这个文档的任意附加信息。</a:t>
            </a:r>
            <a:endParaRPr lang="zh-CN" altLang="en-US" sz="4000">
              <a:latin typeface=".萍方-简" panose="020B0300000000000000" charset="-122"/>
              <a:ea typeface=".萍方-简" panose="020B0300000000000000" charset="-122"/>
            </a:endParaRPr>
          </a:p>
          <a:p>
            <a:pPr lvl="1">
              <a:buNone/>
            </a:pPr>
            <a:r>
              <a:rPr lang="en-US" altLang="zh-CN" sz="4000">
                <a:latin typeface=".萍方-简" panose="020B0300000000000000" charset="-122"/>
                <a:ea typeface=".萍方-简" panose="020B0300000000000000" charset="-122"/>
              </a:rPr>
              <a:t>  - relationships: </a:t>
            </a:r>
            <a:r>
              <a:rPr lang="zh-CN" altLang="en-US" sz="4000">
                <a:latin typeface=".萍方-简" panose="020B0300000000000000" charset="-122"/>
                <a:ea typeface=".萍方-简" panose="020B0300000000000000" charset="-122"/>
              </a:rPr>
              <a:t>字典类型，用来描述这个</a:t>
            </a:r>
            <a:r>
              <a:rPr lang="en-US" altLang="zh-CN" sz="4000">
                <a:latin typeface=".萍方-简" panose="020B0300000000000000" charset="-122"/>
                <a:ea typeface=".萍方-简" panose="020B0300000000000000" charset="-122"/>
              </a:rPr>
              <a:t> Document </a:t>
            </a:r>
            <a:r>
              <a:rPr lang="zh-CN" altLang="en-US" sz="4000">
                <a:latin typeface=".萍方-简" panose="020B0300000000000000" charset="-122"/>
                <a:ea typeface=".萍方-简" panose="020B0300000000000000" charset="-122"/>
              </a:rPr>
              <a:t>与其他</a:t>
            </a:r>
            <a:r>
              <a:rPr lang="en-US" altLang="zh-CN" sz="4000">
                <a:latin typeface=".萍方-简" panose="020B0300000000000000" charset="-122"/>
                <a:ea typeface=".萍方-简" panose="020B0300000000000000" charset="-122"/>
              </a:rPr>
              <a:t> Document </a:t>
            </a:r>
            <a:r>
              <a:rPr lang="zh-CN" altLang="en-US" sz="4000">
                <a:latin typeface=".萍方-简" panose="020B0300000000000000" charset="-122"/>
                <a:ea typeface=".萍方-简" panose="020B0300000000000000" charset="-122"/>
              </a:rPr>
              <a:t>或</a:t>
            </a:r>
            <a:r>
              <a:rPr lang="en-US" altLang="zh-CN" sz="4000">
                <a:latin typeface=".萍方-简" panose="020B0300000000000000" charset="-122"/>
                <a:ea typeface=".萍方-简" panose="020B0300000000000000" charset="-122"/>
              </a:rPr>
              <a:t> Node </a:t>
            </a:r>
            <a:r>
              <a:rPr lang="zh-CN" altLang="en-US" sz="4000">
                <a:latin typeface=".萍方-简" panose="020B0300000000000000" charset="-122"/>
                <a:ea typeface=".萍方-简" panose="020B0300000000000000" charset="-122"/>
              </a:rPr>
              <a:t>之间的关系。</a:t>
            </a:r>
            <a:endParaRPr lang="zh-CN" altLang="en-US" sz="4000">
              <a:latin typeface=".萍方-简" panose="020B0300000000000000" charset="-122"/>
              <a:ea typeface=".萍方-简" panose="020B0300000000000000" charset="-122"/>
            </a:endParaRPr>
          </a:p>
          <a:p>
            <a:pPr lvl="1">
              <a:buNone/>
            </a:pPr>
            <a:r>
              <a:rPr lang="en-US" altLang="zh-CN" sz="4000">
                <a:latin typeface=".萍方-简" panose="020B0300000000000000" charset="-122"/>
                <a:ea typeface=".萍方-简" panose="020B0300000000000000" charset="-122"/>
              </a:rPr>
              <a:t>  - doc_id: </a:t>
            </a:r>
            <a:r>
              <a:rPr lang="zh-CN" altLang="en-US" sz="4000">
                <a:latin typeface=".萍方-简" panose="020B0300000000000000" charset="-122"/>
                <a:ea typeface=".萍方-简" panose="020B0300000000000000" charset="-122"/>
              </a:rPr>
              <a:t>这是每个</a:t>
            </a:r>
            <a:r>
              <a:rPr lang="en-US" altLang="zh-CN" sz="4000">
                <a:latin typeface=".萍方-简" panose="020B0300000000000000" charset="-122"/>
                <a:ea typeface=".萍方-简" panose="020B0300000000000000" charset="-122"/>
              </a:rPr>
              <a:t> Document </a:t>
            </a:r>
            <a:r>
              <a:rPr lang="zh-CN" altLang="en-US" sz="4000">
                <a:latin typeface=".萍方-简" panose="020B0300000000000000" charset="-122"/>
                <a:ea typeface=".萍方-简" panose="020B0300000000000000" charset="-122"/>
              </a:rPr>
              <a:t>的唯一标识符。</a:t>
            </a:r>
            <a:endParaRPr lang="zh-CN" altLang="en-US" sz="4000">
              <a:latin typeface=".萍方-简" panose="020B0300000000000000" charset="-122"/>
              <a:ea typeface=".萍方-简" panose="020B0300000000000000" charset="-122"/>
            </a:endParaRPr>
          </a:p>
          <a:p>
            <a:pPr>
              <a:buNone/>
            </a:pPr>
            <a:r>
              <a:rPr lang="zh-CN" altLang="en-US">
                <a:latin typeface=".萍方-简" panose="020B0300000000000000" charset="-122"/>
                <a:ea typeface=".萍方-简" panose="020B0300000000000000" charset="-122"/>
              </a:rPr>
              <a:t>获取</a:t>
            </a:r>
            <a:r>
              <a:rPr lang="en-US" altLang="zh-CN">
                <a:latin typeface=".萍方-简" panose="020B0300000000000000" charset="-122"/>
                <a:ea typeface=".萍方-简" panose="020B0300000000000000" charset="-122"/>
              </a:rPr>
              <a:t>Document</a:t>
            </a:r>
            <a:r>
              <a:rPr lang="zh-CN" altLang="en-US">
                <a:latin typeface=".萍方-简" panose="020B0300000000000000" charset="-122"/>
                <a:ea typeface=".萍方-简" panose="020B0300000000000000" charset="-122"/>
              </a:rPr>
              <a:t>对象：</a:t>
            </a:r>
            <a:endParaRPr lang="zh-CN" altLang="en-US">
              <a:latin typeface=".萍方-简" panose="020B0300000000000000" charset="-122"/>
              <a:ea typeface=".萍方-简" panose="020B0300000000000000" charset="-122"/>
            </a:endParaRPr>
          </a:p>
          <a:p>
            <a:pPr lvl="2">
              <a:buNone/>
            </a:pPr>
            <a:r>
              <a:rPr lang="en-US" altLang="zh-CN" sz="4000">
                <a:latin typeface=".萍方-简" panose="020B0300000000000000" charset="-122"/>
                <a:ea typeface=".萍方-简" panose="020B0300000000000000" charset="-122"/>
                <a:sym typeface="+mn-ea"/>
              </a:rPr>
              <a:t>1.</a:t>
            </a:r>
            <a:r>
              <a:rPr lang="zh-CN" altLang="en-US" sz="4000">
                <a:latin typeface=".萍方-简" panose="020B0300000000000000" charset="-122"/>
                <a:ea typeface=".萍方-简" panose="020B0300000000000000" charset="-122"/>
                <a:sym typeface="+mn-ea"/>
              </a:rPr>
              <a:t>手动创建</a:t>
            </a:r>
            <a:r>
              <a:rPr lang="en-US" altLang="zh-CN" sz="4000">
                <a:latin typeface=".萍方-简" panose="020B0300000000000000" charset="-122"/>
                <a:ea typeface=".萍方-简" panose="020B0300000000000000" charset="-122"/>
                <a:sym typeface="+mn-ea"/>
              </a:rPr>
              <a:t> Document</a:t>
            </a:r>
            <a:endParaRPr lang="en-US" altLang="zh-CN" sz="4000">
              <a:latin typeface=".萍方-简" panose="020B0300000000000000" charset="-122"/>
              <a:ea typeface=".萍方-简" panose="020B0300000000000000" charset="-122"/>
            </a:endParaRPr>
          </a:p>
          <a:p>
            <a:pPr lvl="2">
              <a:buNone/>
            </a:pPr>
            <a:r>
              <a:rPr lang="en-US" altLang="zh-CN" sz="4000">
                <a:latin typeface=".萍方-简" panose="020B0300000000000000" charset="-122"/>
                <a:ea typeface=".萍方-简" panose="020B0300000000000000" charset="-122"/>
                <a:sym typeface="+mn-ea"/>
              </a:rPr>
              <a:t>2.SimpleDirectoryReader </a:t>
            </a:r>
            <a:r>
              <a:rPr lang="zh-CN" altLang="en-US" sz="4000">
                <a:latin typeface=".萍方-简" panose="020B0300000000000000" charset="-122"/>
                <a:ea typeface=".萍方-简" panose="020B0300000000000000" charset="-122"/>
                <a:sym typeface="+mn-ea"/>
              </a:rPr>
              <a:t>加载</a:t>
            </a:r>
            <a:endParaRPr lang="zh-CN" altLang="en-US" sz="4000">
              <a:latin typeface=".萍方-简" panose="020B0300000000000000" charset="-122"/>
              <a:ea typeface=".萍方-简" panose="020B0300000000000000" charset="-122"/>
            </a:endParaRPr>
          </a:p>
          <a:p>
            <a:pPr>
              <a:buNone/>
            </a:pP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Loading</a:t>
            </a:r>
            <a:r>
              <a:rPr lang="zh-CN" altLang="en-US" b="1">
                <a:latin typeface=".萍方-简" panose="020B0300000000000000" charset="-122"/>
                <a:ea typeface=".萍方-简" panose="020B0300000000000000" charset="-122"/>
                <a:cs typeface=".萍方-简" panose="020B0300000000000000" charset="-122"/>
              </a:rPr>
              <a:t>文档加载组件</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569944" y="1908531"/>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Document</a:t>
            </a:r>
            <a:r>
              <a:rPr lang="zh-CN" altLang="en-US">
                <a:latin typeface=".萍方-简" panose="020B0300000000000000" charset="-122"/>
                <a:ea typeface=".萍方-简" panose="020B0300000000000000" charset="-122"/>
              </a:rPr>
              <a:t>和</a:t>
            </a:r>
            <a:r>
              <a:rPr lang="en-US" altLang="zh-CN">
                <a:latin typeface=".萍方-简" panose="020B0300000000000000" charset="-122"/>
                <a:ea typeface=".萍方-简" panose="020B0300000000000000" charset="-122"/>
              </a:rPr>
              <a:t>Node </a:t>
            </a:r>
            <a:r>
              <a:rPr lang="zh-CN" altLang="en-US">
                <a:latin typeface=".萍方-简" panose="020B0300000000000000" charset="-122"/>
                <a:ea typeface=".萍方-简" panose="020B0300000000000000" charset="-122"/>
              </a:rPr>
              <a:t>对象</a:t>
            </a:r>
            <a:endParaRPr lang="zh-CN" altLang="en-US">
              <a:latin typeface=".萍方-简" panose="020B0300000000000000" charset="-122"/>
              <a:ea typeface=".萍方-简" panose="020B0300000000000000" charset="-122"/>
            </a:endParaRPr>
          </a:p>
        </p:txBody>
      </p:sp>
      <p:sp>
        <p:nvSpPr>
          <p:cNvPr id="2" name="文本框 1"/>
          <p:cNvSpPr txBox="1"/>
          <p:nvPr/>
        </p:nvSpPr>
        <p:spPr>
          <a:xfrm>
            <a:off x="570230" y="3013710"/>
            <a:ext cx="23237825" cy="513143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en-US" altLang="zh-CN">
                <a:latin typeface=".萍方-简" panose="020B0300000000000000" charset="-122"/>
                <a:ea typeface=".萍方-简" panose="020B0300000000000000" charset="-122"/>
              </a:rPr>
              <a:t>Node </a:t>
            </a:r>
            <a:r>
              <a:rPr lang="zh-CN" altLang="en-US">
                <a:latin typeface=".萍方-简" panose="020B0300000000000000" charset="-122"/>
                <a:ea typeface=".萍方-简" panose="020B0300000000000000" charset="-122"/>
              </a:rPr>
              <a:t>是</a:t>
            </a:r>
            <a:r>
              <a:rPr lang="en-US" altLang="zh-CN">
                <a:latin typeface=".萍方-简" panose="020B0300000000000000" charset="-122"/>
                <a:ea typeface=".萍方-简" panose="020B0300000000000000" charset="-122"/>
              </a:rPr>
              <a:t> Document </a:t>
            </a:r>
            <a:r>
              <a:rPr lang="zh-CN" altLang="en-US">
                <a:latin typeface=".萍方-简" panose="020B0300000000000000" charset="-122"/>
                <a:ea typeface=".萍方-简" panose="020B0300000000000000" charset="-122"/>
              </a:rPr>
              <a:t>被分割后的</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块</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。它是</a:t>
            </a:r>
            <a:r>
              <a:rPr lang="en-US" altLang="zh-CN">
                <a:latin typeface=".萍方-简" panose="020B0300000000000000" charset="-122"/>
                <a:ea typeface=".萍方-简" panose="020B0300000000000000" charset="-122"/>
              </a:rPr>
              <a:t> LlamaIndex </a:t>
            </a:r>
            <a:r>
              <a:rPr lang="zh-CN" altLang="en-US">
                <a:latin typeface=".萍方-简" panose="020B0300000000000000" charset="-122"/>
                <a:ea typeface=".萍方-简" panose="020B0300000000000000" charset="-122"/>
              </a:rPr>
              <a:t>中检索和推理的基本单元。</a:t>
            </a:r>
            <a:endParaRPr lang="zh-CN" altLang="en-US">
              <a:latin typeface=".萍方-简" panose="020B0300000000000000" charset="-122"/>
              <a:ea typeface=".萍方-简" panose="020B0300000000000000" charset="-122"/>
            </a:endParaRPr>
          </a:p>
          <a:p>
            <a:pPr>
              <a:buNone/>
            </a:pPr>
            <a:endParaRPr lang="zh-CN" altLang="en-US">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NodeParser (</a:t>
            </a:r>
            <a:r>
              <a:rPr lang="zh-CN" altLang="en-US">
                <a:latin typeface=".萍方-简" panose="020B0300000000000000" charset="-122"/>
                <a:ea typeface=".萍方-简" panose="020B0300000000000000" charset="-122"/>
              </a:rPr>
              <a:t>节点解析器</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文本分割器</a:t>
            </a:r>
            <a:r>
              <a:rPr lang="en-US" altLang="zh-CN">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基于文件的节点解析器</a:t>
            </a:r>
            <a:r>
              <a:rPr lang="en-US" altLang="zh-CN">
                <a:latin typeface=".萍方-简" panose="020B0300000000000000" charset="-122"/>
                <a:ea typeface=".萍方-简" panose="020B0300000000000000" charset="-122"/>
              </a:rPr>
              <a:t> (File-Based Node Parsers)</a:t>
            </a:r>
            <a:endParaRPr lang="en-US" altLang="zh-CN">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文本分割器</a:t>
            </a:r>
            <a:r>
              <a:rPr lang="en-US" altLang="zh-CN">
                <a:latin typeface=".萍方-简" panose="020B0300000000000000" charset="-122"/>
                <a:ea typeface=".萍方-简" panose="020B0300000000000000" charset="-122"/>
              </a:rPr>
              <a:t> (Text-Splitters)</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Loading</a:t>
            </a:r>
            <a:r>
              <a:rPr lang="zh-CN" altLang="en-US" b="1">
                <a:latin typeface=".萍方-简" panose="020B0300000000000000" charset="-122"/>
                <a:ea typeface=".萍方-简" panose="020B0300000000000000" charset="-122"/>
                <a:cs typeface=".萍方-简" panose="020B0300000000000000" charset="-122"/>
              </a:rPr>
              <a:t>文档加载组件</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2409" y="1908531"/>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sym typeface="+mn-ea"/>
              </a:rPr>
              <a:t>1.</a:t>
            </a:r>
            <a:r>
              <a:rPr lang="zh-CN" altLang="en-US">
                <a:latin typeface=".萍方-简" panose="020B0300000000000000" charset="-122"/>
                <a:ea typeface=".萍方-简" panose="020B0300000000000000" charset="-122"/>
                <a:sym typeface="+mn-ea"/>
              </a:rPr>
              <a:t>基于文件的节点解析器</a:t>
            </a:r>
            <a:r>
              <a:rPr lang="en-US" altLang="zh-CN">
                <a:latin typeface=".萍方-简" panose="020B0300000000000000" charset="-122"/>
                <a:ea typeface=".萍方-简" panose="020B0300000000000000" charset="-122"/>
                <a:sym typeface="+mn-ea"/>
              </a:rPr>
              <a:t> (File-Based Node Parsers)</a:t>
            </a:r>
            <a:endParaRPr lang="zh-CN" altLang="en-US">
              <a:latin typeface=".萍方-简" panose="020B0300000000000000" charset="-122"/>
              <a:ea typeface=".萍方-简" panose="020B0300000000000000" charset="-122"/>
            </a:endParaRPr>
          </a:p>
        </p:txBody>
      </p:sp>
      <p:sp>
        <p:nvSpPr>
          <p:cNvPr id="2" name="文本框 1"/>
          <p:cNvSpPr txBox="1"/>
          <p:nvPr/>
        </p:nvSpPr>
        <p:spPr>
          <a:xfrm>
            <a:off x="1243330" y="2923540"/>
            <a:ext cx="22564725" cy="447992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   </a:t>
            </a:r>
            <a:r>
              <a:rPr lang="en-US" altLang="zh-CN" sz="3600">
                <a:latin typeface=".萍方-简" panose="020B0300000000000000" charset="-122"/>
                <a:ea typeface=".萍方-简" panose="020B0300000000000000" charset="-122"/>
              </a:rPr>
              <a:t> - SimpleFileNodeParser: </a:t>
            </a:r>
            <a:r>
              <a:rPr lang="zh-CN" altLang="en-US" sz="3600">
                <a:latin typeface=".萍方-简" panose="020B0300000000000000" charset="-122"/>
                <a:ea typeface=".萍方-简" panose="020B0300000000000000" charset="-122"/>
              </a:rPr>
              <a:t>一个智能的调度器，可以与</a:t>
            </a:r>
            <a:r>
              <a:rPr lang="en-US" altLang="zh-CN" sz="3600">
                <a:latin typeface=".萍方-简" panose="020B0300000000000000" charset="-122"/>
                <a:ea typeface=".萍方-简" panose="020B0300000000000000" charset="-122"/>
              </a:rPr>
              <a:t> FlatReader </a:t>
            </a:r>
            <a:r>
              <a:rPr lang="zh-CN" altLang="en-US" sz="3600">
                <a:latin typeface=".萍方-简" panose="020B0300000000000000" charset="-122"/>
                <a:ea typeface=".萍方-简" panose="020B0300000000000000" charset="-122"/>
              </a:rPr>
              <a:t>结合使用，根据文件扩展名自动选择最合适的特定文件解析器（如</a:t>
            </a:r>
            <a:r>
              <a:rPr lang="en-US" altLang="zh-CN" sz="3600">
                <a:latin typeface=".萍方-简" panose="020B0300000000000000" charset="-122"/>
                <a:ea typeface=".萍方-简" panose="020B0300000000000000" charset="-122"/>
              </a:rPr>
              <a:t> MarkdownNodeParser, JSONNodeParser</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HTMLNodeParser: </a:t>
            </a:r>
            <a:r>
              <a:rPr lang="zh-CN" altLang="en-US" sz="3600">
                <a:latin typeface=".萍方-简" panose="020B0300000000000000" charset="-122"/>
                <a:ea typeface=".萍方-简" panose="020B0300000000000000" charset="-122"/>
              </a:rPr>
              <a:t>使用</a:t>
            </a:r>
            <a:r>
              <a:rPr lang="en-US" altLang="zh-CN" sz="3600">
                <a:latin typeface=".萍方-简" panose="020B0300000000000000" charset="-122"/>
                <a:ea typeface=".萍方-简" panose="020B0300000000000000" charset="-122"/>
              </a:rPr>
              <a:t> beautifulsoup </a:t>
            </a:r>
            <a:r>
              <a:rPr lang="zh-CN" altLang="en-US" sz="3600">
                <a:latin typeface=".萍方-简" panose="020B0300000000000000" charset="-122"/>
                <a:ea typeface=".萍方-简" panose="020B0300000000000000" charset="-122"/>
              </a:rPr>
              <a:t>库解析原始</a:t>
            </a:r>
            <a:r>
              <a:rPr lang="en-US" altLang="zh-CN" sz="3600">
                <a:latin typeface=".萍方-简" panose="020B0300000000000000" charset="-122"/>
                <a:ea typeface=".萍方-简" panose="020B0300000000000000" charset="-122"/>
              </a:rPr>
              <a:t> HTML </a:t>
            </a:r>
            <a:r>
              <a:rPr lang="zh-CN" altLang="en-US" sz="3600">
                <a:latin typeface=".萍方-简" panose="020B0300000000000000" charset="-122"/>
                <a:ea typeface=".萍方-简" panose="020B0300000000000000" charset="-122"/>
              </a:rPr>
              <a:t>内容，可以指定要提取文本的</a:t>
            </a:r>
            <a:r>
              <a:rPr lang="en-US" altLang="zh-CN" sz="3600">
                <a:latin typeface=".萍方-简" panose="020B0300000000000000" charset="-122"/>
                <a:ea typeface=".萍方-简" panose="020B0300000000000000" charset="-122"/>
              </a:rPr>
              <a:t> HTML </a:t>
            </a:r>
            <a:r>
              <a:rPr lang="zh-CN" altLang="en-US" sz="3600">
                <a:latin typeface=".萍方-简" panose="020B0300000000000000" charset="-122"/>
                <a:ea typeface=".萍方-简" panose="020B0300000000000000" charset="-122"/>
              </a:rPr>
              <a:t>标签。</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JSONNodeParser: </a:t>
            </a:r>
            <a:r>
              <a:rPr lang="zh-CN" altLang="en-US" sz="3600">
                <a:latin typeface=".萍方-简" panose="020B0300000000000000" charset="-122"/>
                <a:ea typeface=".萍方-简" panose="020B0300000000000000" charset="-122"/>
              </a:rPr>
              <a:t>用于解析原始</a:t>
            </a:r>
            <a:r>
              <a:rPr lang="en-US" altLang="zh-CN" sz="3600">
                <a:latin typeface=".萍方-简" panose="020B0300000000000000" charset="-122"/>
                <a:ea typeface=".萍方-简" panose="020B0300000000000000" charset="-122"/>
              </a:rPr>
              <a:t> JSON </a:t>
            </a:r>
            <a:r>
              <a:rPr lang="zh-CN" altLang="en-US" sz="3600">
                <a:latin typeface=".萍方-简" panose="020B0300000000000000" charset="-122"/>
                <a:ea typeface=".萍方-简" panose="020B0300000000000000" charset="-122"/>
              </a:rPr>
              <a:t>数据，将其中的文本内容转换为节点。</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MarkdownNodeParser: </a:t>
            </a:r>
            <a:r>
              <a:rPr lang="zh-CN" altLang="en-US" sz="3600">
                <a:latin typeface=".萍方-简" panose="020B0300000000000000" charset="-122"/>
                <a:ea typeface=".萍方-简" panose="020B0300000000000000" charset="-122"/>
              </a:rPr>
              <a:t>专门用于解析</a:t>
            </a:r>
            <a:r>
              <a:rPr lang="en-US" altLang="zh-CN" sz="3600">
                <a:latin typeface=".萍方-简" panose="020B0300000000000000" charset="-122"/>
                <a:ea typeface=".萍方-简" panose="020B0300000000000000" charset="-122"/>
              </a:rPr>
              <a:t> Markdown </a:t>
            </a:r>
            <a:r>
              <a:rPr lang="zh-CN" altLang="en-US" sz="3600">
                <a:latin typeface=".萍方-简" panose="020B0300000000000000" charset="-122"/>
                <a:ea typeface=".萍方-简" panose="020B0300000000000000" charset="-122"/>
              </a:rPr>
              <a:t>格式的文本，能够理解</a:t>
            </a:r>
            <a:r>
              <a:rPr lang="en-US" altLang="zh-CN" sz="3600">
                <a:latin typeface=".萍方-简" panose="020B0300000000000000" charset="-122"/>
                <a:ea typeface=".萍方-简" panose="020B0300000000000000" charset="-122"/>
              </a:rPr>
              <a:t> Markdown </a:t>
            </a:r>
            <a:r>
              <a:rPr lang="zh-CN" altLang="en-US" sz="3600">
                <a:latin typeface=".萍方-简" panose="020B0300000000000000" charset="-122"/>
                <a:ea typeface=".萍方-简" panose="020B0300000000000000" charset="-122"/>
              </a:rPr>
              <a:t>的结构。</a:t>
            </a:r>
            <a:endParaRPr lang="zh-CN" altLang="en-US" sz="3600">
              <a:latin typeface=".萍方-简" panose="020B0300000000000000" charset="-122"/>
              <a:ea typeface=".萍方-简" panose="020B0300000000000000"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Loading</a:t>
            </a:r>
            <a:r>
              <a:rPr lang="zh-CN" altLang="en-US" b="1">
                <a:latin typeface=".萍方-简" panose="020B0300000000000000" charset="-122"/>
                <a:ea typeface=".萍方-简" panose="020B0300000000000000" charset="-122"/>
                <a:cs typeface=".萍方-简" panose="020B0300000000000000" charset="-122"/>
              </a:rPr>
              <a:t>文档加载组件</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569309" y="1908531"/>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文本分割器</a:t>
            </a:r>
            <a:r>
              <a:rPr lang="en-US" altLang="zh-CN">
                <a:latin typeface=".萍方-简" panose="020B0300000000000000" charset="-122"/>
                <a:ea typeface=".萍方-简" panose="020B0300000000000000" charset="-122"/>
              </a:rPr>
              <a:t> (Text-Splitters)</a:t>
            </a:r>
            <a:endParaRPr lang="en-US" altLang="zh-CN">
              <a:latin typeface=".萍方-简" panose="020B0300000000000000" charset="-122"/>
              <a:ea typeface=".萍方-简" panose="020B0300000000000000" charset="-122"/>
            </a:endParaRPr>
          </a:p>
        </p:txBody>
      </p:sp>
      <p:sp>
        <p:nvSpPr>
          <p:cNvPr id="2" name="文本框 1"/>
          <p:cNvSpPr txBox="1"/>
          <p:nvPr/>
        </p:nvSpPr>
        <p:spPr>
          <a:xfrm>
            <a:off x="1243330" y="2923540"/>
            <a:ext cx="22564725" cy="55549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 </a:t>
            </a:r>
            <a:r>
              <a:rPr lang="en-US" altLang="zh-CN" sz="3600">
                <a:latin typeface=".萍方-简" panose="020B0300000000000000" charset="-122"/>
                <a:ea typeface=".萍方-简" panose="020B0300000000000000" charset="-122"/>
              </a:rPr>
              <a:t>   - SentenceSplitter: (</a:t>
            </a:r>
            <a:r>
              <a:rPr lang="zh-CN" altLang="en-US" sz="3600">
                <a:latin typeface=".萍方-简" panose="020B0300000000000000" charset="-122"/>
                <a:ea typeface=".萍方-简" panose="020B0300000000000000" charset="-122"/>
              </a:rPr>
              <a:t>重点</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推荐的默认分割器之一。它会按句子来分割文本，同时尽量保持每个块的大小</a:t>
            </a:r>
            <a:r>
              <a:rPr lang="en-US" altLang="zh-CN" sz="3600">
                <a:latin typeface=".萍方-简" panose="020B0300000000000000" charset="-122"/>
                <a:ea typeface=".萍方-简" panose="020B0300000000000000" charset="-122"/>
              </a:rPr>
              <a:t> (chunk_size) </a:t>
            </a:r>
            <a:r>
              <a:rPr lang="zh-CN" altLang="en-US" sz="3600">
                <a:latin typeface=".萍方-简" panose="020B0300000000000000" charset="-122"/>
                <a:ea typeface=".萍方-简" panose="020B0300000000000000" charset="-122"/>
              </a:rPr>
              <a:t>和块之间的重叠</a:t>
            </a:r>
            <a:r>
              <a:rPr lang="en-US" altLang="zh-CN" sz="3600">
                <a:latin typeface=".萍方-简" panose="020B0300000000000000" charset="-122"/>
                <a:ea typeface=".萍方-简" panose="020B0300000000000000" charset="-122"/>
              </a:rPr>
              <a:t> (chunk_overlap)</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TokenTextSplitter: </a:t>
            </a:r>
            <a:r>
              <a:rPr lang="zh-CN" altLang="en-US" sz="3600">
                <a:latin typeface=".萍方-简" panose="020B0300000000000000" charset="-122"/>
                <a:ea typeface=".萍方-简" panose="020B0300000000000000" charset="-122"/>
              </a:rPr>
              <a:t>基于</a:t>
            </a:r>
            <a:r>
              <a:rPr lang="en-US" altLang="zh-CN" sz="3600">
                <a:latin typeface=".萍方-简" panose="020B0300000000000000" charset="-122"/>
                <a:ea typeface=".萍方-简" panose="020B0300000000000000" charset="-122"/>
              </a:rPr>
              <a:t> Token </a:t>
            </a:r>
            <a:r>
              <a:rPr lang="zh-CN" altLang="en-US" sz="3600">
                <a:latin typeface=".萍方-简" panose="020B0300000000000000" charset="-122"/>
                <a:ea typeface=".萍方-简" panose="020B0300000000000000" charset="-122"/>
              </a:rPr>
              <a:t>数量进行硬分割，确保每个块的</a:t>
            </a:r>
            <a:r>
              <a:rPr lang="en-US" altLang="zh-CN" sz="3600">
                <a:latin typeface=".萍方-简" panose="020B0300000000000000" charset="-122"/>
                <a:ea typeface=".萍方-简" panose="020B0300000000000000" charset="-122"/>
              </a:rPr>
              <a:t> token </a:t>
            </a:r>
            <a:r>
              <a:rPr lang="zh-CN" altLang="en-US" sz="3600">
                <a:latin typeface=".萍方-简" panose="020B0300000000000000" charset="-122"/>
                <a:ea typeface=".萍方-简" panose="020B0300000000000000" charset="-122"/>
              </a:rPr>
              <a:t>数在指定范围内。</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CodeSplitter: </a:t>
            </a:r>
            <a:r>
              <a:rPr lang="zh-CN" altLang="en-US" sz="3600">
                <a:latin typeface=".萍方-简" panose="020B0300000000000000" charset="-122"/>
                <a:ea typeface=".萍方-简" panose="020B0300000000000000" charset="-122"/>
              </a:rPr>
              <a:t>专门为代码文本设计，能根据不同编程语言的语法结构进行分块。</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LangchainNodeParser: </a:t>
            </a:r>
            <a:r>
              <a:rPr lang="zh-CN" altLang="en-US" sz="3600">
                <a:latin typeface=".萍方-简" panose="020B0300000000000000" charset="-122"/>
                <a:ea typeface=".萍方-简" panose="020B0300000000000000" charset="-122"/>
              </a:rPr>
              <a:t>允许您封装和使用来自</a:t>
            </a:r>
            <a:r>
              <a:rPr lang="en-US" altLang="zh-CN" sz="3600">
                <a:latin typeface=".萍方-简" panose="020B0300000000000000" charset="-122"/>
                <a:ea typeface=".萍方-简" panose="020B0300000000000000" charset="-122"/>
              </a:rPr>
              <a:t> Langchain </a:t>
            </a:r>
            <a:r>
              <a:rPr lang="zh-CN" altLang="en-US" sz="3600">
                <a:latin typeface=".萍方-简" panose="020B0300000000000000" charset="-122"/>
                <a:ea typeface=".萍方-简" panose="020B0300000000000000" charset="-122"/>
              </a:rPr>
              <a:t>生态的任何文本分割器。</a:t>
            </a:r>
            <a:endParaRPr lang="zh-CN" altLang="en-US" sz="3600">
              <a:latin typeface=".萍方-简" panose="020B0300000000000000" charset="-122"/>
              <a:ea typeface=".萍方-简" panose="020B0300000000000000" charset="-122"/>
            </a:endParaRPr>
          </a:p>
          <a:p>
            <a:pPr>
              <a:buNone/>
            </a:pPr>
            <a:endParaRPr lang="zh-CN" altLang="en-US" sz="3600">
              <a:latin typeface=".萍方-简" panose="020B0300000000000000" charset="-122"/>
              <a:ea typeface=".萍方-简" panose="020B0300000000000000" charset="-122"/>
            </a:endParaRPr>
          </a:p>
        </p:txBody>
      </p:sp>
      <p:sp>
        <p:nvSpPr>
          <p:cNvPr id="10" name="文本框 9"/>
          <p:cNvSpPr txBox="1"/>
          <p:nvPr/>
        </p:nvSpPr>
        <p:spPr>
          <a:xfrm>
            <a:off x="1911350" y="10050780"/>
            <a:ext cx="20561935" cy="2353310"/>
          </a:xfrm>
          <a:prstGeom prst="rect">
            <a:avLst/>
          </a:prstGeom>
        </p:spPr>
        <p:txBody>
          <a:bodyPr wrap="square">
            <a:noAutofit/>
          </a:bodyPr>
          <a:p>
            <a:r>
              <a:rPr lang="zh-CN" altLang="en-US" sz="4000">
                <a:latin typeface=".萍方-简" panose="020B0300000000000000" charset="-122"/>
                <a:ea typeface=".萍方-简" panose="020B0300000000000000" charset="-122"/>
              </a:rPr>
              <a:t>更多节点解析器参考：https://docs.llamaindex.ai/en/stable/module_guides/loading/node_parsers/modules/</a:t>
            </a: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Indexing</a:t>
            </a:r>
            <a:r>
              <a:rPr lang="zh-CN" altLang="en-US" b="1">
                <a:latin typeface=".萍方-简" panose="020B0300000000000000" charset="-122"/>
                <a:ea typeface=".萍方-简" panose="020B0300000000000000" charset="-122"/>
                <a:cs typeface=".萍方-简" panose="020B0300000000000000" charset="-122"/>
              </a:rPr>
              <a:t>索引组件</a:t>
            </a:r>
            <a:endParaRPr lang="zh-CN" altLang="en-US" b="1">
              <a:latin typeface=".萍方-简" panose="020B0300000000000000" charset="-122"/>
              <a:ea typeface=".萍方-简" panose="020B0300000000000000" charset="-122"/>
              <a:cs typeface=".萍方-简" panose="020B0300000000000000" charset="-122"/>
            </a:endParaRPr>
          </a:p>
        </p:txBody>
      </p:sp>
      <p:sp>
        <p:nvSpPr>
          <p:cNvPr id="8" name="文本框 7"/>
          <p:cNvSpPr txBox="1"/>
          <p:nvPr/>
        </p:nvSpPr>
        <p:spPr>
          <a:xfrm>
            <a:off x="1243330" y="1838960"/>
            <a:ext cx="22565360" cy="1136650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索引</a:t>
            </a:r>
            <a:r>
              <a:rPr lang="en-US" altLang="zh-CN">
                <a:latin typeface=".萍方-简" panose="020B0300000000000000" charset="-122"/>
                <a:ea typeface=".萍方-简" panose="020B0300000000000000" charset="-122"/>
              </a:rPr>
              <a:t> (Indexing) </a:t>
            </a:r>
            <a:endParaRPr lang="en-US" altLang="zh-CN">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一种数据结构，它组织你的</a:t>
            </a:r>
            <a:r>
              <a:rPr lang="en-US" altLang="zh-CN">
                <a:latin typeface=".萍方-简" panose="020B0300000000000000" charset="-122"/>
                <a:ea typeface=".萍方-简" panose="020B0300000000000000" charset="-122"/>
              </a:rPr>
              <a:t> Node</a:t>
            </a:r>
            <a:r>
              <a:rPr lang="zh-CN" altLang="en-US">
                <a:latin typeface=".萍方-简" panose="020B0300000000000000" charset="-122"/>
                <a:ea typeface=".萍方-简" panose="020B0300000000000000" charset="-122"/>
              </a:rPr>
              <a:t>，以便能够被</a:t>
            </a:r>
            <a:r>
              <a:rPr lang="en-US" altLang="zh-CN">
                <a:latin typeface=".萍方-简" panose="020B0300000000000000" charset="-122"/>
                <a:ea typeface=".萍方-简" panose="020B0300000000000000" charset="-122"/>
              </a:rPr>
              <a:t> LLM </a:t>
            </a:r>
            <a:r>
              <a:rPr lang="zh-CN" altLang="en-US">
                <a:latin typeface=".萍方-简" panose="020B0300000000000000" charset="-122"/>
                <a:ea typeface=".萍方-简" panose="020B0300000000000000" charset="-122"/>
              </a:rPr>
              <a:t>高效地查询。</a:t>
            </a:r>
            <a:endParaRPr lang="zh-CN" altLang="en-US">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  </a:t>
            </a:r>
            <a:r>
              <a:rPr lang="en-US" altLang="zh-CN" sz="4000">
                <a:latin typeface=".萍方-简" panose="020B0300000000000000" charset="-122"/>
                <a:ea typeface=".萍方-简" panose="020B0300000000000000" charset="-122"/>
              </a:rPr>
              <a:t>VectorStoreIndex:</a:t>
            </a:r>
            <a:r>
              <a:rPr lang="zh-CN" altLang="en-US" sz="4000">
                <a:latin typeface=".萍方-简" panose="020B0300000000000000" charset="-122"/>
                <a:ea typeface=".萍方-简" panose="020B0300000000000000" charset="-122"/>
              </a:rPr>
              <a:t>最常用、最强大的索引类型。</a:t>
            </a:r>
            <a:endParaRPr lang="zh-CN" altLang="en-US">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2. Vector Embeddings (</a:t>
            </a:r>
            <a:r>
              <a:rPr lang="zh-CN" altLang="en-US">
                <a:latin typeface=".萍方-简" panose="020B0300000000000000" charset="-122"/>
                <a:ea typeface=".萍方-简" panose="020B0300000000000000" charset="-122"/>
              </a:rPr>
              <a:t>向量嵌入</a:t>
            </a:r>
            <a:r>
              <a:rPr lang="en-US" altLang="zh-CN">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 </a:t>
            </a:r>
            <a:r>
              <a:rPr lang="en-US" altLang="zh-CN" sz="3600">
                <a:latin typeface=".萍方-简" panose="020B0300000000000000" charset="-122"/>
                <a:ea typeface=".萍方-简" panose="020B0300000000000000" charset="-122"/>
              </a:rPr>
              <a:t> - </a:t>
            </a:r>
            <a:r>
              <a:rPr lang="zh-CN" altLang="en-US" sz="3600">
                <a:latin typeface=".萍方-简" panose="020B0300000000000000" charset="-122"/>
                <a:ea typeface=".萍方-简" panose="020B0300000000000000" charset="-122"/>
              </a:rPr>
              <a:t>核心思想：</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将文本的</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语义</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或</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意义</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转换成一串数字（向量）。</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 </a:t>
            </a:r>
            <a:r>
              <a:rPr lang="zh-CN" altLang="en-US" sz="3600">
                <a:latin typeface=".萍方-简" panose="020B0300000000000000" charset="-122"/>
                <a:ea typeface=".萍方-简" panose="020B0300000000000000" charset="-122"/>
              </a:rPr>
              <a:t>工作原理：</a:t>
            </a:r>
            <a:r>
              <a:rPr lang="en-US" altLang="zh-CN" sz="3600">
                <a:latin typeface=".萍方-简" panose="020B0300000000000000" charset="-122"/>
                <a:ea typeface=".萍方-简" panose="020B0300000000000000" charset="-122"/>
              </a:rPr>
              <a:t> LlamaIndex </a:t>
            </a:r>
            <a:r>
              <a:rPr lang="zh-CN" altLang="en-US" sz="3600">
                <a:latin typeface=".萍方-简" panose="020B0300000000000000" charset="-122"/>
                <a:ea typeface=".萍方-简" panose="020B0300000000000000" charset="-122"/>
              </a:rPr>
              <a:t>调用一个嵌入模型（如</a:t>
            </a:r>
            <a:r>
              <a:rPr lang="en-US" altLang="zh-CN" sz="3600">
                <a:latin typeface=".萍方-简" panose="020B0300000000000000" charset="-122"/>
                <a:ea typeface=".萍方-简" panose="020B0300000000000000" charset="-122"/>
              </a:rPr>
              <a:t> OpenAI </a:t>
            </a:r>
            <a:r>
              <a:rPr lang="zh-CN" altLang="en-US" sz="3600">
                <a:latin typeface=".萍方-简" panose="020B0300000000000000" charset="-122"/>
                <a:ea typeface=".萍方-简" panose="020B0300000000000000" charset="-122"/>
              </a:rPr>
              <a:t>的</a:t>
            </a:r>
            <a:r>
              <a:rPr lang="en-US" altLang="zh-CN" sz="3600">
                <a:latin typeface=".萍方-简" panose="020B0300000000000000" charset="-122"/>
                <a:ea typeface=".萍方-简" panose="020B0300000000000000" charset="-122"/>
              </a:rPr>
              <a:t> text-embedding-ada-002</a:t>
            </a:r>
            <a:r>
              <a:rPr lang="zh-CN" altLang="en-US" sz="3600">
                <a:latin typeface=".萍方-简" panose="020B0300000000000000" charset="-122"/>
                <a:ea typeface=".萍方-简" panose="020B0300000000000000" charset="-122"/>
              </a:rPr>
              <a:t>）将每个</a:t>
            </a:r>
            <a:r>
              <a:rPr lang="en-US" altLang="zh-CN" sz="3600">
                <a:latin typeface=".萍方-简" panose="020B0300000000000000" charset="-122"/>
                <a:ea typeface=".萍方-简" panose="020B0300000000000000" charset="-122"/>
              </a:rPr>
              <a:t> Node </a:t>
            </a:r>
            <a:r>
              <a:rPr lang="zh-CN" altLang="en-US" sz="3600">
                <a:latin typeface=".萍方-简" panose="020B0300000000000000" charset="-122"/>
                <a:ea typeface=".萍方-简" panose="020B0300000000000000" charset="-122"/>
              </a:rPr>
              <a:t>的文</a:t>
            </a:r>
            <a:endParaRPr lang="zh-CN" altLang="en-US" sz="3600">
              <a:latin typeface=".萍方-简" panose="020B0300000000000000" charset="-122"/>
              <a:ea typeface=".萍方-简" panose="020B0300000000000000" charset="-122"/>
            </a:endParaRPr>
          </a:p>
          <a:p>
            <a:pPr marL="2743200" lvl="6" indent="457200">
              <a:buNone/>
            </a:pPr>
            <a:r>
              <a:rPr lang="zh-CN" altLang="en-US" sz="3600">
                <a:latin typeface=".萍方-简" panose="020B0300000000000000" charset="-122"/>
                <a:ea typeface=".萍方-简" panose="020B0300000000000000" charset="-122"/>
              </a:rPr>
              <a:t>本转换成一个向量。当用户提问时。通过问题的向量计算向量间的距离，就能找到与问题</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语义</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最相关</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的文本块。</a:t>
            </a:r>
            <a:endParaRPr lang="zh-CN" altLang="en-US" sz="3600">
              <a:latin typeface=".萍方-简" panose="020B0300000000000000" charset="-122"/>
              <a:ea typeface=".萍方-简" panose="020B0300000000000000" charset="-122"/>
            </a:endParaRPr>
          </a:p>
          <a:p>
            <a:pPr marL="2743200" lvl="6" indent="457200">
              <a:buNone/>
            </a:pPr>
            <a:endParaRPr lang="zh-CN" altLang="en-US" sz="3600">
              <a:latin typeface=".萍方-简" panose="020B0300000000000000" charset="-122"/>
              <a:ea typeface=".萍方-简" panose="020B0300000000000000" charset="-122"/>
            </a:endParaRPr>
          </a:p>
          <a:p>
            <a:pPr>
              <a:buNone/>
            </a:pPr>
            <a:r>
              <a:rPr lang="en-US" altLang="zh-CN" sz="4000">
                <a:latin typeface=".萍方-简" panose="020B0300000000000000" charset="-122"/>
                <a:ea typeface=".萍方-简" panose="020B0300000000000000" charset="-122"/>
                <a:sym typeface="+mn-ea"/>
              </a:rPr>
              <a:t>另外，在Llamalndex中，实际上提供了非常多的Indexing组件，可以用来检索不同的数据。</a:t>
            </a:r>
            <a:endParaRPr lang="en-US" altLang="zh-CN" sz="4000">
              <a:latin typeface=".萍方-简" panose="020B0300000000000000" charset="-122"/>
              <a:ea typeface=".萍方-简" panose="020B0300000000000000" charset="-122"/>
            </a:endParaRPr>
          </a:p>
          <a:p>
            <a:pPr>
              <a:buNone/>
            </a:pPr>
            <a:r>
              <a:rPr lang="zh-CN" altLang="en-US" sz="4000">
                <a:latin typeface=".萍方-简" panose="020B0300000000000000" charset="-122"/>
                <a:ea typeface=".萍方-简" panose="020B0300000000000000" charset="-122"/>
                <a:sym typeface="+mn-ea"/>
              </a:rPr>
              <a:t>具体参考官网</a:t>
            </a:r>
            <a:r>
              <a:rPr lang="en-US" altLang="zh-CN" sz="4000">
                <a:latin typeface=".萍方-简" panose="020B0300000000000000" charset="-122"/>
                <a:ea typeface=".萍方-简" panose="020B0300000000000000" charset="-122"/>
                <a:sym typeface="+mn-ea"/>
              </a:rPr>
              <a:t>:https://docs.lamaindex.ai/en/stable/module_guides/indexing/modules/</a:t>
            </a:r>
            <a:endParaRPr lang="en-US" altLang="zh-CN" sz="4000">
              <a:latin typeface=".萍方-简" panose="020B0300000000000000" charset="-122"/>
              <a:ea typeface=".萍方-简" panose="020B0300000000000000" charset="-122"/>
            </a:endParaRPr>
          </a:p>
          <a:p>
            <a:pPr>
              <a:buNone/>
            </a:pP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Storing</a:t>
            </a:r>
            <a:r>
              <a:rPr lang="zh-CN" altLang="en-US" b="1">
                <a:latin typeface=".萍方-简" panose="020B0300000000000000" charset="-122"/>
                <a:ea typeface=".萍方-简" panose="020B0300000000000000" charset="-122"/>
                <a:cs typeface=".萍方-简" panose="020B0300000000000000" charset="-122"/>
              </a:rPr>
              <a:t>数据存储组件</a:t>
            </a:r>
            <a:endParaRPr lang="zh-CN" altLang="en-US"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095723" y="1913838"/>
            <a:ext cx="21803224" cy="116751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llamalndex</a:t>
            </a:r>
            <a:r>
              <a:rPr lang="zh-CN" altLang="en-US">
                <a:latin typeface=".萍方-简" panose="020B0300000000000000" charset="-122"/>
                <a:ea typeface=".萍方-简" panose="020B0300000000000000" charset="-122"/>
              </a:rPr>
              <a:t>提供了非常多的数据存储组件，允许用户定制外部数据存储。</a:t>
            </a:r>
            <a:endParaRPr lang="zh-CN" altLang="en-US">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1.Document stores:</a:t>
            </a:r>
            <a:r>
              <a:rPr lang="zh-CN" altLang="en-US" sz="3600">
                <a:latin typeface=".萍方-简" panose="020B0300000000000000" charset="-122"/>
                <a:ea typeface=".萍方-简" panose="020B0300000000000000" charset="-122"/>
              </a:rPr>
              <a:t>用来存储</a:t>
            </a:r>
            <a:r>
              <a:rPr lang="en-US" altLang="zh-CN" sz="3600">
                <a:latin typeface=".萍方-简" panose="020B0300000000000000" charset="-122"/>
                <a:ea typeface=".萍方-简" panose="020B0300000000000000" charset="-122"/>
              </a:rPr>
              <a:t>Document</a:t>
            </a:r>
            <a:r>
              <a:rPr lang="zh-CN" altLang="en-US" sz="3600">
                <a:latin typeface=".萍方-简" panose="020B0300000000000000" charset="-122"/>
                <a:ea typeface=".萍方-简" panose="020B0300000000000000" charset="-122"/>
              </a:rPr>
              <a:t>和</a:t>
            </a:r>
            <a:r>
              <a:rPr lang="en-US" altLang="zh-CN" sz="3600">
                <a:latin typeface=".萍方-简" panose="020B0300000000000000" charset="-122"/>
                <a:ea typeface=".萍方-简" panose="020B0300000000000000" charset="-122"/>
              </a:rPr>
              <a:t>Node.</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2.Index stores: </a:t>
            </a:r>
            <a:r>
              <a:rPr lang="zh-CN" altLang="en-US" sz="3600">
                <a:latin typeface=".萍方-简" panose="020B0300000000000000" charset="-122"/>
                <a:ea typeface=".萍方-简" panose="020B0300000000000000" charset="-122"/>
              </a:rPr>
              <a:t>用来存储</a:t>
            </a:r>
            <a:r>
              <a:rPr lang="en-US" altLang="zh-CN" sz="3600">
                <a:latin typeface=".萍方-简" panose="020B0300000000000000" charset="-122"/>
                <a:ea typeface=".萍方-简" panose="020B0300000000000000" charset="-122"/>
              </a:rPr>
              <a:t>index</a:t>
            </a:r>
            <a:r>
              <a:rPr lang="zh-CN" altLang="en-US" sz="3600">
                <a:latin typeface=".萍方-简" panose="020B0300000000000000" charset="-122"/>
                <a:ea typeface=".萍方-简" panose="020B0300000000000000" charset="-122"/>
              </a:rPr>
              <a:t>相关的元数据、</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3.Vector stores: </a:t>
            </a:r>
            <a:r>
              <a:rPr lang="zh-CN" altLang="en-US" sz="3600">
                <a:latin typeface=".萍方-简" panose="020B0300000000000000" charset="-122"/>
                <a:ea typeface=".萍方-简" panose="020B0300000000000000" charset="-122"/>
              </a:rPr>
              <a:t>用来存储向量数据。</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4.Chat stores:</a:t>
            </a:r>
            <a:r>
              <a:rPr lang="zh-CN" altLang="en-US" sz="3600">
                <a:latin typeface=".萍方-简" panose="020B0300000000000000" charset="-122"/>
                <a:ea typeface=".萍方-简" panose="020B0300000000000000" charset="-122"/>
              </a:rPr>
              <a:t>用来存储聊天记录。</a:t>
            </a:r>
            <a:endParaRPr lang="zh-CN" altLang="en-US"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5.Property stores:</a:t>
            </a:r>
            <a:r>
              <a:rPr lang="zh-CN" altLang="en-US" sz="3600">
                <a:latin typeface=".萍方-简" panose="020B0300000000000000" charset="-122"/>
                <a:ea typeface=".萍方-简" panose="020B0300000000000000" charset="-122"/>
              </a:rPr>
              <a:t>用来存储知识图谱相关的数据。</a:t>
            </a:r>
            <a:endParaRPr lang="zh-CN" altLang="en-US" sz="3600">
              <a:latin typeface=".萍方-简" panose="020B0300000000000000" charset="-122"/>
              <a:ea typeface=".萍方-简" panose="020B0300000000000000" charset="-122"/>
            </a:endParaRPr>
          </a:p>
          <a:p>
            <a:pPr>
              <a:buNone/>
            </a:pPr>
            <a:endParaRPr lang="zh-CN" altLang="en-US" sz="3600">
              <a:latin typeface=".萍方-简" panose="020B0300000000000000" charset="-122"/>
              <a:ea typeface=".萍方-简" panose="020B0300000000000000" charset="-122"/>
            </a:endParaRPr>
          </a:p>
          <a:p>
            <a:pPr>
              <a:buNone/>
            </a:pPr>
            <a:endParaRPr lang="zh-CN" altLang="en-US" sz="3600">
              <a:latin typeface=".萍方-简" panose="020B0300000000000000" charset="-122"/>
              <a:ea typeface=".萍方-简" panose="020B0300000000000000" charset="-122"/>
            </a:endParaRPr>
          </a:p>
          <a:p>
            <a:pPr algn="l">
              <a:buNone/>
            </a:pPr>
            <a:r>
              <a:rPr lang="en-US" altLang="zh-CN" sz="3600">
                <a:latin typeface=".萍方-简" panose="020B0300000000000000" charset="-122"/>
                <a:ea typeface=".萍方-简" panose="020B0300000000000000" charset="-122"/>
                <a:sym typeface="+mn-ea"/>
              </a:rPr>
              <a:t>在Llamalndex中，支持多种外部向量数据库来存储向量。具体参见官网</a:t>
            </a:r>
            <a:endParaRPr lang="en-US" altLang="zh-CN" sz="3600">
              <a:latin typeface=".萍方-简" panose="020B0300000000000000" charset="-122"/>
              <a:ea typeface=".萍方-简" panose="020B0300000000000000" charset="-122"/>
            </a:endParaRPr>
          </a:p>
          <a:p>
            <a:pPr algn="l">
              <a:buNone/>
            </a:pPr>
            <a:r>
              <a:rPr lang="en-US" altLang="zh-CN" sz="3600">
                <a:latin typeface=".萍方-简" panose="020B0300000000000000" charset="-122"/>
                <a:ea typeface=".萍方-简" panose="020B0300000000000000" charset="-122"/>
                <a:sym typeface="+mn-ea"/>
              </a:rPr>
              <a:t>https://docs.lamaindex.ai/en/stable/module, guides/storing/vector_stores/</a:t>
            </a:r>
            <a:endParaRPr lang="en-US" altLang="zh-CN" sz="3600">
              <a:latin typeface=".萍方-简" panose="020B0300000000000000" charset="-122"/>
              <a:ea typeface=".萍方-简" panose="020B0300000000000000" charset="-122"/>
            </a:endParaRPr>
          </a:p>
          <a:p>
            <a:pPr>
              <a:buNone/>
            </a:pP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3545185" y="3269615"/>
            <a:ext cx="9128125" cy="6798310"/>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Storing</a:t>
            </a:r>
            <a:r>
              <a:rPr lang="zh-CN" altLang="en-US" b="1">
                <a:latin typeface=".萍方-简" panose="020B0300000000000000" charset="-122"/>
                <a:ea typeface=".萍方-简" panose="020B0300000000000000" charset="-122"/>
                <a:cs typeface=".萍方-简" panose="020B0300000000000000" charset="-122"/>
              </a:rPr>
              <a:t>数据存储组件</a:t>
            </a:r>
            <a:endParaRPr lang="zh-CN" altLang="en-US"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096010" y="1913890"/>
            <a:ext cx="22498050" cy="988822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llamalndex</a:t>
            </a:r>
            <a:r>
              <a:rPr lang="zh-CN" altLang="en-US">
                <a:latin typeface=".萍方-简" panose="020B0300000000000000" charset="-122"/>
                <a:ea typeface=".萍方-简" panose="020B0300000000000000" charset="-122"/>
              </a:rPr>
              <a:t>提供了配置和管理存储器的核心对象：</a:t>
            </a:r>
            <a:r>
              <a:rPr lang="en-US" altLang="zh-CN">
                <a:latin typeface=".萍方-简" panose="020B0300000000000000" charset="-122"/>
                <a:ea typeface=".萍方-简" panose="020B0300000000000000" charset="-122"/>
                <a:sym typeface="+mn-ea"/>
              </a:rPr>
              <a:t>StorageContext (</a:t>
            </a:r>
            <a:r>
              <a:rPr lang="zh-CN" altLang="en-US">
                <a:latin typeface=".萍方-简" panose="020B0300000000000000" charset="-122"/>
                <a:ea typeface=".萍方-简" panose="020B0300000000000000" charset="-122"/>
                <a:sym typeface="+mn-ea"/>
              </a:rPr>
              <a:t>存储上下文</a:t>
            </a:r>
            <a:r>
              <a:rPr lang="en-US" altLang="zh-CN">
                <a:latin typeface=".萍方-简" panose="020B0300000000000000" charset="-122"/>
                <a:ea typeface=".萍方-简" panose="020B0300000000000000" charset="-122"/>
                <a:sym typeface="+mn-ea"/>
              </a:rPr>
              <a:t>)</a:t>
            </a:r>
            <a:endParaRPr lang="zh-CN" altLang="en-US">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可以把它看作是以上存储组件的</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容器</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或</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管理器</a:t>
            </a: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p>
            <a:pPr>
              <a:buNone/>
            </a:pPr>
            <a:r>
              <a:rPr lang="zh-CN" altLang="en-US" sz="4400">
                <a:latin typeface=".萍方-简" panose="020B0300000000000000" charset="-122"/>
                <a:ea typeface=".萍方-简" panose="020B0300000000000000" charset="-122"/>
              </a:rPr>
              <a:t>创建方式：</a:t>
            </a:r>
            <a:endParaRPr lang="zh-CN" altLang="en-US" sz="4400">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    - StorageContext.from_defaults(): 这是最常用的创建方式。您可以不带任何参数调用它，此时它会使用所有存储组件的默认内存实现 (SimpleDocumentStore, SimpleIndexStore, SimpleVectorStore)。</a:t>
            </a:r>
            <a:endParaRPr lang="zh-CN" altLang="en-US" sz="3600">
              <a:latin typeface=".萍方-简" panose="020B0300000000000000" charset="-122"/>
              <a:ea typeface=".萍方-简" panose="020B0300000000000000" charset="-122"/>
            </a:endParaRPr>
          </a:p>
          <a:p>
            <a:pPr>
              <a:buNone/>
            </a:pPr>
            <a:endParaRPr lang="zh-CN" altLang="en-US" sz="3600">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    - 您也可以在 from_defaults() 中传入您自己实例化的特定存储对象来覆盖默认值，例如：StorageContext.from_defaults(vector_store=my_chroma_vector_store,docstore=my_mongo_doc_store)。</a:t>
            </a:r>
            <a:endParaRPr lang="zh-CN" altLang="en-US" sz="3600">
              <a:latin typeface=".萍方-简" panose="020B0300000000000000" charset="-122"/>
              <a:ea typeface=".萍方-简" panose="020B0300000000000000" charset="-122"/>
            </a:endParaRPr>
          </a:p>
          <a:p>
            <a:pPr>
              <a:buNone/>
            </a:pPr>
            <a:endParaRPr lang="zh-CN" altLang="en-US" sz="3600">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    - 当您需要从磁盘加载之前通过 persist() 保存的默认存储时，可以使用StorageContext.from_defaults(persist_dir="目录")。</a:t>
            </a:r>
            <a:endParaRPr lang="zh-CN" altLang="en-US" sz="3600">
              <a:latin typeface=".萍方-简" panose="020B0300000000000000" charset="-122"/>
              <a:ea typeface=".萍方-简" panose="020B0300000000000000" charset="-122"/>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Querying</a:t>
            </a:r>
            <a:r>
              <a:rPr lang="zh-CN" altLang="en-US" b="1">
                <a:latin typeface=".萍方-简" panose="020B0300000000000000" charset="-122"/>
                <a:ea typeface=".萍方-简" panose="020B0300000000000000" charset="-122"/>
                <a:cs typeface=".萍方-简" panose="020B0300000000000000" charset="-122"/>
              </a:rPr>
              <a:t>查询引擎</a:t>
            </a:r>
            <a:endParaRPr lang="zh-CN" altLang="en-US" b="1">
              <a:latin typeface=".萍方-简" panose="020B0300000000000000" charset="-122"/>
              <a:ea typeface=".萍方-简" panose="020B0300000000000000" charset="-122"/>
              <a:cs typeface=".萍方-简" panose="020B0300000000000000" charset="-122"/>
            </a:endParaRPr>
          </a:p>
        </p:txBody>
      </p:sp>
      <p:sp>
        <p:nvSpPr>
          <p:cNvPr id="4" name="文本框 3"/>
          <p:cNvSpPr txBox="1"/>
          <p:nvPr/>
        </p:nvSpPr>
        <p:spPr>
          <a:xfrm>
            <a:off x="909032" y="2057528"/>
            <a:ext cx="22565223" cy="31280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1.QueryEngine (</a:t>
            </a:r>
            <a:r>
              <a:rPr lang="zh-CN" altLang="en-US">
                <a:latin typeface=".萍方-简" panose="020B0300000000000000" charset="-122"/>
                <a:ea typeface=".萍方-简" panose="020B0300000000000000" charset="-122"/>
              </a:rPr>
              <a:t>查询引擎</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：是一个通用的接口，用自然语言对你的数据查询。</a:t>
            </a:r>
            <a:endParaRPr lang="zh-CN" altLang="en-US">
              <a:latin typeface=".萍方-简" panose="020B0300000000000000" charset="-122"/>
              <a:ea typeface=".萍方-简" panose="020B0300000000000000" charset="-122"/>
            </a:endParaRPr>
          </a:p>
          <a:p>
            <a:pPr>
              <a:buNone/>
            </a:pPr>
            <a:r>
              <a:rPr lang="en-US" altLang="zh-CN">
                <a:latin typeface=".萍方-简" panose="020B0300000000000000" charset="-122"/>
                <a:ea typeface=".萍方-简" panose="020B0300000000000000" charset="-122"/>
              </a:rPr>
              <a:t>  </a:t>
            </a:r>
            <a:r>
              <a:rPr lang="zh-CN" altLang="en-US" sz="4000">
                <a:latin typeface=".萍方-简" panose="020B0300000000000000" charset="-122"/>
                <a:ea typeface=".萍方-简" panose="020B0300000000000000" charset="-122"/>
              </a:rPr>
              <a:t>它是一个无状态</a:t>
            </a:r>
            <a:r>
              <a:rPr lang="en-US" altLang="zh-CN" sz="4000">
                <a:latin typeface=".萍方-简" panose="020B0300000000000000" charset="-122"/>
                <a:ea typeface=".萍方-简" panose="020B0300000000000000" charset="-122"/>
              </a:rPr>
              <a:t> (stateless) </a:t>
            </a:r>
            <a:r>
              <a:rPr lang="zh-CN" altLang="en-US" sz="4000">
                <a:latin typeface=".萍方-简" panose="020B0300000000000000" charset="-122"/>
                <a:ea typeface=".萍方-简" panose="020B0300000000000000" charset="-122"/>
              </a:rPr>
              <a:t>的组件，每次查询都是独立的，不记得之前的对话。</a:t>
            </a:r>
            <a:endParaRPr lang="zh-CN" altLang="en-US" sz="4000">
              <a:latin typeface=".萍方-简" panose="020B0300000000000000" charset="-122"/>
              <a:ea typeface=".萍方-简" panose="020B0300000000000000" charset="-122"/>
            </a:endParaRPr>
          </a:p>
          <a:p>
            <a:pPr>
              <a:buNone/>
            </a:pPr>
            <a:endParaRPr lang="zh-CN" altLang="en-US" sz="4000">
              <a:latin typeface=".萍方-简" panose="020B0300000000000000" charset="-122"/>
              <a:ea typeface=".萍方-简" panose="020B0300000000000000" charset="-122"/>
            </a:endParaRPr>
          </a:p>
        </p:txBody>
      </p:sp>
      <p:sp>
        <p:nvSpPr>
          <p:cNvPr id="7" name="文本框 6"/>
          <p:cNvSpPr txBox="1"/>
          <p:nvPr/>
        </p:nvSpPr>
        <p:spPr>
          <a:xfrm>
            <a:off x="909030" y="5674080"/>
            <a:ext cx="22565223" cy="18307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2.</a:t>
            </a:r>
            <a:r>
              <a:rPr lang="zh-CN">
                <a:latin typeface=".萍方-简" panose="020B0300000000000000" charset="-122"/>
                <a:ea typeface=".萍方-简" panose="020B0300000000000000" charset="-122"/>
              </a:rPr>
              <a:t>获取查询引擎：</a:t>
            </a:r>
            <a:r>
              <a:rPr lang="en-US" altLang="zh-CN">
                <a:latin typeface=".萍方-简" panose="020B0300000000000000" charset="-122"/>
                <a:ea typeface=".萍方-简" panose="020B0300000000000000" charset="-122"/>
              </a:rPr>
              <a:t>query_engine.query()</a:t>
            </a:r>
            <a:endParaRPr lang="en-US" altLang="zh-CN">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当您调用</a:t>
            </a:r>
            <a:r>
              <a:rPr lang="en-US" altLang="zh-CN" sz="3600">
                <a:latin typeface=".萍方-简" panose="020B0300000000000000" charset="-122"/>
                <a:ea typeface=".萍方-简" panose="020B0300000000000000" charset="-122"/>
              </a:rPr>
              <a:t> query_engine.query() </a:t>
            </a:r>
            <a:r>
              <a:rPr lang="zh-CN" altLang="en-US" sz="3600">
                <a:latin typeface=".萍方-简" panose="020B0300000000000000" charset="-122"/>
                <a:ea typeface=".萍方-简" panose="020B0300000000000000" charset="-122"/>
              </a:rPr>
              <a:t>时，</a:t>
            </a:r>
            <a:r>
              <a:rPr lang="en-US" altLang="zh-CN" sz="3600">
                <a:latin typeface=".萍方-简" panose="020B0300000000000000" charset="-122"/>
                <a:ea typeface=".萍方-简" panose="020B0300000000000000" charset="-122"/>
              </a:rPr>
              <a:t>LlamaIndex </a:t>
            </a:r>
            <a:r>
              <a:rPr lang="zh-CN" altLang="en-US" sz="3600">
                <a:latin typeface=".萍方-简" panose="020B0300000000000000" charset="-122"/>
                <a:ea typeface=".萍方-简" panose="020B0300000000000000" charset="-122"/>
              </a:rPr>
              <a:t>内部都发生了什么呢？</a:t>
            </a:r>
            <a:endParaRPr lang="zh-CN" altLang="en-US" sz="3600">
              <a:latin typeface=".萍方-简" panose="020B0300000000000000" charset="-122"/>
              <a:ea typeface=".萍方-简" panose="020B0300000000000000" charset="-122"/>
            </a:endParaRPr>
          </a:p>
        </p:txBody>
      </p:sp>
      <p:pic>
        <p:nvPicPr>
          <p:cNvPr id="3" name="ECB019B1-382A-4266-B25C-5B523AA43C14-1" descr="wpp"/>
          <p:cNvPicPr>
            <a:picLocks noChangeAspect="1"/>
          </p:cNvPicPr>
          <p:nvPr/>
        </p:nvPicPr>
        <p:blipFill>
          <a:blip r:embed="rId1"/>
          <a:stretch>
            <a:fillRect/>
          </a:stretch>
        </p:blipFill>
        <p:spPr>
          <a:xfrm>
            <a:off x="2002790" y="7862570"/>
            <a:ext cx="16359505" cy="4334510"/>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LlamaIndex</a:t>
            </a:r>
            <a:r>
              <a:rPr lang="zh-CN" altLang="en-US" b="1">
                <a:latin typeface=".萍方-简" panose="020B0300000000000000" charset="-122"/>
                <a:ea typeface=".萍方-简" panose="020B0300000000000000" charset="-122"/>
                <a:cs typeface=".萍方-简" panose="020B0300000000000000" charset="-122"/>
              </a:rPr>
              <a:t>与</a:t>
            </a:r>
            <a:r>
              <a:rPr lang="en-US" altLang="zh-CN" b="1">
                <a:latin typeface=".萍方-简" panose="020B0300000000000000" charset="-122"/>
                <a:ea typeface=".萍方-简" panose="020B0300000000000000" charset="-122"/>
                <a:cs typeface=".萍方-简" panose="020B0300000000000000" charset="-122"/>
              </a:rPr>
              <a:t>RAG</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64268"/>
            <a:ext cx="21769356" cy="323850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基于</a:t>
            </a:r>
            <a:r>
              <a:rPr lang="en-US">
                <a:effectLst/>
                <a:latin typeface=".萍方-简" panose="020B0300000000000000" charset="-122"/>
                <a:ea typeface=".萍方-简" panose="020B0300000000000000" charset="-122"/>
              </a:rPr>
              <a:t>LlamaIndex</a:t>
            </a:r>
            <a:r>
              <a:rPr lang="zh-CN" altLang="en-US">
                <a:effectLst/>
                <a:latin typeface=".萍方-简" panose="020B0300000000000000" charset="-122"/>
                <a:ea typeface=".萍方-简" panose="020B0300000000000000" charset="-122"/>
              </a:rPr>
              <a:t>组件构建</a:t>
            </a:r>
            <a:r>
              <a:rPr lang="en-US" altLang="zh-CN">
                <a:effectLst/>
                <a:latin typeface=".萍方-简" panose="020B0300000000000000" charset="-122"/>
                <a:ea typeface=".萍方-简" panose="020B0300000000000000" charset="-122"/>
              </a:rPr>
              <a:t>Rag</a:t>
            </a:r>
            <a:r>
              <a:rPr lang="zh-CN" altLang="en-US">
                <a:effectLst/>
                <a:latin typeface=".萍方-简" panose="020B0300000000000000" charset="-122"/>
                <a:ea typeface=".萍方-简" panose="020B0300000000000000" charset="-122"/>
              </a:rPr>
              <a:t>应用步骤</a:t>
            </a:r>
            <a:r>
              <a:rPr lang="en-US" altLang="zh-CN">
                <a:effectLst/>
                <a:latin typeface=".萍方-简" panose="020B0300000000000000" charset="-122"/>
                <a:ea typeface=".萍方-简" panose="020B0300000000000000" charset="-122"/>
              </a:rPr>
              <a:t>:</a:t>
            </a:r>
            <a:endParaRPr lang="zh-CN" altLang="en-US">
              <a:effectLst/>
              <a:latin typeface=".萍方-简" panose="020B0300000000000000" charset="-122"/>
              <a:ea typeface=".萍方-简" panose="020B0300000000000000" charset="-122"/>
            </a:endParaRPr>
          </a:p>
          <a:p>
            <a:pPr marL="2286000" lvl="5" indent="457200">
              <a:buNone/>
            </a:pPr>
            <a:r>
              <a:rPr lang="en-US" altLang="zh-CN">
                <a:effectLst/>
                <a:latin typeface=".萍方-简" panose="020B0300000000000000" charset="-122"/>
                <a:ea typeface=".萍方-简" panose="020B0300000000000000" charset="-122"/>
              </a:rPr>
              <a:t>1.</a:t>
            </a:r>
            <a:r>
              <a:rPr lang="zh-CN" altLang="en-US">
                <a:effectLst/>
                <a:latin typeface=".萍方-简" panose="020B0300000000000000" charset="-122"/>
                <a:ea typeface=".萍方-简" panose="020B0300000000000000" charset="-122"/>
              </a:rPr>
              <a:t>文档加载器 、</a:t>
            </a:r>
            <a:r>
              <a:rPr lang="en-US" altLang="zh-CN">
                <a:effectLst/>
                <a:latin typeface=".萍方-简" panose="020B0300000000000000" charset="-122"/>
                <a:ea typeface=".萍方-简" panose="020B0300000000000000" charset="-122"/>
              </a:rPr>
              <a:t>2.</a:t>
            </a:r>
            <a:r>
              <a:rPr lang="zh-CN" altLang="en-US">
                <a:effectLst/>
                <a:latin typeface=".萍方-简" panose="020B0300000000000000" charset="-122"/>
                <a:ea typeface=".萍方-简" panose="020B0300000000000000" charset="-122"/>
              </a:rPr>
              <a:t>构建索引</a:t>
            </a:r>
            <a:r>
              <a:rPr lang="zh-CN" altLang="en-US">
                <a:effectLst/>
                <a:latin typeface=".萍方-简" panose="020B0300000000000000" charset="-122"/>
                <a:ea typeface=".萍方-简" panose="020B0300000000000000" charset="-122"/>
              </a:rPr>
              <a:t>、</a:t>
            </a:r>
            <a:r>
              <a:rPr lang="en-US" altLang="zh-CN">
                <a:effectLst/>
                <a:latin typeface=".萍方-简" panose="020B0300000000000000" charset="-122"/>
                <a:ea typeface=".萍方-简" panose="020B0300000000000000" charset="-122"/>
              </a:rPr>
              <a:t>3.</a:t>
            </a:r>
            <a:r>
              <a:rPr lang="zh-CN" altLang="en-US">
                <a:effectLst/>
                <a:latin typeface=".萍方-简" panose="020B0300000000000000" charset="-122"/>
                <a:ea typeface=".萍方-简" panose="020B0300000000000000" charset="-122"/>
              </a:rPr>
              <a:t>存储</a:t>
            </a:r>
            <a:r>
              <a:rPr lang="zh-CN" altLang="en-US">
                <a:effectLst/>
                <a:latin typeface=".萍方-简" panose="020B0300000000000000" charset="-122"/>
                <a:ea typeface=".萍方-简" panose="020B0300000000000000" charset="-122"/>
              </a:rPr>
              <a:t>、</a:t>
            </a:r>
            <a:r>
              <a:rPr lang="en-US" altLang="zh-CN">
                <a:effectLst/>
                <a:latin typeface=".萍方-简" panose="020B0300000000000000" charset="-122"/>
                <a:ea typeface=".萍方-简" panose="020B0300000000000000" charset="-122"/>
              </a:rPr>
              <a:t>4.</a:t>
            </a:r>
            <a:r>
              <a:rPr lang="zh-CN" altLang="en-US">
                <a:effectLst/>
                <a:latin typeface=".萍方-简" panose="020B0300000000000000" charset="-122"/>
                <a:ea typeface=".萍方-简" panose="020B0300000000000000" charset="-122"/>
              </a:rPr>
              <a:t>查询 </a:t>
            </a:r>
            <a:endParaRPr lang="zh-CN" altLang="en-US">
              <a:effectLst/>
              <a:latin typeface=".萍方-简" panose="020B0300000000000000" charset="-122"/>
              <a:ea typeface=".萍方-简" panose="020B0300000000000000" charset="-122"/>
            </a:endParaRPr>
          </a:p>
          <a:p>
            <a:pPr marL="2286000" lvl="5" indent="457200">
              <a:buNone/>
            </a:pPr>
            <a:endParaRPr lang="zh-CN" altLang="en-US">
              <a:effectLst/>
              <a:latin typeface=".萍方-简" panose="020B0300000000000000" charset="-122"/>
              <a:ea typeface=".萍方-简" panose="020B0300000000000000"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b="1">
                <a:latin typeface=".萍方-简" panose="020B0300000000000000" charset="-122"/>
                <a:ea typeface=".萍方-简" panose="020B0300000000000000" charset="-122"/>
                <a:cs typeface=".萍方-简" panose="020B0300000000000000" charset="-122"/>
              </a:rPr>
              <a:t>Settings</a:t>
            </a:r>
            <a:r>
              <a:rPr lang="zh-CN" altLang="en-US" b="1">
                <a:latin typeface=".萍方-简" panose="020B0300000000000000" charset="-122"/>
                <a:ea typeface=".萍方-简" panose="020B0300000000000000" charset="-122"/>
                <a:cs typeface=".萍方-简" panose="020B0300000000000000" charset="-122"/>
              </a:rPr>
              <a:t>全局设置</a:t>
            </a:r>
            <a:endParaRPr lang="zh-CN" altLang="en-US" b="1">
              <a:latin typeface=".萍方-简" panose="020B0300000000000000" charset="-122"/>
              <a:ea typeface=".萍方-简" panose="020B0300000000000000" charset="-122"/>
              <a:cs typeface=".萍方-简" panose="020B0300000000000000" charset="-122"/>
            </a:endParaRPr>
          </a:p>
        </p:txBody>
      </p:sp>
      <p:sp>
        <p:nvSpPr>
          <p:cNvPr id="4" name="文本框 3"/>
          <p:cNvSpPr txBox="1"/>
          <p:nvPr/>
        </p:nvSpPr>
        <p:spPr>
          <a:xfrm>
            <a:off x="1039842" y="2057528"/>
            <a:ext cx="2256522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sym typeface="+mn-ea"/>
              </a:rPr>
              <a:t>Settings </a:t>
            </a:r>
            <a:r>
              <a:rPr lang="zh-CN" altLang="en-US">
                <a:latin typeface=".萍方-简" panose="020B0300000000000000" charset="-122"/>
                <a:ea typeface=".萍方-简" panose="020B0300000000000000" charset="-122"/>
                <a:sym typeface="+mn-ea"/>
              </a:rPr>
              <a:t>全局设置</a:t>
            </a:r>
            <a:endParaRPr lang="zh-CN" altLang="en-US">
              <a:latin typeface=".萍方-简" panose="020B0300000000000000" charset="-122"/>
              <a:ea typeface=".萍方-简" panose="020B0300000000000000" charset="-122"/>
            </a:endParaRPr>
          </a:p>
        </p:txBody>
      </p:sp>
      <p:sp>
        <p:nvSpPr>
          <p:cNvPr id="7" name="文本框 6"/>
          <p:cNvSpPr txBox="1"/>
          <p:nvPr/>
        </p:nvSpPr>
        <p:spPr>
          <a:xfrm>
            <a:off x="1039840" y="3072485"/>
            <a:ext cx="22565223" cy="39897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a:latin typeface=".萍方-简" panose="020B0300000000000000" charset="-122"/>
                <a:ea typeface=".萍方-简" panose="020B0300000000000000" charset="-122"/>
              </a:rPr>
              <a:t>Setings</a:t>
            </a:r>
            <a:r>
              <a:rPr lang="zh-CN" altLang="en-US">
                <a:latin typeface=".萍方-简" panose="020B0300000000000000" charset="-122"/>
                <a:ea typeface=".萍方-简" panose="020B0300000000000000" charset="-122"/>
              </a:rPr>
              <a:t>是</a:t>
            </a:r>
            <a:r>
              <a:rPr lang="en-US" altLang="zh-CN">
                <a:latin typeface=".萍方-简" panose="020B0300000000000000" charset="-122"/>
                <a:ea typeface=".萍方-简" panose="020B0300000000000000" charset="-122"/>
              </a:rPr>
              <a:t>Llamalndex</a:t>
            </a:r>
            <a:r>
              <a:rPr lang="zh-CN" altLang="en-US">
                <a:latin typeface=".萍方-简" panose="020B0300000000000000" charset="-122"/>
                <a:ea typeface=".萍方-简" panose="020B0300000000000000" charset="-122"/>
              </a:rPr>
              <a:t>中的全局设置管理器。它允许用户设置全局的配置，如</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、索引、查询引擎、</a:t>
            </a:r>
            <a:r>
              <a:rPr lang="en-US" altLang="zh-CN">
                <a:latin typeface=".萍方-简" panose="020B0300000000000000" charset="-122"/>
                <a:ea typeface=".萍方-简" panose="020B0300000000000000" charset="-122"/>
              </a:rPr>
              <a:t>Chat Engine</a:t>
            </a:r>
            <a:r>
              <a:rPr lang="zh-CN" altLang="en-US">
                <a:latin typeface=".萍方-简" panose="020B0300000000000000" charset="-122"/>
                <a:ea typeface=".萍方-简" panose="020B0300000000000000" charset="-122"/>
              </a:rPr>
              <a:t>等。有了</a:t>
            </a:r>
            <a:r>
              <a:rPr lang="en-US" altLang="zh-CN">
                <a:latin typeface=".萍方-简" panose="020B0300000000000000" charset="-122"/>
                <a:ea typeface=".萍方-简" panose="020B0300000000000000" charset="-122"/>
              </a:rPr>
              <a:t>Settings</a:t>
            </a:r>
            <a:r>
              <a:rPr lang="zh-CN" altLang="en-US">
                <a:latin typeface=".萍方-简" panose="020B0300000000000000" charset="-122"/>
                <a:ea typeface=".萍方-简" panose="020B0300000000000000" charset="-122"/>
              </a:rPr>
              <a:t>，用户就不用在每个组价中单独配置这些参数了</a:t>
            </a:r>
            <a:endParaRPr lang="zh-CN" altLang="en-US">
              <a:latin typeface=".萍方-简" panose="020B0300000000000000" charset="-122"/>
              <a:ea typeface=".萍方-简" panose="020B0300000000000000" charset="-122"/>
            </a:endParaRPr>
          </a:p>
          <a:p>
            <a:pPr>
              <a:buNone/>
            </a:pPr>
            <a:r>
              <a:rPr lang="zh-CN" altLang="en-US">
                <a:latin typeface=".萍方-简" panose="020B0300000000000000" charset="-122"/>
                <a:ea typeface=".萍方-简" panose="020B0300000000000000" charset="-122"/>
              </a:rPr>
              <a:t>例如</a:t>
            </a:r>
            <a:r>
              <a:rPr lang="en-US" altLang="zh-CN">
                <a:latin typeface=".萍方-简" panose="020B0300000000000000" charset="-122"/>
                <a:ea typeface=".萍方-简" panose="020B0300000000000000" charset="-122"/>
              </a:rPr>
              <a:t>Lamalndex</a:t>
            </a:r>
            <a:r>
              <a:rPr lang="zh-CN" altLang="en-US">
                <a:latin typeface=".萍方-简" panose="020B0300000000000000" charset="-122"/>
                <a:ea typeface=".萍方-简" panose="020B0300000000000000" charset="-122"/>
              </a:rPr>
              <a:t>默认都是使用的</a:t>
            </a:r>
            <a:r>
              <a:rPr lang="en-US" altLang="zh-CN">
                <a:latin typeface=".萍方-简" panose="020B0300000000000000" charset="-122"/>
                <a:ea typeface=".萍方-简" panose="020B0300000000000000" charset="-122"/>
              </a:rPr>
              <a:t>OpenAI</a:t>
            </a:r>
            <a:r>
              <a:rPr lang="zh-CN" altLang="en-US">
                <a:latin typeface=".萍方-简" panose="020B0300000000000000" charset="-122"/>
                <a:ea typeface=".萍方-简" panose="020B0300000000000000" charset="-122"/>
              </a:rPr>
              <a:t>相关的组件，在之前的示例中，我们想要使用阿里云百炼的组件，就可以使用</a:t>
            </a:r>
            <a:r>
              <a:rPr lang="en-US" altLang="zh-CN">
                <a:latin typeface=".萍方-简" panose="020B0300000000000000" charset="-122"/>
                <a:ea typeface=".萍方-简" panose="020B0300000000000000" charset="-122"/>
              </a:rPr>
              <a:t>Setings</a:t>
            </a:r>
            <a:r>
              <a:rPr lang="zh-CN" altLang="en-US">
                <a:latin typeface=".萍方-简" panose="020B0300000000000000" charset="-122"/>
                <a:ea typeface=".萍方-简" panose="020B0300000000000000" charset="-122"/>
              </a:rPr>
              <a:t>进行全局设</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基于</a:t>
            </a:r>
            <a:r>
              <a:rPr lang="en-US" altLang="zh-CN" b="1">
                <a:latin typeface=".萍方-简" panose="020B0300000000000000" charset="-122"/>
                <a:ea typeface=".萍方-简" panose="020B0300000000000000" charset="-122"/>
                <a:cs typeface=".萍方-简" panose="020B0300000000000000" charset="-122"/>
              </a:rPr>
              <a:t>LlamaIndex</a:t>
            </a:r>
            <a:r>
              <a:rPr lang="zh-CN" altLang="en-US" b="1">
                <a:latin typeface=".萍方-简" panose="020B0300000000000000" charset="-122"/>
                <a:ea typeface=".萍方-简" panose="020B0300000000000000" charset="-122"/>
                <a:cs typeface=".萍方-简" panose="020B0300000000000000" charset="-122"/>
              </a:rPr>
              <a:t>的</a:t>
            </a: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系统评估</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330" y="1964055"/>
            <a:ext cx="22862540" cy="1143000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我们如何知道我们构建的系统到底好不好？它的表现如何？ </a:t>
            </a:r>
            <a:endParaRPr lang="zh-CN" altLang="en-US">
              <a:effectLst/>
              <a:latin typeface=".萍方-简" panose="020B0300000000000000" charset="-122"/>
              <a:ea typeface=".萍方-简" panose="020B0300000000000000" charset="-122"/>
            </a:endParaRPr>
          </a:p>
          <a:p>
            <a:pPr marL="2286000" lvl="5" indent="457200">
              <a:buNone/>
            </a:pPr>
            <a:r>
              <a:rPr lang="en-US" altLang="zh-CN">
                <a:effectLst/>
                <a:latin typeface=".萍方-简" panose="020B0300000000000000" charset="-122"/>
                <a:ea typeface=".萍方-简" panose="020B0300000000000000" charset="-122"/>
              </a:rPr>
              <a:t>1.Retrieval Evaluation (</a:t>
            </a:r>
            <a:r>
              <a:rPr lang="zh-CN" altLang="en-US">
                <a:effectLst/>
                <a:latin typeface=".萍方-简" panose="020B0300000000000000" charset="-122"/>
                <a:ea typeface=".萍方-简" panose="020B0300000000000000" charset="-122"/>
              </a:rPr>
              <a:t>检索评估</a:t>
            </a:r>
            <a:r>
              <a:rPr lang="en-US" altLang="zh-CN">
                <a:effectLst/>
                <a:latin typeface=".萍方-简" panose="020B0300000000000000" charset="-122"/>
                <a:ea typeface=".萍方-简" panose="020B0300000000000000" charset="-122"/>
              </a:rPr>
              <a:t>)</a:t>
            </a:r>
            <a:r>
              <a:rPr lang="zh-CN" altLang="en-US">
                <a:effectLst/>
                <a:latin typeface=".萍方-简" panose="020B0300000000000000" charset="-122"/>
                <a:ea typeface=".萍方-简" panose="020B0300000000000000" charset="-122"/>
              </a:rPr>
              <a:t>：衡量检索器（</a:t>
            </a:r>
            <a:r>
              <a:rPr lang="en-US" altLang="zh-CN">
                <a:effectLst/>
                <a:latin typeface=".萍方-简" panose="020B0300000000000000" charset="-122"/>
                <a:ea typeface=".萍方-简" panose="020B0300000000000000" charset="-122"/>
              </a:rPr>
              <a:t>Retriever</a:t>
            </a:r>
            <a:r>
              <a:rPr lang="zh-CN" altLang="en-US">
                <a:effectLst/>
                <a:latin typeface=".萍方-简" panose="020B0300000000000000" charset="-122"/>
                <a:ea typeface=".萍方-简" panose="020B0300000000000000" charset="-122"/>
              </a:rPr>
              <a:t>）的性能。</a:t>
            </a:r>
            <a:endParaRPr lang="zh-CN" altLang="en-US">
              <a:effectLst/>
              <a:latin typeface=".萍方-简" panose="020B0300000000000000" charset="-122"/>
              <a:ea typeface=".萍方-简" panose="020B0300000000000000" charset="-122"/>
            </a:endParaRPr>
          </a:p>
          <a:p>
            <a:pPr marL="2286000" lvl="5" indent="457200">
              <a:buNone/>
            </a:pPr>
            <a:r>
              <a:rPr lang="en-US" altLang="zh-CN" sz="3600">
                <a:effectLst/>
                <a:latin typeface=".萍方-简" panose="020B0300000000000000" charset="-122"/>
                <a:ea typeface=".萍方-简" panose="020B0300000000000000" charset="-122"/>
              </a:rPr>
              <a:t>  </a:t>
            </a:r>
            <a:r>
              <a:rPr lang="zh-CN" altLang="en-US" sz="3600">
                <a:effectLst/>
                <a:latin typeface=".萍方-简" panose="020B0300000000000000" charset="-122"/>
                <a:ea typeface=".萍方-简" panose="020B0300000000000000" charset="-122"/>
              </a:rPr>
              <a:t>常用指标：</a:t>
            </a:r>
            <a:endParaRPr lang="zh-CN" altLang="en-US" sz="3600">
              <a:effectLst/>
              <a:latin typeface=".萍方-简" panose="020B0300000000000000" charset="-122"/>
              <a:ea typeface=".萍方-简" panose="020B0300000000000000" charset="-122"/>
            </a:endParaRPr>
          </a:p>
          <a:p>
            <a:pPr marL="2286000" lvl="5" indent="457200">
              <a:buNone/>
            </a:pPr>
            <a:r>
              <a:rPr lang="en-US" altLang="zh-CN" sz="3600">
                <a:effectLst/>
                <a:latin typeface=".萍方-简" panose="020B0300000000000000" charset="-122"/>
                <a:ea typeface=".萍方-简" panose="020B0300000000000000" charset="-122"/>
              </a:rPr>
              <a:t>    - Hit Rate (</a:t>
            </a:r>
            <a:r>
              <a:rPr lang="zh-CN" altLang="en-US" sz="3600">
                <a:effectLst/>
                <a:latin typeface=".萍方-简" panose="020B0300000000000000" charset="-122"/>
                <a:ea typeface=".萍方-简" panose="020B0300000000000000" charset="-122"/>
              </a:rPr>
              <a:t>命中率</a:t>
            </a:r>
            <a:r>
              <a:rPr lang="en-US" altLang="zh-CN" sz="3600">
                <a:effectLst/>
                <a:latin typeface=".萍方-简" panose="020B0300000000000000" charset="-122"/>
                <a:ea typeface=".萍方-简" panose="020B0300000000000000" charset="-122"/>
              </a:rPr>
              <a:t>): </a:t>
            </a:r>
            <a:r>
              <a:rPr lang="zh-CN" altLang="en-US" sz="3600">
                <a:effectLst/>
                <a:latin typeface=".萍方-简" panose="020B0300000000000000" charset="-122"/>
                <a:ea typeface=".萍方-简" panose="020B0300000000000000" charset="-122"/>
              </a:rPr>
              <a:t>检索到的节点中，有多少是正确的（预先标注的）？</a:t>
            </a:r>
            <a:endParaRPr lang="zh-CN" altLang="en-US" sz="3600">
              <a:effectLst/>
              <a:latin typeface=".萍方-简" panose="020B0300000000000000" charset="-122"/>
              <a:ea typeface=".萍方-简" panose="020B0300000000000000" charset="-122"/>
            </a:endParaRPr>
          </a:p>
          <a:p>
            <a:pPr marL="2286000" lvl="5" indent="457200">
              <a:buNone/>
            </a:pPr>
            <a:r>
              <a:rPr lang="en-US" altLang="zh-CN" sz="3600">
                <a:effectLst/>
                <a:latin typeface=".萍方-简" panose="020B0300000000000000" charset="-122"/>
                <a:ea typeface=".萍方-简" panose="020B0300000000000000" charset="-122"/>
              </a:rPr>
              <a:t>    - MRR (Mean Reciprocal Rank, </a:t>
            </a:r>
            <a:r>
              <a:rPr lang="zh-CN" altLang="en-US" sz="3600">
                <a:effectLst/>
                <a:latin typeface=".萍方-简" panose="020B0300000000000000" charset="-122"/>
                <a:ea typeface=".萍方-简" panose="020B0300000000000000" charset="-122"/>
              </a:rPr>
              <a:t>平均倒数排名</a:t>
            </a:r>
            <a:r>
              <a:rPr lang="en-US" altLang="zh-CN" sz="3600">
                <a:effectLst/>
                <a:latin typeface=".萍方-简" panose="020B0300000000000000" charset="-122"/>
                <a:ea typeface=".萍方-简" panose="020B0300000000000000" charset="-122"/>
              </a:rPr>
              <a:t>): </a:t>
            </a:r>
            <a:r>
              <a:rPr lang="zh-CN" altLang="en-US" sz="3600">
                <a:effectLst/>
                <a:latin typeface=".萍方-简" panose="020B0300000000000000" charset="-122"/>
                <a:ea typeface=".萍方-简" panose="020B0300000000000000" charset="-122"/>
              </a:rPr>
              <a:t>正确答案的排名有多靠前？排名越靠前，得分越高。</a:t>
            </a:r>
            <a:endParaRPr lang="zh-CN" altLang="en-US" sz="3600">
              <a:effectLst/>
              <a:latin typeface=".萍方-简" panose="020B0300000000000000" charset="-122"/>
              <a:ea typeface=".萍方-简" panose="020B0300000000000000" charset="-122"/>
            </a:endParaRPr>
          </a:p>
          <a:p>
            <a:pPr marL="2286000" lvl="5" indent="457200">
              <a:buNone/>
            </a:pPr>
            <a:endParaRPr lang="zh-CN" altLang="en-US" sz="3600">
              <a:effectLst/>
              <a:latin typeface=".萍方-简" panose="020B0300000000000000" charset="-122"/>
              <a:ea typeface=".萍方-简" panose="020B0300000000000000" charset="-122"/>
            </a:endParaRPr>
          </a:p>
          <a:p>
            <a:pPr marL="2286000" lvl="5" indent="457200">
              <a:buNone/>
            </a:pPr>
            <a:r>
              <a:rPr lang="en-US" altLang="zh-CN">
                <a:effectLst/>
                <a:latin typeface=".萍方-简" panose="020B0300000000000000" charset="-122"/>
                <a:ea typeface=".萍方-简" panose="020B0300000000000000" charset="-122"/>
              </a:rPr>
              <a:t>2.Response Evaluation (</a:t>
            </a:r>
            <a:r>
              <a:rPr lang="zh-CN" altLang="en-US">
                <a:effectLst/>
                <a:latin typeface=".萍方-简" panose="020B0300000000000000" charset="-122"/>
                <a:ea typeface=".萍方-简" panose="020B0300000000000000" charset="-122"/>
              </a:rPr>
              <a:t>响应评估</a:t>
            </a:r>
            <a:r>
              <a:rPr lang="en-US" altLang="zh-CN">
                <a:effectLst/>
                <a:latin typeface=".萍方-简" panose="020B0300000000000000" charset="-122"/>
                <a:ea typeface=".萍方-简" panose="020B0300000000000000" charset="-122"/>
              </a:rPr>
              <a:t>)</a:t>
            </a:r>
            <a:r>
              <a:rPr lang="zh-CN" altLang="en-US">
                <a:effectLst/>
                <a:latin typeface=".萍方-简" panose="020B0300000000000000" charset="-122"/>
                <a:ea typeface=".萍方-简" panose="020B0300000000000000" charset="-122"/>
              </a:rPr>
              <a:t>：衡量</a:t>
            </a:r>
            <a:r>
              <a:rPr lang="en-US" altLang="zh-CN">
                <a:effectLst/>
                <a:latin typeface=".萍方-简" panose="020B0300000000000000" charset="-122"/>
                <a:ea typeface=".萍方-简" panose="020B0300000000000000" charset="-122"/>
              </a:rPr>
              <a:t> LLM </a:t>
            </a:r>
            <a:r>
              <a:rPr lang="zh-CN" altLang="en-US">
                <a:effectLst/>
                <a:latin typeface=".萍方-简" panose="020B0300000000000000" charset="-122"/>
                <a:ea typeface=".萍方-简" panose="020B0300000000000000" charset="-122"/>
              </a:rPr>
              <a:t>生成的最终答案的质量。</a:t>
            </a:r>
            <a:endParaRPr lang="zh-CN" altLang="en-US">
              <a:effectLst/>
              <a:latin typeface=".萍方-简" panose="020B0300000000000000" charset="-122"/>
              <a:ea typeface=".萍方-简" panose="020B0300000000000000" charset="-122"/>
            </a:endParaRPr>
          </a:p>
          <a:p>
            <a:pPr marL="2286000" lvl="5" indent="457200" algn="l">
              <a:buNone/>
            </a:pPr>
            <a:r>
              <a:rPr lang="en-US" altLang="zh-CN" sz="3600">
                <a:effectLst/>
                <a:latin typeface=".萍方-简" panose="020B0300000000000000" charset="-122"/>
                <a:ea typeface=".萍方-简" panose="020B0300000000000000" charset="-122"/>
              </a:rPr>
              <a:t>  -忠实度评估</a:t>
            </a:r>
            <a:endParaRPr lang="en-US" altLang="zh-CN" sz="3600">
              <a:effectLst/>
              <a:latin typeface=".萍方-简" panose="020B0300000000000000" charset="-122"/>
              <a:ea typeface=".萍方-简" panose="020B0300000000000000" charset="-122"/>
            </a:endParaRPr>
          </a:p>
          <a:p>
            <a:pPr marL="2286000" lvl="5" indent="457200" algn="l">
              <a:buNone/>
            </a:pPr>
            <a:r>
              <a:rPr lang="en-US" altLang="zh-CN" sz="3600">
                <a:effectLst/>
                <a:latin typeface=".萍方-简" panose="020B0300000000000000" charset="-122"/>
                <a:ea typeface=".萍方-简" panose="020B0300000000000000" charset="-122"/>
              </a:rPr>
              <a:t>  -相关性评估</a:t>
            </a:r>
            <a:endParaRPr lang="en-US" altLang="zh-CN" sz="3600">
              <a:effectLst/>
              <a:latin typeface=".萍方-简" panose="020B0300000000000000" charset="-122"/>
              <a:ea typeface=".萍方-简" panose="020B0300000000000000" charset="-122"/>
            </a:endParaRPr>
          </a:p>
          <a:p>
            <a:pPr marL="2286000" lvl="5" indent="457200">
              <a:buNone/>
            </a:pPr>
            <a:endParaRPr lang="zh-CN" altLang="en-US">
              <a:effectLst/>
              <a:latin typeface=".萍方-简" panose="020B0300000000000000" charset="-122"/>
              <a:ea typeface=".萍方-简" panose="020B0300000000000000"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755207" y="5545307"/>
            <a:ext cx="23036125" cy="2074693"/>
          </a:xfrm>
          <a:prstGeom prst="rect">
            <a:avLst/>
          </a:prstGeom>
        </p:spPr>
        <p:txBody>
          <a:bodyPr>
            <a:normAutofit/>
          </a:bodyPr>
          <a:lstStyle/>
          <a:p>
            <a:r>
              <a:rPr lang="en-US" altLang="zh-CN">
                <a:latin typeface=".萍方-简" panose="020B0300000000000000" charset="-122"/>
                <a:ea typeface=".萍方-简" panose="020B0300000000000000" charset="-122"/>
              </a:rPr>
              <a:t>LlamaIndex  </a:t>
            </a:r>
            <a:r>
              <a:rPr lang="en-US" altLang="zh-CN">
                <a:latin typeface=".萍方-简" panose="020B0300000000000000" charset="-122"/>
                <a:ea typeface=".萍方-简" panose="020B0300000000000000" charset="-122"/>
                <a:cs typeface=".萍方-简" panose="020B0300000000000000" charset="-122"/>
                <a:sym typeface="+mn-ea"/>
              </a:rPr>
              <a:t>Workflows</a:t>
            </a:r>
            <a:endParaRPr lang="en-US" altLang="zh-CN">
              <a:latin typeface=".萍方-简" panose="020B0300000000000000" charset="-122"/>
              <a:ea typeface=".萍方-简" panose="020B0300000000000000" charset="-122"/>
              <a:cs typeface=".萍方-简" panose="020B0300000000000000" charset="-122"/>
              <a:sym typeface="+mn-ea"/>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什么是工作流</a:t>
            </a:r>
            <a:r>
              <a:rPr lang="en-US" altLang="zh-CN" b="1">
                <a:latin typeface=".萍方-简" panose="020B0300000000000000" charset="-122"/>
                <a:ea typeface=".萍方-简" panose="020B0300000000000000" charset="-122"/>
                <a:cs typeface=".萍方-简" panose="020B0300000000000000" charset="-122"/>
                <a:sym typeface="+mn-ea"/>
              </a:rPr>
              <a:t>(Workflows)</a:t>
            </a:r>
            <a:endParaRPr lang="en-US" altLang="zh-CN"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1792923"/>
            <a:ext cx="22784013" cy="39897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它是一种事件驱动、基于步骤的方式，用来控制我们应用程序的执行流程。</a:t>
            </a:r>
            <a:endParaRPr lang="zh-CN" altLang="en-US">
              <a:effectLst/>
              <a:latin typeface=".萍方-简" panose="020B0300000000000000" charset="-122"/>
              <a:ea typeface=".萍方-简" panose="020B0300000000000000" charset="-122"/>
            </a:endParaRPr>
          </a:p>
          <a:p>
            <a:pPr>
              <a:buNone/>
            </a:pPr>
            <a:r>
              <a:rPr lang="zh-CN" altLang="en-US">
                <a:effectLst/>
                <a:latin typeface=".萍方-简" panose="020B0300000000000000" charset="-122"/>
                <a:ea typeface=".萍方-简" panose="020B0300000000000000" charset="-122"/>
              </a:rPr>
              <a:t>工作流可以看作是多步骤的流程，它会结合一个或多个代理、数据连接器以及其他工具来共同完成一个任务。它们是事件驱动的软件，允许你将</a:t>
            </a:r>
            <a:r>
              <a:rPr lang="en-US" altLang="zh-CN">
                <a:effectLst/>
                <a:latin typeface=".萍方-简" panose="020B0300000000000000" charset="-122"/>
                <a:ea typeface=".萍方-简" panose="020B0300000000000000" charset="-122"/>
              </a:rPr>
              <a:t>RAG</a:t>
            </a:r>
            <a:r>
              <a:rPr lang="zh-CN" altLang="en-US">
                <a:effectLst/>
                <a:latin typeface=".萍方-简" panose="020B0300000000000000" charset="-122"/>
                <a:ea typeface=".萍方-简" panose="020B0300000000000000" charset="-122"/>
              </a:rPr>
              <a:t>数据源和多个代理整合成一个复杂的应用程序。更棒的是，你可以将这些代理工作流部署为生产级别的微服务。</a:t>
            </a:r>
            <a:endParaRPr lang="en-US" altLang="zh-CN">
              <a:effectLst/>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5139690" y="5284470"/>
            <a:ext cx="12946380" cy="8172450"/>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为什么选择工作流？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2129473"/>
            <a:ext cx="22784013" cy="589534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随着生成式</a:t>
            </a:r>
            <a:r>
              <a:rPr lang="en-US" altLang="zh-CN">
                <a:effectLst/>
                <a:latin typeface=".萍方-简" panose="020B0300000000000000" charset="-122"/>
                <a:ea typeface=".萍方-简" panose="020B0300000000000000" charset="-122"/>
              </a:rPr>
              <a:t> AI </a:t>
            </a:r>
            <a:r>
              <a:rPr lang="zh-CN" altLang="en-US">
                <a:effectLst/>
                <a:latin typeface=".萍方-简" panose="020B0300000000000000" charset="-122"/>
                <a:ea typeface=".萍方-简" panose="020B0300000000000000" charset="-122"/>
              </a:rPr>
              <a:t>应用变得越来越复杂，管理数据流和控制执行流程也变得越来越困难。工作流通过将应用分解成更小、更易于管理的部分，提供了一种应对这种复杂性的方法。</a:t>
            </a:r>
            <a:endParaRPr lang="zh-CN" altLang="en-US">
              <a:effectLst/>
              <a:latin typeface=".萍方-简" panose="020B0300000000000000" charset="-122"/>
              <a:ea typeface=".萍方-简" panose="020B0300000000000000" charset="-122"/>
            </a:endParaRPr>
          </a:p>
          <a:p>
            <a:pPr>
              <a:buNone/>
            </a:pPr>
            <a:endParaRPr lang="zh-CN" altLang="en-US">
              <a:effectLst/>
              <a:latin typeface=".萍方-简" panose="020B0300000000000000" charset="-122"/>
              <a:ea typeface=".萍方-简" panose="020B0300000000000000" charset="-122"/>
            </a:endParaRPr>
          </a:p>
          <a:p>
            <a:pPr>
              <a:buNone/>
            </a:pPr>
            <a:r>
              <a:rPr lang="en-US" altLang="zh-CN">
                <a:effectLst/>
                <a:latin typeface=".萍方-简" panose="020B0300000000000000" charset="-122"/>
                <a:ea typeface=".萍方-简" panose="020B0300000000000000" charset="-122"/>
              </a:rPr>
              <a:t>LlamaIndex </a:t>
            </a:r>
            <a:r>
              <a:rPr lang="zh-CN" altLang="en-US">
                <a:effectLst/>
                <a:latin typeface=".萍方-简" panose="020B0300000000000000" charset="-122"/>
                <a:ea typeface=".萍方-简" panose="020B0300000000000000" charset="-122"/>
              </a:rPr>
              <a:t>工作流采用的这种基于事件的模式和原生的</a:t>
            </a:r>
            <a:r>
              <a:rPr lang="en-US" altLang="zh-CN">
                <a:effectLst/>
                <a:latin typeface=".萍方-简" panose="020B0300000000000000" charset="-122"/>
                <a:ea typeface=".萍方-简" panose="020B0300000000000000" charset="-122"/>
              </a:rPr>
              <a:t> Python </a:t>
            </a:r>
            <a:r>
              <a:rPr lang="zh-CN" altLang="en-US">
                <a:effectLst/>
                <a:latin typeface=".萍方-简" panose="020B0300000000000000" charset="-122"/>
                <a:ea typeface=".萍方-简" panose="020B0300000000000000" charset="-122"/>
              </a:rPr>
              <a:t>编程方式。当然，对于非常简单的</a:t>
            </a:r>
            <a:r>
              <a:rPr lang="en-US" altLang="zh-CN">
                <a:effectLst/>
                <a:latin typeface=".萍方-简" panose="020B0300000000000000" charset="-122"/>
                <a:ea typeface=".萍方-简" panose="020B0300000000000000" charset="-122"/>
              </a:rPr>
              <a:t> RAG </a:t>
            </a:r>
            <a:r>
              <a:rPr lang="zh-CN" altLang="en-US">
                <a:effectLst/>
                <a:latin typeface=".萍方-简" panose="020B0300000000000000" charset="-122"/>
                <a:ea typeface=".萍方-简" panose="020B0300000000000000" charset="-122"/>
              </a:rPr>
              <a:t>流水线或者演示项目，你可能并不需要工作流。但是，当你的应用复杂度不断增长时，我们希望工作流能够成为你得力的助手。</a:t>
            </a:r>
            <a:endParaRPr lang="zh-CN" altLang="en-US">
              <a:effectLst/>
              <a:latin typeface=".萍方-简" panose="020B0300000000000000" charset="-122"/>
              <a:ea typeface=".萍方-简" panose="020B0300000000000000" charset="-122"/>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一个简单的工作流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1792923"/>
            <a:ext cx="2278401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构建一个只有一个步骤的工作流：</a:t>
            </a:r>
            <a:endParaRPr lang="zh-CN" altLang="en-US">
              <a:effectLst/>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1384935" y="3284855"/>
            <a:ext cx="21076285" cy="6604000"/>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一个简单的工作流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1792923"/>
            <a:ext cx="22784013"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运行工作流：</a:t>
            </a:r>
            <a:endParaRPr lang="zh-CN" altLang="en-US">
              <a:effectLst/>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3357880" y="2548890"/>
            <a:ext cx="16995140" cy="10223500"/>
          </a:xfrm>
          <a:prstGeom prst="rect">
            <a:avLst/>
          </a:prstGeom>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一个简单的工作流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1792923"/>
            <a:ext cx="22784013" cy="24403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可视化工作流：</a:t>
            </a:r>
            <a:endParaRPr lang="zh-CN" altLang="en-US">
              <a:effectLst/>
              <a:latin typeface=".萍方-简" panose="020B0300000000000000" charset="-122"/>
              <a:ea typeface=".萍方-简" panose="020B0300000000000000" charset="-122"/>
            </a:endParaRPr>
          </a:p>
          <a:p>
            <a:pPr>
              <a:buNone/>
            </a:pPr>
            <a:r>
              <a:rPr lang="en-US" altLang="zh-CN" sz="4000">
                <a:effectLst/>
                <a:latin typeface=".萍方-简" panose="020B0300000000000000" charset="-122"/>
                <a:ea typeface=".萍方-简" panose="020B0300000000000000" charset="-122"/>
              </a:rPr>
              <a:t>LlamaIndex </a:t>
            </a:r>
            <a:r>
              <a:rPr lang="zh-CN" altLang="en-US" sz="4000">
                <a:effectLst/>
                <a:latin typeface=".萍方-简" panose="020B0300000000000000" charset="-122"/>
                <a:ea typeface=".萍方-简" panose="020B0300000000000000" charset="-122"/>
              </a:rPr>
              <a:t>工作流一个很棒的特性就是内置了可视化功能。我们安装了</a:t>
            </a:r>
            <a:r>
              <a:rPr lang="en-US" altLang="zh-CN" sz="4000">
                <a:effectLst/>
                <a:latin typeface=".萍方-简" panose="020B0300000000000000" charset="-122"/>
                <a:ea typeface=".萍方-简" panose="020B0300000000000000" charset="-122"/>
              </a:rPr>
              <a:t> llama-index-utils-workflow</a:t>
            </a:r>
            <a:r>
              <a:rPr lang="zh-CN" altLang="en-US" sz="4000">
                <a:effectLst/>
                <a:latin typeface=".萍方-简" panose="020B0300000000000000" charset="-122"/>
                <a:ea typeface=".萍方-简" panose="020B0300000000000000" charset="-122"/>
              </a:rPr>
              <a:t>或者</a:t>
            </a:r>
            <a:r>
              <a:rPr lang="en-US" altLang="zh-CN" sz="4000">
                <a:effectLst/>
                <a:latin typeface=".萍方-简" panose="020B0300000000000000" charset="-122"/>
                <a:ea typeface=".萍方-简" panose="020B0300000000000000" charset="-122"/>
              </a:rPr>
              <a:t>llama_index.core.workflow.drawing</a:t>
            </a:r>
            <a:r>
              <a:rPr lang="zh-CN" altLang="en-US" sz="4000">
                <a:effectLst/>
                <a:latin typeface=".萍方-简" panose="020B0300000000000000" charset="-122"/>
                <a:ea typeface=".萍方-简" panose="020B0300000000000000" charset="-122"/>
              </a:rPr>
              <a:t>，现在就可以用它了。</a:t>
            </a:r>
            <a:endParaRPr lang="zh-CN" altLang="en-US" sz="4000">
              <a:effectLst/>
              <a:latin typeface=".萍方-简" panose="020B0300000000000000" charset="-122"/>
              <a:ea typeface=".萍方-简" panose="020B0300000000000000" charset="-122"/>
            </a:endParaRPr>
          </a:p>
        </p:txBody>
      </p:sp>
      <p:pic>
        <p:nvPicPr>
          <p:cNvPr id="8" name="图片 7"/>
          <p:cNvPicPr>
            <a:picLocks noChangeAspect="1"/>
          </p:cNvPicPr>
          <p:nvPr/>
        </p:nvPicPr>
        <p:blipFill>
          <a:blip r:embed="rId1"/>
          <a:stretch>
            <a:fillRect/>
          </a:stretch>
        </p:blipFill>
        <p:spPr>
          <a:xfrm>
            <a:off x="2244725" y="4422775"/>
            <a:ext cx="18714720" cy="6991350"/>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复杂工作流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1792923"/>
            <a:ext cx="22784013" cy="188658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构建多步工作流：</a:t>
            </a:r>
            <a:endParaRPr lang="zh-CN" altLang="en-US">
              <a:effectLst/>
              <a:latin typeface=".萍方-简" panose="020B0300000000000000" charset="-122"/>
              <a:ea typeface=".萍方-简" panose="020B0300000000000000" charset="-122"/>
            </a:endParaRPr>
          </a:p>
          <a:p>
            <a:pPr>
              <a:buNone/>
            </a:pPr>
            <a:r>
              <a:rPr lang="zh-CN" altLang="en-US" sz="4000">
                <a:effectLst/>
                <a:latin typeface=".萍方-简" panose="020B0300000000000000" charset="-122"/>
                <a:ea typeface=".萍方-简" panose="020B0300000000000000" charset="-122"/>
              </a:rPr>
              <a:t>如何将多个步骤串联起来，形成更复杂的逻辑。要做到这一点，关键在于</a:t>
            </a:r>
            <a:r>
              <a:rPr lang="zh-CN" altLang="en-US" sz="4000">
                <a:solidFill>
                  <a:srgbClr val="FF0000"/>
                </a:solidFill>
                <a:effectLst/>
                <a:latin typeface=".萍方-简" panose="020B0300000000000000" charset="-122"/>
                <a:ea typeface=".萍方-简" panose="020B0300000000000000" charset="-122"/>
              </a:rPr>
              <a:t>自定义事件</a:t>
            </a:r>
            <a:endParaRPr lang="zh-CN" altLang="en-US" sz="4000">
              <a:solidFill>
                <a:srgbClr val="FF0000"/>
              </a:solidFill>
              <a:effectLst/>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4269740" y="3806190"/>
            <a:ext cx="13992225" cy="9457690"/>
          </a:xfrm>
          <a:prstGeom prst="rect">
            <a:avLst/>
          </a:prstGeom>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复杂工作流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1987" y="1792923"/>
            <a:ext cx="22784013" cy="24403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a:effectLst/>
                <a:latin typeface=".萍方-简" panose="020B0300000000000000" charset="-122"/>
                <a:ea typeface=".萍方-简" panose="020B0300000000000000" charset="-122"/>
              </a:rPr>
              <a:t>控制流：循环</a:t>
            </a:r>
            <a:r>
              <a:rPr lang="zh-CN" altLang="en-US">
                <a:effectLst/>
                <a:latin typeface=".萍方-简" panose="020B0300000000000000" charset="-122"/>
                <a:ea typeface=".萍方-简" panose="020B0300000000000000" charset="-122"/>
              </a:rPr>
              <a:t>工作流：</a:t>
            </a:r>
            <a:endParaRPr lang="zh-CN" altLang="en-US">
              <a:effectLst/>
              <a:latin typeface=".萍方-简" panose="020B0300000000000000" charset="-122"/>
              <a:ea typeface=".萍方-简" panose="020B0300000000000000" charset="-122"/>
            </a:endParaRPr>
          </a:p>
          <a:p>
            <a:pPr>
              <a:buNone/>
            </a:pPr>
            <a:r>
              <a:rPr lang="zh-CN" altLang="en-US" sz="4000">
                <a:effectLst/>
                <a:latin typeface=".萍方-简" panose="020B0300000000000000" charset="-122"/>
                <a:ea typeface=".萍方-简" panose="020B0300000000000000" charset="-122"/>
              </a:rPr>
              <a:t>线性工作流很有用，但更强大的能力来自于对执行流程的控制，比如实现循环和分支。</a:t>
            </a:r>
            <a:r>
              <a:rPr lang="en-US" altLang="zh-CN" sz="4000">
                <a:effectLst/>
                <a:latin typeface=".萍方-简" panose="020B0300000000000000" charset="-122"/>
                <a:ea typeface=".萍方-简" panose="020B0300000000000000" charset="-122"/>
              </a:rPr>
              <a:t>LlamaIndex </a:t>
            </a:r>
            <a:r>
              <a:rPr lang="zh-CN" altLang="en-US" sz="4000">
                <a:effectLst/>
                <a:latin typeface=".萍方-简" panose="020B0300000000000000" charset="-122"/>
                <a:ea typeface=".萍方-简" panose="020B0300000000000000" charset="-122"/>
              </a:rPr>
              <a:t>工作流通过事件机制，可以非常自然地实现这些</a:t>
            </a:r>
            <a:endParaRPr lang="zh-CN" altLang="en-US" sz="4000">
              <a:effectLst/>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4420235" y="4086225"/>
            <a:ext cx="13836015" cy="8737600"/>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复杂工作流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2200" y="1740535"/>
            <a:ext cx="22783800" cy="20624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a:effectLst/>
                <a:latin typeface=".萍方-简" panose="020B0300000000000000" charset="-122"/>
                <a:ea typeface=".萍方-简" panose="020B0300000000000000" charset="-122"/>
              </a:rPr>
              <a:t>控制流：分支工作流：</a:t>
            </a:r>
            <a:endParaRPr lang="zh-CN" altLang="en-US">
              <a:effectLst/>
              <a:latin typeface=".萍方-简" panose="020B0300000000000000" charset="-122"/>
              <a:ea typeface=".萍方-简" panose="020B0300000000000000" charset="-122"/>
            </a:endParaRPr>
          </a:p>
          <a:p>
            <a:pPr>
              <a:buNone/>
            </a:pPr>
            <a:r>
              <a:rPr lang="zh-CN" altLang="en-US" sz="4000">
                <a:effectLst/>
                <a:latin typeface=".萍方-简" panose="020B0300000000000000" charset="-122"/>
                <a:ea typeface=".萍方-简" panose="020B0300000000000000" charset="-122"/>
              </a:rPr>
              <a:t>分支和循环的概念紧密相关。分支是指一个步骤可以根据不同的条件，返回不同类型的事件，从而将执行流程导向不同的路径</a:t>
            </a:r>
            <a:endParaRPr lang="zh-CN" altLang="en-US" sz="4000">
              <a:effectLst/>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3164205" y="4023360"/>
            <a:ext cx="17671415" cy="8865235"/>
          </a:xfrm>
          <a:prstGeom prst="rect">
            <a:avLst/>
          </a:prstGeom>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状态管理与上下文</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2200" y="1740535"/>
            <a:ext cx="22783800" cy="20624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sz="4000">
                <a:effectLst/>
                <a:latin typeface=".萍方-简" panose="020B0300000000000000" charset="-122"/>
                <a:ea typeface=".萍方-简" panose="020B0300000000000000" charset="-122"/>
              </a:rPr>
              <a:t>为什么需要上下文</a:t>
            </a:r>
            <a:r>
              <a:rPr lang="en-US" altLang="zh-CN" sz="4000">
                <a:effectLst/>
                <a:latin typeface=".萍方-简" panose="020B0300000000000000" charset="-122"/>
                <a:ea typeface=".萍方-简" panose="020B0300000000000000" charset="-122"/>
              </a:rPr>
              <a:t> (Context)</a:t>
            </a:r>
            <a:r>
              <a:rPr lang="zh-CN" altLang="en-US" sz="4000">
                <a:effectLst/>
                <a:latin typeface=".萍方-简" panose="020B0300000000000000" charset="-122"/>
                <a:ea typeface=".萍方-简" panose="020B0300000000000000" charset="-122"/>
              </a:rPr>
              <a:t>？</a:t>
            </a:r>
            <a:endParaRPr lang="zh-CN" altLang="en-US" sz="4000">
              <a:effectLst/>
              <a:latin typeface=".萍方-简" panose="020B0300000000000000" charset="-122"/>
              <a:ea typeface=".萍方-简" panose="020B0300000000000000" charset="-122"/>
            </a:endParaRPr>
          </a:p>
          <a:p>
            <a:pPr>
              <a:buNone/>
            </a:pPr>
            <a:r>
              <a:rPr lang="zh-CN" altLang="en-US" sz="4000">
                <a:effectLst/>
                <a:latin typeface=".萍方-简" panose="020B0300000000000000" charset="-122"/>
                <a:ea typeface=".萍方-简" panose="020B0300000000000000" charset="-122"/>
              </a:rPr>
              <a:t>想象一下，工作流的第一个步骤加载了一个大型的索引文件。后续的好几个步骤，可能分散在工作流的不同位置，都需要用到这个索引。如果每次都通过事件传递这个大索引对象，会非常繁琐。</a:t>
            </a:r>
            <a:endParaRPr lang="zh-CN" altLang="en-US" sz="4000">
              <a:effectLst/>
              <a:latin typeface=".萍方-简" panose="020B0300000000000000" charset="-122"/>
              <a:ea typeface=".萍方-简" panose="020B0300000000000000" charset="-122"/>
            </a:endParaRPr>
          </a:p>
          <a:p>
            <a:pPr>
              <a:buNone/>
            </a:pPr>
            <a:r>
              <a:rPr lang="zh-CN" altLang="en-US" sz="4000">
                <a:effectLst/>
                <a:latin typeface=".萍方-简" panose="020B0300000000000000" charset="-122"/>
                <a:ea typeface=".萍方-简" panose="020B0300000000000000" charset="-122"/>
              </a:rPr>
              <a:t>为了解决这个问题，</a:t>
            </a:r>
            <a:r>
              <a:rPr lang="en-US" altLang="zh-CN" sz="4000">
                <a:effectLst/>
                <a:latin typeface=".萍方-简" panose="020B0300000000000000" charset="-122"/>
                <a:ea typeface=".萍方-简" panose="020B0300000000000000" charset="-122"/>
              </a:rPr>
              <a:t>LlamaIndex </a:t>
            </a:r>
            <a:r>
              <a:rPr lang="zh-CN" altLang="en-US" sz="4000">
                <a:effectLst/>
                <a:latin typeface=".萍方-简" panose="020B0300000000000000" charset="-122"/>
                <a:ea typeface=".萍方-简" panose="020B0300000000000000" charset="-122"/>
              </a:rPr>
              <a:t>工作流为我们提供了一个叫做</a:t>
            </a:r>
            <a:r>
              <a:rPr lang="en-US" altLang="zh-CN" sz="4000">
                <a:effectLst/>
                <a:latin typeface=".萍方-简" panose="020B0300000000000000" charset="-122"/>
                <a:ea typeface=".萍方-简" panose="020B0300000000000000" charset="-122"/>
              </a:rPr>
              <a:t>“</a:t>
            </a:r>
            <a:r>
              <a:rPr lang="zh-CN" altLang="en-US" sz="4000">
                <a:effectLst/>
                <a:latin typeface=".萍方-简" panose="020B0300000000000000" charset="-122"/>
                <a:ea typeface=".萍方-简" panose="020B0300000000000000" charset="-122"/>
              </a:rPr>
              <a:t>上下文</a:t>
            </a:r>
            <a:r>
              <a:rPr lang="en-US" altLang="zh-CN" sz="4000">
                <a:effectLst/>
                <a:latin typeface=".萍方-简" panose="020B0300000000000000" charset="-122"/>
                <a:ea typeface=".萍方-简" panose="020B0300000000000000" charset="-122"/>
              </a:rPr>
              <a:t> (Context)”</a:t>
            </a:r>
            <a:r>
              <a:rPr lang="zh-CN" altLang="en-US" sz="4000">
                <a:effectLst/>
                <a:latin typeface=".萍方-简" panose="020B0300000000000000" charset="-122"/>
                <a:ea typeface=".萍方-简" panose="020B0300000000000000" charset="-122"/>
              </a:rPr>
              <a:t>的对象。这个</a:t>
            </a:r>
            <a:r>
              <a:rPr lang="en-US" altLang="zh-CN" sz="4000">
                <a:effectLst/>
                <a:latin typeface=".萍方-简" panose="020B0300000000000000" charset="-122"/>
                <a:ea typeface=".萍方-简" panose="020B0300000000000000" charset="-122"/>
              </a:rPr>
              <a:t> Context </a:t>
            </a:r>
            <a:r>
              <a:rPr lang="zh-CN" altLang="en-US" sz="4000">
                <a:effectLst/>
                <a:latin typeface=".萍方-简" panose="020B0300000000000000" charset="-122"/>
                <a:ea typeface=".萍方-简" panose="020B0300000000000000" charset="-122"/>
              </a:rPr>
              <a:t>对象在工作流的整个生命周期中都存在，并且可以被每一个步骤访问。它就像一个共享的储物柜，任何步骤都可以往里面存东西，也可以从里面取东西。</a:t>
            </a:r>
            <a:endParaRPr lang="zh-CN" altLang="en-US" sz="4000">
              <a:effectLst/>
              <a:latin typeface=".萍方-简" panose="020B0300000000000000" charset="-122"/>
              <a:ea typeface=".萍方-简" panose="020B0300000000000000" charset="-122"/>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可观测性与调试</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902970" y="1740535"/>
            <a:ext cx="22973030" cy="1175956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sz="4000">
                <a:effectLst/>
                <a:latin typeface=".萍方-简" panose="020B0300000000000000" charset="-122"/>
                <a:ea typeface=".萍方-简" panose="020B0300000000000000" charset="-122"/>
              </a:rPr>
              <a:t>我们在之前的模块中已经多次提到并使用了可视化功能。这是最直观的理解工作流结构和流程的方式。</a:t>
            </a:r>
            <a:endParaRPr lang="zh-CN" altLang="en-US" sz="4000">
              <a:effectLst/>
              <a:latin typeface=".萍方-简" panose="020B0300000000000000" charset="-122"/>
              <a:ea typeface=".萍方-简" panose="020B0300000000000000" charset="-122"/>
            </a:endParaRPr>
          </a:p>
          <a:p>
            <a:pPr>
              <a:buNone/>
            </a:pPr>
            <a:r>
              <a:rPr lang="en-US" altLang="zh-CN" sz="4400">
                <a:effectLst/>
                <a:latin typeface=".萍方-简" panose="020B0300000000000000" charset="-122"/>
                <a:ea typeface=".萍方-简" panose="020B0300000000000000" charset="-122"/>
              </a:rPr>
              <a:t>1.draw_all_possible_flows(MyWorkflowClass, filename="..."):</a:t>
            </a:r>
            <a:endParaRPr lang="en-US" altLang="zh-CN" sz="4400">
              <a:effectLst/>
              <a:latin typeface=".萍方-简" panose="020B0300000000000000" charset="-122"/>
              <a:ea typeface=".萍方-简" panose="020B0300000000000000" charset="-122"/>
            </a:endParaRPr>
          </a:p>
          <a:p>
            <a:pPr lvl="1">
              <a:buNone/>
            </a:pPr>
            <a:r>
              <a:rPr lang="en-US" altLang="zh-CN" sz="4000">
                <a:effectLst/>
                <a:latin typeface=".萍方-简" panose="020B0300000000000000" charset="-122"/>
                <a:ea typeface=".萍方-简" panose="020B0300000000000000" charset="-122"/>
              </a:rPr>
              <a:t>  - </a:t>
            </a:r>
            <a:r>
              <a:rPr lang="zh-CN" altLang="en-US" sz="4000">
                <a:effectLst/>
                <a:latin typeface=".萍方-简" panose="020B0300000000000000" charset="-122"/>
                <a:ea typeface=".萍方-简" panose="020B0300000000000000" charset="-122"/>
              </a:rPr>
              <a:t>这个函数接收工作流的类名作为参数。</a:t>
            </a:r>
            <a:endParaRPr lang="zh-CN" altLang="en-US" sz="4000">
              <a:effectLst/>
              <a:latin typeface=".萍方-简" panose="020B0300000000000000" charset="-122"/>
              <a:ea typeface=".萍方-简" panose="020B0300000000000000" charset="-122"/>
            </a:endParaRPr>
          </a:p>
          <a:p>
            <a:pPr lvl="1">
              <a:buNone/>
            </a:pPr>
            <a:r>
              <a:rPr lang="en-US" altLang="zh-CN" sz="4000">
                <a:effectLst/>
                <a:latin typeface=".萍方-简" panose="020B0300000000000000" charset="-122"/>
                <a:ea typeface=".萍方-简" panose="020B0300000000000000" charset="-122"/>
              </a:rPr>
              <a:t>  - </a:t>
            </a:r>
            <a:r>
              <a:rPr lang="zh-CN" altLang="en-US" sz="4000">
                <a:effectLst/>
                <a:latin typeface=".萍方-简" panose="020B0300000000000000" charset="-122"/>
                <a:ea typeface=".萍方-简" panose="020B0300000000000000" charset="-122"/>
              </a:rPr>
              <a:t>它会分析工作流的所有步骤及其类型注解，然后绘制出所有理论上可能的执行路径。</a:t>
            </a:r>
            <a:endParaRPr lang="zh-CN" altLang="en-US" sz="4000">
              <a:effectLst/>
              <a:latin typeface=".萍方-简" panose="020B0300000000000000" charset="-122"/>
              <a:ea typeface=".萍方-简" panose="020B0300000000000000" charset="-122"/>
            </a:endParaRPr>
          </a:p>
          <a:p>
            <a:pPr lvl="1">
              <a:buNone/>
            </a:pPr>
            <a:r>
              <a:rPr lang="en-US" altLang="zh-CN" sz="4000">
                <a:effectLst/>
                <a:latin typeface=".萍方-简" panose="020B0300000000000000" charset="-122"/>
                <a:ea typeface=".萍方-简" panose="020B0300000000000000" charset="-122"/>
              </a:rPr>
              <a:t>  - </a:t>
            </a:r>
            <a:r>
              <a:rPr lang="zh-CN" altLang="en-US" sz="4000">
                <a:effectLst/>
                <a:latin typeface=".萍方-简" panose="020B0300000000000000" charset="-122"/>
                <a:ea typeface=".萍方-简" panose="020B0300000000000000" charset="-122"/>
              </a:rPr>
              <a:t>这对于在开发初期理解工作流的整体设计非常有帮助。</a:t>
            </a:r>
            <a:endParaRPr lang="zh-CN" altLang="en-US" sz="4000">
              <a:effectLst/>
              <a:latin typeface=".萍方-简" panose="020B0300000000000000" charset="-122"/>
              <a:ea typeface=".萍方-简" panose="020B0300000000000000" charset="-122"/>
            </a:endParaRPr>
          </a:p>
          <a:p>
            <a:pPr>
              <a:buNone/>
            </a:pPr>
            <a:r>
              <a:rPr lang="en-US" altLang="zh-CN" sz="4400">
                <a:effectLst/>
                <a:latin typeface=".萍方-简" panose="020B0300000000000000" charset="-122"/>
                <a:ea typeface=".萍方-简" panose="020B0300000000000000" charset="-122"/>
              </a:rPr>
              <a:t>2.draw_most_recent_execution(workflow_instance, filename="..."):</a:t>
            </a:r>
            <a:endParaRPr lang="en-US" altLang="zh-CN" sz="4400">
              <a:effectLst/>
              <a:latin typeface=".萍方-简" panose="020B0300000000000000" charset="-122"/>
              <a:ea typeface=".萍方-简" panose="020B0300000000000000" charset="-122"/>
            </a:endParaRPr>
          </a:p>
          <a:p>
            <a:pPr lvl="1">
              <a:buNone/>
            </a:pPr>
            <a:r>
              <a:rPr lang="en-US" altLang="zh-CN" sz="4000">
                <a:effectLst/>
                <a:latin typeface=".萍方-简" panose="020B0300000000000000" charset="-122"/>
                <a:ea typeface=".萍方-简" panose="020B0300000000000000" charset="-122"/>
              </a:rPr>
              <a:t>  - </a:t>
            </a:r>
            <a:r>
              <a:rPr lang="zh-CN" altLang="en-US" sz="4000">
                <a:effectLst/>
                <a:latin typeface=".萍方-简" panose="020B0300000000000000" charset="-122"/>
                <a:ea typeface=".萍方-简" panose="020B0300000000000000" charset="-122"/>
              </a:rPr>
              <a:t>这个函数接收一个已经运行过（至少一次）的工作流的实例作为参数。</a:t>
            </a:r>
            <a:endParaRPr lang="zh-CN" altLang="en-US" sz="4000">
              <a:effectLst/>
              <a:latin typeface=".萍方-简" panose="020B0300000000000000" charset="-122"/>
              <a:ea typeface=".萍方-简" panose="020B0300000000000000" charset="-122"/>
            </a:endParaRPr>
          </a:p>
          <a:p>
            <a:pPr lvl="1">
              <a:buNone/>
            </a:pPr>
            <a:r>
              <a:rPr lang="en-US" altLang="zh-CN" sz="4000">
                <a:effectLst/>
                <a:latin typeface=".萍方-简" panose="020B0300000000000000" charset="-122"/>
                <a:ea typeface=".萍方-简" panose="020B0300000000000000" charset="-122"/>
              </a:rPr>
              <a:t>  - </a:t>
            </a:r>
            <a:r>
              <a:rPr lang="zh-CN" altLang="en-US" sz="4000">
                <a:effectLst/>
                <a:latin typeface=".萍方-简" panose="020B0300000000000000" charset="-122"/>
                <a:ea typeface=".萍方-简" panose="020B0300000000000000" charset="-122"/>
              </a:rPr>
              <a:t>它会分析该实例上一次运行的实际执行轨迹，只绘制那些在那次运行中被激活的步骤和事件流。</a:t>
            </a:r>
            <a:endParaRPr lang="zh-CN" altLang="en-US" sz="4000">
              <a:effectLst/>
              <a:latin typeface=".萍方-简" panose="020B0300000000000000" charset="-122"/>
              <a:ea typeface=".萍方-简" panose="020B0300000000000000" charset="-122"/>
            </a:endParaRPr>
          </a:p>
          <a:p>
            <a:pPr lvl="1">
              <a:buNone/>
            </a:pPr>
            <a:r>
              <a:rPr lang="en-US" altLang="zh-CN" sz="4000">
                <a:effectLst/>
                <a:latin typeface=".萍方-简" panose="020B0300000000000000" charset="-122"/>
                <a:ea typeface=".萍方-简" panose="020B0300000000000000" charset="-122"/>
              </a:rPr>
              <a:t>  - </a:t>
            </a:r>
            <a:r>
              <a:rPr lang="zh-CN" altLang="en-US" sz="4000">
                <a:effectLst/>
                <a:latin typeface=".萍方-简" panose="020B0300000000000000" charset="-122"/>
                <a:ea typeface=".萍方-简" panose="020B0300000000000000" charset="-122"/>
              </a:rPr>
              <a:t>这在调试包含分支逻辑的工作流时非常有用，可以帮助你确认上一次运行时具体走了哪条分支。</a:t>
            </a:r>
            <a:endParaRPr lang="zh-CN" altLang="en-US" sz="4000">
              <a:effectLst/>
              <a:latin typeface=".萍方-简" panose="020B0300000000000000" charset="-122"/>
              <a:ea typeface=".萍方-简" panose="020B0300000000000000" charset="-122"/>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可观测性与调试</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243330" y="1740535"/>
            <a:ext cx="22632670" cy="1066609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sz="4400">
                <a:effectLst/>
                <a:latin typeface=".萍方-简" panose="020B0300000000000000" charset="-122"/>
                <a:ea typeface=".萍方-简" panose="020B0300000000000000" charset="-122"/>
              </a:rPr>
              <a:t>调试</a:t>
            </a:r>
            <a:r>
              <a:rPr lang="zh-CN" altLang="en-US" sz="4000">
                <a:effectLst/>
                <a:latin typeface=".萍方-简" panose="020B0300000000000000" charset="-122"/>
                <a:ea typeface=".萍方-简" panose="020B0300000000000000" charset="-122"/>
              </a:rPr>
              <a:t>：</a:t>
            </a:r>
            <a:endParaRPr lang="zh-CN" altLang="en-US" sz="4000">
              <a:effectLst/>
              <a:latin typeface=".萍方-简" panose="020B0300000000000000" charset="-122"/>
              <a:ea typeface=".萍方-简" panose="020B0300000000000000" charset="-122"/>
            </a:endParaRPr>
          </a:p>
          <a:p>
            <a:pPr>
              <a:buNone/>
            </a:pPr>
            <a:r>
              <a:rPr lang="en-US" altLang="zh-CN" sz="4400">
                <a:effectLst/>
                <a:latin typeface=".萍方-简" panose="020B0300000000000000" charset="-122"/>
                <a:ea typeface=".萍方-简" panose="020B0300000000000000" charset="-122"/>
              </a:rPr>
              <a:t>1.</a:t>
            </a:r>
            <a:r>
              <a:rPr lang="zh-CN" altLang="en-US" sz="4400">
                <a:effectLst/>
                <a:latin typeface=".萍方-简" panose="020B0300000000000000" charset="-122"/>
                <a:ea typeface=".萍方-简" panose="020B0300000000000000" charset="-122"/>
              </a:rPr>
              <a:t>详细模式</a:t>
            </a:r>
            <a:r>
              <a:rPr lang="en-US" altLang="zh-CN" sz="4400">
                <a:effectLst/>
                <a:latin typeface=".萍方-简" panose="020B0300000000000000" charset="-122"/>
                <a:ea typeface=".萍方-简" panose="020B0300000000000000" charset="-122"/>
              </a:rPr>
              <a:t>:</a:t>
            </a:r>
            <a:endParaRPr lang="en-US" altLang="zh-CN" sz="4400">
              <a:effectLst/>
              <a:latin typeface=".萍方-简" panose="020B0300000000000000" charset="-122"/>
              <a:ea typeface=".萍方-简" panose="020B0300000000000000" charset="-122"/>
            </a:endParaRPr>
          </a:p>
          <a:p>
            <a:pPr lvl="1">
              <a:buNone/>
            </a:pPr>
            <a:r>
              <a:rPr lang="zh-CN" altLang="en-US" sz="3600">
                <a:effectLst/>
                <a:latin typeface=".萍方-简" panose="020B0300000000000000" charset="-122"/>
                <a:ea typeface=".萍方-简" panose="020B0300000000000000" charset="-122"/>
              </a:rPr>
              <a:t>在实例化任何工作流时，你都可以传递一个 verbose=True 的参数。</a:t>
            </a:r>
            <a:endParaRPr lang="zh-CN" altLang="en-US" sz="3600">
              <a:effectLst/>
              <a:latin typeface=".萍方-简" panose="020B0300000000000000" charset="-122"/>
              <a:ea typeface=".萍方-简" panose="020B0300000000000000" charset="-122"/>
            </a:endParaRPr>
          </a:p>
          <a:p>
            <a:pPr lvl="1">
              <a:buNone/>
            </a:pPr>
            <a:r>
              <a:rPr lang="zh-CN" altLang="en-US" sz="3600">
                <a:effectLst/>
                <a:latin typeface=".萍方-简" panose="020B0300000000000000" charset="-122"/>
                <a:ea typeface=".萍方-简" panose="020B0300000000000000" charset="-122"/>
              </a:rPr>
              <a:t>w = MyWorkflow(timeout=10, verbose=True)</a:t>
            </a:r>
            <a:endParaRPr lang="zh-CN" altLang="en-US" sz="3600">
              <a:effectLst/>
              <a:latin typeface=".萍方-简" panose="020B0300000000000000" charset="-122"/>
              <a:ea typeface=".萍方-简" panose="020B0300000000000000" charset="-122"/>
            </a:endParaRPr>
          </a:p>
          <a:p>
            <a:pPr lvl="1">
              <a:buNone/>
            </a:pPr>
            <a:r>
              <a:rPr lang="zh-CN" altLang="en-US" sz="3600">
                <a:effectLst/>
                <a:latin typeface=".萍方-简" panose="020B0300000000000000" charset="-122"/>
                <a:ea typeface=".萍方-简" panose="020B0300000000000000" charset="-122"/>
              </a:rPr>
              <a:t>当 verbose模式开启时，工作流在执行过程中会在控制台打印出详细的日志信息，包括：</a:t>
            </a:r>
            <a:endParaRPr lang="zh-CN" altLang="en-US" sz="3600">
              <a:effectLst/>
              <a:latin typeface=".萍方-简" panose="020B0300000000000000" charset="-122"/>
              <a:ea typeface=".萍方-简" panose="020B0300000000000000" charset="-122"/>
            </a:endParaRPr>
          </a:p>
          <a:p>
            <a:pPr lvl="1">
              <a:buNone/>
            </a:pPr>
            <a:r>
              <a:rPr lang="zh-CN" altLang="en-US" sz="3600">
                <a:effectLst/>
                <a:latin typeface=".萍方-简" panose="020B0300000000000000" charset="-122"/>
                <a:ea typeface=".萍方-简" panose="020B0300000000000000" charset="-122"/>
              </a:rPr>
              <a:t>- 当前正在执行哪个步骤的名称。</a:t>
            </a:r>
            <a:endParaRPr lang="zh-CN" altLang="en-US" sz="3600">
              <a:effectLst/>
              <a:latin typeface=".萍方-简" panose="020B0300000000000000" charset="-122"/>
              <a:ea typeface=".萍方-简" panose="020B0300000000000000" charset="-122"/>
            </a:endParaRPr>
          </a:p>
          <a:p>
            <a:pPr lvl="1">
              <a:buNone/>
            </a:pPr>
            <a:r>
              <a:rPr lang="zh-CN" altLang="en-US" sz="3600">
                <a:effectLst/>
                <a:latin typeface=".萍方-简" panose="020B0300000000000000" charset="-122"/>
                <a:ea typeface=".萍方-简" panose="020B0300000000000000" charset="-122"/>
              </a:rPr>
              <a:t>- 该步骤是否产生了事件，以及产生了什么类型的事件。</a:t>
            </a:r>
            <a:endParaRPr lang="zh-CN" altLang="en-US" sz="3600">
              <a:effectLst/>
              <a:latin typeface=".萍方-简" panose="020B0300000000000000" charset="-122"/>
              <a:ea typeface=".萍方-简" panose="020B0300000000000000" charset="-122"/>
            </a:endParaRPr>
          </a:p>
          <a:p>
            <a:pPr>
              <a:buNone/>
            </a:pPr>
            <a:r>
              <a:rPr lang="en-US" altLang="zh-CN" sz="4400">
                <a:effectLst/>
                <a:latin typeface=".萍方-简" panose="020B0300000000000000" charset="-122"/>
                <a:ea typeface=".萍方-简" panose="020B0300000000000000" charset="-122"/>
              </a:rPr>
              <a:t>2.</a:t>
            </a:r>
            <a:r>
              <a:rPr lang="zh-CN" altLang="en-US" sz="4400">
                <a:effectLst/>
                <a:latin typeface=".萍方-简" panose="020B0300000000000000" charset="-122"/>
                <a:ea typeface=".萍方-简" panose="020B0300000000000000" charset="-122"/>
              </a:rPr>
              <a:t>检查点</a:t>
            </a:r>
            <a:r>
              <a:rPr lang="en-US" altLang="zh-CN" sz="4400">
                <a:effectLst/>
                <a:latin typeface=".萍方-简" panose="020B0300000000000000" charset="-122"/>
                <a:ea typeface=".萍方-简" panose="020B0300000000000000" charset="-122"/>
              </a:rPr>
              <a:t>:</a:t>
            </a:r>
            <a:endParaRPr lang="en-US" altLang="zh-CN" sz="4400">
              <a:effectLst/>
              <a:latin typeface=".萍方-简" panose="020B0300000000000000" charset="-122"/>
              <a:ea typeface=".萍方-简" panose="020B0300000000000000" charset="-122"/>
            </a:endParaRPr>
          </a:p>
          <a:p>
            <a:pPr>
              <a:buNone/>
            </a:pPr>
            <a:r>
              <a:rPr lang="en-US" altLang="zh-CN" sz="4000">
                <a:effectLst/>
                <a:latin typeface=".萍方-简" panose="020B0300000000000000" charset="-122"/>
                <a:ea typeface=".萍方-简" panose="020B0300000000000000" charset="-122"/>
              </a:rPr>
              <a:t>  - </a:t>
            </a:r>
            <a:r>
              <a:rPr lang="zh-CN" altLang="en-US" sz="3600">
                <a:effectLst/>
                <a:latin typeface=".萍方-简" panose="020B0300000000000000" charset="-122"/>
                <a:ea typeface=".萍方-简" panose="020B0300000000000000" charset="-122"/>
              </a:rPr>
              <a:t>对于执行时间非常长，或者包含昂贵操作（如大量</a:t>
            </a:r>
            <a:r>
              <a:rPr lang="en-US" altLang="zh-CN" sz="3600">
                <a:effectLst/>
                <a:latin typeface=".萍方-简" panose="020B0300000000000000" charset="-122"/>
                <a:ea typeface=".萍方-简" panose="020B0300000000000000" charset="-122"/>
              </a:rPr>
              <a:t> LLM </a:t>
            </a:r>
            <a:r>
              <a:rPr lang="zh-CN" altLang="en-US" sz="3600">
                <a:effectLst/>
                <a:latin typeface=".萍方-简" panose="020B0300000000000000" charset="-122"/>
                <a:ea typeface=".萍方-简" panose="020B0300000000000000" charset="-122"/>
              </a:rPr>
              <a:t>调用）的工作流，如果中途出错或者你想调整后续步骤的逻辑，从头开始重新运行会非常耗时。为了解决这个问题，</a:t>
            </a:r>
            <a:r>
              <a:rPr lang="en-US" altLang="zh-CN" sz="3600">
                <a:effectLst/>
                <a:latin typeface=".萍方-简" panose="020B0300000000000000" charset="-122"/>
                <a:ea typeface=".萍方-简" panose="020B0300000000000000" charset="-122"/>
              </a:rPr>
              <a:t>LlamaIndex </a:t>
            </a:r>
            <a:r>
              <a:rPr lang="zh-CN" altLang="en-US" sz="3600">
                <a:effectLst/>
                <a:latin typeface=".萍方-简" panose="020B0300000000000000" charset="-122"/>
                <a:ea typeface=".萍方-简" panose="020B0300000000000000" charset="-122"/>
              </a:rPr>
              <a:t>提供了工作流检查点功能。</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部署工作流</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2200" y="1740535"/>
            <a:ext cx="22783800" cy="965644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sz="4000" kern="100" spc="150">
                <a:solidFill>
                  <a:srgbClr val="000000"/>
                </a:solidFill>
                <a:effectLst/>
                <a:uFillTx/>
                <a:latin typeface=".萍方-简" panose="020B0300000000000000" charset="-122"/>
                <a:ea typeface=".萍方-简" panose="020B0300000000000000" charset="-122"/>
              </a:rPr>
              <a:t>当你精心设计和调试好一个</a:t>
            </a:r>
            <a:r>
              <a:rPr lang="en-US" altLang="zh-CN" sz="4000" kern="100" spc="150">
                <a:solidFill>
                  <a:srgbClr val="000000"/>
                </a:solidFill>
                <a:effectLst/>
                <a:uFillTx/>
                <a:latin typeface=".萍方-简" panose="020B0300000000000000" charset="-122"/>
                <a:ea typeface=".萍方-简" panose="020B0300000000000000" charset="-122"/>
              </a:rPr>
              <a:t> LlamaIndex </a:t>
            </a:r>
            <a:r>
              <a:rPr lang="zh-CN" altLang="en-US" sz="4000" kern="100" spc="150">
                <a:solidFill>
                  <a:srgbClr val="000000"/>
                </a:solidFill>
                <a:effectLst/>
                <a:uFillTx/>
                <a:latin typeface=".萍方-简" panose="020B0300000000000000" charset="-122"/>
                <a:ea typeface=".萍方-简" panose="020B0300000000000000" charset="-122"/>
              </a:rPr>
              <a:t>工作流后，下一步通常是希望将其部署为一个稳定运行的服务，以便其他应用程序或用户可以调用它。</a:t>
            </a:r>
            <a:endParaRPr lang="zh-CN" altLang="en-US" sz="4000" kern="100" spc="150">
              <a:solidFill>
                <a:srgbClr val="000000"/>
              </a:solidFill>
              <a:effectLst/>
              <a:uFillTx/>
              <a:latin typeface=".萍方-简" panose="020B0300000000000000" charset="-122"/>
              <a:ea typeface=".萍方-简" panose="020B0300000000000000" charset="-122"/>
            </a:endParaRPr>
          </a:p>
          <a:p>
            <a:pPr>
              <a:buNone/>
            </a:pPr>
            <a:r>
              <a:rPr lang="en-US" altLang="zh-CN" sz="4000" kern="100" spc="150">
                <a:solidFill>
                  <a:srgbClr val="000000"/>
                </a:solidFill>
                <a:effectLst/>
                <a:uFillTx/>
                <a:latin typeface=".萍方-简" panose="020B0300000000000000" charset="-122"/>
                <a:ea typeface=".萍方-简" panose="020B0300000000000000" charset="-122"/>
              </a:rPr>
              <a:t>LlamaIndex </a:t>
            </a:r>
            <a:r>
              <a:rPr lang="zh-CN" altLang="en-US" sz="4000" kern="100" spc="150">
                <a:solidFill>
                  <a:srgbClr val="000000"/>
                </a:solidFill>
                <a:effectLst/>
                <a:uFillTx/>
                <a:latin typeface=".萍方-简" panose="020B0300000000000000" charset="-122"/>
                <a:ea typeface=".萍方-简" panose="020B0300000000000000" charset="-122"/>
              </a:rPr>
              <a:t>社区提供了一个名为</a:t>
            </a:r>
            <a:r>
              <a:rPr lang="en-US" altLang="zh-CN" sz="4000" kern="100" spc="150">
                <a:solidFill>
                  <a:srgbClr val="000000"/>
                </a:solidFill>
                <a:effectLst/>
                <a:uFillTx/>
                <a:latin typeface=".萍方-简" panose="020B0300000000000000" charset="-122"/>
                <a:ea typeface=".萍方-简" panose="020B0300000000000000" charset="-122"/>
              </a:rPr>
              <a:t> llama_deploy </a:t>
            </a:r>
            <a:r>
              <a:rPr lang="zh-CN" altLang="en-US" sz="4000" kern="100" spc="150">
                <a:solidFill>
                  <a:srgbClr val="000000"/>
                </a:solidFill>
                <a:effectLst/>
                <a:uFillTx/>
                <a:latin typeface=".萍方-简" panose="020B0300000000000000" charset="-122"/>
                <a:ea typeface=".萍方-简" panose="020B0300000000000000" charset="-122"/>
              </a:rPr>
              <a:t>的项目（可以在</a:t>
            </a:r>
            <a:r>
              <a:rPr lang="en-US" altLang="zh-CN" sz="4000" kern="100" spc="150">
                <a:solidFill>
                  <a:srgbClr val="000000"/>
                </a:solidFill>
                <a:effectLst/>
                <a:uFillTx/>
                <a:latin typeface=".萍方-简" panose="020B0300000000000000" charset="-122"/>
                <a:ea typeface=".萍方-简" panose="020B0300000000000000" charset="-122"/>
              </a:rPr>
              <a:t> GitHub </a:t>
            </a:r>
            <a:r>
              <a:rPr lang="zh-CN" altLang="en-US" sz="4000" kern="100" spc="150">
                <a:solidFill>
                  <a:srgbClr val="000000"/>
                </a:solidFill>
                <a:effectLst/>
                <a:uFillTx/>
                <a:latin typeface=".萍方-简" panose="020B0300000000000000" charset="-122"/>
                <a:ea typeface=".萍方-简" panose="020B0300000000000000" charset="-122"/>
              </a:rPr>
              <a:t>上找到</a:t>
            </a:r>
            <a:r>
              <a:rPr lang="en-US" altLang="zh-CN" sz="4000" kern="100" spc="150">
                <a:solidFill>
                  <a:srgbClr val="000000"/>
                </a:solidFill>
                <a:effectLst/>
                <a:uFillTx/>
                <a:latin typeface=".萍方-简" panose="020B0300000000000000" charset="-122"/>
                <a:ea typeface=".萍方-简" panose="020B0300000000000000" charset="-122"/>
              </a:rPr>
              <a:t> run-llama/llama_deploy</a:t>
            </a:r>
            <a:r>
              <a:rPr lang="zh-CN" altLang="en-US" sz="4000" kern="100" spc="150">
                <a:solidFill>
                  <a:srgbClr val="000000"/>
                </a:solidFill>
                <a:effectLst/>
                <a:uFillTx/>
                <a:latin typeface=".萍方-简" panose="020B0300000000000000" charset="-122"/>
                <a:ea typeface=".萍方-简" panose="020B0300000000000000" charset="-122"/>
              </a:rPr>
              <a:t>）。</a:t>
            </a:r>
            <a:endParaRPr lang="zh-CN" altLang="en-US" sz="4000" kern="100" spc="150">
              <a:solidFill>
                <a:srgbClr val="000000"/>
              </a:solidFill>
              <a:effectLst/>
              <a:uFillTx/>
              <a:latin typeface=".萍方-简" panose="020B0300000000000000" charset="-122"/>
              <a:ea typeface=".萍方-简" panose="020B0300000000000000" charset="-122"/>
            </a:endParaRPr>
          </a:p>
          <a:p>
            <a:pPr>
              <a:buNone/>
            </a:pPr>
            <a:r>
              <a:rPr lang="en-US" altLang="zh-CN" sz="4000" kern="100" spc="150">
                <a:solidFill>
                  <a:srgbClr val="000000"/>
                </a:solidFill>
                <a:effectLst/>
                <a:uFillTx/>
                <a:latin typeface=".萍方-简" panose="020B0300000000000000" charset="-122"/>
                <a:ea typeface=".萍方-简" panose="020B0300000000000000" charset="-122"/>
              </a:rPr>
              <a:t>llama_deploy </a:t>
            </a:r>
            <a:r>
              <a:rPr lang="zh-CN" altLang="en-US" sz="4000" kern="100" spc="150">
                <a:solidFill>
                  <a:srgbClr val="000000"/>
                </a:solidFill>
                <a:effectLst/>
                <a:uFillTx/>
                <a:latin typeface=".萍方-简" panose="020B0300000000000000" charset="-122"/>
                <a:ea typeface=".萍方-简" panose="020B0300000000000000" charset="-122"/>
              </a:rPr>
              <a:t>旨在帮助你将工作流（尤其是那些可能包含多个</a:t>
            </a:r>
            <a:r>
              <a:rPr lang="en-US" altLang="zh-CN" sz="4000" kern="100" spc="150">
                <a:solidFill>
                  <a:srgbClr val="000000"/>
                </a:solidFill>
                <a:effectLst/>
                <a:uFillTx/>
                <a:latin typeface=".萍方-简" panose="020B0300000000000000" charset="-122"/>
                <a:ea typeface=".萍方-简" panose="020B0300000000000000" charset="-122"/>
              </a:rPr>
              <a:t> Agent </a:t>
            </a:r>
            <a:r>
              <a:rPr lang="zh-CN" altLang="en-US" sz="4000" kern="100" spc="150">
                <a:solidFill>
                  <a:srgbClr val="000000"/>
                </a:solidFill>
                <a:effectLst/>
                <a:uFillTx/>
                <a:latin typeface=".萍方-简" panose="020B0300000000000000" charset="-122"/>
                <a:ea typeface=".萍方-简" panose="020B0300000000000000" charset="-122"/>
              </a:rPr>
              <a:t>的复杂工作流）部署为一个多</a:t>
            </a:r>
            <a:r>
              <a:rPr lang="en-US" altLang="zh-CN" sz="4000" kern="100" spc="150">
                <a:solidFill>
                  <a:srgbClr val="000000"/>
                </a:solidFill>
                <a:effectLst/>
                <a:uFillTx/>
                <a:latin typeface=".萍方-简" panose="020B0300000000000000" charset="-122"/>
                <a:ea typeface=".萍方-简" panose="020B0300000000000000" charset="-122"/>
              </a:rPr>
              <a:t> Agent </a:t>
            </a:r>
            <a:r>
              <a:rPr lang="zh-CN" altLang="en-US" sz="4000" kern="100" spc="150">
                <a:solidFill>
                  <a:srgbClr val="000000"/>
                </a:solidFill>
                <a:effectLst/>
                <a:uFillTx/>
                <a:latin typeface=".萍方-简" panose="020B0300000000000000" charset="-122"/>
                <a:ea typeface=".萍方-简" panose="020B0300000000000000" charset="-122"/>
              </a:rPr>
              <a:t>服务。它通常会包含一个控制平面来编排各个</a:t>
            </a:r>
            <a:r>
              <a:rPr lang="en-US" altLang="zh-CN" sz="4000" kern="100" spc="150">
                <a:solidFill>
                  <a:srgbClr val="000000"/>
                </a:solidFill>
                <a:effectLst/>
                <a:uFillTx/>
                <a:latin typeface=".萍方-简" panose="020B0300000000000000" charset="-122"/>
                <a:ea typeface=".萍方-简" panose="020B0300000000000000" charset="-122"/>
              </a:rPr>
              <a:t> Agent </a:t>
            </a:r>
            <a:r>
              <a:rPr lang="zh-CN" altLang="en-US" sz="4000" kern="100" spc="150">
                <a:solidFill>
                  <a:srgbClr val="000000"/>
                </a:solidFill>
                <a:effectLst/>
                <a:uFillTx/>
                <a:latin typeface=".萍方-简" panose="020B0300000000000000" charset="-122"/>
                <a:ea typeface=".萍方-简" panose="020B0300000000000000" charset="-122"/>
              </a:rPr>
              <a:t>服务，并通过消息队列来进行通信。你可以选择在本地环境或</a:t>
            </a:r>
            <a:r>
              <a:rPr lang="en-US" altLang="zh-CN" sz="4000" kern="100" spc="150">
                <a:solidFill>
                  <a:srgbClr val="000000"/>
                </a:solidFill>
                <a:effectLst/>
                <a:uFillTx/>
                <a:latin typeface=".萍方-简" panose="020B0300000000000000" charset="-122"/>
                <a:ea typeface=".萍方-简" panose="020B0300000000000000" charset="-122"/>
              </a:rPr>
              <a:t> Kubernetes </a:t>
            </a:r>
            <a:r>
              <a:rPr lang="zh-CN" altLang="en-US" sz="4000" kern="100" spc="150">
                <a:solidFill>
                  <a:srgbClr val="000000"/>
                </a:solidFill>
                <a:effectLst/>
                <a:uFillTx/>
                <a:latin typeface=".萍方-简" panose="020B0300000000000000" charset="-122"/>
                <a:ea typeface=".萍方-简" panose="020B0300000000000000" charset="-122"/>
              </a:rPr>
              <a:t>集群上进行部署。</a:t>
            </a:r>
            <a:endParaRPr lang="zh-CN" altLang="en-US" sz="4000" kern="100" spc="150">
              <a:solidFill>
                <a:srgbClr val="000000"/>
              </a:solidFill>
              <a:effectLst/>
              <a:uFillTx/>
              <a:latin typeface=".萍方-简" panose="020B0300000000000000" charset="-122"/>
              <a:ea typeface=".萍方-简" panose="020B0300000000000000" charset="-122"/>
            </a:endParaRPr>
          </a:p>
          <a:p>
            <a:pPr>
              <a:buNone/>
            </a:pPr>
            <a:endParaRPr lang="zh-CN" altLang="en-US" sz="4000">
              <a:effectLst/>
              <a:latin typeface=".萍方-简" panose="020B0300000000000000" charset="-122"/>
              <a:ea typeface=".萍方-简" panose="020B0300000000000000" charset="-122"/>
            </a:endParaRPr>
          </a:p>
          <a:p>
            <a:pPr>
              <a:buNone/>
            </a:pPr>
            <a:endParaRPr lang="zh-CN" altLang="en-US" sz="4000">
              <a:effectLst/>
              <a:latin typeface=".萍方-简" panose="020B0300000000000000" charset="-122"/>
              <a:ea typeface=".萍方-简" panose="020B0300000000000000" charset="-122"/>
            </a:endParaRPr>
          </a:p>
          <a:p>
            <a:pPr>
              <a:buNone/>
            </a:pPr>
            <a:r>
              <a:rPr lang="zh-CN" altLang="en-US" sz="4000">
                <a:effectLst/>
                <a:latin typeface=".萍方-简" panose="020B0300000000000000" charset="-122"/>
                <a:ea typeface=".萍方-简" panose="020B0300000000000000" charset="-122"/>
              </a:rPr>
              <a:t>更多信息参考官方文档：</a:t>
            </a:r>
            <a:r>
              <a:rPr lang="en-US" altLang="zh-CN" sz="4000">
                <a:effectLst/>
                <a:latin typeface=".萍方-简" panose="020B0300000000000000" charset="-122"/>
                <a:ea typeface=".萍方-简" panose="020B0300000000000000" charset="-122"/>
              </a:rPr>
              <a:t>https://docs.llamaindex.ai/en/stable/module_guides/workflow/#deploying-a-workflow</a:t>
            </a:r>
            <a:endParaRPr lang="en-US" altLang="zh-CN" sz="4000">
              <a:effectLst/>
              <a:latin typeface=".萍方-简" panose="020B0300000000000000" charset="-122"/>
              <a:ea typeface=".萍方-简" panose="020B0300000000000000" charset="-122"/>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实战案例</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2200" y="1740535"/>
            <a:ext cx="22783800" cy="20624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sz="4000">
                <a:effectLst/>
                <a:latin typeface=".萍方-简" panose="020B0300000000000000" charset="-122"/>
                <a:ea typeface=".萍方-简" panose="020B0300000000000000" charset="-122"/>
              </a:rPr>
              <a:t>这个项目把包含查询时表检索和查询时行检索的高级工作流封装成一个健壮、可扩展的</a:t>
            </a:r>
            <a:r>
              <a:rPr lang="en-US" altLang="zh-CN" sz="4000">
                <a:effectLst/>
                <a:latin typeface=".萍方-简" panose="020B0300000000000000" charset="-122"/>
                <a:ea typeface=".萍方-简" panose="020B0300000000000000" charset="-122"/>
              </a:rPr>
              <a:t> Web </a:t>
            </a:r>
            <a:r>
              <a:rPr lang="zh-CN" altLang="en-US" sz="4000">
                <a:effectLst/>
                <a:latin typeface=".萍方-简" panose="020B0300000000000000" charset="-122"/>
                <a:ea typeface=".萍方-简" panose="020B0300000000000000" charset="-122"/>
              </a:rPr>
              <a:t>服务</a:t>
            </a:r>
            <a:endParaRPr lang="zh-CN" altLang="en-US" sz="4000">
              <a:effectLst/>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3094990" y="2699385"/>
            <a:ext cx="15391130" cy="10448925"/>
          </a:xfrm>
          <a:prstGeom prst="rect">
            <a:avLst/>
          </a:prstGeom>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sym typeface="+mn-ea"/>
              </a:rPr>
              <a:t>实战案例</a:t>
            </a:r>
            <a:endParaRPr lang="zh-CN" altLang="en-US"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2200" y="1740535"/>
            <a:ext cx="22783800" cy="20624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r>
              <a:rPr lang="zh-CN" altLang="en-US" sz="4000">
                <a:effectLst/>
                <a:latin typeface=".萍方-简" panose="020B0300000000000000" charset="-122"/>
                <a:ea typeface=".萍方-简" panose="020B0300000000000000" charset="-122"/>
              </a:rPr>
              <a:t>启动</a:t>
            </a:r>
            <a:r>
              <a:rPr lang="en-US" altLang="zh-CN" sz="4000">
                <a:effectLst/>
                <a:latin typeface=".萍方-简" panose="020B0300000000000000" charset="-122"/>
                <a:ea typeface=".萍方-简" panose="020B0300000000000000" charset="-122"/>
              </a:rPr>
              <a:t>web</a:t>
            </a:r>
            <a:r>
              <a:rPr lang="zh-CN" altLang="en-US" sz="4000">
                <a:effectLst/>
                <a:latin typeface=".萍方-简" panose="020B0300000000000000" charset="-122"/>
                <a:ea typeface=".萍方-简" panose="020B0300000000000000" charset="-122"/>
              </a:rPr>
              <a:t>服务：</a:t>
            </a:r>
            <a:endParaRPr lang="zh-CN" altLang="en-US" sz="4000">
              <a:effectLst/>
              <a:latin typeface=".萍方-简" panose="020B0300000000000000" charset="-122"/>
              <a:ea typeface=".萍方-简" panose="020B0300000000000000" charset="-122"/>
            </a:endParaRPr>
          </a:p>
        </p:txBody>
      </p:sp>
      <p:pic>
        <p:nvPicPr>
          <p:cNvPr id="6" name="图片 5"/>
          <p:cNvPicPr>
            <a:picLocks noChangeAspect="1"/>
          </p:cNvPicPr>
          <p:nvPr/>
        </p:nvPicPr>
        <p:blipFill>
          <a:blip r:embed="rId1"/>
          <a:stretch>
            <a:fillRect/>
          </a:stretch>
        </p:blipFill>
        <p:spPr>
          <a:xfrm>
            <a:off x="4592320" y="2207895"/>
            <a:ext cx="15199995" cy="10006330"/>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sym typeface="+mn-ea"/>
              </a:rPr>
              <a:t>LangChain  VS  LlamaIndex</a:t>
            </a:r>
            <a:endParaRPr lang="en-US" altLang="zh-CN" b="1">
              <a:latin typeface=".萍方-简" panose="020B0300000000000000" charset="-122"/>
              <a:ea typeface=".萍方-简" panose="020B0300000000000000" charset="-122"/>
              <a:cs typeface=".萍方-简" panose="020B0300000000000000" charset="-122"/>
              <a:sym typeface="+mn-ea"/>
            </a:endParaRPr>
          </a:p>
        </p:txBody>
      </p:sp>
      <p:sp>
        <p:nvSpPr>
          <p:cNvPr id="3" name="文本框 2"/>
          <p:cNvSpPr txBox="1"/>
          <p:nvPr/>
        </p:nvSpPr>
        <p:spPr>
          <a:xfrm>
            <a:off x="1092200" y="1740535"/>
            <a:ext cx="22783800" cy="20624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a:buNone/>
            </a:pPr>
            <a:endParaRPr lang="zh-CN" altLang="en-US" sz="4000">
              <a:effectLst/>
              <a:latin typeface=".萍方-简" panose="020B0300000000000000" charset="-122"/>
              <a:ea typeface=".萍方-简" panose="020B0300000000000000" charset="-122"/>
            </a:endParaRPr>
          </a:p>
        </p:txBody>
      </p:sp>
      <p:pic>
        <p:nvPicPr>
          <p:cNvPr id="4" name="图片 3" descr="无标题"/>
          <p:cNvPicPr>
            <a:picLocks noChangeAspect="1"/>
          </p:cNvPicPr>
          <p:nvPr/>
        </p:nvPicPr>
        <p:blipFill>
          <a:blip r:embed="rId1"/>
          <a:stretch>
            <a:fillRect/>
          </a:stretch>
        </p:blipFill>
        <p:spPr>
          <a:xfrm>
            <a:off x="2867660" y="1530350"/>
            <a:ext cx="17241520" cy="11676380"/>
          </a:xfrm>
          <a:prstGeom prst="rect">
            <a:avLst/>
          </a:prstGeom>
        </p:spPr>
      </p:pic>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DQwMzAzMzE2NTg0IiwKCSJHcm91cElkIiA6ICI3OTU3MDc4MDAiLAoJIkltYWdlIiA6ICJpVkJPUncwS0dnb0FBQUFOU1VoRVVnQUFCQ29BQUFDK0NBSUFBQUI4ajNuYkFBQUFBWE5TUjBJQXJzNGM2UUFBSUFCSlJFRlVlSnpzM1hrOFZPLzdPUDR6aTdGdklVdlppVlJLaWFpRW9tU3BoR1FwdEd1blhVaEpxNUpTWG9WU1JIc3BTeXFwcEtTZGlraUVsT3hibU8zN3gvMTduOTk4a0NSbTBQWDhvNGM1NTU1ejdwbnVtVG5YdWUvN3VnbE1KaE1EQUFBQUFBQUFnTjVINUhRRkFBQUFBQUFBQVA4S0NEOEFBQUFBQUFBQWJBTGhCd0FBQUFBQUFJQk5JUHdBQUFBQUFBQUFzQW1FSHdBQUFBQUFBQUEyZ2ZBREFBQUFBQUFBd0NZUWZnQUFBQUFBQUFEWUJNSVBBQUFBQUFBQUFKdEErQUVBQUFBQUFBQmdFd2cvQUFBQUFBQUFBR3dDNFFjQUFBQUFBQUNBVFNEOEFBQUFBQUFBQUxBSmhCOEFBQUFBQUFBQU5vSHdBd0FBQUFBQUFNQW1FSDRBQUFBQUFBQUEyQVRDRHdBQUFBQUFBQUNiUVBnQkFBQUFBQUFBWUJNSVB3QUFBQUFBQUFCc0F1RUhBQUFBQUFBQWdFMGcvQUFBQUFBQUFBQ3dDWVFmQUFBQUFBQUFBRGFCOEFNQUFBQUFBQURBSmhCK0FBQUFBQUFBQU5nRXdnOEFBQUFBQUFBQW0wRDRBUUFBQUFBQUFHQVRDRDhBQUFBQUFBQUFiQUxoQndBQUFBQUFBSUJOSVB3QUFBQUFBQUFBc0FtRUh3QUFBQUFBQUFBMmdmQURBQUFBQUFBQXdDWVFmZ0FBQUFBQUFBRFlCTUlQQUFBQUFBQUFBSnRBK0FFQUFBQUFBQUJnRXdnL0FBQUFBQUFBQUd3QzRRY0FBQUFBQUFDQVRjaWNyZ0FBWFZWZFhmM3g0OGN2WDc1OCtmS2xvYUdCMDlVQkhlRG41NWVUazVPVmxWVlRVeHMwYUJDbnE4TSswRGovWmZ6OC9QTHk4a09IRGgzd3pSN2FlZC8zejM0SmcvNEZ3Zy9RRDlEcDlPVGtaRjlmMzY5ZnZ6WTJOalkyTmxLcFZFNVhDblNBaTR1TG41K2ZuNTlmUWtMQzE5Zlh3c0tDVEI3Z1h6TFFPTUcvME95aG5mY1gvMEpyQkFNQkU0QytqVWFqclYyN0ZyNUEreDB5bWJ4eTVVb2FqY2JwRnRTTG9IR0NOZ1prczRkMjNrOE55TllJQmdZQ2s4bms5QWNFZ002Y1BYdld6YzJOVHFkakdDWXVMcTZ2cjYrb3FDZ2lJc0xwZW9FTzFOWFZmZjc4K2NtVEo5Ky9mOGN3akVRaW5UcDF5dFhWbGRQMTZpM1FPQUZxOXA4K2Zjckl5QmlvelI3YWVUL3lyMzBKZzM0S3dnL1FwMzM1OG1YcTFLbjUrZmtZaHBtWW1PemR1MWRPVGs1UVVKQkNvWEM2YXFBRHJhMnREUTBOeGNYRlhsNWVDUWtKR0liSnlNaWtwYVVwS2lweXVtbzlEeG9uUUZwYlcrdnI2MHRLU2daa3M0ZDIzci84VTEvQ29QK0N6RmVnVDN2MjdGbFpXUm02NVhiOCtIRXRMUzB4TVRINDJldXpLQlRLb0VHRFJvOGVIUkVSTVhqd1lBekRLaW9xSGo1OHlPbDY5UXBvbkFDaFVDaGlZbUlEdGRsRE8rOWYvcWt2WWRCL1FmZ0IrclNxcWlvYWpZWmhtSkdSa1pTVUZLZXJBN3BLUkVSazVzeVpHSVl4R0l6S3lrcE9WNmRYUU9NRWJReklaZy90dko4YWtLMFJEQmdRZm9BK3JicTZHdVZYa1plWDUrSGg0WFIxUUZlUnlXUUZCUVgweTFkVlZjWHA2dlFLYUp5Z2pRSFo3S0dkOTFNRHNqV0NBUVBDRDlDbk5UYzNNeGdNbE11Y1JDSnh1anFncTRoRW9wQ1FFUHJsYTJ4czVIUjFlZ1UwVHRER2dHejIwTTc3cVFIWkdzR0FBZUVIQUFBQUFBQUFnRTBnL0FBQUFBQUFBQUN3Q1lRZkFBQUFBQUFBQURhQjhBTUFBQUFBQUFEQUpoQitBQUFBQUtCL2FHMXQvYVB5TlRVMUZoWVc3OTY5NjhhNXZuMzdWbHhjM0kwbnNycDY5ZXFWSzFkUVRmN3lVQUFNR0JCK0FBQUFBS0FmdUhidG1xeXNiRXRMUzllZlVscGErdXpaTXlNam96ZHYzdnpwNlR3OVBWVlZWYk96cy8vMGlheUNnNE9EZ29KdTNMaWhwS1NVbnA3K040Y0NZTUFnYzdvQ0FBQUFBQUJZWGw2ZWxaVVYvbkRZc0dFM2J0eGdMVkJmWC8vang0K21waVp1YnU0T2o3QnExYXJidDIrMzJVaW4wNnVycXlkTm10Um0yY1RXMWxaalkrUFRwMDkzZUtnblQ1N0V4TVJnR0phU2tqSnk1TWh1dnlneW1Vd2dFTFMwdEFRRUJDd3RMUjg4ZVBBM1J3TmdZSUR3QXdBQUFBQ2MxOUxTa3B1YlcxQlFvS0NnNE8vdmYrSENoVFlGbmo5L3JxYW1KaW9xK3FzamxKZVhEeG8wS0NRazVMZm5ZaktacmEydGFHV01EdmV1VzdkT1FrTEN6czdPeTh0cjFxeFo4dkx5Zi82Q01EejhrSk9UdTMzN3RvR0J3ZmJ0MjY5ZnY5NjlRd0V3WUVENEFRQUFBSUErcXFxcTZ0bXpaeGlHRlJjWEh6OStmTk9tVFVsSlNhd0Z4bzhmTHlZbWh2NG1rOGw4Zkh6YTJ0cC9lVkp2Yisvbno1OG5KaVlhR3hzL2ZmclUwZEV4TVRGUlVGQ3drNmZjdlh1M29xS2kvZmJ5OG5JR2d4RWJHNHRoMkxKbHkrVGs1TTZkTzhkZ01CWXVYUGlYbFFTZy80THdBd0FBQUFCOTFOdTNiMmZPbkdsc2JNekx5MnRtWnBhVmxaV1ZsWVYyVWFuVTVPVGs1T1RrYWRPbW9TMWtNcGxPcDdNK1BTOHZ6OFBESXlBZ1lOU29VVjA4WTNoNGVFQkF3STRkTzB4TlRURU11Mzc5dXI2K3ZvbUpTV0ppWWljZEw5N2UzcDgrZlZKV1ZpWVFDQVFDQWNNdzlHOVJVUkdHWWF3ZE1xMnRyU1FTQ2NJUDhDK0Q4QU1BQUFBQWZSUzZpQThMQzFOUVVHaXpxNktpWXZEZ3dheGJ5R1F5alVaRGY3ZTJ0bElvRkg1Ky9xU2tKRlZWMVVPSER1SEZHaHNiblp5YzFxMWJOMlhLbERiSDNMbHo1NDRkTzlhc1dlUGo0NE8yREJreTVPN2R1MlptWm5wNmVrZVBIalV4TWZsVlZjM056ZHZQSkxHMnRtNXFha0k5Tmt3bXM2NnVUbGhZdUZ2dkJBQURCMlMrQWdBQUFFQWZoY0tQTHNKN1A1WXNXV0pyYTR0aG1JeU16UFRwMDZPaW9sZ3o5a1pFUk55NGNhT2twSVQxdVNVbEpUTm16Tml4WThmS2xTc1BIejdNdWt0VlZmWEpreWRLU2tyVHAwK2ZQWHQyUmtZR2s4bnNZcFVvRkVwemN6UDYrL1hyMTZLaW92NysvbDEvUlFBTVNORDdBUUFBQUlDKzd0Q2hRNTgvZjhZZnJsKy92djNFY1R6OEVCY1hqNGlJeU12TFUxVlZkWFYxVFVoSWlJdUxzN0d4d1RDTXdXQUVCd2NQSHo1OC92ejU2Rm5OemMxSGpoelp1M2R2VTFQVHdvVUxCdzBhNU8vdjN6N3MwZEhScWE2dWZ2bnlwWjZlbnF5c3JMT3o4NjVkdTFpTGxaV1YzYjE3RjM4NFpzd1ljWEZ4VVZGUmZOV1IrUGg0RE1QMDlmVjc0ZTBCbldFeW1UOS8vbXhwYWFIUmFQVC93VENNOUQ5a01wbWJtNXVYbC9lUHdsM1FiUkIrc05XblQ1OEtDZ3JxNnVvYUdoclF2MHdtVTBoSVNFQkFRRkJRVUZoWVdGNWVYbFZWbGRQVkJBQUFBUG9FZERuSVpETGo0K09aVEthMXRYVk5UWTJQajQrTGkwdUg0UWNhZkxWcTFhcERodzRGQndjZlBYclV5c3BxMEtCQk1URXhLUHk0Y2VQR3AwK2ZMbHk0UUNUK2Z3TkE3dHk1czIzYnRqRmp4cHc0Y2FLNnVqbzhQSnlMaXd2Zmk2TlNxVVpHUmp0MjdJaU9qbzZOalpXVWxHeHpxWnFlbnI1a3lSS1U2cmVrcENRdUxzN0N3a0pPVHU3cjE2K293T1hMbDRjTUdXSmdZTkNiYnhqNFA0cUxpOSs4ZWZQNjlldTNiOStXbEpUVTE5ZlgxOWMzTkRUVTE5ZGpHSWF1dnRDL1E0Y08xZFRVMU5UVTFOTFNrcE9UNDNURkJ6Z0lQOWlodExUMHlwVXI4Zkh4bno1OXFxK3ZwLzRQalVaak1wa1VDb1ZNSm5OeGNhRlJxa3BLU3JObXpabzFhNWFzckN5bkt3NEFBQUJ3RW42Sno4ZkhwNktpc21yVnF1TGlZaDhmSHdFQmdRNExvL0pEaGd5eHM3TTdjK2JNcmwyN1JFUkU1c3laRXgwZFhWOWZMeWdvR0JnWU9HclVLQlNLSUphV2xna0pDU1ltSmlqa21ENTlldWRWY25WMWRYVjFiYi9kM3Q3KzVNbVRhQndYZnYycXJxNWVYVjFkWEZ6ODdkdTN0Mi9mK3ZyNmtzbHc2ZFhyR0F6RzQ4ZVBBd01EMzc5L1gxMWRYVjFkM1NZbkFWSlZWVlZWVllVL3ZIYnRtb2lJeUtCQmcxUlZWVmV0V21WcWFrb2lrZGhiOFg4RmZBWjZDNVBKckttcFNVOVAzN3QzYjFwYVdpY2w4VkdoU0VGQndkMjdkMWV2WHEycnErdnQ3YTJ2cnk4aUlnSzlnUUFBQVA1bFBEdzg2QTgwNzRLWGw3ZDltWjgvZitMYlY2MWFGUjBkZmVYS2xVV0xGdG5aMllXSGg4ZkZ4UWtJQ0tTbnAxKzllclhOcnlvS09YNysvUG5seXhmV21LZkRQNVNWbGR1ZnVyR3hFYThocThtVEp4TUloSHYzN3QyOWUxZFVWSFRObWpWLzl6YUEzNml2cjMvLy92MnVYYnVTa3BJNkREazZRYWZUS3lzckt5c3I4L0x5YnQrK2JXSmk0dTN0UFhMa1NFRkJRYmdNNjFrUWZ2UThKcFA1N3QyN216ZHZ4c2ZIWjJabXNrNTNFeE1UVTFWVkZSY1hGeElTRWhZV0ZoRVJ3VENzcHFhbXJxNnV0cmEyb3FJaVB6OGZUeHlla1pGaGJXMDlkdXhZQ3d1TFdiTm1hV2hvdE84TEJuMU5hMnRyWEZ5Y3ZMejgrUEhqMit4cWFtcmk0K1A3bzZPdFdMRmk4dVRKRGc0T1BWcEhBTHFxb3FMaTlldlhlRmJUMzZMVDZZY1BIOWJWMVowOGVYSXZWdzM4Sy9EQlZ6OS8va1JiVVBqUjB0TFMvaHUxb2FFQlg1MURWMWRYUVVIaDBxVkxpeFl0TWpZMmxwZVgvL3o1YzB4TWpKYVcxdXpac3pzODE0c1hMMzQ3TW9wRUlsR3AxUGJicTZ1ck8reVFFUmNYbnpCaHd2NzkrM056Y3dNREF6dEozUXYrRW9QQnVIejU4cmx6NSs3ZXZkdm14bTQzME9uMHBLU2tsSlFVQXdNRFYxZlhlZlBtUVU5SUQ0THdvK2VGaElRRUJnWisvZm9WRHp4VVZWVXRMUzBORFExVlZGU0VoSVM0dWJrcEZBb2FiWVV1V0tsVWFtdHJhMHRMUzExZDNlZlBuKy9ldlp1WW1KaVRrOVBhMnZyMDZkTVhMMTZFaFlXdFdiTm0vZnIxbkg1eDREZWFtNXZ0N096YzNOemFoQit2WDc4Mk5EUThkKzZjcGFWbDE0K1dtSmc0YU5DZ1hxZ21BQjJqMCtuZnZuMHJLQ2pJeWNsSlMwdTdjdVdLZ0lCQVVWRVJOemQzbTVKWHIxNU5UVTNkc0dGRG0wSFNtelp0OHZMeTZtTDRjZXJVcWMyYk4rTS82blE2blVnazRwZWJkRHE5b3FJQ2Z2TC9OWmN2WHhZWEYzLzkralY2aU45MWJtcHFldkRnd2ZyMTYrdnE2bEJQUmZ0TCtmejhmTlkxQjIxdGJROGZQbHhaV1NrbUp2YnAwNmV3c0xBUEh6N2N2SG16OHdxOGYvOWVYVjI5dzEyaG9hR3JWNjl1djcyaG9lSDc5KzhqUjQ3czhGbUxGeTlldEdqUjVNbVRvZXVqOXpRME5IaDVlWjA3ZDY2NnVyckRBdUxpNHBNblQxWlRVNU9XbHBhU2tob3laQWlSU0N3dExTMHJLeXNySy92MDZWTnFhbXA1ZVhtYlo3VzJ0dDY5ZS9mNTgrY1BIanpZdDI4ZnVtc00vaDZFSHoycHZMeDg4K2JOWjg2Y1FRKzV1YmxWVlZYWHJWdm42dXJhU2NjRkx5OHYzbGs4Wk1pUTRjT0h6NXc1OCtEQmcxRlJVZnYzNzgvUHoyOXBhU2tzTFBUdzhNakl5RGg2OUtpRWhBUzdYaEQ0WTZqenZYMFgvT0hEaCt2cTZnNGNPREJ6NXN3T0w2ZjgvUHgyNzk3ZFpsZHJhK3YrL2Z0WjA5V2pHenhqeG96SnlNam9uVmNBL2hVTUJrTkhSNGRPcDNOeGNURVlqSnFhbXRyYTJwcWFHanFkVHFGUXBLU2sxTlhWUFR3OG5KMmQyOGNlS0RhT2lJanc4L05qM1VnaWtZaEVZb2REMnpVMU5Wa3ZDeWdVeXFkUG4xcGFXcmk1dWN2S3l0QkdRVUhCbzBlUHVyaTRvTFhlcksydHU1N2VGQXdZTFMwdHpjM04rUElkQ0pQSlhMNThPVDZIKzlDaFE1S1NrbTJlU0tWU2MzSnluSjJkOFMyMnRyWUhEaHk0ZnYzNm9rV0xtcHFhL1B6OGRIVjF6YzNOZTd6T2p4NDlvdEZvNDhhTlF3OFpEQWErcTd5OFBEZzRHTDB1RkdCSFJrYStlL2R1eDQ0ZGY5b2ZEbjZscUtobzQ4YU5WNjVjWVgzbjBWZUtrcEtTblozZGpCa3p4bzRkKzl2anZIbno1czZkT3pFeE1YbDVlV2h1T2xKVFV4TVdGbFpZV0hqOCtQRU9oOTZCUHdYaFI0L0p6TXowOVBSODh1UUplcWl0cmIxOCtYSkxTMHNKQ1lsdURCa2tFb25PenM3VHAwOVBURXc4Y2VMRXMyZlAwRDJoOHZMeVhidDJUWnc0c1JkZUFlZ0JxRWVMaTR1TGRXTldWdGI1OCtmOS9QeENRME4zN05peGE5ZXU5ay9jdG0zYjVzMmIyMXkzRFI4KzNOblplZHUyYmF3YjZYUTZYSk9CdjhkZ01GNitmRGxuemh3akk2TkJMTVRFeExveTMrekRodzhqUjQ1c2YvdVppNHVyd3dBN0xTMk5oNGZuMkxGano1NDlPM2Z1SEQ2UUJvQTJIQjBkRlJRVUtpb3FQbjM2eE5yN1lXZG4xNllrUGxZWnVYUG5Ua05EQSt1eWdOcmEydmZ2MzlmVDAwTzNlTXJLeXM2ZVBkc2JkVDV6NXN6SWtTUFYxTlRDd3NLdVhidFdYbDVPSkJLVmxaVWZQbnk0WU1HQ3BxYW1JMGVPckYrL2Z2djI3ZnYyN2F1cXFqcDQ4T0NhTldzZy9PZ1JTVWxKR3pkdXpNN09adDBvS2lwcWFXbHBZMk5qWW1MUzRaeWNEbzBlUFhyMDZOR3JWcTI2ZS9mdTlldlhiOXk0Z2JjeEJvT1JuSnhzWldXMWQrL2VQeHJGQURvRTRVZlBlUC8rdloyZFhXRmhJYnIvNStEZzRPM3QvWmNwZEFrRWdxU2twSXVMaTRHQmdZK1B6NFVMRjJnMFdtcHFxcE9UVTN4OHZJYUdSczlWSC9RaUpwTzVkdTNhVWFOR2VYbDVHUnNibTVpWWlJbUpyVnUzcmsweExpNnVOa0VMMHY1ZU1tUk5BVDNJek14czhlTEZmL29zS3BYNjh1VkxXMXRiZk9FMmNYSHh6bi9qVVk1VU5MYnFWNjBkL09PR0RSdjIvdjM3SVVPR29KbHZqbzZPckhNL2Z2djBreWRQcXFtcFBYdjI3T3JWcStoT0VJSW1ZUVlIQjB0SVNMeDY5ZXJWcTFkb081MU9iMmxwV2JwMHFaU1UxTjlVKytuVHA1Y3ZYejV4NGdTR1lYSnljcTlmdng0MmJOaWhRNGNPSFRwMCt2UnBSVVhGMU5SVURRMk5xcW9xUHo4L0lwR0kwbHEydExUOHpVa0I4dlRwMDlXclYrZm41N051MU5iV1BuSGl4TEJodzdvM1paeUhoOGZjM056UTBIRDU4dVh1N3U2Wm1abjRydmZ2MzY5Y3VaSkNvZncyUFJyb0hGekg5SUM4dkR4Ylcxc1Vld2dMQzY5ZXZkcmIyNXYxdSs4dktTa3BoWWVIcTZxcUJnVUYxZFRVRkJZV1dscGFKaWNuUXc5ZzMxRmVYcjV0MnpZeW1ZeGlnOVRVVkhkM2R4cU5abXRyKy9MbHk3UzB0UFQwZENLUk9ISGl4RXVYTGxsYlcyZG5ad2NGQmVIekZJbEVZb2RwNWpFTTI3MTc5KzdkdTl0c3BORm82dXJxV1ZsWmJIbHhBTFQxOHVYTDV1Ym1jK2ZPblR0M0RtMUpUVTNGNSt6ZXZIbFRRMFBEMnRxNks0ZXFxS2pBNzlRME5UVnQyYklGTmZqR3hzWmVxejdvb3lnVUNqN3BRa3hNVEV4TURNVzYrTDg0ZE8xZVVGQ0FFdkppR0phU2toSVhGeGNhR3ZybHk1ZWNuSnoyOFMzSzRZR3ZBSWpDRHlxVnlqcEhHU1ZLbWpGanhxL0NZelR0aEZWK2Z2NnNXYk4wZEhSUUtsNVRVOVBTMHRJdFc3WnMzcnk1cGFYRndjSGgyTEZqYU1LQXI2OXZYVjNkdm4zN1VIelZmdEVTOEtkS1NrcTJiTm5DR252dzhQQllXMXNmUFhyMEw2ZE5FZ2dFQVFFQmJXM3RsSlNVVFpzMm5UbHpCdSt3TFM0dTNyWnRtN0t5c29xS3lsKy9nbjhYaEI5LzYrdlhyeXRXck1qSnljRXdURTFOTFRBd3NEZkdsWEp6Yy92Nit1cnI2NjljdVRJdkw2K3dzTkRkM2Yza3laUHk4dkk5Zmk3UURmejgvRlpXVmtRaUVRMlRVMVJVTkRjM3A5UHByMSsvOXZMeTh2YjJ4bWREbXB1Ykp5Y24yOW5aeGNmSGUzcDZybHExQ2tXcTBkSFJySG5vVWRNNmR1eFlRRUJBKzlONWUzdGZ2MzZkWFM4T0RHUzdkKy8rNzcvL09pK0RiaEpmdm54NStQRGhhTXZObXpjRkJBVHk4dks0dWJuTHk4dlYxZFhSRlJYeTRzV0wrZlBuWDdodzRWZjVoVmlKaTR2bjVlV2h2d1VGQmZmdTNjczY5K1B2WGh3WUNGQVNsemFKak1yTHl4VVVGSmhNcG9LQ3dwZ3hZekFNTXpZMkxpZ29rSmFXN25DcVVoZWhDU2ZidG0xVFVsTHFzRUI4ZlB5eFk4ZFl0eWdySy8vMzMzOWp4b3hoalZoMGRYVW5UcHk0ZmZ0MlEwTkQxc0tCZ1lIcTZ1cWVucDVjWEZ5UVZ1UXZGUlFVckZpeDRzR0RCL2lXSVVPRytQcjYydHZiNDluUC9wNkFnTURCZ3dlMXRiVjlmWDN4enQ2WEwxOHVXYklrTEN3TTdnSjNHNFFmZjZXNXVkblYxVFUxTlpYQllBZ0lDUGo1K2ZWcWY1eXhzYkdmbjkrcVZhdXFxcXBTVWxLV0xsMGFGeGYzTjErMW9LZWc4QVBETUhReldGNWUzdHpjUEQ0KzN0dmJlOGFNR2Q3ZTNxeUZwMHlaOHZyMWEyOXY3L2Z2MzFNb2xBNEhGYng3OTI3V3JGbUZoWVVMRml4UVYxZW4wK2xuejU3dGNLRXJBUDZHaFlYRjFLbFRPeTlEbzlGYVdscndBU29NQmlNMk50Ykt5Z3JOL2MzSnlTRVFDS3poeDlxMWErL2R1MmR2YjMvNThtVUxDd3UwOGVmUG53d0dnMHFsTWhpTXhzWkdJcEdJVW03QVJDYlFPVFUxdGVQSGo3TTJNQXpEWkdWbE4yN2NLQ3NyYTJ0cmk4K2dVRkJRK010elVTZ1VlWGw1SFIwZEZOSzBWMVZWbFpxYXlycUZRQ0MwRDdQbnpKa3paODZjRG8rd1pNbVNHVE5tZlBqd0FWSzYvWTJXbHBhMWE5Y21KeWZqVzBSRVJFSkRRMmZPbk5ualN4VHc4Zkc1dUxqSXljbk5uejhmbndxU21wcTZkT25TVzdkdWRiaitEUGd0Q0QrNmo4RmcrUG41b2RiUHpjMjlkZXZXZWZQbTllb1pTU1RTL1BuelMwcEt2TDI5VzFwYWtwT1R0MjNiZHVEQUFWZ1BwSThvTHk5SG5SS1hMMTkrK1BCaFlXR2hwcWFtam82T2dvSUM2eThOalViYnQyOWZXRmdZZXNoZ01MeTh2UEQ3eWt3bTg5aXhZMXUyYkJFVEUwdE1URlJYVjgvTHkzTjFkVTFQVDFkVFU5UFgxMGNCek9EQmd6bjBLc0dBTW5yMDZLNzBVYkM2Y2VOR1FVSEJraVZMME1QMzc5OHJLQ2l3VHZ3UUZSVzljK2VPc2JHeGpZM050V3ZYek16TU1BeHpkM2RQU0Vob2FXbWhVcWxLU2tyVzF0WW5UcHhnTXBrUWZvRE9EUjA2ZFBueTVlMjM3OTI3dDhmUE5Ybnk1TStmUDNkU3dNN09ydjBNK0Q4bEt5dUxwbitBYmt0T1RtWmQwSm1YbDNmTGxpMHpac3pvcGNzaElwRm9aR1MwWjgrZTlldlhOelEwb0kwWkdSa1hMbHhBdmJYZ1QwSDQwWDJ2WHIwNmYvNDhtZ3JzN2UyOWRldFc5cHpYMDlNVDlRN1RhTFJ6NTg0NU9qcDJKWjBjWUlQLy92c1BEVkN1cTZzckxTMjFzcktLaUlpZ1VDakxseStuVUNqZnZuMUQ5NDliV2xwWXU0YUpSQ0tlQyt2cDA2ZWJObTE2L1BqeGtpVkw5dTNiUnlhVGZYMTk5Ky9mVDZmVDE2eFpNMnJVS0ZSczJyUnBYVjhKRG9BZXhHUXkwZHlNcDArZm9pMVBuanhwdjl5QmhJVEUzYnQzall5TUZpeFlrSitmTHl3c2ZQcjBhUXpEZ29LQ01qSXlZbUppVUxIVzF0YTZ1am84VTJwTFM4dXBVNmZ1M2J1SFJuV3o5NVVCQVBxSHVycTZzTEN3MnRwYTlKQ0xpOHZMeTJ2Tm1qVzltcGVGUkNJNU9UbFZWRlI0ZTN1alFYcE5UVTBSRVJIbTV1YXdIRUkzUVBqUlRWUXFOU1ltcHJTMEZNTXdmWDE5RnhlWGJtUlg2QjRpa2VqcTZob1hGNWVXbGxaVlZYWGh3b1dSSTBmMjRFeDMwRDFVS2pVME5GUkZSU1UvUDMvaHdvVzV1Yms1T1RuLy9mZGZYVjNkbmoxN3RtN2RHaFVWOWZuelovVDl1SFRwVWcwTmpUYjVyMDZmUHIxbzBTSTBBQ0FwS2VuT25UdlYxZFUxTlRYanhvMDdmLzY4aW9wS1ZGUVVhMHA3QVA0R1NwQ1ArdVZXcmx5WmtKRHdxNUk1T1RuNElNK3paOCsrZlBsU1dsb2FKUmxuTXBuSnljbXJWcTFxL3l4SlNjbDc5KzZWbFpVSkN3di82c2l0cmEwRUFtSGx5cFhvNGRXclY2ZE9uVHB6NWt3TXd4NCtmTWc2cWhzQUFKRGJ0Mi9mdm4wYjd6aGRzR0NCcDZkbjE3UHJkaHNQRDgrNmRlcytmLzU4OHVSSjlPMlhrWkdSa0pDd2NPSEMzajcxd0FPRGRycXBwS1FrSmlZR3JjL2w2T2dvSXlQRHpyT0xpWWs1T0Rqdzh2TFM2ZlFMRnk3Z0V6Y0JCMTI0Y0tHc3JHekxsaTNva3U3S2xTdloyZG1WbFpWQlFVRVZGUlVHQmdhbHBhVnhjWEZvak5icDA2ZmJKSExCTU16UzB2TEZpeGVabVpudTd1NFZGUldGaFlYR3hzWVBIejY4Y2VPR3FxcnF6WnMzRnk1YzZPenMzR1lLSmdEZFUxVlZoV0VZbXY5YVhsNHVKaVoydWgxN2UvdWlvaUw4Wjc2eXNuTHo1czBqUm93SUR3OHZMeSsvZi8vK28wZVBpb3VMZjVWdlExcGF1dk8rMlEwYk52ejQ4V1BDL3hDSlJDVWxKZlQzd29VTDQrTGlZSHc4QUlEVno1OC9QVHc4OExURktKRTlHMklQaEllSFordldyZmpnNTliVzFtM2J0alUxTmJIbjdBTUpoQi9kZE96WU1iVDg2cWhSbzZ5dHJkblc5WUVRQ0FRYkd4c2RIUjIwMk9lcFU2ZlllWGJRSHAxTzM3Tm5qN0t5OG9JRkM5QVdBUUVCTXBuczV1YlcwdElTSGg1dWFtb3FJeU1USGg2T1lWaE1UQXlUeVVRcDdWbFJLSlMwdERRYkc1dWdvQ0FWRlpXZ29LQTVjK1k4ZWZMazRNR0Q5dmIyTzNmdVJBbXl6TXpNV0ZkakJhQjdmdno0Z1JKUG9ZZWlvcUtHN2FpcHFiRSt4ZHZidTd5OC9OQ2hReVltSnRMUzBpZE9uTmkvZi8rSUVTTzZ2UXdSRnhjWFB6OS9oN3NrSlNVdExDelkvTlVLQU9qanJseTVnby9NSkJLSjF0Yld2MHBUMWt1a3BhVVhMVnFFM3huNSt2VnJiR3dzT3lzd01FRDQwUjFNSmhQUGRyOSsvWHI4OTV1ZEpDUWs4Tmw0MGRIUmFCd0Y0SlRJeU1nUEh6N3MzTG16emRoVERRMk5DUk1tUkVWRmtVZ2taMmZuTzNmdVZGUlVuRDkvZnRxMGFXMTZ6R0ppWW9ZTUdiSjI3ZHFpb2lMVXZYYm16Sm16WjgraXBkRG56SmtURkJTVW01dTdhOWV1Qnc4ZWRHT2RPQURhUU9uQy8raVgrOWl4WXdrSkNTWW1KaVFTYWVQR2pkZXVYVXRJU1BEeTh2clRVOWZXMXFLYkpnY09ISkNSa1pIOW42YW1KazlQVC9UMzBLRkRodzRkK3FkSEJnQU1iQmN1WE1EL0ZoRVJjWFoyWm5QdUtRcUZZbU5qZy9MK0lmaGtOdEIxRUg1MFIzcDZPcnB4eU0vUDMyYXRCbmF5dExSRW43cUtpb3IwOUhST1ZRTmdHRlpkWFcxbloyZHZiOTkrbDV1YjI3dDM3OTYrZmJ0dzRVSVpHWmtyVjY1a1ptWXVXN2FzVFRFbEphWERodzhuSmlZdVdyVG80TUdERlJVVkwxNjhRTDBsRGc0TzgrYk55OG5KT1hueTVKWXRXNDRjT2JKbXpScDJ2VEl3WUNVbUptcG9hRWhMUzNmOUtVUWljY2FNR2Vodkd4c2JKcE1wS0NqWTljUlp4Y1hGdWJtNWQrL2VuVEpsQ2hxdTRPN3VucDJkL2VGLytQajRBZ0lDME4vdjM3OS8vZnAxdDE0WkFHQmcrdnIxYTI1dUx2NVFXVmw1OHVUSjdCOStvcVdsaFNlclJJbnkwY0xUb09zZy9PZ09mTVczMmJObmMzRFpEZGJnaC9WK0FHQS9UMC9QMk5qWURyOEU3ZTN0L2YzOXhjWEYxZFhWQ3dzTE16TXpsWlNVWnMyYTFhYVlycTd1NHNXTEN3b0t3c1BETzV4eG01YVdGaGdZYUdGaDRlenNQSEhpeEY1N0tlQ2ZVRmRYZC9QbXpXNnZrVnBUVTJOalkwT2hVRnBhV3B5Y25Mb3k5Tm5JeUVoZVhqNDNOemN5TXZMVnExZHIxNjVGWDJLREJnMFMrQitVeEJ6OUxTUWt4SkdPWlFCQW4vWG16UnQ4NVEwTXczcDd0WU5mSVJBSWFLVXZwTDYrbmpVTE1PZ0tDRC8rV0hOek03N3EwTnk1Y3psYkdUd1AwcDA3ZDJCR2N0OGtJQ0N3YmRzMk5OUUtqYnhhczJaTmg3bkpBd0lDVnE1Y2FXcHFldkhpeGZaN3c4UEQxNjlmZi92MjdjbVRKME5PVXZDWGZIeDhtcHFhV0hPdlBYdjJiSHc3YU1aUkcrL2Z2OWZYMTMvNThtVk1UTXlGQ3hkdTNibzFkdXpZaXhjdm9td0tWbFpXYldhTUlBc1dMSGp3NEVGS1Nzck1tVE5oUmdmQWZmLytYVUpDQXYycVBuMzZsTmdPSHgrZnJLeXNqWTNOcTFldk9GMVp3RWtNQnVQdDI3ZDR2bDNVQjh1cHlxQUVmVWhUVTFObVppYWRUdWRVWmZvalNMejd4MHBLU3FxcnE5RmFTQ05Hak9Cc1pVYU1HQ0V0TFYxV1ZsWlRVMU5TVXFLaW9zTForZ0FVQktLa0hLbXBxWTJOamF5cGUyN2R1a1dsVW1Wa1pKS1NrbERTREIwZEhTa3BxZExTMHFWTGx5WW1KdHJZMkVSR1JuSnpjek1ZREJxTmhtNHFvMWlGUkNJRkJnYU9IRGx5MmJKbCt2cjZTVWxKM1o3dkMvNXhrWkdSSVNFaDI3WnR3MGRldGJTMHlNbkpiZDY4dVUzSkJ3OGVoSVNFNEEvTHk4c1BIejZjKzBSYkFBQWdBRWxFUVZSOCtQQmhBUUdCK1BoNEV4TVRETU1lUDM3czV1Wm1iMjh2TEN3OGZ2eDRXVm5aQnc4ZXBLYW1VaWdVWGw1ZUhoNGVQVDA5RXhNVFYxZFgxaVAvK1BHanVMaTRUY1p3Qm9OUldscWFuWjJOYjJsdGJWVldWdTRrZFMvbzcxYXNXREZseWhSRFEwTjhTNXVsTUd0cmF6TXpNNjlldlpxVWxQVDA2ZFAyaTh5QWYwUnpjL1BIangveG1hNXFhbXJ5OHZLY3FveUtpc3J3NGNNL2ZQaUF2cmdLQ3dzYkd4dUZoSVE0Vlo5K0I4S1BQMVpkWFkwdUxvY09IZnFybkMxc3c4M05MU3NyVzFaV1JxUFJhbXBxT0Z1WnpsVldWaElJQkpUbGN3QkRiUVA5ZSt2V3JaS1NFaTR1THRZQzl2YjJOMjdjUUFrTWZ2NzhLUzB0TFNVbFZWbForZVRKazRpSUNOYjFVMVZVVkVwS1NzVEZ4WldWbGZHTnJxNnVrcEtTOCtmUHI2dXJZKzhyKzFkOCtmSkZRa0tDelhNWjJlbkxseThCQVFGV1ZsYSt2cjc0UnJRVVp2dGJpZmo2dmtoMmR2YVpNMmRzYkd3T0hEaUFoeTdqeG8xNy9mcDFZbUxpelpzM256OS9ucE9UMDlUVVJLUFJxRlFxbFVxbDBXaG9HY0UyMHRQVDkrelowK2JUTVhiczJLU2tKQlNjSTFRcTlmRGh3M3A2ZWozMDZ2OXBaV1ZsZkh4OGZTcVdpNHVMdTNIakJtdkFpV0hZbURGaldCc25zbXZYTGw5ZlgzOS9mOGd5TkNBVkZ4ZUxpb3FpRVppL1FxUFJLaXNyOFlmNE9yeWNNbnIwYUJSK29PR3NyYTJ0bksxUC93TGh4eCtycnE1R2pVeEVSSVRqaS8yUnlXVDBXOUwzdzQrVWxKVGR1M2ZyNk9nNE9EZ1lHQmgwT1Bwb0FCQVFFSGo3OXEySWlBaUdZUWNQSHV6aXN6UTFOZlB6ODFsak15S1JhR3BxMnRMUzR1WGwxU2JLblRselptNXVMbHBBSGZTNDRPRGdaOCtlbVptWjJkallxS3FxY3JvNlBVOU9UaTRqSTRPSGg0ZjFNN2hxMWFvT2Z6dW5USmx5L3Z4NS9Jdk8yTmk0dUxpNC9kTENCQUpoNXN5WnJLTVJjRTFOVFIybTVKODFhMWI3R1ZDZ1YxMjZkQ2tpSW1MNjlPbTJ0cmJhMnRxY3JnNkdZZGpldlh2MTlQUllaL0greXRxMWEzZnMyUEgwNlZPMjFBdXdXMFJFUkdKaTR2VHAwKzNzN0g0MXJvUkdvNkd4SjhpUUlVUFlXTUVPeU1ySzRuOUQrUEduQnVZbFlLK3FxYW5wVStFSHV0SnQ4N0hzZzVxYW1uSnljazZkT29WbW9QcjQrTHg1ODZhcXFxcjk2bnY5R29sRUdqbHlaRGNTaHJidkZ3b0xDenQzN3B5NnVucjd3aEI3OUo3S3lzcEhqeDV0MjdaTlhWMWRYMS8vNU1tVHBhV2xkWFYxQXltM3RZaUlTSnVRd05MU3NzT1piSXFLaXZiMjlxeUJTdnZZbzNOOGZId0Q5VjVEdjFOWFYvZm16WnY5Ky9lUEh6OWVYVjM5NE1HREh6OStySzZ1cHRGb0hLbFBXbHJhMDZkUGJXMXR1MUtZVHFjem1VdytQajdXalpHUmticTZ1dno4L0VKQ1FzYkd4cXo5WmhpR2hZU0VqQjgvWGxoWVdFaElTRTlQNzh5Wk0vZ3VNek96NGNPSHg4WEZqUnMzanBlWFYwWkdadkhpeFdWbFpheFB2MzM3dG9tSmlZaUlDQjhmMzVneFk0NGNPY0k2dUorWGwzZjE2dFVSRVJGYVdscDhmSHlEQnc5MmNYRmhQY0s5ZS9lbVRac21LU25KeTh1cm9hSGg0K1B6OCtkUGZHOVRVOU9PSFR2VTFOUjRlSGdHRHg1c2IyK1BFbUgvczJwcWFqSXlNbmJ1M0RseTVFZ2RIWjJRa0pDU2twTGEybHJXTDE0YWpZWVdTMFU0bnBnYndvKy9BYjhLZnd3ZmZOVkh3ZzlSVWRGKzBmdkJxcVNrWk5ldVhYcDZlak5uenZUdzhEaC8vbnhlWGg2K3NqSUFmUUdEd1hqeTVNbXlaY3RHalJwbGEydnI2K3NiRnhlSEZoc0ZvTC9MemMzZHVISGoyTEZqcmF5c3RtN2RldW5TcGNMQ1FqWi9DYU5ocUhQbXpPbEtZWDkvZnd6RHBrMmJobTladDI2ZHE2c3JTdGE4ZmZ2Mm1wb2FjM1B6RXlkT29MMkhEeDlldlhxMXZMejgvdjM3QXdJQzZIUzZtNXNidmhmRHNNTEN3bm56NWprNk9tWmxaWVdFaENRbUp1cnA2ZUZqZTRLQ2dzek16RDU5K3JSKy9YcC9mMzloWWVIMTY5ZmIydHF5WGczSHhzYjYrdm91V2JJa1BqN2UzZDA5S2lyS3pzNE83WHI2OUttRmhVVk5UYzIyYmR1Q2c0TkhqUnJsNysrUFQzOXFibTZlT25XcXY3Ky9ycTV1VUZEUWloVXI3dCsvcjZPajgvejU4NTU0WC91OXpNek1WYXRXalJneFl1N2N1YXhmdkcwR1gzRTgvSkNUazhQL2h2RGpUOEhncXo5V1dWbUp3bzlCZ3daeE1Pc3UwbzhHWDdYL1lmdjU4MmRHUmtabVp1YlpzMmZGeGNWSGpodzVmLzc4MmJObmR6aFVBd0QyYU45UXE2dXJrNU9UNzkyN0p5SWlJaWtwcWF1cjYram9hR0Jnd0tFS0F0QmpHaHNiMDlMUzB0UFRoWVNFSkNRa3hvOGZiMnRyYTJabXhwNmZ0dnYzNzR1SmliRmV3eUV2WHJ6WXVuVXIrcHZKWk5iVzFxYW5wMmRsWmFtb3FPellzUU50Zi9qd1lYQndzSk9UMDltelo5R1dkZXZXbVppWWVIcDZXbHRiUzBwS1JrWkd5c25KWGI1OEdlMTFjM09iTUdIQ3UzZnY4TE8wdExUczM3L2Z3OE1EVGJTVGtKQXdNRERZdlh2M29VT0hpb3FLdG16Wm9xS2k4dno1Y3pTWmVQMzY5VTVPVGpFeE1lZk9uVnU0Y0NFNlFuVjE5YnQzNzFDZU55TWpvNXljbklzWEwrYmw1YW1xcXNiR3hyYTB0Rnk2ZEVsUlVSSERzQ1ZMbGhBSWhKS1NFaXFWeXNYRnRYLy8vb3lNakZPblRpMWF0QWdkYXRteVpacWFtc3VXTFh2eDRrVXZ2K3Q5VlBzdjNycTZ1bnYzN3FXbXBxSXYzb2tUSnhvWkdiR0dId29LQ215djV2OEJ2UjkvQThLUFAwWWtFbEhXU0NhVHlmRWI5Z1FDQVNWV1lqS1pkRHBkVkZTMGp3Y2g3VEVZakxxNnVycTZ1b0tDZ3JpNE9DNHVyaFVyVnJpN3UzZVl1eFAwVTY2dXJxd2pIL29qT3AxZVdWbFpXVm41L3YzNzA2ZFBEeDA2ZE5pd1laeXVGT2pUdExTMCtzWEtpUXdHbzZhbXBxYW1KaTh2Ny96NTgwSkNRdTd1N3U3dTdxeFhWNzBoUHorL3cvUjkyZG5aYlNhajYrcnFCZ1FFdUx1NzQ1bUYwQVIwRnhjWDFsVWdiRzF0SHoxNmxKaVk2T0xpSWljbmw1V1Z0WFhyVmljbnB4RWpSdkR4OGIxOSs1YjFtQVFDWWNXS0ZmakRTWk1tcWFxcVhybHk1ZENoUTlldlgyOXRiZDIwYVJOK09nS0JzSHYzN3BpWW1Jc1hMK0xoaDdxNk91dnZGSG90Mzc1OVUxVlZSVy9kK3ZYclBUMDk5ZlQweUdReTY0ejUyTmhZSVNFaFMwdEx2UElVQ3NYVTFEUTJOcmF3c0xBM3JxcURnb0tDZ29KNi9MQnN3UHJGZStyVUtkYWMzUnhQZE1zNi9xVXZYQkQyTHhCKy9ERmhZV0VLaGZMejU4L2EydHJXMWxiT1pzaWgwV2dvQnpicUJ0bXlaVXVmWGYzajlldlh0MjdkNm1TUXNiQ3c4TGh4NDhhUEh6OXAwaVF4TVRIMjFnNzBydG16WjNQOFRsVVhYYjkrdlpOTFJpS1JLQ1VsTlg3OGVCMGRuYnk4UFBaV0RmUXp5NWN2Ly9idEc2ZHI4Zjk3OE9EQi9mdjNmN1dYUUNDSWk0dVBIVHRXUjBkbjRzU0p2WjFDdExXMXRhNnVEczFkYkdQaHdvV25UNTlHaWRlaW82TTlQVDJycXFvc0xTMVpxNFNXdm1ZZGk0VXJLaXJDTUN3d01EQS9QMy9mdm4zNzl1MlRrWkV4TVRHWk8zZXV1Yms1ZnYwcUpTWFZKcXVIZ29MQ25UdDNXbHRiQ3dvS1VGNzdObnNGQkFRK2YvNk1iMm16TENhNkdFWFh4Tzd1N2c4ZVBJaUxpNHVMaXhNVUZEUTBOTFMwdEhSd2NPRGo0Mk15bVhsNWVYUTZ2Y01wZkwwVWZreVlNR0hHakJrOWZ0Z2VoTElxLzJvdmtVaVVrWkVaTVdMRWt5ZFA4S3lQSFA5d2xaYVc0bjhMQ2dweWZEUisvd0xoeHg4VEVoTGk0dUpDNFFlVlN1MVQ0UWZydlp5KzVzeVpNNG1KaWUzRER6S1pyS1dsWld0cmEySmlJaTB0TFM0dXpycFFCaGdZK2xHYW84K2ZQM2NZZnZEdzhCZ2FHdHJhMnVycDZVbEtTb3FJaU96YXRZc1RGUVQ5eHJKbHl6aGRoZjlqMTY1ZEhZWWZGQXBGVjFmWDF0Yld5TWhJVWxKU1RFeU1EZGtDQ0FRQ2dVRG9QS09EZ0lEQXNtWExKQ1VsNTg2ZE8yM2F0TXpNVEh5NFAzcmk5ZXZYMjB4R3g4ZmtxS3FxWm1kbnA2V2xKU1VscGFTa1JFVkZSVVpHV2x0YjQ4T3gycCtheVdRU2lVUVNpWVJ1WTdkZkhKUEJZTEFPUyt0azlVeGVYdDY0dUxqMzc5L2Z1blVySlNYbDNyMTdOMi9lM0w5Ly85T25UMFZFUkJnTWhvcUt5dkhqeDlzL3NaZVN5VTZZTUtGOUx1TStwYnE2dXNQd0EvL2kxZGZYSnhLSmMrYk1lZi8rUGRyMS9mdDN0bGZ6LzJETk5DQWtKQVRoeHgrQjhPT1BvZDRQTk5TUDQxbWI2SFE2Q2o5SUpGS2Z5dWJlSHVzM05abE1GaElTR2p4NDhLeFpzeHdjSEVhTkdnV3JJSU0rQXIvd0loQUkzTnpjZ29LQ0Nnb0t6czdPZG5aMmtwS1NuSzRkQU4zSEdsUndjWEVKQ3d0TFNVbloyTmc0T1RteExpN0VIbHhjWE9MaTRxeERwMzVsOXV6WmE5ZXVEUW9LY25KeXVuLy9QdnF4VUZSVWZQRGdnWWlJQ09zc3JJOGZQMzc4K0ZGQVFJQk9wMmRsWlJFSUJBTURBMVNndkx6Y3lzcnE2dFdyMmRuWmFPSEM4dkx5bXBvYXZQdUZ3V0JrWjJlcnFLaVFTQ1FsSlNVTXc5NjllemRod2dUODRJV0ZoVTFOVGUxbnFuUW9Qei8vNjlldkJnWUdHaG9hbXpadGFtNXU5dkR3Q0EwTlBYLysvS3BWcStUbDVVdExTeWRObXNRNjBURXRMZTNuejUvdG82bC9CR3ZqNU9ibUZoSVNHanAwcUpPVGs2T2pJLzdGVzFWVmhYTHRJSDBxL0lEZWp6OEY0Y2NmRXhZV1JrdGxvY0ZYbkswTWErOUhoNzNZZlkyQ2dzS0VDUk8wdGJYMTlQUTBOVFU3WDJNSUFJN2c0K1BUME5BWVAzNDhHbVQxcXlUMEFQUTdKQkpKVFUwTnRlMEpFeWFNR2pXS2c5ZE1DZ29LYUpqVGJ3VUVCQ1FsSlQxOCtQRFlzV09yVjYvR01HenUzTGxuenB6eDhmRkpUazVHTDRGS3BicTV1YVducDc5NTgwWk1UTXpFeEVSQ1F1TDE2OWRvNytEQmcxVlVWSjQ5ZTRabmptWXltZnYyN2R1elp3OTZHQjRlL3UzYk45UmhOWHYyN0UyYk5oMDRjR0Rldkhub1I0ckpaS0paN3gzbXAyN1AwOU16SVNFaE56Y1hSVEk4UER4YVdscDQzbW9iRzV1REJ3L3UzTGt6SUNBQWxTOHBLYkd5c3VMbDVXVWQzUFd2NGVibVZsZFhIejkrdks2dXJvNk9UdnY3a2lRU2lUWDg2Rk9EcjZEMzQwOUIrUEhIOEViMjlldlhwcVltemxhbXBhVUZKYVJEL1FtY3JVem5ORFUxTDEyNk5IejRjQWtKaWI3V1VjTmdNQXdORGFkT25ZcTZwM2w1ZVZGeU14d2EyNFl5aytDcEZic29QejlmUlVYbFYzc1BIank0YWRPbTVPVGtEZ2N4OXl3L1B6OC9QNy8wOVBRSkV5YjgrUEZEWFYzOTJyVnJrTUdwalZtelpybTV1U2tvS0lpTGkvZHFFclk3ZCs0NE9Eams1T1NJaVltaC94cld2UlFLUlVKQ1FrZEhaK1BHamF5M1lQOVNVVkhSa0NGRC9uVHRqcjd2K2ZQbk9qbzZYbDVlUFRJaWJxQitPaVpPbkhqcjFpMTFkWFZ4Y2ZHK2NPdG4rdlRwL3Y3K0h6NTgrTzJ5Z3p3OFBHRmhZUVlHQnR1MmJiT3dzRkJVVkRRM04zZDBkSXlPamtaTDJmTHg4VVZIUjJka1pIaDRlS0R4Uzl1MmJmUDA5RFF3TUxDM3QrZmo0MHRQVHo5Ly9yeUZoUVhyU2twSGpod3BLaXFhUEhueXk1Y3ZJeUlpTkRVMU4yM2FoT0tpM2J0M2I5NjhXVXRMeThYRlJWQlFNQzR1TGlVbHhjTEN3c25KcVNzdmJldldyY25KeVlhR2hrdVdMSkdSa2NuTHl6dCsvTGlzck95OGVmTXdEUFB5OGtwSVNOaTdkMjkyZHZiMDZkTnJhMnREUTBQcjYrdkR3OFAvMlV2WWFkT21XVnBhS2lzcmk0dUwvNm9MQ0Y5cEFNRkhZWEVLYXpJRFFVRkJkR01hZE5GQSt4RmlBMFZGUlJFUmthS2lvaytmUG4zKy9KbjlmZGFzaW91TDBkMGpRVUZCZVhsNUR0Ymt0N1MwdE5EdG56NG9PRGo0OCtmUDZJY0hFUllXWHJkdUhmNnd1Yms1TnpmMzVzMmI5Ky9mYjJ4c3hOTzMvOWFpUll1eXNyS2VQWHYycXdMOC9QeVNrcExzeitBc0lTR3hkZXZXUllzV3ZYbno1cC90N3U4UWUrYW8xTmZYTDFteXhNZkhoelhMZ3JHeE1iN09PcFZLL2ZMbHkvWHIxMi9kdWhVZkg5OGowZW5Ka3lmWHJWdFhYbDdlRnk0OWV4WVhGNWVrcEdSUHZhNkIrdWt3TkRUa2RCWCtEeXNySzM5Ly81U1VsSzZzZXE2dnI3OTY5ZW9qUjQ0c1hyejQ3dDI3QkFMaDdObXordnI2RVJFUmZuNStGQXBsMkxCaEVSRVJMaTR1cVB6Njllc2xKQ1NPSHovdTcrL2YyTmlvckt5OGMrZk9EUnMyc0I3ejBhTkhLMWV1dkhidG1xU2s1SVlORzd5OXZmSEpuQnMzYmxSWFZ6OTA2TkMrZmZzWURJYTZ1bnB3Y0xDN3Uzc1haOFZNbURBaEpTVmx6NTQ5b2FHaEZSVVZrcEtTam82TzI3ZHZSMWZQd3NMQ2p4OC8zcnQzNzVVclY1S1RrMFZGUmNlT0hSc2RIVDE1OHVSdXZaRUR3Y3laTTM5YmhvZUhSMVZWbFVBZ29NazU2ZW5wNWVYbGd3Y1Baa3NGMi9yMjdkdWpSNC9RM3dRQ0FXVW00RWhOK2lzbStIUDRoZW5TcFVzNVc1T1ZLMWVpbXF4WXNZS3pOZWtsZUpaM1gxOWZSdS80K3ZVckh4L2Y4ZVBIOFMzYzNOenk4dkx0UzZha3BLRDhHMVFxdFlzSGw1U1VIRGR1WE05VjlxK2d2cDMwOUhUMHNLbXBTVnBhZXV2V3JiMTB1a09IRHFIL3UzWHIxbkc2SGZXS3YybWM2OWV2bDVXVmJXbHBRUS9SZjgzWnMyZmJGTHR3NFFLYWpkb2oveVBveml0YXdSMTBydHVmam9IWDdIdjFTMWhYVjFkYlc3dkhEL3RiMDZkUFIvM2VBOXZBYTQxeGNYR3NveWYyNzkvUHFacmc3eTI2alJnUkVjR3BtdlJUc09wNWQ5alkyS0EvYnR5NHdjSE0wL2pWQ1laaERnNE9uS3BHZjNma3lCRUdnK0hvNlBqYmtvYUdobVBHalBuNjlldVhMMS9ZVXJYZXhjUEQ0K0RnY1B6NGNUeVBJV0NQcXFxcWt5ZFBPanM3LzdhejN0YldWa2xKS1NzcjY4ZVBIK3lxSGNEZzA4RTIzdDdlejU4L2YvbnlKYWNyQXZxSGtTTkhzdllZWDdod2dTUFhZRFFhN2ZyMTYvaERBUUVCUFQwOTlsZWpYNFB3b3pzbVRwdzRaTWdRbEhnaEpTV0ZVOVZJU1VsQmFVTmtaV1VuVFpyRXFXcjBhNDJOamFHaG9UTm16QkFVRk94S2VmUk54em9lSXpJeVVsZFhsNStmWDBoSXlOallPQ2twQ1czUHlja2hFb25mdjM5LzhlSUZrVWhFaS9oeWNYR3RYNzkrMDZaTmdvS0Nnd2NQdm5YcjFzR0RCNGxFNHQyN2QvRURwcWVubTV1YkR4bzBpSmVYZC9UbzBjSEJ3U2hCNUk4ZlA3aTV1ZHNNd3FIVDZUSXlNcU5IajBZUGMzTnozZHpjRkJVVmVYaDRCQVVGeDQ4Zkh4NGUzc25Mc2JXMXJhMnRQWFhxMUIrK2JlQ3ZIRDkrdkxHeDBkYld0aXVGVVVxSnhzWkc5REFuSjhmUjBWRktTb3FibTF0SlNjblQwN082dWhvdjNOVFU1T25wT1h6NGNENCtQbkZ4Y1V0THk4ZVBINk5kMHRMUzZHNkZrSkFRK3FVME16TWJQbng0WEZ6Y3VISGplSGw1WldSa0ZpOWV6SnJMeGNURVJFdExLeVltUmxwYVdsQlEwTWZIQjkzMUNBa0pHVHQyTEI4Zm43Q3c4TlNwVXhNVEUxa3IzTkRRNE9YbHBhYW14c2ZISnk4dnYyelpNdFlKbWwrK2ZGbThlUEdRSVVPNHVia1ZGUlU5UFQxWlYwcnRwUDRZaGhVVUZOamIyeXNvS1BEdzhNakp5UzFhdEFpL0VmRDgrWE1pa2VqdDdZMGU4dkx5cmw2OU9pSWlRa3RMaTQrUGIvRGd3UzR1THF3dmpVcWwrdnY3RHhzMmpJK1BUMTFkL2NTSkV4czNiaVFTaVEwTkRYZ1orSFN3d2N5Wk04M016RkRUQXVDM0ZCUVUwR3grNU5PblQvZnUzV1B6ZW45TUp2UDU4K2NmUDM3RXR5Z3BLYkhPS1FKZEFlRkhONkhrR3hpRytmdjdjMlNoOFpxYW1zREFRRFRvY1BIaXhleXZ3TUJ3Ly83OTJ0cmEyYk5uZDZYd2pSczMzcng1TTNMa1NEd1A0THAxNjF4ZFhmbjQrQUlDQXJadjMxNVRVMk51Ym43aXhBa1VFOGJGeFltSWlLaW9xTVRGeGVFTDVjYkV4SncvZjM3RmloVVRKMDdVMWRWdGM0cExseTRaR2hybTVPUnMyTERod0lFRGlvcUs2OWF0UTVNZEpTUWtMQzB0VTFOVFMwcEs4UEszYjkvKzl1MGJtb3VTbjUrdnE2dDc2OVl0UjBmSEkwZU9lSHA2ZnZ2MmJjbVNKVGR1M1BqVks5TFIwUmt5WkFqclhSekFCamR1M0ZCVVZNU0R4azVVVkZUazVPUUlDQWlnNVE3UzA5TzF0YlhqNHVJY0hCd09IanlvcjY4ZkZCU2txNnVMOTQwNE9EZ2NPM2JNek16czZOR2pIaDRlTDErK05EWTJSdk1qejUwN2gwYVdYN3g0OGVEQmc2aDhZV0hodkhuekhCMGRzN0t5UWtKQ0VoTVQ5ZlQwS2lzcjhRcDgrZkpsK2ZMbGMrYk1zYk96bXpCaEFwUEp0TE96VzcxNk5UOC8vNjVkdXp3OFBBb0xDODNOemZGeENFMU5UZnI2K252MjdOSFcxZzRNREp3L2YzNVVWSlNSa1ZGVlZSWEtpNnF0clgzcDBpVkhSOGZnNE9DWk0yY2VPM1pNWDE4Zi93cnRwUDQxTlRYR3hzWVBIejVjdkhoeFNFaUluWjNkK2ZQbkRRME5mLzc4MmVGYkZ4c2I2K3ZydTJUSmt2ajRlSGQzOTZpb0tOYWtFWFBuenZYeDhWRlRVOXU3ZCsvVXFWUFhybDE3OXV6Wk5rZUFUd2Q3bkRwMTZ1blRwNnkzWUFENEZRS0JnQTgvUVFsSVQ1OCt6WHJYZ0EyYW01dWpvcUpZMC81MlpmUUVhSXZUbzcvNnF5OWZ2Z3diTmd6MTBhTVIyK3c4TzRQQmlJeU1SRGZzMWRYVmMzSnkySGwyZHVydHVSOGVIaDRvZndYclJwUjBmRE9MMWF0WFQ1MDZsVUFnOFBQelAzNzhHQlZMVFUzRk1Nekp5UWwvWW5OejgrVEprM2w0ZU1yS3l0Q1dObk0vMElxSzJkblorSmI5Ky9kakdKYWNuTXhnTUZBU2VuVjFkZGJSK1pzM2IwYXJhekVZakZ1M2JtRVl0bWZQSG55dm5aMGRoVUlwTHk5bk1CakxseTlIa3lueHZlaTZ6ZGJXRmoxc00vY0RzYkN3SUpQSnZURWZZT0FOTzI2amU0Mnp1cnFhU0NUT25UdVhkV1A3dVI4L2YvNTg5dXlaa1pFUmVnTVpEQWFkVGxkVFUrUGk0bnI5K2pWZURLMWM1dUxpd21Bd1VOaXdZTUVDZkc5NmV2cXdZY1BDd3NMUXd6WnpQOUR3OS8zNzkrUGxIejU4aUorT3dXQk1uVG9WdzdDUWtCQzhRSFIwTklaaDl2YjJOQm9OYmFtcHFWRlZWU1dUeVhsNWVRd0dBK1h2T25yMEtQNlVNMmZPWUJoMjRNQUJCb05oWkdURXk4djc1czBiZkc5Q1FnS2FKZnpiK2wrNWNnVmxSOFgzQmdZR2FtcHF2bmp4Z3NGZ29Pd09YbDVlYUJjM056ZVJTUHp3NFFOZUdNVWV1Ym01REFiajRzV0xhT1lldnZmcTFhdm92N0xOQjZFYm40NkIxK3paTUFFUDlKS0IxeHFaVEdabFpTWHIrQ3NoSWFHTWpBeDJWaUFySzJ2UW9FRjRCY1RGeGF1cXF0aFpnWUVCZWorNlNVWkdadDY4ZVdReXVibTUrZHk1YytYbDVldzhlMDFOVFdSa1pIMTlQWWxFbWpkdkhtZXpiL1ZyK2ZuNWFIM2NOdHZyNnVyMnNUaDY5R2hoWWVHYU5XdmV2SG1ERC9HTWpZMUZWMzRWLzFOWFYyZHJhOXZjM054bU9Bb3JGUlVWRFEyTkRuY2xKaWJXMU5UTW56Ky91YmtaUHlhNmJMcDI3UnJLVXpsa3lKQ29xQ2hVdnJhMk5pNHV6dExTVWx4Y0hPWHZLaWdvbURoeEluNUFsRisxOHp0REtpb3FOQnF0cUtqb1Q5NDIwSDBGQlFVTUJxTjlrME5YM3NULzRlWGwxZEhSdVgvLy9vd1pNL3o5L1ZHUW5KdWJhMmRucDZtcGlUOWwyYkpsaW9xS1Y2NWNvZFBwZ29LQ29xS2ljWEZ4SjA2Y1FQbTRKMHlZa0pPVDQrYm05cXZLRUFpRUZTdFc0QThuVFpxa3FxcUtMdlJ4VmxaVytOK1hMbDNDTUd6bnpwMTQvaDhoSWFHdFc3ZlNhRFQwck92WHJ3c0xDN091OWoxLy92eW5UNTh1WHJ6NCsvZnY5Ky9mTnpBd2tKYVd4cHUzdHJhMnJLd3N1dnJ2dlA1b3ViZkF3TURyMTYvWDE5ZWpvT1gxNjllL3lxZW5ycTZ1cHFhR1AwUWZPclJRQUFvL1dBZjh6SjQ5ZTl5NGNlMFBBcDhPQVBxYVFZTUdIVGh3QU04ZVhsZFg1Ky92Mzl6Y3pKNnpOemMzZTN0N28rNWM5Q083YytkTzFuVEFvSXNnL09nbUVvbms1T1NFMW5OSVRVME5EdzluMitoREJvTVJGaGFHN2xNT0hUclUwZEZ4NEdYeFo1c2ZQMzd3OFBDMHozdUxaNzVxYVdsSlNrcFNVbEtxcUtqUTE5ZG5IWFdhbTV1THNwVVBackZtelJxMHVzS3Z6b2htRFhVSUhkRFgxNWYxZ09pcXFMQ3dFTFc2QlFzV3ZIdjM3dFdyVjJqV1hYTnpNNTRGbUV3bVV5aVUzYnQzMjlyYWpoOC9YbFJVRkYxeW9ha2p2NEt5aUxBNWZ2NlhvWUZTSFM1OVkyeHN2T3gvMXE1ZHUyZlBuc2VQSHlja0pLQzVScDgrZmNJdm8zRUVBa0ZEUTZPK3ZyNmlvb0pNSnA4K2ZacEFJS3hjdVhMbzBLR2pSbzNhc0dFRGFpcS9JaVVseGMvUHo3cEZRVUdodUxnWVgxQ1ZRQ0JJUzB2amV6OTkrc1REdzlQbWZnZGFReG8xMGMrZlA2UE9FSHd2RnhlWGpvNk9zTEF3YXQ2M2I5OGUvSDhWRnhkLytmS0Z3V0IwWHY5eDQ4YjUrUGprNXVaYVcxdUxpNHNiR0JqczJiTUhSU2tkUWpFNURpMm5nT1p1NWVibUNnb0t5c2pJc0Jib2NIRkorSFFBMEFkWlcxdWJtcHJpRDIvZHVyVjkrM1owVjZKWE5UWTIrdm41NFFNeUNRU0NqbzZPdGJWMWI1OTNRSUxMMXU1VFZWVmR1blNwaDRjSGxVb05DQWpnNCtOalhTbWk5NFNFaFBqNStkRm9OQXpEM04zZE8xblNEdndXaVVUcS9PcWNpNHZMMU5UMHpwMDc0OGVQZDNCd0VCUVVuREZqQnRxRm5uajkrdlgyS3dNb0tDajg2b0NkeElvb2d2WHo4MnVmUXdPL1duVjFkZDI3ZDI5VVZKU1dsdGE1Yytka1pHVFFFQnAwWVRkNzltd1NpV1JnWUdCc2JMeDY5V285UFQzV0c4QWRRaGRrYUZRWVlBUDBWbmZZNmx4Y1hEcFoxQXcxanpiTEFPT0hRaUcwbFpWVmNYRnhVbExTblR0M1VsSlNEaDA2ZFBqdzRjT0hENk9vdUwzMjFXQXltVVFpRVc4UHFDdW1UUjA2cVFDVlNtMWZROVppYytmT1plMGJhYVB6K3UvWXNXUDU4dVczYnQyNmUvZHVhbXBxV2xwYVFFREFuVHQzT2x5VzhWZlZ3RENzdGJXMS9SMkhEc3ZEcHdPQVBraElTTWpOemUzeDQ4ZTF0YlhvZStuNDhlTmlZbUliTm16b3ZiWC9hRFJhZEhUMDBhTkg4UzI4dkx3TEZ5N2sxTUlqL1IzMGZuUWZnVUJZdTNZdHV1QnJiR3owOGZIcDdUeThhSXl5bjU5ZlkyTWptVXcyTXpQYnNHRkRKNyt5NExla3BhVmJXMXQvZTlkRVVWRXhQRHljVHFjdldMQUFuM0NtcUtpSUVoTk5ZeUVuSjlmYzNOeTk1WWRRME1Ka01sa1BxS09qVTF0Yml5Zm1VbEZSbVR4NThzV0xGd3NLQ2g0L2ZyeHc0VUw4MnNqVjFaVkVJcjE5K3pZaElXSGZ2bjBMRml6b3lvcHBLSGxhbXp2Qm9QZWd6Z1RXNmQxZGhQb2MyaXoweTJReVAzejRJQ1FrSkNJaTB0RFE4T1RKazZxcUttdHI2eE1uVHVUbTVyNTgrVkpZV0xpVGhjREx5OHRaTTJjd0dJenM3R3dWRlpWZlhYQXJLeXMzTnplanBVNXhxRXF5c3JMb1E1R2ZuODhhMVRBWUREU2hISDFlcXFxcXB2MWZEUTBOZkh4OEtPdFVKL1gvL3YzN3ZYdjNSRVJFRmk5ZUhCc2JXMVpXZHViTW1jYkdScFNCNDQ4TUd6YXNvcUtpVFM1ajFqdzJPUGgwQU5BSEVRaUVtVE5uNnVqbzRGdCsvdnk1YjkrK2xKU1VYaHFId21ReUh6OSt2R1hMRmp3SklZWmhvMGVQZG5KeWdtdXc3b0h3NDY4UWljU3dzTENaTTJlU1NLVDYrdnJObXpmamVWZDdRMHBLeXBZdFd5b3JLNGxFb29XRlJYaDRlQmRYWUFXL2dxNzQwYmlSenMyYU5RdE44OENYZXB3N2R5NGFRWTZQVktGU3FXNXVibFpXVnZpVkRZbEV3dmYrbHJtNU9TOHY3OUdqUjFtSGxQajcrOXZhMnQ2NWN3ZmY0dWJtVmxwYXVuSGpSblMvSEcyazArbFZWVlZTVWxLc3c4TkNRa0xRUFp0T1RscFVWTVRGeGRYSmtERFFzMlJsWlVra1VsZWFYQnVhbXBxcXFxb1hMbHpJenM3R041NCtmYnF3c0JBMXhZOGZQMDZjT0JITllrZEdqaHdwTEN5TWQ3aWhvSUsxUVRLWnpIMzc5dUVQdzhQRHYzMzdObi8rL0YvVkFaMW94NDRkK0c5OFkyUGovdjM3U1NUU25EbHowQ1NLNnVycXlNaEkvQ2xYcmx5SmpZMnRyNitYbDVmWDF0YStmLzgrNjVka2ZEbVdIOUlBQUI0WVNVUkJWSHk4dGJVMW1pRGJlZjJqbzZOTlRFelF0QTEwL1lFNkNic3g5TlRlM2g3RE1OWlZ3Kzdmdi8va3laUDJKZUhUQVVEZnhNdkxHeG9hYW1KaWdtK3ByYTExYzNNTEN3dnI4VkZZVFUxTmtaR1JqbzZPckZuT2pZeU16cDA3MTVWN2ZLQmpuSjc3UGhEazVPU2cwYzhZaGtsS1N1N2V2YnUxdGJWblQ5SGEyaG9ZR0lnUHdsWldWczdMeSt2WlUvUk52WjEwQlYzV3MrYjI2V1RWODhyS1N2UmZFQnNiaTdhZ2RIdWFtcHA3OSs0TkRnNUdpWFE5UER6d3AyaHBhUkdKUkZkWDE1aVlHSlQ1YXVyVXFhekhaTTE4eFdBdy92dnZQd0tCSUM0dXZuMzc5dERRVUpTcWFPTEVpWTJOamZoVEdob2FoSVNFTUF5YlBIa3k2NkhRQ05UNTgrZkh4c1pHUkVTWW01c1RpVVFLaFlLbjNtcWYrWXBHbzRtSWlKaWFtdjdkdTlpeEFabDBoVlczRytla1NaTWtKU1ZadC94cTFmTTJVbE5UZVhsNUJRUUVObTdjZVB6NGNSY1hGd0tCb0tDZzhPM2JOMVFBVFJPM3M3TTdmdng0Y0hBd3lyU0xzazZocGRZeERETTFOZDIxYXhlZStZcUhoOGZlM2o0a0pHVFJva1VFQWtGVFV4TnZiRk9uVGtXakUzRTBHczNTMGhMRHNDbFRwaHcrZkhqMzd0MW9EdjNldlh0UmdacWFHZzBORFNLUjZPYm1kdUxFQ1U5UFQxNWUzbEdqUnFIa1VjK2ZQeGNVRk9UaTRscStmSGxvYUtpSGh3Y3ZMNitrcENSS1NOVjUvU3NxS2hRVkZmbjQrTmF1WFh2eTVNazllL1lvS2lwU0tKUzB0TFFPTTE5Tm1US0Z0ZVlCQVFIb0RnN0tJWVlHamx0WldSMDVjbVRkdW5VOFBEem9NcUsrdnA3MXhYYmowekh3bWowYk1sL2w1ZVV0VzdaTVdWbVpoNGRIU0VoSVMwdkx4OGVucXFxcUIwOVJWMWYzOWV0WDlIZDZlbnF2dmh4emMzTVU1LysyNU5hdFc2ZE5tOVpMMVJpUXJiR04vUHg4MW13cmFBWEF4WXNYVjFkWDk5UXBHaG9hUER3ODBHOHVidlRvMGUvZXZldXBVL3liSVB6b0dWbFpXVkpTVXFnUGprUWl1YnU3bDVhVzl0VEJ2My8vdm1MRkNqU2lrVUFnU0VwS3ZuLy92cWNPM3NmMTlpOWZTMHVMaUlpSWpZME42OFpmaFI5NGdrNEpDUW1VNjVaT3A0ZUVoS0JWMjRTRmhjZVBIeDhSRWNGYVBpa3BTVmxabVVLaE9EbzZkaVg4WURBWXljbkpwcWFtd3NMQ1BEdzg2dXJxdnI2KzdmTitMbDI2Rk1Pd051ZXFxcXBhdVhLbHJLd3NOemUzckt5c3VibjV3NGNQN2V6c3lHUXkrdDF0SDM1a1ptYTJqNzU2eW9ELzVldDI0MFQvNlZsWldmaVdMb1lmS0pteXJhMnR1TGc0aFVKUlZsYmV1SEVqNjFWYVEwT0RuNStmaG9hR2dJQUFQeisvdnI1K1ZGUVV2cmVnb0VCUFQ0OUNvYURtamNLUHpNeE1IUjBkYm01dU9UbTVqUnMzc2phMjl1RUhnOEdnVXFtQmdZR2pSbzNpNXVZV0ZSVTFNVEZKU0VoZ0xWQlZWZVhoNFNFdkwwK2hVSlNVbE5hdFcxZFJVWUh2emMzTmRYWjJscEtTUXRWd2MzUDc5T2xURit0ZldGaTRaTWtTUlVWRmJtNXVNVEd4V2JObVBYMzZGTzM2by9BRG5Xano1czF5Y25KY1hGeHFhbXBoWVdGbVptWnRMaG03OStrWWVNMit0NytFSHoxNmhFYmZHUnNiTDE2ODJOblpHZVZYa0pXVkxTb3E2cEZUcEtlbnk4akl4TVhGNFE5N05meHdjbktTbEpTa1VxbS9MVmxYVnljbEpYWGl4SWxlcXNuQWE0M3RwYVdseWN2THQ3bXhQbUhDaEE4ZlBxQTdLZDA3TElQQmFHcHF5czNOYlQ4VlUxcGFPajQrdnFkZnh6OEh3bzhlazVtWk9XM2FOSHphazU2ZVhrUkVCRnIvb1hzSFpEQVlaV1Zsa1pHUjZCWWdDbXltVFp1V25wN2UwM1h2dTlodzQyM1RwazNjM053L2Z2em9wZVAzWlN0WHJoUVZGYTJwcWVtTmd3LzRYNzV1Tjg3eThuSitmdjROR3piMHh0dmVkU2o4NEd3ZE9PTEhqeCtzdlJ6SWhBa1R4TVRFV0xkMDc5TXg4SnA5YjM4Smp4bzFpcGVYOThtVEovZ1dPcDJPd2tWOHphSy9oSmJIWVZ2NDhVZUNnb0lFQlFWNzZRZG80TFhHRGlVbUp1SWpVSEFpSWlLT2pvNlhMMSt1cTZ2NzB3TTJORFJjdTNiTnhjV0ZkWUVSWk1TSUViZHUzZXFkMS9Gdmdaa0RQVVpiV3pzeU1oSlBvdi9reVpQVnExZGJXRmdjTzNic1YrdnlkcUs1dVRrME5OVGMzSHpseXBXUEhqMUNHeGN0V2hRWkdkbGhtaGZRYlo2ZW5tUXltWFcwK2oraXFha3BPanA2N2RxMWJicVZRVzhURnhkM2QzZVBqSXhzYVduaGRGMytSUkVSRVlLQ2d2SHg4ZmlXRHg4K1pHWm1zdDdtaEU4SGV6UTBOR1JsWmVucTZxS1Jxd2lCUU5peVpZdXNyR3g4Zkh6bm1Ra0hBR2RuNStibTVtUEhqbkc2SXYzWWpCa3pMbDI2WkcxdHpUb2J0cWFtSmpvNmVzbVNKWWFHaHBzMmJYcjQ4R0huMHlEUlBNbTB0RFF2THk4akk2TkZpeGFkT1hPR05VY0k2cUNMaVlsQmcrdkFYNEx3b3lmSnlNZ2NPWElrTmpaV1ZsYVdUQ1kzTmphK2VQRml6Wm8xVWxKU1RrNU9GeTllL1BMbFMyVmxaWDE5ZlZOVEU1b2Z3bUF3V2x0Ym01cWE2dXZyS3lzcmk0dUxMMSsrN09qb0tDTWo0Kzd1L3ZMbHk0YUdCaEtKSkNzcmUvYnMyZi8rKzA5R1JnYlNMUFFzQ1FtSjdkdTNIemh3Z0ExWncvdVVRNGNPaVlpSW9Qa0FnTTIyYk5uQ3hjVVZIQnpNNllyOGkyeHRiUVVFQkJZdVhPamw1WFh5NU1udDI3Y2JHaHJ5OGZIdDJiTUhMd09mRHZaQWM1bXlzckpLUzB2YjdNckl5Q2dxS2lJU2lZMk5qVUpDUXUxdmIydHFhaW9vS0RDWnpMMTc5eEtKeEZldlhqazdPMHRLU3ZMeThtcHBhZUhMczg2ZlA5L2QzUjFOOVNFU2lmajZkRXdtTXlnb1NGMWRuWWVIUjFGUjBkZlhselVyUTFOVDA0NGRPOVRVMUhoNGVBWVBIbXh2YjUrVGs4TjY5cENRa1BIanh3c0xDd3NKQ2VucDZaMDVjd2JmWldscFNTUVM4WXZkVGtwaUdDWXFLanB0MnJTUWtCQzJMWnczSUttcnEwZEdSaTVkdWhUUEVvbFVWMWUvZlBueXdJRURVNlpNRVJjWHQ3T3oyN1ZyVjNoNGVHSmk0c2VQSDdPeXNtN2Z2aDBSRWVIdjc0K0d6RTJlUERrZ0lDQXpNeE5mV0JERnd3SUNBZ3NXTExoNjllcW9VYU00OGZvR0lGajNvK2ZaMmRtTkdUUG14bzBiMTY1ZGUvNzhPWTFHcTZ1cmk0Nk9qbzZPRmhRVTFORFFrSkNRRUJJU0VoWVdGaE1UbzlGb3RiVzFkWFYxdGJXMTVlWGx1Ym01S0k4MVFpYVR0YlMwWnMrZWJXTmowK0V5eWFCSGJOeTQ4ZWJObS92MzcrOGtSZWtBVTE1ZWZ2RGd3ZXZYcjdmNXNnYnNJU29xR2hZVzV1RGc0T3JxMm1hQlBORGJGQlFVTWpJeUFnSUNvcUtpdm4vL0xpNHVQbVBHREc5dmIzd05KZmgwc0EySlJOcTRjYU92cjYrR2hvYU5qWTJwcWVta1NaTlFxakVwS1NsVWhwK2YzODdPTGlJaTRzV0xGL2ppOUM5ZnZzek96dmJ4OGNIdng1bWFtcHFabVVWRVJGQ3AxRjI3ZGkxWXNFQktTbXJhdEdtYk5tMFNFeE03ZnZ5NGo0K1B0clkyV29BU3c3Q2pSNDl5Y1hFNU96c0xDZ3Bldm54NTE2NWR6YzNOS0JGY2MzUHoxS2xUTXpNekhSd2MxcTlmWDFaV0Zob2FtcENRa0pLU29xMnRqV0hZNGNPSFBUMDlyYTJ0Rnk5ZVRLVlN6NTQ5NitibTl2UG5UM3o0QTY0ckpXZlBucDJZbUppV2xqWnQyalMydk9zRGs0Q0FRRWhJaUltSnllblRwKy9kdTlkKzFFbHRiZTJsUzVjdVhicjBSNGRGRThrV0wxNDhkKzVjeURYYWt6ZzkrbXZBb3RQcHhjWEZvYUdobmF4QTE3a2hRNGFjUEhteXFLaUlUcWR6K3RWd0RCdm1mb0JlTXVDSEhVUGpCTzBOdkdiUGhuWWVIQndzSVNHQi8vWXBLaXE2dTd1L2UvY09MNUNXbG9aaDJKbzFhL0F0YTlhc0lSQUlhSkVaTkZFRXBmZEEzcjE3aDJHWWc0TURldGpoM0k5Qmd3WVZGeGVqTFRVMU5XSmlZa09IRGtVUDBVcytkZW9VZnNDU2twSkJnd1pwYVdtaGg1cWFtbkp5Y3ZqZWhvYUdrU05IdXJ1N280ZXNtYTg2TDRtZ0pBZGJ0bXpwaWZmeS94aDRyZkczVUphODI3ZHZHeGtaL1dXMFFDUVNwMHlaa3BDUWdETE5jUHFWRFRRUXlmVVdJcEU0ZE9qUVpjdVc1ZVhsUFhqd3dNUERRMU5UVTFKU1VsaFlXRUJBZ0plWGw0dUxDNjBvek1YRnhjUERJeUFnSUN3c1BIanc0QkVqUm5oNmVxYWtwS0EwTDNKeWNoQndBd0FBR0toV3JWcFZXbHA2Nzk2OTdkdTNUNWt5NWV2WHI4ZVBIeDg5ZW5Sb2FDZ3FvSyt2cjY2dUhoTVRnMFkwVWFuVW1KaVlLVk9tc0M1emhMSTJJK3JxNmlRUzZkdTNiNTJjZE5hc1dmaUtMaWpiYjFsWkdWclFKalkyVmtoSXlOTFNzdUovS0JTS3FhbnBxMWV2MElvOWNuSnl4Y1hGVzdkdVJYRU9IeC9mMjdkdk81eS8wWldTcU5zdFB6Ly9yOTlJZ0JFSUJERXhNVk5UMHp0MzdzVEZ4V2xyYXc4ZVBKaWZuNytMMTFFRUFvR1BqMDlDUW1MTW1ERXhNVEYzNzk0MU16T1RrSkNBUWU4OURnWmY5VG95bVd4Z1lHQmdZRUNqMFFvS0NvcUtpdXJxNmhvYUd0Qy9UQ1pUU0VoSVVGQVFoUjlEaHc1VlZWWDkxWkxEQUFBQXdNQkRKcE9Oakl5TWpJelFXcGJSMGRFYk4yNWN0V3JWMUtsVDBjQmpGeGVYTFZ1MkpDVWxXVmhZSkNRay9QanhBMTkwRldFZHhFZ2dFTWhrTXAxTzcrU01iVmFUNU9mbnA5UHBkRHFkUkNMbDVlWFI2WFI4OUJlcndzSkNCUVdGd01EQS9QejhmZnYyN2R1M1QwWkd4c1RFWk83Y3VlYm01dTB2VXJ0U1VraElpRWdrbHBlWC8vbmJCbjZKUkNLWm01dWJtcHJtNWVXOWUvY3VPenY3M2J0M1pXVmw2TktydnI0ZXpmWVVFQkJBRjJDQ2dvSXlNaklqUm96UTBOQVlPWEtrbXBvYW5zZ1U5QVlJUDlpSFRDWVBHelpzMkxCaG5LNElBQUFBd0huUjBkR1hMbDNhdDIrZm1wb2F2cEdmbjMvcDBxVk5UVTBlSGg3Snlja28vRmk0Y09IMjdkdWpvcUlzTEN6T25qMHJLQ2c0ZCs1YzFrUDk2ZjNwWDkzbVF3TjRWRlJVMEpDdE50RE1ZMVZWMWV6czdMUzB0S1NrcEpTVWxLaW9xTWpJU0d0cjY4dVhMN2NwMzVXU2FHQVAzSGJzRFZ4Y1hCb2FHaG9hR25QbnpxMnJxMnRxYXFKU3FWUXFsVWFqVWFsVWRHSEc5VDlvL1M0WWI4SWVFSDRBQU1EL2ErL09vNklxSHorTzMyRm0yTlJZM0VnUjBaTXM3Z3NCcFdtWkFpSjZKTlFRTlJVcDgyaTRvRWVUUEVmOVp1SnVvUnpOSlRHak5CUzNBSGZ4c0poaXVCQ0JIUlFWanN0QkNFV1lZV0RtOThmOWZlYzNQeUNqZ2pzeXZGOS9lSWJuUG5ONUx1Y1IrUEJzQUl5Z3BLVGsyTEZqcjcvK2VtUmtaSzFMTmpZMmdpRG9WNHAzN05qUjM5Ly9wNTkrS2k0dVRrcEttang1Y3F0V3JacWlTV1ptWmwyN2RpMHFLaG95WklpbHBhVytQRFUxdGJLeTB0cmF1cWFtNXViTm16S1pUSnpYSU81Vk1IYnMyTU9IRDJkblp4dnUwTlhBbXNYRnhUcWRybE9uVGszeE9CQ1ptWm5aMnRyYTJ0b2F1eUg0WDRROEFBQmdCSk1uVDI3VHBzM3ExYXUvL2ZaYmNkMkY2UGJ0MjFGUlVSWVdGb1puTElTR2hqNS8vbnpSb2tVcWxhcld6S3NYRXdjV0RQZlZmYkh4NDhkWFZsYXVXclZLWDFKWVdEaDI3TmpwMDZmTDVYS3RWanR5NU1oSmt5YnBiOWloUXdkeC9ZWkM4Zi8rcE52QW1uZnYzaFVYM0RmOGlZRG1qdEVQQUFCZ0JQYjI5Z2NQSGd3S0NoS1BZZkgwOUd6ZHVuVkJRWUY0Q1ByT25Uc054d1Q4L2YwZEhCejI3ZHZYbzBlUHdZTUhOL3l6ZE96WVVkeTU2OEtGQytJMldTOFdHUm1abUpnWUZSV1ZuWjN0Nit0YlZsYTJmZnYyWjgrZTdkNjlXeHlOV2Jac1dVUkV4TkNoUTRPRGc2MnRyZFBUMCtQaTRnSUNBdHpjM0F6dm8xUXFHMUpUM05kcjFLaFJEWDhpb0xsajlBTUFBQmlIcjY5dlRrN08vUG56YlcxdHo1NDkrOE1QUDl5NWN5YzRPUGpLbFN1MWhqZ1VDc1VISDN3Z0xrUC9XNS9Dejg5djBxUkpCUVVGc2JHeHQyL2Yvc3Y2TmpZMmFXbHBTNVlzeWMzTmpZaUlpSTZPN3RPbno3bHo1d0lEQThVS0N4WXMyTGR2bjVtWjJlZWZmejV2M3J6TXpNeFZxMVlkUEhpdzdxMGFVdlBDaFFzT0RnN2UzdDUvNjZHQVpvM1JEd0FBWURST1RrNzZFeXBlVE56U2F0cTBhWWFGUzVjdVhicDBhYTJhaHFmT21adWJmL2ZkZDRaWHRWcHRyZm9KQ1FtR0g5clkyS3haczJiTm1qVi8xcElwVTZaTW1US2wza3ZIang5dllFMUJFQjQrZkppY25MeDgrWEsyZGtXTHd1Z0hBQUI0MlpXV2x1N2R1M2ZzMkxHbXRFcDd6NTQ5clZ1M0RnOFBOM1pEQUVrUlB3QUF3TXNySVNFaEpDUms0TUNCVDU0OHFidEhWdk5WVmxhMmVmUG1WYXRXaWR0OEFTMEg4UU1BQUx5OHJLeXNrcEtTZERwZGJHenNnQUVEak4yY1JyTm16WnArL2ZyTm1UUEgyQTBCcE1iYUR3QUE4UEx5OC9NckxTMDFkaXNhWDFSVWxMR2JBQmdIb3g4QUFBQUFKRUw4QUFBQWdHbDY5T2pSMXExYmk0cUtHdjZXcEtTa3VMaTRwbXhVUzhma3EwWnovUGh4cFZKcFlXSHhsOXZucWRWcWxVcmw0K05qWldXbEw4ekt5dHExYTlmSEgzL2NwMCtmV3ZXMVdxMlBqMDlZV0Zod2NIRFR0QjBBQUtDNSt1V1hYMmJQbnIxejU4NitmZnZXdW5ULy92MVBQdm1rZi8vK25UdDNidURkOXV6Wms1ZVhGeElTMGdRdGhVRDhhRXdUSmt5b3FxcFNLcFV5bVV5dFZzdmxjb1hpLzc2OGFyVmFvVkRJNVhKQkVEUWFqVmFydlgvL3ZxT2pvNzdDMWF0WFkySml4RE9WYWpsejVzelpzMmZEd3NLa2VoUUFBSUJtSXlvcUtpY25SenpodmhieGx6RUxDNHVHMzgzYzNGdzg0UjVOaFBqUmFNckx5L1Y1dzlIUmNmejQ4VnUyYk5GZlZTZ1VhOWFzV2JSb2tmaGhkWFcxWVRnUkJLR2dvRUFtay9YcTFhdnVuVGR1M0RodzRNRDMzMysvaVo4QUFBQ2dtYmx4NDBaOGZIeFVWTlFMNG9kU3FheDc2Y01QUDB4TFM2dWJOTzdkdTZkV3EvdjM3MStyWEtQUnRHL2Yvc0tGQzQzYS9KYUkrTkZvYXNXSnYxdjU3dDI3M2JwMWE5MjZkYTN5bEpTVTA2ZFBwNmFteW1TeWlvcUs0dUppSnllbnhtaHY4OUNxVlN1NVhGNVRVMU5lWGw1VFV5TU9IK0hscDlWcXk4dkxCVUV3TXpOcjA2YU5zWnZUSk9pY3FNVWt1ejM5dkpreXlkNzRaeUlqSTN2MjdMbGd3WUxTMGxJYkd4c3pNN1BBd01EYnQyK0xrVU9sVWdtQ01IbnlaSEhHdTA2blU2bFU2OWF0R3oxNjlLeFpzNEtDZ3VyK1NyWisvZnI3OSs5djJMQ2hWbmxOVFEyaklvMkMrR0ZrUlVWRmx5NWRVaWdVTjI3Y3NMVzFQWEhpaEZhcmxjbGtZOGFNRWI5OUxGeTRNRFEwOU0wMzN4UUVZY3lZTVdWbFpSa1pHZldHZUpQMDZxdXZXbGhZVkZSVVBIandRSzFXVzF0Ykc3dEZhSkNhbXByQ3drSkJFT1J5dWVFa1ExTkM1MFF0SnRudDZlZk5sRW4yeG5vbEppWW1KaWFtcHFZcWxjcFpzMmJkdW5YcjBxVkxLMWFzVUtsVVlsck96ODhQRGc2T2pJeDBjWEVSNDBkMWRYV1BIajBFUWZEdzhLajNudnYzN3k4ckt4c3hZb1RrVDlOU0VEK003T0hEaDhlT0haUEw1ZG5aMmQ3ZTNrZU9IRGx3NElDYm01c1lQNzcrK3V2NzkrK2ZQbjFhckJ3UkVSRVFFTEJ5NWNyUFAvL2MyQTJYaUlPRGc3bTVlVVZGUldabTV0T25UL25KMTF5b1ZLclUxRlR4SjEvRFYvczFMM1JPMUdLUzNaNSsza3laWkcrc1M2VlNoWWVIejUwN2Q4Q0FBZWZQbno5MDZOQ01HVE1zTFMzNzlldW5yMk5wYVNrSVFzK2VQZXRPcGhJVkZSVkZSa1lhbHFTbXBwYVZsVTJmUHQyd2NOU29VVXlEYnl4c3ZHdGtnd1lOaW8yTi9mVFRUN1ZhN2ZyMTYzZnMyS0hSYUNaTW1DQ3VCbG15WkVsMGRMUzl2YjBnQ0ZWVlZXNXViajQrUGxGUlVXbHBhY1p1dUVRR0Rod29UdVc4ZGV2VzNMbHpIejE2cEZhcnRWcXRzZHVGK21tMVdyVmEvZmp4NDdDd3NKeWNIRUVRN08zdHZiMjlqZDJ1SmtIbmhNaTB1ejM5dkhreDdkNVkxOVNwVS9QejgzZnQybVZ2Yno5OCtQQk9uVHJWblRIMWwwcExTMk5qWTE5NTVaWGUvMlZuWjJkdGJkM2JRR0ppNHBVclY1cm1JVm9pUmo4YWdVcWxLaTB0dGJTMDFNK0owdWwwR28xR25IYXBWMVZWcFMrcHFxcFNxVlR0MjdjWDM1S2FtbXBqWStQbDVaV2ZuNjlXcXdjTkdsUlFVREJxMUNoQkVPTGo0emR0Mm5UdjNyMktpZ3BuWjJkblorZXVYYnRPblRyMSt2WHJKaitiVXhBRU96dTdEUnMyQkFZR1ZsZFhIejU4K01hTkcrKzg4NDY5dmIzNHh3eThiTVQvQ3lrcEtYbDVlZUlhcDYxYnQ3WnQyOWJZN1dvU2RFNklWQ3BWU1VuSnhZc1hUYkxiMDgrYmx4YjFUVmdRaExDd3NGbXpacm00dUp3N2R5NDBORFEyTnRiVzFsWVFoSnljbk5HalI1dWJtOHRrc3FxcUtrRVFBZ01EeGMydnFxdXIzZDNkang4L1h1dFdJU0VoK3B5V25aMHRsOHYxMndVSmdyQnIxeTVwbjh6VTZmQ3ZKU1VsL2JNdmZsWldsbmlIbVRObmpoczNUcWZUZmYvOTk0SWdsSlNVWkdkblQ1czJiZVhLbGZ2MzcwOVBUMy8wNkpIKzAyVm1aam81T1YyNWNzVjRUeXlwNnVwcWNUZ0l6WTc0SzR1eGUxQVRvbk9pTHRQcjl2VHo1c3YwZW1POUhqeDRZR2RuRnhFUm9TK3BxS2k0ZHUxYVhsN2U3M1g4K3V1dnVibTVobSsvZWZPbUlBZ1pHUm42a21uVHBubDVlUm5XY1hWMU5idy8vaVZHUHhxQnQ3ZDNSa2FHUXFIUWI1N2c2K3M3WXNTSXhZc1g2K3Q0ZUhpRWg0ZnJqL1dvcnE3V2FEVGl5aWRCRUU2ZVBMbHMyVEpCRUM1ZnZ1emk0bUpuWjJkblo3ZDM3OTU2UDkyZ1FZUHk4L1AvMWtaYnpacGNMdCsrZlh1WExsM2k0dUxLeThzMUdrMTFkWFZOVFkyeDI0VjZtSm1aS1pWS3BWSnBiVzA5Y2VMRTVjdVhtL1krT1hST3RJUnVUejl2Umt5K045YWwwK25Dd3NLNmRldjJ4UmRmNkF1dHJLd01sMzgwUkh4OGZHWm1wdmc2TnpkWFBDdGRmL1dQUC81b3ZDYUR5VmVOd2RiV3R0YkVTcVZTMmI1OSsxcUxuRHAxNmxUdnNxZkxseThYRmhiNitQaUkyK3o2K2ZtSjVTcVY2clBQUHF0YjM4cks2ai8vK1U5alA4Ukx6ZDdlZnVQR2pkT21UYnQ5KzNaeGNmR1RKMC9FZmZUd3NyR3dzR2pYcmwyN2R1MmNuWjMvYkpHZmlhRnp3c0xDb24zNzltM2J0alhoYms4L2J5NWE0RGZoOWV2WFg3eDRNU1VsNWZmZmZ5OG9LTGh4NDhiTW1UTTdkT2lRa0pEdzVaZGYxcTNmclZ1M2I3NzVwbTU1ZG5iMnc0Y1B4WWxiV1ZsWjRxOWsrc01LS3lzcm0vNVJXaERpUjVPb3JLeHMrUFlnQ1FrSjV1Ym12LzMybTdXMWRWWldsajYrcTFTcWpSczNob1NFdUx1NzZ5dG5aR1NrcGFXMXRQZ2g2dHUzYjkrK2ZZM2RDcUFlZEU2MEJQUnp2R3dPSFRva1RoN3g4dkp5ZG5aMmNYRnhjbklTaitZb0tpckt6TXc4Y2VLRVlmM2R1M2ZYWFVGdVlXSGg2dXE2ZHUzYWZ2MzZQWG55UkIvYkhCd2NvcU9qeGRmKy92NGRPblNRNnJGTUgvR2o4UlVYRjVlVWxEVDhjTUNBZ0lDblQ1OEdCd2RiV2xwYVdWa05HemJNOE9xRUNSUEdqUnVuLzNETGxpMHRaOXNyQUFDQVA5TzdkKzhqUjQ2NHVMaDA3OTY5N3FSMGhVTHg5dHR2RzVhY09YTkdITmt3MUtOSGo5emNYUEZRODRrVEp6NTkrdFREdytQV3JWc3hNVEZEaHc0VkZ6NGxKaVkyL2RPMElHeTgyL2grL1BGSFFSQ0dEeC9ld1BxREJ3L2V0bTFiWGw2ZVdxMVdxOVVIRGh4bzRnWUNBQUEwZTY2dXJnRUJBUzR1THZyc2tadWJlLzM2OVg5d3EvTHk4cUNnb1BUMDlLTkhqL2JxMWN2ZDNmMnJyNzZhTkduU2poMDdHcnZWSUg0MHRwS1NrdFdyVi92NitvcUhhelpjWW1KaWVYbTVuNS9makJrejR1TGltcXlCQUFBQUprS2owZHk1YytmSWtTUHo1czF6Y1hFSkRnNSs4T0RCMzcxSlFrSkMvLzc5Zi83NTU1TW5UK29IVE9iTW1iTnAwNmE1YytlR2hJVGs1K2MzUWR0Ykx1SkhZM3IrL0hsUVVGQnBhYWwrc3FDZVRxZDd3UnR6Y25JV0xsdzRjZUxFbzBlUERoa3laUGJzMlVWRlJVM2NXQUFBZ0daczdkcTFscGFXM2J0M1g3dDJyYk96ODZsVHA2NWR1NmJmd3VjdjVlYm1idHEweWQzZC9iMzMzbk4wZEx4NjllclFvVU1OSzRTSGg1OC9mejQ5UGQzZDNYM3ExS254OGZGUG56NXRta2RwV1ZqNzBXaVNrNVBuejU5ZlVGQ1FrSkNnMzFGWFZGTlRvOVZxeFlOdjZycDU4NmFmbjUrdHJlMjJiZHZrY3ZtMmJkc0tDd3M3ZCs3OCtQRmpRUkErK3VpaitmUG42eXZUN3dFQUFBUkJlUGZkZHhjdlhod2FHbHAzeW9sR28zbjI3TmxycjcxbVdGaFNVdEtwVXlmeDlhVkxsOTU0NHcxQkVIcjI3SG40OE9IQXdFQjl0YXFxS28xR0k3NGVNbVJJWGw1ZVRFek1oZzBiOXUvZjcrZm45NDlQZTRNZThhTVJWRlZWalJrejV0U3BVMjV1YmlrcEtWNWVYclVxcU5WcS9iKzFiTisrUFNJaXdzYkdKams1dVYyN2RvSWc5T25UcDArZlB1TE9WNElnTEYyNjFOL2ZYMTkvMzc1OU1URXhUZjlNQUFBQUx6VVBEdzhQRDQ5NkwxVlZWU2tVaXVUa1pNUEN6WnMzcDZTa2lLKzl2YjNYclZzM2N1VEl1anNVYXpRYWZmd1F0OFphc0dEQi9QbnpNekl5VFBnSWVTbkpWNnhZWWV3Mk5IdHl1WHpRb0VGdnZmVldkSFIwdlJ0ZTZYUzZqaDA3RGhzMnpOSFJzZFlscFZJcHpsbXNGZEFGUVpESlpGMjdkdlgxOVhWMWRXMzNYNTA3ZC9iMDlPelZxMWRUUGhBQUFFQXoxcXBWcTc1OSsvcjQrTmdiY0hSMDlQVDAxQStWREI0ODJNSEJvZTU3Yld4c1BEMDllL2Z1YlZnb2s4bTZkT2tpL3FVWS81THN4V3NTQUFBQUFLQ3hzUFFjQUFBQWdFU0lId0FBQUFBa1F2d0FBQUFBSUJIaUJ3QUFBQUNKRUQ4QUFBQUFTSVQ0QVFBQUFFQWl4QThBQUFBQUVpRitBQUFBQUpBSThRTUFBQUNBUklnZkFBQUFBQ1JDL0FBQUFBQWdFZUlIQUFBQUFJa1FQd0FBQUFCSWhQZ0JBQUFBUUNMRUR3QUFBQUFTSVg0QUFBQUFrQWp4QXdBQUFJQkVpQjhBQUFBQUpFTDhBQUFBQUNBUjRnY0FBQUFBaVJBL0FBQUFBRWlFK0FFQUFBQkFJc1FQQUFBQUFCSWhmZ0FBQUFDUUNQRURBQUFBZ0VTSUh3QUFBQUFrUXZ3QUFBQUFJQkhpQndBQUFBQ0pFRDhBQUFBQVNJVDRBUUFBQUVBaXhBOEFBQUFBRWlGK0FBQUFBSkFJOFFNQUFBQ0FSSWdmQUFBQUFDUkMvQUFBQUFBZ0VlSUhBQUFBQUlrUVB3QUFBQUJJaFBnQkFBQUFRQ0xFRHdBQUFBQVNJWDRBQUFBQWtBanhBd0FBQUlCRWlCOEFBQUFBSkVMOEFBQUFBQ0FSNGdjQUFBQUFpUkEvQUFBQUFFaUUrQUVBQUFCQUlzUVBBQUFBQUJJaGZnQUFBQUNReVA4QXFua01wTkJla0ZjQUFBQUFTVVZPUks1Q1lJST0iLAoJIlRoZW1lIiA6ICIiLAoJIlR5cGUiIDogImZsb3ciLAoJIlVzZXJJZCIgOiAiNTg4NTAzMDQwIiwKCSJWZXJzaW9uIiA6ICI1Igp9Cg=="/>
    </extobj>
  </extobjs>
</s:customData>
</file>

<file path=customXml/itemProps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6722</Words>
  <Application>WPS 演示</Application>
  <PresentationFormat>自定义</PresentationFormat>
  <Paragraphs>290</Paragraphs>
  <Slides>38</Slides>
  <Notes>62</Notes>
  <HiddenSlides>0</HiddenSlides>
  <MMClips>1</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7" baseType="lpstr">
      <vt:lpstr>Arial</vt:lpstr>
      <vt:lpstr>宋体</vt:lpstr>
      <vt:lpstr>Wingdings</vt:lpstr>
      <vt:lpstr>Helvetica Neue</vt:lpstr>
      <vt:lpstr>Helvetica Neue Medium</vt:lpstr>
      <vt:lpstr>PingFang SC Semibold</vt:lpstr>
      <vt:lpstr>PingFang SC Light</vt:lpstr>
      <vt:lpstr>.萍方-简</vt:lpstr>
      <vt:lpstr>Wingdings</vt:lpstr>
      <vt:lpstr>微软雅黑</vt:lpstr>
      <vt:lpstr>Arial Unicode MS</vt:lpstr>
      <vt:lpstr>Calibri</vt:lpstr>
      <vt:lpstr>Miss Sweetie</vt:lpstr>
      <vt:lpstr>Retro Cute Medium</vt:lpstr>
      <vt:lpstr>Bald SemiBold</vt:lpstr>
      <vt:lpstr>Stymie Std Light Italic</vt:lpstr>
      <vt:lpstr>Helvetica Neue</vt:lpstr>
      <vt:lpstr>21_BasicWhite</vt:lpstr>
      <vt:lpstr>Paint.Picture</vt:lpstr>
      <vt:lpstr>PowerPoint 演示文稿</vt:lpstr>
      <vt:lpstr>PowerPoint 演示文稿</vt:lpstr>
      <vt:lpstr>LLamaIndex通识</vt:lpstr>
      <vt:lpstr>什么是LlamaIndex</vt:lpstr>
      <vt:lpstr>基础组件介绍</vt:lpstr>
      <vt:lpstr>LLM integrations 介绍</vt:lpstr>
      <vt:lpstr>LLM integrations 介绍</vt:lpstr>
      <vt:lpstr>提示词模板</vt:lpstr>
      <vt:lpstr>提示词模板</vt:lpstr>
      <vt:lpstr>LlamaIndex与RAG</vt:lpstr>
      <vt:lpstr>快速复习RAG流程</vt:lpstr>
      <vt:lpstr>Loading文档加载组件</vt:lpstr>
      <vt:lpstr>Loading文档加载组件</vt:lpstr>
      <vt:lpstr>Loading文档加载组件</vt:lpstr>
      <vt:lpstr>Loading文档加载组件</vt:lpstr>
      <vt:lpstr>Indexing索引组件</vt:lpstr>
      <vt:lpstr>Storing数据存储组件</vt:lpstr>
      <vt:lpstr>Storing数据存储组件</vt:lpstr>
      <vt:lpstr>Querying查询引擎</vt:lpstr>
      <vt:lpstr>LlamaIndex与RAG</vt:lpstr>
      <vt:lpstr>Settings全局设置</vt:lpstr>
      <vt:lpstr>基于LlamaIndex的RAG系统评估</vt:lpstr>
      <vt:lpstr>LlamaIndex  Workflows</vt:lpstr>
      <vt:lpstr>什么是工作流(Workflows)</vt:lpstr>
      <vt:lpstr>为什么选择工作流？</vt:lpstr>
      <vt:lpstr>一个简单的工作流</vt:lpstr>
      <vt:lpstr>一个简单的工作流</vt:lpstr>
      <vt:lpstr>一个简单的工作流</vt:lpstr>
      <vt:lpstr>复杂工作流</vt:lpstr>
      <vt:lpstr>复杂工作流</vt:lpstr>
      <vt:lpstr>复杂工作流</vt:lpstr>
      <vt:lpstr>状态管理与上下文</vt:lpstr>
      <vt:lpstr>可观测性与调试</vt:lpstr>
      <vt:lpstr>可观测性与调试</vt:lpstr>
      <vt:lpstr>部署工作流</vt:lpstr>
      <vt:lpstr>实战案例</vt:lpstr>
      <vt:lpstr>实战案例</vt:lpstr>
      <vt:lpstr>实战案例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郭培</cp:lastModifiedBy>
  <cp:revision>433</cp:revision>
  <dcterms:created xsi:type="dcterms:W3CDTF">2025-03-08T12:13:00Z</dcterms:created>
  <dcterms:modified xsi:type="dcterms:W3CDTF">2025-08-19T09:05:40Z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788BC8F5AE1B41898161E6F2DDF15955_13</vt:lpwstr>
  </property>
  <property fmtid="{D5CDD505-2E9C-101B-9397-08002B2CF9AE}" pid="3" name="KSOProductBuildVer">
    <vt:lpwstr>2052-12.1.0.21915</vt:lpwstr>
  </property>
</Properties>
</file>