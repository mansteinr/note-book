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jpeg" ContentType="image/jpeg"/>
  <Default Extension="JPG" ContentType="image/.jpg"/>
  <Default Extension="wmf" ContentType="image/x-w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77" r:id="rId3"/>
    <p:sldId id="258" r:id="rId5"/>
    <p:sldId id="299" r:id="rId6"/>
    <p:sldId id="305" r:id="rId7"/>
    <p:sldId id="306" r:id="rId8"/>
    <p:sldId id="308" r:id="rId9"/>
    <p:sldId id="348" r:id="rId10"/>
    <p:sldId id="310" r:id="rId11"/>
    <p:sldId id="309" r:id="rId12"/>
    <p:sldId id="307" r:id="rId13"/>
    <p:sldId id="313" r:id="rId14"/>
    <p:sldId id="349" r:id="rId15"/>
    <p:sldId id="383" r:id="rId16"/>
    <p:sldId id="384" r:id="rId17"/>
    <p:sldId id="385" r:id="rId18"/>
    <p:sldId id="386" r:id="rId19"/>
    <p:sldId id="387" r:id="rId20"/>
    <p:sldId id="388" r:id="rId21"/>
    <p:sldId id="389" r:id="rId22"/>
    <p:sldId id="390" r:id="rId23"/>
    <p:sldId id="391" r:id="rId24"/>
    <p:sldId id="392" r:id="rId25"/>
    <p:sldId id="393" r:id="rId26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1pPr>
    <a:lvl2pPr marL="0" marR="0" indent="457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2pPr>
    <a:lvl3pPr marL="0" marR="0" indent="914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3pPr>
    <a:lvl4pPr marL="0" marR="0" indent="1371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4pPr>
    <a:lvl5pPr marL="0" marR="0" indent="18288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5pPr>
    <a:lvl6pPr marL="0" marR="0" indent="22860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6pPr>
    <a:lvl7pPr marL="0" marR="0" indent="27432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7pPr>
    <a:lvl8pPr marL="0" marR="0" indent="32004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8pPr>
    <a:lvl9pPr marL="0" marR="0" indent="3657600" algn="l" defTabSz="2438400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 panose="020005030000000200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233" autoAdjust="0"/>
    <p:restoredTop sz="96331" autoAdjust="0"/>
  </p:normalViewPr>
  <p:slideViewPr>
    <p:cSldViewPr snapToGrid="0">
      <p:cViewPr varScale="1">
        <p:scale>
          <a:sx n="56" d="100"/>
          <a:sy n="56" d="100"/>
        </p:scale>
        <p:origin x="79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6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68" name="Shape 6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 panose="020005030000000200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  <a:sym typeface="+mn-ea"/>
              </a:rPr>
              <a:t>在许多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  <a:sym typeface="+mn-ea"/>
              </a:rPr>
              <a:t>LLM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  <a:sym typeface="+mn-ea"/>
              </a:rPr>
              <a:t>应用程序中，用户特定的数据不在大模型中，可能在外部系统或文档中。如何使用这些外部数据来增强呢？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7.png"/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wallhaven-rdvvlq.jpg" descr="wallhaven-rdvvlq.jpg"/>
          <p:cNvPicPr>
            <a:picLocks noChangeAspect="1"/>
          </p:cNvPicPr>
          <p:nvPr/>
        </p:nvPicPr>
        <p:blipFill>
          <a:blip r:embed="rId2">
            <a:alphaModFix amt="73715"/>
          </a:blip>
          <a:stretch>
            <a:fillRect/>
          </a:stretch>
        </p:blipFill>
        <p:spPr>
          <a:xfrm>
            <a:off x="-1" y="8708"/>
            <a:ext cx="24384001" cy="13698584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0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0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7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2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正文级别 1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0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标题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wallhaven-qzqvp7.png" descr="wallhaven-qzqvp7.png"/>
          <p:cNvPicPr>
            <a:picLocks noChangeAspect="1"/>
          </p:cNvPicPr>
          <p:nvPr/>
        </p:nvPicPr>
        <p:blipFill>
          <a:blip r:embed="rId2">
            <a:alphaModFix amt="68948"/>
          </a:blip>
          <a:stretch>
            <a:fillRect/>
          </a:stretch>
        </p:blipFill>
        <p:spPr>
          <a:xfrm>
            <a:off x="-496866" y="-2093472"/>
            <a:ext cx="25377732" cy="1691849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8" name="未命名.png" descr="未命名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77455" y="411980"/>
            <a:ext cx="1750701" cy="46101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9" name="未命名2.png" descr="未命名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01103" y="-81128"/>
            <a:ext cx="1929648" cy="144723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40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5746308" y="5399214"/>
            <a:ext cx="13119984" cy="2187118"/>
          </a:xfrm>
          <a:prstGeom prst="rect">
            <a:avLst/>
          </a:prstGeom>
        </p:spPr>
        <p:txBody>
          <a:bodyPr anchor="ctr"/>
          <a:lstStyle>
            <a:lvl1pPr algn="ctr" defTabSz="2438400">
              <a:lnSpc>
                <a:spcPct val="80000"/>
              </a:lnSpc>
              <a:defRPr sz="10000" spc="-200">
                <a:solidFill>
                  <a:srgbClr val="FFFFFF"/>
                </a:solidFill>
              </a:defRPr>
            </a:lvl1pPr>
          </a:lstStyle>
          <a:p>
            <a:r>
              <a:t>幻灯片标题</a:t>
            </a:r>
          </a:p>
        </p:txBody>
      </p:sp>
      <p:sp>
        <p:nvSpPr>
          <p:cNvPr id="4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未命名.jpg" descr="未命名.jpg"/>
          <p:cNvPicPr>
            <a:picLocks noChangeAspect="1"/>
          </p:cNvPicPr>
          <p:nvPr/>
        </p:nvPicPr>
        <p:blipFill>
          <a:blip r:embed="rId2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49" name="未命名.jpg" descr="未命名.jpg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0" name="线条"/>
          <p:cNvSpPr/>
          <p:nvPr/>
        </p:nvSpPr>
        <p:spPr>
          <a:xfrm>
            <a:off x="581148" y="1527029"/>
            <a:ext cx="23221704" cy="1"/>
          </a:xfrm>
          <a:prstGeom prst="line">
            <a:avLst/>
          </a:prstGeom>
          <a:ln w="25400">
            <a:solidFill>
              <a:srgbClr val="7F9191"/>
            </a:solidFill>
            <a:miter lim="400000"/>
          </a:ln>
        </p:spPr>
        <p:txBody>
          <a:bodyPr lIns="50800" tIns="50800" rIns="50800" bIns="50800" anchor="ctr"/>
          <a:lstStyle/>
          <a:p/>
        </p:txBody>
      </p:sp>
      <p:sp>
        <p:nvSpPr>
          <p:cNvPr id="5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43044" y="374169"/>
            <a:ext cx="10477501" cy="977388"/>
          </a:xfrm>
          <a:prstGeom prst="rect">
            <a:avLst/>
          </a:prstGeom>
        </p:spPr>
        <p:txBody>
          <a:bodyPr anchor="ctr"/>
          <a:lstStyle>
            <a:lvl1pPr>
              <a:defRPr>
                <a:solidFill>
                  <a:srgbClr val="3D3D3D"/>
                </a:solidFill>
              </a:defRPr>
            </a:lvl1pPr>
          </a:lstStyle>
          <a:p>
            <a:r>
              <a:t>幻灯片标题</a:t>
            </a:r>
          </a:p>
        </p:txBody>
      </p:sp>
      <p:pic>
        <p:nvPicPr>
          <p:cNvPr id="52" name="20250308172252.png" descr="20250308172252.png"/>
          <p:cNvPicPr>
            <a:picLocks noChangeAspect="1"/>
          </p:cNvPicPr>
          <p:nvPr/>
        </p:nvPicPr>
        <p:blipFill>
          <a:blip r:embed="rId4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53" name="矩形"/>
          <p:cNvSpPr/>
          <p:nvPr/>
        </p:nvSpPr>
        <p:spPr>
          <a:xfrm>
            <a:off x="569800" y="494350"/>
            <a:ext cx="269381" cy="737026"/>
          </a:xfrm>
          <a:prstGeom prst="rect">
            <a:avLst/>
          </a:prstGeom>
          <a:solidFill>
            <a:srgbClr val="41414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  <a:defRPr sz="3200">
                <a:solidFill>
                  <a:srgbClr val="FFFFFF"/>
                </a:solidFill>
                <a:latin typeface="Helvetica Neue Medium" panose="02000503000000020004"/>
                <a:ea typeface="Helvetica Neue Medium" panose="02000503000000020004"/>
                <a:cs typeface="Helvetica Neue Medium" panose="02000503000000020004"/>
                <a:sym typeface="Helvetica Neue Medium" panose="02000503000000020004"/>
              </a:defRPr>
            </a:pPr>
          </a:p>
        </p:txBody>
      </p:sp>
      <p:sp>
        <p:nvSpPr>
          <p:cNvPr id="54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showMasterSp="0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幻灯片编号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jpeg"/><Relationship Id="rId8" Type="http://schemas.openxmlformats.org/officeDocument/2006/relationships/image" Target="../media/image5.jpeg"/><Relationship Id="rId7" Type="http://schemas.openxmlformats.org/officeDocument/2006/relationships/image" Target="../media/image1.jpeg"/><Relationship Id="rId6" Type="http://schemas.openxmlformats.org/officeDocument/2006/relationships/image" Target="../media/image7.png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20250308172252.png" descr="20250308172252.png"/>
          <p:cNvPicPr>
            <a:picLocks noChangeAspect="1"/>
          </p:cNvPicPr>
          <p:nvPr/>
        </p:nvPicPr>
        <p:blipFill>
          <a:blip r:embed="rId6">
            <a:alphaModFix amt="53471"/>
          </a:blip>
          <a:srcRect b="52457"/>
          <a:stretch>
            <a:fillRect/>
          </a:stretch>
        </p:blipFill>
        <p:spPr>
          <a:xfrm>
            <a:off x="18329327" y="12979486"/>
            <a:ext cx="5829796" cy="53065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3" name="wallhaven-rdvvlq.jpg" descr="wallhaven-rdvvlq.jpg"/>
          <p:cNvPicPr>
            <a:picLocks noChangeAspect="1"/>
          </p:cNvPicPr>
          <p:nvPr/>
        </p:nvPicPr>
        <p:blipFill>
          <a:blip r:embed="rId7"/>
          <a:srcRect l="51258" t="79" r="120" b="91"/>
          <a:stretch>
            <a:fillRect/>
          </a:stretch>
        </p:blipFill>
        <p:spPr>
          <a:xfrm>
            <a:off x="-3362115" y="-131565"/>
            <a:ext cx="12119241" cy="139791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42" h="21600" extrusionOk="0">
                <a:moveTo>
                  <a:pt x="18981" y="0"/>
                </a:moveTo>
                <a:lnTo>
                  <a:pt x="0" y="40"/>
                </a:lnTo>
                <a:lnTo>
                  <a:pt x="0" y="21600"/>
                </a:lnTo>
                <a:lnTo>
                  <a:pt x="18464" y="21600"/>
                </a:lnTo>
                <a:cubicBezTo>
                  <a:pt x="19187" y="20932"/>
                  <a:pt x="19470" y="19979"/>
                  <a:pt x="19213" y="19080"/>
                </a:cubicBezTo>
                <a:cubicBezTo>
                  <a:pt x="18981" y="18273"/>
                  <a:pt x="18317" y="17557"/>
                  <a:pt x="18425" y="16720"/>
                </a:cubicBezTo>
                <a:cubicBezTo>
                  <a:pt x="18575" y="15561"/>
                  <a:pt x="20094" y="14917"/>
                  <a:pt x="20234" y="13755"/>
                </a:cubicBezTo>
                <a:cubicBezTo>
                  <a:pt x="20419" y="12209"/>
                  <a:pt x="18254" y="11381"/>
                  <a:pt x="18043" y="9903"/>
                </a:cubicBezTo>
                <a:cubicBezTo>
                  <a:pt x="17839" y="8471"/>
                  <a:pt x="19494" y="7572"/>
                  <a:pt x="20268" y="6333"/>
                </a:cubicBezTo>
                <a:cubicBezTo>
                  <a:pt x="21600" y="4201"/>
                  <a:pt x="21238" y="1468"/>
                  <a:pt x="18981" y="0"/>
                </a:cubicBezTo>
                <a:close/>
              </a:path>
            </a:pathLst>
          </a:custGeom>
          <a:ln w="12700">
            <a:miter lim="400000"/>
            <a:headEnd/>
            <a:tailEnd/>
          </a:ln>
        </p:spPr>
      </p:pic>
      <p:grpSp>
        <p:nvGrpSpPr>
          <p:cNvPr id="7" name="成组"/>
          <p:cNvGrpSpPr/>
          <p:nvPr/>
        </p:nvGrpSpPr>
        <p:grpSpPr>
          <a:xfrm>
            <a:off x="2356553" y="5489648"/>
            <a:ext cx="2146301" cy="2334715"/>
            <a:chOff x="0" y="0"/>
            <a:chExt cx="2146300" cy="2334713"/>
          </a:xfrm>
        </p:grpSpPr>
        <p:sp>
          <p:nvSpPr>
            <p:cNvPr id="4" name="目录"/>
            <p:cNvSpPr txBox="1"/>
            <p:nvPr/>
          </p:nvSpPr>
          <p:spPr>
            <a:xfrm>
              <a:off x="0" y="0"/>
              <a:ext cx="2146300" cy="15240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8000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t>目录</a:t>
              </a:r>
            </a:p>
          </p:txBody>
        </p:sp>
        <p:sp>
          <p:nvSpPr>
            <p:cNvPr id="5" name="线条"/>
            <p:cNvSpPr/>
            <p:nvPr/>
          </p:nvSpPr>
          <p:spPr>
            <a:xfrm>
              <a:off x="167770" y="1506240"/>
              <a:ext cx="1810760" cy="1"/>
            </a:xfrm>
            <a:prstGeom prst="line">
              <a:avLst/>
            </a:prstGeom>
            <a:noFill/>
            <a:ln w="25400" cap="flat">
              <a:solidFill>
                <a:srgbClr val="FFFFFF"/>
              </a:solidFill>
              <a:prstDash val="solid"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/>
          </p:txBody>
        </p:sp>
        <p:sp>
          <p:nvSpPr>
            <p:cNvPr id="6" name="Content"/>
            <p:cNvSpPr txBox="1"/>
            <p:nvPr/>
          </p:nvSpPr>
          <p:spPr>
            <a:xfrm>
              <a:off x="90169" y="1521913"/>
              <a:ext cx="1965961" cy="81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50800" tIns="50800" rIns="50800" bIns="50800" numCol="1" anchor="ctr">
              <a:spAutoFit/>
            </a:bodyPr>
            <a:lstStyle>
              <a:lvl1pPr>
                <a:defRPr sz="4000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t>Content</a:t>
              </a:r>
            </a:p>
          </p:txBody>
        </p:sp>
      </p:grpSp>
      <p:sp>
        <p:nvSpPr>
          <p:cNvPr id="8" name="正文级别 1…"/>
          <p:cNvSpPr txBox="1">
            <a:spLocks noGrp="1"/>
          </p:cNvSpPr>
          <p:nvPr>
            <p:ph type="body" idx="1" hasCustomPrompt="1"/>
          </p:nvPr>
        </p:nvSpPr>
        <p:spPr>
          <a:xfrm>
            <a:off x="10258676" y="2729994"/>
            <a:ext cx="21971001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pic>
        <p:nvPicPr>
          <p:cNvPr id="9" name="未命名.jpg" descr="未命名.jpg"/>
          <p:cNvPicPr>
            <a:picLocks noChangeAspect="1"/>
          </p:cNvPicPr>
          <p:nvPr/>
        </p:nvPicPr>
        <p:blipFill>
          <a:blip r:embed="rId8">
            <a:alphaModFix amt="80028"/>
          </a:blip>
          <a:stretch>
            <a:fillRect/>
          </a:stretch>
        </p:blipFill>
        <p:spPr>
          <a:xfrm>
            <a:off x="19841111" y="430850"/>
            <a:ext cx="1636706" cy="737026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0" name="未命名.jpg" descr="未命名.jpg"/>
          <p:cNvPicPr>
            <a:picLocks noChangeAspect="1"/>
          </p:cNvPicPr>
          <p:nvPr/>
        </p:nvPicPr>
        <p:blipFill>
          <a:blip r:embed="rId9">
            <a:alphaModFix amt="80000"/>
          </a:blip>
          <a:stretch>
            <a:fillRect/>
          </a:stretch>
        </p:blipFill>
        <p:spPr>
          <a:xfrm>
            <a:off x="21688890" y="597552"/>
            <a:ext cx="2015020" cy="53062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1" name="幻灯片标题"/>
          <p:cNvSpPr txBox="1">
            <a:spLocks noGrp="1"/>
          </p:cNvSpPr>
          <p:nvPr>
            <p:ph type="title" hasCustomPrompt="1"/>
          </p:nvPr>
        </p:nvSpPr>
        <p:spPr>
          <a:xfrm>
            <a:off x="12763346" y="3944134"/>
            <a:ext cx="13118449" cy="983210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12" name="幻灯片编号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ransition spd="med"/>
  <p:txStyles>
    <p:titleStyle>
      <a:lvl1pPr marL="0" marR="0" indent="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1pPr>
      <a:lvl2pPr marL="0" marR="0" indent="457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2pPr>
      <a:lvl3pPr marL="0" marR="0" indent="914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3pPr>
      <a:lvl4pPr marL="0" marR="0" indent="1371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4pPr>
      <a:lvl5pPr marL="0" marR="0" indent="18288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5pPr>
      <a:lvl6pPr marL="0" marR="0" indent="22860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6pPr>
      <a:lvl7pPr marL="0" marR="0" indent="27432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7pPr>
      <a:lvl8pPr marL="0" marR="0" indent="32004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8pPr>
      <a:lvl9pPr marL="0" marR="0" indent="3657600" algn="l" defTabSz="8255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5500" b="0" i="0" u="none" strike="noStrike" cap="none" spc="0" baseline="0">
          <a:solidFill>
            <a:srgbClr val="000000"/>
          </a:solidFill>
          <a:uFillTx/>
          <a:latin typeface="PingFang SC Semibold" panose="020B0400000000000000" charset="-122"/>
          <a:ea typeface="PingFang SC Semibold" panose="020B0400000000000000" charset="-122"/>
          <a:cs typeface="PingFang SC Semibold" panose="020B0400000000000000" charset="-122"/>
          <a:sym typeface="PingFang SC Semibold" panose="020B0400000000000000" charset="-122"/>
        </a:defRPr>
      </a:lvl9pPr>
    </p:titleStyle>
    <p:bodyStyle>
      <a:lvl1pPr marL="609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1pPr>
      <a:lvl2pPr marL="1219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2pPr>
      <a:lvl3pPr marL="1828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3pPr>
      <a:lvl4pPr marL="2438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4pPr>
      <a:lvl5pPr marL="30480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๏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5pPr>
      <a:lvl6pPr marL="36576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6pPr>
      <a:lvl7pPr marL="42672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7pPr>
      <a:lvl8pPr marL="48768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8pPr>
      <a:lvl9pPr marL="5486400" marR="0" indent="-609600" algn="l" defTabSz="243840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PingFang SC Light" panose="020B0400000000000000" charset="-122"/>
          <a:ea typeface="PingFang SC Light" panose="020B0400000000000000" charset="-122"/>
          <a:cs typeface="PingFang SC Light" panose="020B0400000000000000" charset="-122"/>
          <a:sym typeface="PingFang SC Light" panose="020B0400000000000000" charset="-122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 panose="020005030000000200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wmf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1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1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3.xml"/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7.png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成组"/>
          <p:cNvGrpSpPr/>
          <p:nvPr/>
        </p:nvGrpSpPr>
        <p:grpSpPr>
          <a:xfrm>
            <a:off x="3672743" y="3507853"/>
            <a:ext cx="17038512" cy="4650775"/>
            <a:chOff x="-1" y="0"/>
            <a:chExt cx="17038510" cy="4650773"/>
          </a:xfrm>
        </p:grpSpPr>
        <p:sp>
          <p:nvSpPr>
            <p:cNvPr id="70" name="智泊AI大模型实战课"/>
            <p:cNvSpPr txBox="1"/>
            <p:nvPr/>
          </p:nvSpPr>
          <p:spPr>
            <a:xfrm>
              <a:off x="0" y="0"/>
              <a:ext cx="17038509" cy="12700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7200" spc="3096">
                  <a:solidFill>
                    <a:srgbClr val="FFFFFF"/>
                  </a:solidFill>
                  <a:latin typeface="PingFang SC Light" panose="020B0400000000000000" charset="-122"/>
                  <a:ea typeface="PingFang SC Light" panose="020B0400000000000000" charset="-122"/>
                  <a:cs typeface="PingFang SC Light" panose="020B0400000000000000" charset="-122"/>
                  <a:sym typeface="PingFang SC Light" panose="020B0400000000000000" charset="-122"/>
                </a:defRPr>
              </a:lvl1pPr>
            </a:lstStyle>
            <a:p>
              <a:r>
                <a:rPr>
                  <a:latin typeface=".萍方-简" panose="020B0300000000000000" charset="-122"/>
                  <a:ea typeface=".萍方-简" panose="020B0300000000000000" charset="-122"/>
                  <a:cs typeface=".萍方-简" panose="020B0300000000000000" charset="-122"/>
                </a:rPr>
                <a:t>智泊AI大模型实战课</a:t>
              </a:r>
              <a:endParaRPr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endParaRPr>
            </a:p>
          </p:txBody>
        </p:sp>
        <p:sp>
          <p:nvSpPr>
            <p:cNvPr id="71" name="这里是本节课程的课题"/>
            <p:cNvSpPr txBox="1"/>
            <p:nvPr/>
          </p:nvSpPr>
          <p:spPr>
            <a:xfrm>
              <a:off x="-1" y="1551972"/>
              <a:ext cx="17038510" cy="3098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t">
              <a:noAutofit/>
            </a:bodyPr>
            <a:lstStyle>
              <a:lvl1pPr algn="ctr" defTabSz="914400">
                <a:lnSpc>
                  <a:spcPct val="100000"/>
                </a:lnSpc>
                <a:spcBef>
                  <a:spcPts val="0"/>
                </a:spcBef>
                <a:defRPr sz="8800" spc="968">
                  <a:solidFill>
                    <a:srgbClr val="FFFFFF"/>
                  </a:solidFill>
                  <a:latin typeface="PingFang SC Semibold" panose="020B0400000000000000" charset="-122"/>
                  <a:ea typeface="PingFang SC Semibold" panose="020B0400000000000000" charset="-122"/>
                  <a:cs typeface="PingFang SC Semibold" panose="020B0400000000000000" charset="-122"/>
                  <a:sym typeface="PingFang SC Semibold" panose="020B0400000000000000" charset="-122"/>
                </a:defRPr>
              </a:lvl1pPr>
            </a:lstStyle>
            <a:p>
              <a:r>
                <a:rPr lang="en-US" altLang="zh-CN">
                  <a:latin typeface=".萍方-简" panose="020B0300000000000000" charset="-122"/>
                  <a:ea typeface=".萍方-简" panose="020B0300000000000000" charset="-122"/>
                </a:rPr>
                <a:t>LangChainV1.0</a:t>
              </a:r>
              <a:r>
                <a:rPr lang="zh-CN" altLang="en-US">
                  <a:latin typeface=".萍方-简" panose="020B0300000000000000" charset="-122"/>
                  <a:ea typeface=".萍方-简" panose="020B0300000000000000" charset="-122"/>
                </a:rPr>
                <a:t>从入门到精通</a:t>
              </a:r>
              <a:endParaRPr lang="zh-CN" altLang="en-US">
                <a:latin typeface=".萍方-简" panose="020B0300000000000000" charset="-122"/>
                <a:ea typeface=".萍方-简" panose="020B0300000000000000" charset="-122"/>
              </a:endParaRPr>
            </a:p>
            <a:p>
              <a:endParaRPr lang="zh-CN" altLang="en-US">
                <a:latin typeface=".萍方-简" panose="020B0300000000000000" charset="-122"/>
                <a:ea typeface=".萍方-简" panose="020B0300000000000000" charset="-122"/>
              </a:endParaRPr>
            </a:p>
            <a:p>
              <a:endParaRPr lang="zh-CN">
                <a:latin typeface=".萍方-简" panose="020B0300000000000000" charset="-122"/>
                <a:ea typeface=".萍方-简" panose="020B0300000000000000" charset="-122"/>
              </a:endParaRPr>
            </a:p>
          </p:txBody>
        </p:sp>
      </p:grpSp>
      <p:sp>
        <p:nvSpPr>
          <p:cNvPr id="74" name="主讲人：你的名字"/>
          <p:cNvSpPr txBox="1"/>
          <p:nvPr/>
        </p:nvSpPr>
        <p:spPr>
          <a:xfrm>
            <a:off x="7140115" y="9536107"/>
            <a:ext cx="10103770" cy="53848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/>
          <a:p>
            <a:pPr algn="ctr" defTabSz="914400">
              <a:lnSpc>
                <a:spcPct val="100000"/>
              </a:lnSpc>
              <a:spcBef>
                <a:spcPts val="0"/>
              </a:spcBef>
              <a:defRPr sz="3500">
                <a:solidFill>
                  <a:srgbClr val="FFFFFF"/>
                </a:solidFill>
                <a:latin typeface="PingFang SC Semibold" panose="020B0400000000000000" charset="-122"/>
                <a:ea typeface="PingFang SC Semibold" panose="020B0400000000000000" charset="-122"/>
                <a:cs typeface="PingFang SC Semibold" panose="020B0400000000000000" charset="-122"/>
                <a:sym typeface="PingFang SC Semibold" panose="020B0400000000000000" charset="-122"/>
              </a:defRPr>
            </a:pPr>
            <a:r>
              <a:t>主讲人：</a:t>
            </a:r>
            <a:r>
              <a:rPr lang="zh-CN"/>
              <a:t>大白</a:t>
            </a:r>
            <a:endParaRPr lang="zh-CN"/>
          </a:p>
        </p:txBody>
      </p:sp>
      <p:sp>
        <p:nvSpPr>
          <p:cNvPr id="75" name="MoPass「魔泊云」· 智泊AI人工智能研究院"/>
          <p:cNvSpPr txBox="1"/>
          <p:nvPr/>
        </p:nvSpPr>
        <p:spPr>
          <a:xfrm>
            <a:off x="7140115" y="10356559"/>
            <a:ext cx="10103770" cy="355601"/>
          </a:xfrm>
          <a:prstGeom prst="rect">
            <a:avLst/>
          </a:prstGeom>
          <a:ln w="12700">
            <a:miter lim="400000"/>
          </a:ln>
        </p:spPr>
        <p:txBody>
          <a:bodyPr lIns="0" tIns="0" rIns="0" bIns="0">
            <a:spAutoFit/>
          </a:bodyPr>
          <a:lstStyle>
            <a:lvl1pPr algn="ctr" defTabSz="914400">
              <a:lnSpc>
                <a:spcPct val="100000"/>
              </a:lnSpc>
              <a:spcBef>
                <a:spcPts val="0"/>
              </a:spcBef>
              <a:defRPr sz="2000">
                <a:solidFill>
                  <a:srgbClr val="FFFFFF"/>
                </a:solidFill>
                <a:latin typeface="PingFang SC Light" panose="020B0400000000000000" charset="-122"/>
                <a:ea typeface="PingFang SC Light" panose="020B0400000000000000" charset="-122"/>
                <a:cs typeface="PingFang SC Light" panose="020B0400000000000000" charset="-122"/>
                <a:sym typeface="PingFang SC Light" panose="020B0400000000000000" charset="-122"/>
              </a:defRPr>
            </a:lvl1pPr>
          </a:lstStyle>
          <a:p>
            <a:r>
              <a:t>MoPass「魔泊云」· 智泊AI人工智能研究院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这里是目录 1…"/>
          <p:cNvSpPr txBox="1">
            <a:spLocks noGrp="1"/>
          </p:cNvSpPr>
          <p:nvPr>
            <p:ph type="body" idx="1"/>
          </p:nvPr>
        </p:nvSpPr>
        <p:spPr>
          <a:xfrm>
            <a:off x="9703039" y="1636598"/>
            <a:ext cx="14308427" cy="911607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Font typeface="Wingdings" panose="05000000000000000000" charset="0"/>
              <a:buChar char=""/>
            </a:pP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什么是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 1.0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？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体系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应用程序开发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的链和</a:t>
            </a:r>
            <a:r>
              <a:rPr lang="en-US" altLang="zh-CN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LCEL</a:t>
            </a:r>
            <a:endParaRPr lang="en-US" altLang="zh-CN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+mn-ea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与</a:t>
            </a: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RAG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实战</a:t>
            </a:r>
            <a:endParaRPr lang="en-US" b="1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solidFill>
                  <a:srgbClr val="002060"/>
                </a:solidFill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的工具调用和中间件</a:t>
            </a:r>
            <a:endParaRPr lang="en-US" b="1" dirty="0">
              <a:solidFill>
                <a:srgbClr val="002060"/>
              </a:solidFill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007147" y="5155987"/>
            <a:ext cx="17600719" cy="2243879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与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RAG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实战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快速复习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RAG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3" y="2250017"/>
            <a:ext cx="21961477" cy="967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7568" y="1935549"/>
            <a:ext cx="20489333" cy="1071095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与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RAG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3" y="2250017"/>
            <a:ext cx="21961477" cy="967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1612" y="1794933"/>
            <a:ext cx="19575298" cy="1160017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LangChain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与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RAG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044" y="1964268"/>
            <a:ext cx="21769356" cy="447992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数据连接（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Data connection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）组件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:</a:t>
            </a:r>
            <a:endParaRPr lang="en-US" altLang="zh-CN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中的数据连接组件包括几个关键模块：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 marL="2286000" lvl="5" indent="457200"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文档加载、切割、转换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、嵌入、向量存储和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检索与大模型生成，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 marL="2286000" lvl="5" indent="457200"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完成一个基础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RAG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应用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文档与文档加载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86385" y="1964055"/>
            <a:ext cx="22726015" cy="11284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>
              <a:buNone/>
            </a:pP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zh-CN" altLang="en-US" sz="4400">
                <a:latin typeface=".萍方-简" panose="020B0300000000000000" charset="-122"/>
                <a:ea typeface=".萍方-简" panose="020B0300000000000000" charset="-122"/>
              </a:rPr>
              <a:t>类型有很多，可以是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简单的文本文件、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Word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文档、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Excel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表格、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Pdf</a:t>
            </a:r>
            <a:r>
              <a:rPr lang="zh-CN" altLang="en-US" sz="4400">
                <a:latin typeface=".萍方-简" panose="020B0300000000000000" charset="-122"/>
                <a:ea typeface=".萍方-简" panose="020B0300000000000000" charset="-122"/>
              </a:rPr>
              <a:t>文件等等。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有很强的数据加载能力，提供了很多常见的数据格式的支持，例如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CSV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、文件目录、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HTML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JSON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Markdown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及</a:t>
            </a:r>
            <a:r>
              <a:rPr lang="en-US" altLang="zh-CN" sz="4400">
                <a:effectLst/>
                <a:latin typeface=".萍方-简" panose="020B0300000000000000" charset="-122"/>
                <a:ea typeface=".萍方-简" panose="020B0300000000000000" charset="-122"/>
              </a:rPr>
              <a:t>PDF</a:t>
            </a:r>
            <a:r>
              <a:rPr lang="zh-CN" altLang="en-US" sz="4400">
                <a:effectLst/>
                <a:latin typeface=".萍方-简" panose="020B0300000000000000" charset="-122"/>
                <a:ea typeface=".萍方-简" panose="020B0300000000000000" charset="-122"/>
              </a:rPr>
              <a:t>等。</a:t>
            </a:r>
            <a:endParaRPr lang="zh-CN" altLang="en-US" sz="4400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TXT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:TextLoader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PDF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:PyPDFLoader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CSV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:CSVLoader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JSON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:JSONLoader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HTML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:UnstructuredHTMLLoader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MD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文档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:UnStructuredMarkdownLoader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</a:endParaRPr>
          </a:p>
          <a:p>
            <a:pPr lvl="2">
              <a:buNone/>
            </a:pP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文件目录</a:t>
            </a: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</a:rPr>
              <a:t>:DirectoryLoader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400">
                <a:latin typeface=".萍方-简" panose="020B0300000000000000" charset="-122"/>
                <a:ea typeface=".萍方-简" panose="020B0300000000000000" charset="-122"/>
                <a:sym typeface="+mn-ea"/>
              </a:rPr>
              <a:t>加载器有 </a:t>
            </a:r>
            <a:r>
              <a:rPr lang="en-US" altLang="zh-CN" sz="4400">
                <a:latin typeface=".萍方-简" panose="020B0300000000000000" charset="-122"/>
                <a:ea typeface=".萍方-简" panose="020B0300000000000000" charset="-122"/>
                <a:sym typeface="+mn-ea"/>
              </a:rPr>
              <a:t>load</a:t>
            </a:r>
            <a:r>
              <a:rPr lang="zh-CN" altLang="en-US" sz="4400">
                <a:latin typeface=".萍方-简" panose="020B0300000000000000" charset="-122"/>
                <a:ea typeface=".萍方-简" panose="020B0300000000000000" charset="-122"/>
                <a:sym typeface="+mn-ea"/>
              </a:rPr>
              <a:t>方法，用于从指定的数据源读取数据，并将其转换成一个或多个文档。</a:t>
            </a:r>
            <a:endParaRPr lang="en-US" altLang="zh-CN" sz="4400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文档转换器 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– 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切割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3" y="2250017"/>
            <a:ext cx="21961477" cy="967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68911" y="1845734"/>
            <a:ext cx="22853090" cy="9998443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在前面的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RAG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基础章节，我们已经了解了文本的分割。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为此也提供了很多现成的分割器：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CharacterTextSplitter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：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   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基于字符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(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默认为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"\n\n")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进行切割，并通过字符数量来测量文本块的大小。使用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chunk_size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属性可设置文本块的大小，使用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chunk_overlap 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属性设置文本块之间的最大重叠。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RecursiveCharacterTextSplitter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：  在前面我们已经了解过，除了自然语言，它也支持对特定的编程语言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(‘JavaScript’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‘cpp’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‘go’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‘java’ 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‘php’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‘python’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等等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)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的代码进行切割。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MarkdownHeaderTextSplitter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：可以根据指定的一组标题来切割一个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Markdown </a:t>
            </a: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文档。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……….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600">
                <a:latin typeface=".萍方-简" panose="020B0300000000000000" charset="-122"/>
                <a:ea typeface=".萍方-简" panose="020B0300000000000000" charset="-122"/>
              </a:rPr>
              <a:t>内置分割器：</a:t>
            </a:r>
            <a:r>
              <a:rPr lang="en-US" altLang="zh-CN" sz="4600">
                <a:latin typeface=".萍方-简" panose="020B0300000000000000" charset="-122"/>
                <a:ea typeface=".萍方-简" panose="020B0300000000000000" charset="-122"/>
              </a:rPr>
              <a:t>https://python.langchain.com/api_reference/text_splitters/index.html</a:t>
            </a:r>
            <a:endParaRPr lang="en-US" altLang="zh-CN" sz="4600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文档转换器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3044" y="1794933"/>
            <a:ext cx="21616956" cy="7049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文档转换器处理任务分为两个步骤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: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第一步是对文档进行切割，主要由切割器完成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;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第二步是将切割后的文档转换为 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Document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对象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/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数据格式。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中数据以 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Document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对象和向量形式在各个包装器中流通。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Document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对象包含文本及其相关元数据，它是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在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RAG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处理中非常重要的概念。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</p:txBody>
      </p:sp>
      <p:graphicFrame>
        <p:nvGraphicFramePr>
          <p:cNvPr id="2" name="对象 1"/>
          <p:cNvGraphicFramePr/>
          <p:nvPr/>
        </p:nvGraphicFramePr>
        <p:xfrm>
          <a:off x="4083685" y="7284720"/>
          <a:ext cx="17305655" cy="5222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" name="" r:id="rId1" imgW="6724650" imgH="1860550" progId="Paint.Picture">
                  <p:embed/>
                </p:oleObj>
              </mc:Choice>
              <mc:Fallback>
                <p:oleObj name="" r:id="rId1" imgW="6724650" imgH="18605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4083685" y="7284720"/>
                        <a:ext cx="17305655" cy="522224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嵌入模型包装器和向量数据库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3" y="2250017"/>
            <a:ext cx="21961477" cy="96710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243044" y="1915109"/>
            <a:ext cx="21616956" cy="84651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文本嵌入模型（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Embedding Model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），这些模型将文本作为输入并返回词向量。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LangChain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框架提供了一个名为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Embeddings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的类，它为多种文本嵌入模型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(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如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OpenAI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Cohcre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、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HuggingFace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等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)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提供了统一的接口。通过该类实例化的嵌入模型包装器，可以将文档转换为向量数据，同时将搜索的问题也转换为向量数据，这使得可通过计算搜索问题和文档在向量空间中的距离，来寻找在向量空间中最相似的文本。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实例化的 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Embeddings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类被称为嵌入模型包装器，同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Model I/O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模块的 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LLM 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模型包装器和聊天模型包装器</a:t>
            </a:r>
            <a:r>
              <a:rPr lang="en-US" altLang="zh-CN" sz="4800">
                <a:latin typeface=".萍方-简" panose="020B0300000000000000" charset="-122"/>
                <a:ea typeface=".萍方-简" panose="020B0300000000000000" charset="-122"/>
              </a:rPr>
              <a:t>(Chat Model)</a:t>
            </a:r>
            <a:r>
              <a:rPr lang="zh-CN" altLang="en-US" sz="4800">
                <a:latin typeface=".萍方-简" panose="020B0300000000000000" charset="-122"/>
                <a:ea typeface=".萍方-简" panose="020B0300000000000000" charset="-122"/>
              </a:rPr>
              <a:t>并称为三大模型包装器。</a:t>
            </a:r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  <a:p>
            <a:endParaRPr lang="en-US" altLang="zh-CN" sz="4800"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4465" y="9185910"/>
            <a:ext cx="13543280" cy="420878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检索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5" y="1794510"/>
            <a:ext cx="22892385" cy="10126345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96595" y="1542415"/>
            <a:ext cx="23094950" cy="1217358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检索器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 (Retriever)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是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 RAG (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检索增强生成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)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系统的核心组件，负责从知识库中查找与用户查询相关的文档片段。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# 1.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创建</a:t>
            </a: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 FAISS 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检索器</a:t>
            </a:r>
            <a:endParaRPr lang="zh-CN" altLang="en-US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retriever_faiss = FAISS.from_texts(texts, embeddings).as_retriever()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# 2.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创建</a:t>
            </a: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 Chroma 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检索器</a:t>
            </a:r>
            <a:endParaRPr lang="zh-CN" altLang="en-US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retriever_chroma = Chroma.from_documents(docs, embeddings).as_retriever()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# 3.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关键词检索器</a:t>
            </a:r>
            <a:endParaRPr lang="zh-CN" altLang="en-US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retriever_bm25 = BM25Retriever.from_texts(texts)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 algn="l"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# 4.混合检索器 (结合语义+关键词)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ensemble_retriever = EnsembleRetriever(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    retrievers=[retriever_faiss, retriever_bm25],</a:t>
            </a:r>
            <a:endParaRPr lang="en-US" altLang="zh-CN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    weights=[0.7, 0.3]  # </a:t>
            </a:r>
            <a:r>
              <a:rPr lang="zh-CN" altLang="en-US" sz="3600">
                <a:latin typeface=".萍方-简" panose="020B0300000000000000" charset="-122"/>
                <a:ea typeface=".萍方-简" panose="020B0300000000000000" charset="-122"/>
              </a:rPr>
              <a:t>权重分配</a:t>
            </a:r>
            <a:endParaRPr lang="zh-CN" altLang="en-US" sz="36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 sz="3600">
                <a:latin typeface=".萍方-简" panose="020B0300000000000000" charset="-122"/>
                <a:ea typeface=".萍方-简" panose="020B0300000000000000" charset="-122"/>
              </a:rPr>
              <a:t>)</a:t>
            </a:r>
            <a:endParaRPr lang="en-US" altLang="zh-CN"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示例应用</a:t>
            </a: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2" name="文本占位符 1"/>
          <p:cNvSpPr txBox="1"/>
          <p:nvPr/>
        </p:nvSpPr>
        <p:spPr>
          <a:xfrm>
            <a:off x="898525" y="3720465"/>
            <a:ext cx="21961475" cy="820039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buNone/>
            </a:pPr>
            <a:r>
              <a:rPr lang="en-US" altLang="zh-CN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create_stuff_documents_chain </a:t>
            </a:r>
            <a:endParaRPr lang="en-US" altLang="zh-CN" sz="3600" kern="0">
              <a:solidFill>
                <a:srgbClr val="000000"/>
              </a:solidFill>
              <a:latin typeface=".萍方-简" panose="020B0300000000000000" charset="-122"/>
              <a:ea typeface=".萍方-简" panose="020B03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是用于构建 "Stuff" 文档链的核心函数。这种链的作用是将所有相关文档内容直接整合到提示词中，传递给大语言模型（LLM）生成回答，适用于文档量较小（不超过上下文窗口限制）的场景。</a:t>
            </a:r>
            <a:endParaRPr lang="en-US" altLang="zh-CN" sz="3600" kern="0">
              <a:solidFill>
                <a:srgbClr val="000000"/>
              </a:solidFill>
              <a:latin typeface=".萍方-简" panose="020B0300000000000000" charset="-122"/>
              <a:ea typeface=".萍方-简" panose="020B03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altLang="zh-CN" sz="3600" kern="0">
              <a:solidFill>
                <a:srgbClr val="000000"/>
              </a:solidFill>
              <a:latin typeface=".萍方-简" panose="020B0300000000000000" charset="-122"/>
              <a:ea typeface=".萍方-简" panose="020B0300000000000000" charset="-122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en-US" altLang="zh-CN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create_retrieval_chain </a:t>
            </a:r>
            <a:r>
              <a:rPr lang="zh-CN" altLang="en-US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是</a:t>
            </a:r>
            <a:r>
              <a:rPr lang="en-US" altLang="zh-CN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 LangChain </a:t>
            </a:r>
            <a:r>
              <a:rPr lang="zh-CN" altLang="en-US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框架中用于构建检索增强生成</a:t>
            </a:r>
            <a:r>
              <a:rPr lang="en-US" altLang="zh-CN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 (RAG) </a:t>
            </a:r>
            <a:r>
              <a:rPr lang="zh-CN" altLang="en-US" sz="3600" kern="0">
                <a:solidFill>
                  <a:srgbClr val="000000"/>
                </a:solidFill>
                <a:latin typeface=".萍方-简" panose="020B0300000000000000" charset="-122"/>
                <a:ea typeface=".萍方-简" panose="020B0300000000000000" charset="-122"/>
              </a:rPr>
              <a:t>系统的核心函数。它将文档检索器和文档处理链组合成一个完整的问答流程。</a:t>
            </a:r>
            <a:endParaRPr lang="zh-CN" altLang="en-US" sz="3600" kern="0">
              <a:solidFill>
                <a:srgbClr val="000000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898736" y="2155212"/>
            <a:ext cx="12192000" cy="761299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完成基于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的在线网页的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RAG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实战</a:t>
            </a:r>
            <a:endParaRPr lang="zh-CN" altLang="en-US"/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这里是章节一"/>
          <p:cNvSpPr txBox="1">
            <a:spLocks noGrp="1"/>
          </p:cNvSpPr>
          <p:nvPr>
            <p:ph type="title"/>
          </p:nvPr>
        </p:nvSpPr>
        <p:spPr>
          <a:xfrm>
            <a:off x="3294380" y="4783455"/>
            <a:ext cx="19249390" cy="2074545"/>
          </a:xfrm>
          <a:prstGeom prst="rect">
            <a:avLst/>
          </a:prstGeom>
        </p:spPr>
        <p:txBody>
          <a:bodyPr>
            <a:normAutofit/>
          </a:bodyPr>
          <a:lstStyle/>
          <a:p>
            <a:r>
              <a:rPr lang="en-US" altLang="zh-CN" sz="9600">
                <a:solidFill>
                  <a:schemeClr val="bg1"/>
                </a:solidFill>
                <a:latin typeface=".萍方-简" panose="020B0300000000000000" charset="-122"/>
                <a:ea typeface=".萍方-简" panose="020B0300000000000000" charset="-122"/>
              </a:rPr>
              <a:t>LangChain</a:t>
            </a:r>
            <a:r>
              <a:rPr lang="zh-CN" altLang="en-US" sz="9600">
                <a:solidFill>
                  <a:schemeClr val="bg1"/>
                </a:solidFill>
                <a:latin typeface=".萍方-简" panose="020B0300000000000000" charset="-122"/>
                <a:ea typeface=".萍方-简" panose="020B0300000000000000" charset="-122"/>
              </a:rPr>
              <a:t>中的工具调用</a:t>
            </a:r>
            <a:r>
              <a:rPr lang="en-US" altLang="zh-CN" sz="9600">
                <a:solidFill>
                  <a:schemeClr val="bg1"/>
                </a:solidFill>
                <a:latin typeface=".萍方-简" panose="020B0300000000000000" charset="-122"/>
                <a:ea typeface=".萍方-简" panose="020B0300000000000000" charset="-122"/>
              </a:rPr>
              <a:t>&amp;</a:t>
            </a:r>
            <a:r>
              <a:rPr lang="zh-CN" altLang="en-US" sz="9600">
                <a:solidFill>
                  <a:schemeClr val="bg1"/>
                </a:solidFill>
                <a:latin typeface=".萍方-简" panose="020B0300000000000000" charset="-122"/>
                <a:ea typeface=".萍方-简" panose="020B0300000000000000" charset="-122"/>
              </a:rPr>
              <a:t>中间件</a:t>
            </a:r>
            <a:endParaRPr lang="zh-CN" altLang="en-US" sz="9600">
              <a:solidFill>
                <a:schemeClr val="bg1"/>
              </a:solidFill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1.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大模型中工具使用 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– Function Call</a:t>
            </a:r>
            <a:endParaRPr lang="en-US" altLang="zh-CN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92117" y="5066480"/>
            <a:ext cx="5861749" cy="7656456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5399" y="4202808"/>
            <a:ext cx="6856716" cy="9139023"/>
          </a:xfrm>
          <a:prstGeom prst="rect">
            <a:avLst/>
          </a:prstGeom>
        </p:spPr>
      </p:pic>
      <p:sp>
        <p:nvSpPr>
          <p:cNvPr id="5" name="箭头: 右 4"/>
          <p:cNvSpPr/>
          <p:nvPr/>
        </p:nvSpPr>
        <p:spPr>
          <a:xfrm>
            <a:off x="9512193" y="7805694"/>
            <a:ext cx="3983320" cy="2178028"/>
          </a:xfrm>
          <a:prstGeom prst="rightArrow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.萍方-简" panose="020B0300000000000000" charset="-122"/>
                <a:ea typeface=".萍方-简" panose="020B0300000000000000" charset="-122"/>
              </a:rPr>
              <a:t>工具的使用</a:t>
            </a:r>
            <a:endParaRPr lang="zh-CN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0387" y="1831069"/>
            <a:ext cx="17043613" cy="776664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君子生非异也，善假于物也 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		--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荀子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《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劝学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》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1.LangChain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中的工具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调用的流程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93485" y="2045970"/>
            <a:ext cx="11797030" cy="10890885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1.LangChain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中的工具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自定义工具调用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90387" y="1864935"/>
            <a:ext cx="22784013" cy="70751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工具是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AIAgent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、链或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</a:rPr>
              <a:t>LLM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可以用来与世界互动的接口，也包括物理世界，从前面大模型中工具使用例子可以看出工具的定义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要素：</a:t>
            </a:r>
            <a:endParaRPr lang="zh-CN" altLang="en-US" sz="4000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000">
                <a:effectLst/>
                <a:latin typeface=".萍方-简" panose="020B0300000000000000" charset="-122"/>
                <a:ea typeface=".萍方-简" panose="020B0300000000000000" charset="-122"/>
              </a:rPr>
              <a:t>工具的名称，工具的描述，该工具接收的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</a:rPr>
              <a:t>参数，</a:t>
            </a:r>
            <a:endParaRPr lang="zh-CN" altLang="en-US" sz="4000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 sz="4000">
                <a:effectLst/>
                <a:latin typeface=".萍方-简" panose="020B0300000000000000" charset="-122"/>
                <a:ea typeface=".萍方-简" panose="020B0300000000000000" charset="-122"/>
              </a:rPr>
              <a:t>要调用的函数，工具返回结果</a:t>
            </a:r>
            <a:endParaRPr lang="zh-CN" altLang="en-US" sz="4000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zh-CN" altLang="en-US" sz="4000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zh-CN" altLang="en-US" sz="4000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en-US" altLang="zh-CN" sz="4000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6398260"/>
            <a:ext cx="10639425" cy="2780665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0" y="5128260"/>
            <a:ext cx="12013565" cy="761238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1.LangChain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中的工具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-</a:t>
            </a:r>
            <a:r>
              <a:rPr lang="zh-CN" altLang="en-US" b="1">
                <a:effectLst/>
                <a:latin typeface=".萍方-简" panose="020B0300000000000000" charset="-122"/>
                <a:ea typeface=".萍方-简" panose="020B0300000000000000" charset="-122"/>
                <a:sym typeface="+mn-ea"/>
              </a:rPr>
              <a:t>预定义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工具调用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1987" y="10082226"/>
            <a:ext cx="22784013" cy="199707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endParaRPr lang="zh-CN" altLang="en-US"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其他工具调用方式：实战：使用工具查询数据库表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1987" y="1919288"/>
            <a:ext cx="22784013" cy="704977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>
              <a:buNone/>
            </a:pP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LangChain 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允许用户自定义</a:t>
            </a:r>
            <a:r>
              <a:rPr lang="en-US" altLang="zh-CN">
                <a:latin typeface=".萍方-简" panose="020B0300000000000000" charset="-122"/>
                <a:ea typeface=".萍方-简" panose="020B0300000000000000" charset="-122"/>
                <a:sym typeface="+mn-ea"/>
              </a:rPr>
              <a:t>Tools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组件以满足特定的需求。</a:t>
            </a:r>
            <a:endParaRPr lang="en-US" altLang="zh-CN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latin typeface=".萍方-简" panose="020B0300000000000000" charset="-122"/>
                <a:ea typeface=".萍方-简" panose="020B0300000000000000" charset="-122"/>
                <a:sym typeface="+mn-ea"/>
              </a:rPr>
              <a:t>同时也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提供了一组预定义的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Tools 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组件，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Toolkits 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组件是一个特殊的组件集合，它包括了多个用于实现特定</a:t>
            </a:r>
            <a:r>
              <a:rPr lang="zh-CN" altLang="en-US">
                <a:latin typeface=".萍方-简" panose="020B0300000000000000" charset="-122"/>
                <a:ea typeface=".萍方-简" panose="020B0300000000000000" charset="-122"/>
              </a:rPr>
              <a:t>目标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的 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Tools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组件，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LangChain 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提供了预定义的 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Toolkits 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组件。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例如：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  <a:p>
            <a:pPr>
              <a:buNone/>
            </a:pP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Arxiv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是一个用于检索学术论文的工具，它让</a:t>
            </a:r>
            <a:r>
              <a:rPr lang="en-US" altLang="zh-CN">
                <a:effectLst/>
                <a:latin typeface=".萍方-简" panose="020B0300000000000000" charset="-122"/>
                <a:ea typeface=".萍方-简" panose="020B0300000000000000" charset="-122"/>
              </a:rPr>
              <a:t>Agent</a:t>
            </a:r>
            <a:r>
              <a:rPr lang="zh-CN" altLang="en-US">
                <a:effectLst/>
                <a:latin typeface=".萍方-简" panose="020B0300000000000000" charset="-122"/>
                <a:ea typeface=".萍方-简" panose="020B0300000000000000" charset="-122"/>
              </a:rPr>
              <a:t>能够搜索和获取科学文献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243330" y="374015"/>
            <a:ext cx="14841220" cy="97726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2.LangChain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</a:rPr>
              <a:t>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中间件系统（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）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1987" y="1919288"/>
            <a:ext cx="22784013" cy="48488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b="1">
                <a:sym typeface="Helvetica Neue" panose="02000503000000020004"/>
              </a:rPr>
              <a:t>什么是中间件</a:t>
            </a:r>
            <a:r>
              <a:rPr lang="en-US" altLang="zh-CN" b="1">
                <a:sym typeface="Helvetica Neue" panose="02000503000000020004"/>
              </a:rPr>
              <a:t>Middleware</a:t>
            </a:r>
            <a:r>
              <a:rPr lang="zh-CN" altLang="en-US" b="1">
                <a:ea typeface="宋体" panose="02010600030101010101" pitchFamily="2" charset="-122"/>
                <a:sym typeface="Helvetica Neue" panose="02000503000000020004"/>
              </a:rPr>
              <a:t>？</a:t>
            </a:r>
            <a:endParaRPr lang="zh-CN" altLang="en-US" b="1">
              <a:ea typeface="宋体" panose="02010600030101010101" pitchFamily="2" charset="-122"/>
              <a:sym typeface="Helvetica Neue" panose="02000503000000020004"/>
            </a:endParaRPr>
          </a:p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>
                <a:latin typeface="Helvetica Neue Bold" panose="02000503000000020004" charset="0"/>
                <a:sym typeface="Helvetica Neue" panose="02000503000000020004"/>
              </a:rPr>
              <a:t>是一种</a:t>
            </a:r>
            <a:r>
              <a:rPr lang="zh-CN" altLang="en-US">
                <a:sym typeface="Helvetica Neue" panose="02000503000000020004"/>
              </a:rPr>
              <a:t>细粒度流程控制</a:t>
            </a:r>
            <a:r>
              <a:rPr lang="zh-CN" altLang="en-US" b="1">
                <a:latin typeface="Helvetica Neue Bold" panose="02000503000000020004" charset="0"/>
                <a:sym typeface="Helvetica Neue" panose="02000503000000020004"/>
              </a:rPr>
              <a:t>机制</a:t>
            </a:r>
            <a:r>
              <a:rPr lang="zh-CN" altLang="en-US">
                <a:sym typeface="Helvetica Neue" panose="02000503000000020004"/>
              </a:rPr>
              <a:t>，用于在智能体执行过程中</a:t>
            </a:r>
            <a:r>
              <a:rPr lang="zh-CN" altLang="en-US" b="1">
                <a:latin typeface="Helvetica Neue Bold" panose="02000503000000020004" charset="0"/>
                <a:sym typeface="Helvetica Neue" panose="02000503000000020004"/>
              </a:rPr>
              <a:t>拦截、修改</a:t>
            </a:r>
            <a:r>
              <a:rPr lang="zh-CN" altLang="en-US">
                <a:latin typeface="Helvetica Neue Bold" panose="02000503000000020004" charset="0"/>
                <a:sym typeface="Helvetica Neue" panose="02000503000000020004"/>
              </a:rPr>
              <a:t>或</a:t>
            </a:r>
            <a:r>
              <a:rPr lang="zh-CN" altLang="en-US" b="1">
                <a:latin typeface="Helvetica Neue Bold" panose="02000503000000020004" charset="0"/>
                <a:sym typeface="Helvetica Neue" panose="02000503000000020004"/>
              </a:rPr>
              <a:t>增强</a:t>
            </a:r>
            <a:r>
              <a:rPr lang="zh-CN" altLang="en-US">
                <a:sym typeface="Helvetica Neue" panose="02000503000000020004"/>
              </a:rPr>
              <a:t>请求与响应的处理逻辑，而无需修改核心</a:t>
            </a:r>
            <a:r>
              <a:rPr lang="en-US" altLang="zh-CN">
                <a:sym typeface="Helvetica Neue" panose="02000503000000020004"/>
              </a:rPr>
              <a:t> Agent </a:t>
            </a:r>
            <a:r>
              <a:rPr lang="zh-CN" altLang="en-US">
                <a:sym typeface="Helvetica Neue" panose="02000503000000020004"/>
              </a:rPr>
              <a:t>或工具的代码。</a:t>
            </a: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pPr marR="0" algn="l" defTabSz="2438400" rtl="0" eaLnBrk="1">
              <a:lnSpc>
                <a:spcPct val="150000"/>
              </a:lnSpc>
              <a:spcBef>
                <a:spcPts val="9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>
                <a:ea typeface="宋体" panose="02010600030101010101" pitchFamily="2" charset="-122"/>
                <a:sym typeface="Helvetica Neue" panose="02000503000000020004"/>
              </a:rPr>
              <a:t>中间件在每个步骤之前和之后都会暴露钩子（函数）</a:t>
            </a:r>
            <a:r>
              <a:rPr lang="en-US" altLang="zh-CN">
                <a:ea typeface="宋体" panose="02010600030101010101" pitchFamily="2" charset="-122"/>
                <a:sym typeface="Helvetica Neue" panose="02000503000000020004"/>
              </a:rPr>
              <a:t> 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24600" y="7020560"/>
            <a:ext cx="5861685" cy="52832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11475" y="5076190"/>
            <a:ext cx="6885940" cy="771906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243330" y="374015"/>
            <a:ext cx="14841220" cy="97726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2.LangChain-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中间件系统（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）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1987" y="1919288"/>
            <a:ext cx="22784013" cy="29610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altLang="en-US" b="1">
                <a:sym typeface="Helvetica Neue" panose="02000503000000020004"/>
              </a:rPr>
              <a:t>中间件</a:t>
            </a:r>
            <a:r>
              <a:rPr lang="en-US" altLang="zh-CN" b="1">
                <a:sym typeface="Helvetica Neue" panose="02000503000000020004"/>
              </a:rPr>
              <a:t>Middleware</a:t>
            </a:r>
            <a:r>
              <a:rPr lang="zh-CN" altLang="en-US" b="1">
                <a:sym typeface="Helvetica Neue" panose="02000503000000020004"/>
              </a:rPr>
              <a:t>能做什么</a:t>
            </a:r>
            <a:r>
              <a:rPr lang="zh-CN" altLang="en-US" b="1">
                <a:ea typeface="宋体" panose="02010600030101010101" pitchFamily="2" charset="-122"/>
                <a:sym typeface="Helvetica Neue" panose="02000503000000020004"/>
              </a:rPr>
              <a:t>？</a:t>
            </a:r>
            <a:r>
              <a:rPr lang="en-US" altLang="zh-CN">
                <a:ea typeface="宋体" panose="02010600030101010101" pitchFamily="2" charset="-122"/>
                <a:sym typeface="Helvetica Neue" panose="02000503000000020004"/>
              </a:rPr>
              <a:t> </a:t>
            </a:r>
            <a:endParaRPr lang="zh-CN" altLang="en-US" b="1">
              <a:ea typeface="宋体" panose="02010600030101010101" pitchFamily="2" charset="-122"/>
              <a:sym typeface="Helvetica Neue" panose="02000503000000020004"/>
            </a:endParaRPr>
          </a:p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Helvetica Neue" panose="02000503000000020004"/>
              </a:rPr>
              <a:t> 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38145" y="3557270"/>
            <a:ext cx="17174845" cy="8624570"/>
          </a:xfrm>
          <a:prstGeom prst="rect">
            <a:avLst/>
          </a:prstGeom>
        </p:spPr>
      </p:pic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243330" y="374015"/>
            <a:ext cx="10632440" cy="977265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2.LangChain-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中间件系统（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）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  <a:sym typeface="Helvetica Neue" panose="02000503000000020004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96621" y="11975123"/>
            <a:ext cx="22069132" cy="679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内置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Middleware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Helvetica Neue" panose="02000503000000020004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125" y="1740877"/>
            <a:ext cx="12444568" cy="8899527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03357" y="2368543"/>
            <a:ext cx="13184022" cy="10973287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xfrm>
            <a:off x="1243330" y="374015"/>
            <a:ext cx="14841220" cy="977265"/>
          </a:xfrm>
          <a:prstGeom prst="rect">
            <a:avLst/>
          </a:prstGeom>
        </p:spPr>
        <p:txBody>
          <a:bodyPr>
            <a:normAutofit/>
          </a:bodyPr>
          <a:lstStyle/>
          <a:p>
            <a:pPr defTabSz="742950">
              <a:defRPr sz="4950"/>
            </a:pP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2.LangChain-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中间件系统（</a:t>
            </a:r>
            <a:r>
              <a:rPr lang="en-US" altLang="zh-CN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）</a:t>
            </a:r>
            <a:endParaRPr lang="zh-CN" altLang="en-US" b="1">
              <a:latin typeface=".萍方-简" panose="020B0300000000000000" charset="-122"/>
              <a:ea typeface=".萍方-简" panose="020B0300000000000000" charset="-122"/>
              <a:cs typeface=".萍方-简" panose="020B03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91987" y="1919288"/>
            <a:ext cx="22784013" cy="583120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spAutoFit/>
          </a:bodyPr>
          <a:lstStyle/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zh-CN" b="1">
                <a:sym typeface="Helvetica Neue" panose="02000503000000020004"/>
              </a:rPr>
              <a:t>常用的中间件：</a:t>
            </a:r>
            <a:endParaRPr lang="zh-CN" b="1">
              <a:sym typeface="Helvetica Neue" panose="02000503000000020004"/>
            </a:endParaRPr>
          </a:p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 b="1">
                <a:latin typeface="Helvetica Neue Bold" panose="02000503000000020004" charset="0"/>
                <a:cs typeface="Helvetica Neue Bold" panose="02000503000000020004" charset="0"/>
                <a:sym typeface="Helvetica Neue" panose="02000503000000020004"/>
              </a:rPr>
              <a:t>SummarizationMiddleware</a:t>
            </a:r>
            <a:r>
              <a:rPr lang="en-US" altLang="zh-CN">
                <a:sym typeface="Helvetica Neue" panose="02000503000000020004"/>
              </a:rPr>
              <a:t> </a:t>
            </a:r>
            <a:r>
              <a:rPr lang="zh-CN" altLang="en-US">
                <a:sym typeface="Helvetica Neue" panose="02000503000000020004"/>
              </a:rPr>
              <a:t>总结摘要中间件（上下文压缩）：当接近会话次数上限时，自动汇总对话历史记录。</a:t>
            </a:r>
            <a:endParaRPr kumimoji="0" lang="zh-CN" altLang="en-US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pPr marR="0" algn="l" defTabSz="2438400" rtl="0" eaLnBrk="1">
              <a:lnSpc>
                <a:spcPct val="150000"/>
              </a:lnSpc>
              <a:spcBef>
                <a:spcPts val="4500"/>
              </a:spcBef>
              <a:spcAft>
                <a:spcPts val="600"/>
              </a:spcAft>
              <a:buClrTx/>
              <a:buSzTx/>
              <a:buFontTx/>
              <a:buNone/>
            </a:pPr>
            <a:r>
              <a:rPr lang="en-US" altLang="zh-CN">
                <a:ea typeface="宋体" panose="02010600030101010101" pitchFamily="2" charset="-122"/>
                <a:sym typeface="Helvetica Neue" panose="02000503000000020004"/>
              </a:rPr>
              <a:t> </a:t>
            </a:r>
            <a:endParaRPr lang="zh-CN" altLang="en-US">
              <a:effectLst/>
              <a:latin typeface=".萍方-简" panose="020B0300000000000000" charset="-122"/>
              <a:ea typeface=".萍方-简" panose="020B0300000000000000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7090" y="6595745"/>
            <a:ext cx="10063480" cy="331533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330" y="6306185"/>
            <a:ext cx="16018510" cy="6144895"/>
          </a:xfrm>
          <a:prstGeom prst="rect">
            <a:avLst/>
          </a:prstGeom>
        </p:spPr>
      </p:pic>
      <p:sp>
        <p:nvSpPr>
          <p:cNvPr id="10" name="矩形 9"/>
          <p:cNvSpPr/>
          <p:nvPr/>
        </p:nvSpPr>
        <p:spPr>
          <a:xfrm>
            <a:off x="8660130" y="8145780"/>
            <a:ext cx="14370685" cy="3222625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ldLvl="0" animBg="1"/>
      <p:bldP spid="10" grpId="1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幻灯片标题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 defTabSz="742950">
              <a:defRPr sz="4950"/>
            </a:pPr>
            <a:r>
              <a:rPr lang="en-US" altLang="zh-CN">
                <a:sym typeface="+mn-ea"/>
              </a:rPr>
              <a:t>Middleware</a:t>
            </a:r>
            <a:endParaRPr lang="zh-CN" altLang="en-US"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157434" y="1705707"/>
            <a:ext cx="22069132" cy="679884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自定义</a:t>
            </a:r>
            <a:r>
              <a:rPr kumimoji="0" lang="en-US" altLang="zh-CN" sz="4000" b="1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Middleware</a:t>
            </a:r>
            <a:endParaRPr kumimoji="0" lang="zh-CN" altLang="en-US" sz="4000" b="1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Helvetica Neue" panose="02000503000000020004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641512" y="1718036"/>
            <a:ext cx="16093074" cy="6675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spAutoFit/>
          </a:bodyPr>
          <a:lstStyle/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提供了两种拦截</a:t>
            </a:r>
            <a:r>
              <a:rPr kumimoji="0" lang="en-US" altLang="zh-CN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Agent</a:t>
            </a:r>
            <a:r>
              <a:rPr kumimoji="0" lang="zh-CN" altLang="en-US" sz="4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Helvetica Neue" panose="02000503000000020004"/>
              </a:rPr>
              <a:t>执行的钩子：</a:t>
            </a:r>
            <a:endParaRPr kumimoji="0" lang="zh-CN" altLang="en-US" sz="40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Helvetica Neue" panose="02000503000000020004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7434" y="2585586"/>
            <a:ext cx="8668288" cy="5424327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1832" y="2642126"/>
            <a:ext cx="8828014" cy="543056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1243044" y="8209908"/>
            <a:ext cx="12123199" cy="4980402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before_agent - </a:t>
            </a:r>
            <a:r>
              <a:rPr lang="zh-CN" altLang="en-US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在</a:t>
            </a:r>
            <a:r>
              <a:rPr lang="en-US" altLang="zh-CN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Agent</a:t>
            </a:r>
            <a:r>
              <a:rPr lang="zh-CN" altLang="en-US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启动之前（每次调用一次）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before_model - 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每次模型调用之前。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after_model - 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每次模型响应之后。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after_agent - </a:t>
            </a:r>
            <a:r>
              <a:rPr lang="en-US" altLang="zh-CN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Agent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完成后（每次调用一次）。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14061832" y="8009913"/>
            <a:ext cx="10064260" cy="2639800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wrap_model_call - </a:t>
            </a:r>
            <a:r>
              <a:rPr lang="zh-CN" altLang="en-US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围绕每次模型调用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altLang="zh-CN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wrap_tool_call - 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围绕每</a:t>
            </a:r>
            <a:r>
              <a:rPr lang="zh-CN" altLang="en-US" sz="4000">
                <a:solidFill>
                  <a:schemeClr val="tx1"/>
                </a:solidFill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次</a:t>
            </a:r>
            <a:r>
              <a:rPr lang="zh-CN" altLang="en-US" sz="4000">
                <a:latin typeface=".萍方-简" panose="020B0300000000000000" charset="-122"/>
                <a:ea typeface=".萍方-简" panose="020B0300000000000000" charset="-122"/>
                <a:cs typeface="PingFang SC Light" panose="020B0400000000000000" charset="-122"/>
                <a:sym typeface="+mn-ea"/>
              </a:rPr>
              <a:t>工具调用。</a:t>
            </a:r>
            <a:endParaRPr lang="en-US" altLang="zh-CN" sz="4000">
              <a:latin typeface=".萍方-简" panose="020B0300000000000000" charset="-122"/>
              <a:ea typeface=".萍方-简" panose="020B0300000000000000" charset="-122"/>
              <a:cs typeface="PingFang SC Light" panose="020B0400000000000000" charset="-122"/>
              <a:sym typeface="+mn-ea"/>
            </a:endParaRP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243330" y="537845"/>
            <a:ext cx="14977110" cy="797560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wrap="square">
            <a:noAutofit/>
          </a:bodyPr>
          <a:p>
            <a:pPr defTabSz="742950">
              <a:defRPr sz="4950"/>
            </a:pPr>
            <a:r>
              <a:rPr lang="en-US" altLang="zh-CN" sz="5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+mn-ea"/>
              </a:rPr>
              <a:t>2.LangChain-</a:t>
            </a:r>
            <a:r>
              <a:rPr lang="zh-CN" altLang="en-US" sz="5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中间件系统（</a:t>
            </a:r>
            <a:r>
              <a:rPr lang="en-US" altLang="zh-CN" sz="5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sz="5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）</a:t>
            </a:r>
            <a:endParaRPr lang="zh-CN" altLang="en-US" sz="5400">
              <a:latin typeface="Hannotate SC Regular" panose="03000500000000000000" charset="-122"/>
              <a:ea typeface="Hannotate SC Regular" panose="03000500000000000000" charset="-122"/>
              <a:cs typeface="Hannotate SC Regular" panose="03000500000000000000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43330" y="2060575"/>
            <a:ext cx="21111845" cy="65595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t" anchorCtr="0" forceAA="0">
            <a:noAutofit/>
          </a:bodyPr>
          <a:p>
            <a:pPr marL="0" marR="0" indent="0" algn="l" defTabSz="2438400" rtl="0" fontAlgn="auto" latinLnBrk="0" hangingPunct="0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4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自定义中间件</a:t>
            </a:r>
            <a:r>
              <a:rPr lang="en-US" altLang="zh-CN" sz="4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Middleware</a:t>
            </a:r>
            <a:r>
              <a:rPr lang="zh-CN" altLang="en-US" sz="4400" b="1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：</a:t>
            </a:r>
            <a:r>
              <a:rPr lang="zh-CN" altLang="en-US" sz="4400">
                <a:latin typeface=".萍方-简" panose="020B0300000000000000" charset="-122"/>
                <a:ea typeface=".萍方-简" panose="020B0300000000000000" charset="-122"/>
                <a:cs typeface=".萍方-简" panose="020B0300000000000000" charset="-122"/>
                <a:sym typeface="Helvetica Neue" panose="02000503000000020004"/>
              </a:rPr>
              <a:t>通过在代理执行流程的特定点运行钩子来构建自定义中间件。</a:t>
            </a:r>
            <a:r>
              <a:rPr lang="en-US" altLang="zh-CN" sz="3600">
                <a:ea typeface="宋体" panose="02010600030101010101" pitchFamily="2" charset="-122"/>
                <a:sym typeface="Helvetica Neue" panose="02000503000000020004"/>
              </a:rPr>
              <a:t> </a:t>
            </a:r>
            <a:endParaRPr lang="zh-CN" altLang="en-US" sz="3600" b="1">
              <a:ea typeface="宋体" panose="02010600030101010101" pitchFamily="2" charset="-122"/>
              <a:sym typeface="Helvetica Neue" panose="02000503000000020004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532255" y="3441700"/>
            <a:ext cx="19834860" cy="1947545"/>
          </a:xfrm>
          <a:prstGeom prst="rect">
            <a:avLst/>
          </a:prstGeom>
          <a:noFill/>
          <a:ln w="12700" cap="flat">
            <a:noFill/>
            <a:miter lim="400000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none"/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571500" marR="0" indent="-571500" algn="l" defTabSz="2438400" rtl="0" eaLnBrk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"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 panose="02000503000000020004"/>
              </a:rPr>
              <a:t>基于装饰器的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Helvetica Neue" panose="02000503000000020004"/>
              </a:rPr>
              <a:t>：</a:t>
            </a:r>
            <a:r>
              <a:rPr kumimoji="0" lang="en-US" altLang="zh-CN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 panose="02000503000000020004"/>
              </a:rPr>
              <a:t> 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 panose="02000503000000020004"/>
              </a:rPr>
              <a:t>适用于单钩中间件的快速简便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 panose="02000503000000020004"/>
            </a:endParaRPr>
          </a:p>
          <a:p>
            <a:pPr marL="571500" marR="0" indent="-571500" algn="l" defTabSz="2438400" rtl="0" eaLnBrk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"/>
            </a:pP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 panose="02000503000000020004"/>
              </a:rPr>
              <a:t>基于类的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宋体" panose="02010600030101010101" pitchFamily="2" charset="-122"/>
                <a:cs typeface="+mn-cs"/>
                <a:sym typeface="Helvetica Neue" panose="02000503000000020004"/>
              </a:rPr>
              <a:t>：</a:t>
            </a:r>
            <a:r>
              <a:rPr kumimoji="0" lang="zh-CN" altLang="en-US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n-lt"/>
                <a:ea typeface="+mn-ea"/>
                <a:cs typeface="+mn-cs"/>
                <a:sym typeface="Helvetica Neue" panose="02000503000000020004"/>
              </a:rPr>
              <a:t>对于具有多个钩子的复杂中间件来说功能更强大</a:t>
            </a:r>
            <a:endParaRPr kumimoji="0" lang="zh-CN" altLang="en-US" sz="36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+mn-lt"/>
              <a:ea typeface="+mn-ea"/>
              <a:cs typeface="+mn-cs"/>
              <a:sym typeface="Helvetica Neue" panose="02000503000000020004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565" y="8001635"/>
            <a:ext cx="11779250" cy="343281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08815" y="7202805"/>
            <a:ext cx="12105640" cy="4929505"/>
          </a:xfrm>
          <a:prstGeom prst="rect">
            <a:avLst/>
          </a:prstGeom>
        </p:spPr>
      </p:pic>
      <p:sp>
        <p:nvSpPr>
          <p:cNvPr id="11" name="矩形 10"/>
          <p:cNvSpPr/>
          <p:nvPr/>
        </p:nvSpPr>
        <p:spPr>
          <a:xfrm>
            <a:off x="721995" y="8703310"/>
            <a:ext cx="3827145" cy="655320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2755880" y="7346315"/>
            <a:ext cx="8235950" cy="655955"/>
          </a:xfrm>
          <a:prstGeom prst="rect">
            <a:avLst/>
          </a:prstGeom>
          <a:ln w="76200">
            <a:solidFill>
              <a:schemeClr val="accent6"/>
            </a:solidFill>
          </a:ln>
        </p:spPr>
        <p:style>
          <a:lnRef idx="3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ot="0" vertOverflow="overflow" horzOverflow="overflow" vert="horz" wrap="square" lIns="50800" tIns="50800" rIns="50800" bIns="50800" numCol="1" spcCol="38100" rtlCol="0" anchor="ctr" forceAA="0">
            <a:noAutofit/>
          </a:bodyPr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 panose="02000503000000020004"/>
              <a:ea typeface="Helvetica Neue Medium" panose="02000503000000020004"/>
              <a:cs typeface="Helvetica Neue Medium" panose="02000503000000020004"/>
              <a:sym typeface="Helvetica Neue Medium" panose="02000503000000020004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ldLvl="0" animBg="1"/>
      <p:bldP spid="3" grpId="1" animBg="1"/>
      <p:bldP spid="5" grpId="0" bldLvl="0" animBg="1"/>
      <p:bldP spid="5" grpId="1" animBg="1"/>
      <p:bldP spid="11" grpId="0" bldLvl="0" animBg="1"/>
      <p:bldP spid="12" grpId="0" bldLvl="0" animBg="1"/>
      <p:bldP spid="11" grpId="1" animBg="1"/>
      <p:bldP spid="12" grpId="1" animBg="1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 panose="02000503000000020004"/>
            <a:ea typeface="Helvetica Neue Medium" panose="02000503000000020004"/>
            <a:cs typeface="Helvetica Neue Medium" panose="02000503000000020004"/>
            <a:sym typeface="Helvetica Neue Medium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400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 panose="02000503000000020004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3251</Words>
  <Application>WPS 演示</Application>
  <PresentationFormat>自定义</PresentationFormat>
  <Paragraphs>161</Paragraphs>
  <Slides>23</Slides>
  <Notes>62</Notes>
  <HiddenSlides>0</HiddenSlides>
  <MMClips>1</MMClips>
  <ScaleCrop>false</ScaleCrop>
  <HeadingPairs>
    <vt:vector size="8" baseType="variant">
      <vt:variant>
        <vt:lpstr>已用的字体</vt:lpstr>
      </vt:variant>
      <vt:variant>
        <vt:i4>26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51" baseType="lpstr">
      <vt:lpstr>Arial</vt:lpstr>
      <vt:lpstr>宋体</vt:lpstr>
      <vt:lpstr>Wingdings</vt:lpstr>
      <vt:lpstr>Helvetica Neue</vt:lpstr>
      <vt:lpstr>Helvetica Neue Medium</vt:lpstr>
      <vt:lpstr>PingFang SC Semibold</vt:lpstr>
      <vt:lpstr>PingFang SC Light</vt:lpstr>
      <vt:lpstr>.萍方-简</vt:lpstr>
      <vt:lpstr>Wingdings</vt:lpstr>
      <vt:lpstr>微软雅黑</vt:lpstr>
      <vt:lpstr>Arial Unicode MS</vt:lpstr>
      <vt:lpstr>Helvetica Neue Bold</vt:lpstr>
      <vt:lpstr>Hannotate SC Regular</vt:lpstr>
      <vt:lpstr>DejaVu Math TeX Gyre</vt:lpstr>
      <vt:lpstr>Calibri</vt:lpstr>
      <vt:lpstr>Hannotate SC Regular</vt:lpstr>
      <vt:lpstr>Helvetica Neue</vt:lpstr>
      <vt:lpstr>Helvetica Neue Medium</vt:lpstr>
      <vt:lpstr>PingFang SC Light</vt:lpstr>
      <vt:lpstr>PingFang SC Semibold</vt:lpstr>
      <vt:lpstr>Sweetie</vt:lpstr>
      <vt:lpstr>Retro Cute Medium</vt:lpstr>
      <vt:lpstr>Active SemiBold</vt:lpstr>
      <vt:lpstr>Windsor Std Light</vt:lpstr>
      <vt:lpstr>Retro Cute Bold</vt:lpstr>
      <vt:lpstr>Oxford Regular</vt:lpstr>
      <vt:lpstr>21_BasicWhite</vt:lpstr>
      <vt:lpstr>Paint.Picture</vt:lpstr>
      <vt:lpstr>PowerPoint 演示文稿</vt:lpstr>
      <vt:lpstr>PowerPoint 演示文稿</vt:lpstr>
      <vt:lpstr>LangChain与RAG实战</vt:lpstr>
      <vt:lpstr>快速复习RAG</vt:lpstr>
      <vt:lpstr>LangChain与RAG</vt:lpstr>
      <vt:lpstr>LangChain与RAG</vt:lpstr>
      <vt:lpstr>文档与文档加载</vt:lpstr>
      <vt:lpstr>文档转换器 – 切割</vt:lpstr>
      <vt:lpstr>文档转换器</vt:lpstr>
      <vt:lpstr>嵌入模型包装器和向量数据库</vt:lpstr>
      <vt:lpstr>检索</vt:lpstr>
      <vt:lpstr>示例应用</vt:lpstr>
      <vt:lpstr>LangChain中的工具调用&amp;中间件</vt:lpstr>
      <vt:lpstr>1.大模型中工具使用 – Function Call</vt:lpstr>
      <vt:lpstr>1.LangChain中的工具-调用的流程</vt:lpstr>
      <vt:lpstr>1.LangChain中的工具-自定义工具调用</vt:lpstr>
      <vt:lpstr>1.LangChain中的工具-预定义工具调用</vt:lpstr>
      <vt:lpstr>2.LangChain-中间件系统（Middleware）</vt:lpstr>
      <vt:lpstr>2.LangChain-中间件系统（Middleware）</vt:lpstr>
      <vt:lpstr>2.LangChain-中间件系统（Middleware）</vt:lpstr>
      <vt:lpstr>2.LangChain-中间件系统（Middleware）</vt:lpstr>
      <vt:lpstr>Middleware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郭培</cp:lastModifiedBy>
  <cp:revision>287</cp:revision>
  <dcterms:created xsi:type="dcterms:W3CDTF">2025-03-08T12:13:00Z</dcterms:created>
  <dcterms:modified xsi:type="dcterms:W3CDTF">2025-12-08T12:24:13Z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788BC8F5AE1B41898161E6F2DDF15955_13</vt:lpwstr>
  </property>
  <property fmtid="{D5CDD505-2E9C-101B-9397-08002B2CF9AE}" pid="3" name="KSOProductBuildVer">
    <vt:lpwstr>2052-12.1.0.24034</vt:lpwstr>
  </property>
</Properties>
</file>