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7" r:id="rId3"/>
    <p:sldId id="258" r:id="rId5"/>
    <p:sldId id="288" r:id="rId6"/>
    <p:sldId id="319" r:id="rId7"/>
    <p:sldId id="320" r:id="rId8"/>
    <p:sldId id="356" r:id="rId9"/>
    <p:sldId id="357" r:id="rId10"/>
    <p:sldId id="358" r:id="rId11"/>
    <p:sldId id="366" r:id="rId12"/>
    <p:sldId id="375" r:id="rId13"/>
    <p:sldId id="385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6331" autoAdjust="0"/>
  </p:normalViewPr>
  <p:slideViewPr>
    <p:cSldViewPr snapToGrid="0">
      <p:cViewPr varScale="1">
        <p:scale>
          <a:sx n="56" d="100"/>
          <a:sy n="56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wallhaven-rdvvlq.jpg" descr="wallhaven-rdvvlq.jpg"/>
          <p:cNvPicPr>
            <a:picLocks noChangeAspect="1"/>
          </p:cNvPicPr>
          <p:nvPr/>
        </p:nvPicPr>
        <p:blipFill>
          <a:blip r:embed="rId2">
            <a:alphaModFix amt="73715"/>
          </a:blip>
          <a:stretch>
            <a:fillRect/>
          </a:stretch>
        </p:blipFill>
        <p:spPr>
          <a:xfrm>
            <a:off x="-1" y="8708"/>
            <a:ext cx="24384001" cy="136985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" name="未命名.png" descr="未命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455" y="411980"/>
            <a:ext cx="1750700" cy="46101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" name="未命名2.png" descr="未命名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1103" y="-81128"/>
            <a:ext cx="1929647" cy="14472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wallhaven-qzqvp7.png" descr="wallhaven-qzqvp7.png"/>
          <p:cNvPicPr>
            <a:picLocks noChangeAspect="1"/>
          </p:cNvPicPr>
          <p:nvPr/>
        </p:nvPicPr>
        <p:blipFill>
          <a:blip r:embed="rId2">
            <a:alphaModFix amt="68948"/>
          </a:blip>
          <a:stretch>
            <a:fillRect/>
          </a:stretch>
        </p:blipFill>
        <p:spPr>
          <a:xfrm>
            <a:off x="-496866" y="-2093472"/>
            <a:ext cx="25377732" cy="16918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" name="未命名.png" descr="未命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455" y="411980"/>
            <a:ext cx="1750701" cy="46101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" name="未命名2.png" descr="未命名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1103" y="-81128"/>
            <a:ext cx="1929648" cy="14472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5746308" y="5399214"/>
            <a:ext cx="13119984" cy="2187118"/>
          </a:xfrm>
          <a:prstGeom prst="rect">
            <a:avLst/>
          </a:prstGeom>
        </p:spPr>
        <p:txBody>
          <a:bodyPr anchor="ctr"/>
          <a:lstStyle>
            <a:lvl1pPr algn="ctr" defTabSz="2438400">
              <a:lnSpc>
                <a:spcPct val="80000"/>
              </a:lnSpc>
              <a:defRPr sz="10000" spc="-200">
                <a:solidFill>
                  <a:srgbClr val="FFFFFF"/>
                </a:solidFill>
              </a:defRPr>
            </a:lvl1pPr>
          </a:lstStyle>
          <a:p>
            <a:r>
              <a:t>幻灯片标题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2">
            <a:alphaModFix amt="80028"/>
          </a:blip>
          <a:stretch>
            <a:fillRect/>
          </a:stretch>
        </p:blipFill>
        <p:spPr>
          <a:xfrm>
            <a:off x="19841111" y="430850"/>
            <a:ext cx="1636706" cy="737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1688890" y="597552"/>
            <a:ext cx="2015020" cy="53062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" name="线条"/>
          <p:cNvSpPr/>
          <p:nvPr/>
        </p:nvSpPr>
        <p:spPr>
          <a:xfrm>
            <a:off x="581148" y="1527029"/>
            <a:ext cx="23221704" cy="1"/>
          </a:xfrm>
          <a:prstGeom prst="line">
            <a:avLst/>
          </a:prstGeom>
          <a:ln w="25400">
            <a:solidFill>
              <a:srgbClr val="7F9191"/>
            </a:solidFill>
            <a:miter lim="400000"/>
          </a:ln>
        </p:spPr>
        <p:txBody>
          <a:bodyPr lIns="50800" tIns="50800" rIns="50800" bIns="50800" anchor="ctr"/>
          <a:lstStyle/>
          <a:p/>
        </p:txBody>
      </p:sp>
      <p:sp>
        <p:nvSpPr>
          <p:cNvPr id="5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43044" y="374169"/>
            <a:ext cx="10477501" cy="97738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r>
              <a:t>幻灯片标题</a:t>
            </a: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4">
            <a:alphaModFix amt="53471"/>
          </a:blip>
          <a:srcRect b="52457"/>
          <a:stretch>
            <a:fillRect/>
          </a:stretch>
        </p:blipFill>
        <p:spPr>
          <a:xfrm>
            <a:off x="18329327" y="12979486"/>
            <a:ext cx="5829796" cy="530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" name="矩形"/>
          <p:cNvSpPr/>
          <p:nvPr/>
        </p:nvSpPr>
        <p:spPr>
          <a:xfrm>
            <a:off x="569800" y="494350"/>
            <a:ext cx="269381" cy="737026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1.jpeg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50308172252.png" descr="20250308172252.png"/>
          <p:cNvPicPr>
            <a:picLocks noChangeAspect="1"/>
          </p:cNvPicPr>
          <p:nvPr/>
        </p:nvPicPr>
        <p:blipFill>
          <a:blip r:embed="rId6">
            <a:alphaModFix amt="53471"/>
          </a:blip>
          <a:srcRect b="52457"/>
          <a:stretch>
            <a:fillRect/>
          </a:stretch>
        </p:blipFill>
        <p:spPr>
          <a:xfrm>
            <a:off x="18329327" y="12979486"/>
            <a:ext cx="5829796" cy="530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wallhaven-rdvvlq.jpg" descr="wallhaven-rdvvlq.jpg"/>
          <p:cNvPicPr>
            <a:picLocks noChangeAspect="1"/>
          </p:cNvPicPr>
          <p:nvPr/>
        </p:nvPicPr>
        <p:blipFill>
          <a:blip r:embed="rId7"/>
          <a:srcRect l="51258" t="79" r="120" b="91"/>
          <a:stretch>
            <a:fillRect/>
          </a:stretch>
        </p:blipFill>
        <p:spPr>
          <a:xfrm>
            <a:off x="-3362115" y="-131565"/>
            <a:ext cx="12119241" cy="13979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42" h="21600" extrusionOk="0">
                <a:moveTo>
                  <a:pt x="18981" y="0"/>
                </a:moveTo>
                <a:lnTo>
                  <a:pt x="0" y="40"/>
                </a:lnTo>
                <a:lnTo>
                  <a:pt x="0" y="21600"/>
                </a:lnTo>
                <a:lnTo>
                  <a:pt x="18464" y="21600"/>
                </a:lnTo>
                <a:cubicBezTo>
                  <a:pt x="19187" y="20932"/>
                  <a:pt x="19470" y="19979"/>
                  <a:pt x="19213" y="19080"/>
                </a:cubicBezTo>
                <a:cubicBezTo>
                  <a:pt x="18981" y="18273"/>
                  <a:pt x="18317" y="17557"/>
                  <a:pt x="18425" y="16720"/>
                </a:cubicBezTo>
                <a:cubicBezTo>
                  <a:pt x="18575" y="15561"/>
                  <a:pt x="20094" y="14917"/>
                  <a:pt x="20234" y="13755"/>
                </a:cubicBezTo>
                <a:cubicBezTo>
                  <a:pt x="20419" y="12209"/>
                  <a:pt x="18254" y="11381"/>
                  <a:pt x="18043" y="9903"/>
                </a:cubicBezTo>
                <a:cubicBezTo>
                  <a:pt x="17839" y="8471"/>
                  <a:pt x="19494" y="7572"/>
                  <a:pt x="20268" y="6333"/>
                </a:cubicBezTo>
                <a:cubicBezTo>
                  <a:pt x="21600" y="4201"/>
                  <a:pt x="21238" y="1468"/>
                  <a:pt x="18981" y="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7" name="成组"/>
          <p:cNvGrpSpPr/>
          <p:nvPr/>
        </p:nvGrpSpPr>
        <p:grpSpPr>
          <a:xfrm>
            <a:off x="2356553" y="5489648"/>
            <a:ext cx="2146301" cy="2334715"/>
            <a:chOff x="0" y="0"/>
            <a:chExt cx="2146300" cy="2334713"/>
          </a:xfrm>
        </p:grpSpPr>
        <p:sp>
          <p:nvSpPr>
            <p:cNvPr id="4" name="目录"/>
            <p:cNvSpPr txBox="1"/>
            <p:nvPr/>
          </p:nvSpPr>
          <p:spPr>
            <a:xfrm>
              <a:off x="0" y="0"/>
              <a:ext cx="2146300" cy="152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>
                  <a:solidFill>
                    <a:srgbClr val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PingFang SC Semibold" panose="020B0400000000000000" charset="-122"/>
                </a:defRPr>
              </a:lvl1pPr>
            </a:lstStyle>
            <a:p>
              <a:r>
                <a:t>目录</a:t>
              </a:r>
            </a:p>
          </p:txBody>
        </p:sp>
        <p:sp>
          <p:nvSpPr>
            <p:cNvPr id="5" name="线条"/>
            <p:cNvSpPr/>
            <p:nvPr/>
          </p:nvSpPr>
          <p:spPr>
            <a:xfrm>
              <a:off x="167770" y="1506240"/>
              <a:ext cx="1810760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/>
          </p:txBody>
        </p:sp>
        <p:sp>
          <p:nvSpPr>
            <p:cNvPr id="6" name="Content"/>
            <p:cNvSpPr txBox="1"/>
            <p:nvPr/>
          </p:nvSpPr>
          <p:spPr>
            <a:xfrm>
              <a:off x="90169" y="1521913"/>
              <a:ext cx="1965961" cy="81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PingFang SC Light" panose="020B0400000000000000" charset="-122"/>
                  <a:ea typeface="PingFang SC Light" panose="020B0400000000000000" charset="-122"/>
                  <a:cs typeface="PingFang SC Light" panose="020B0400000000000000" charset="-122"/>
                  <a:sym typeface="PingFang SC Light" panose="020B0400000000000000" charset="-122"/>
                </a:defRPr>
              </a:lvl1pPr>
            </a:lstStyle>
            <a:p>
              <a:r>
                <a:t>Content</a:t>
              </a:r>
            </a:p>
          </p:txBody>
        </p:sp>
      </p:grpSp>
      <p:sp>
        <p:nvSpPr>
          <p:cNvPr id="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0258676" y="2729994"/>
            <a:ext cx="21971001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9" name="未命名.jpg" descr="未命名.jpg"/>
          <p:cNvPicPr>
            <a:picLocks noChangeAspect="1"/>
          </p:cNvPicPr>
          <p:nvPr/>
        </p:nvPicPr>
        <p:blipFill>
          <a:blip r:embed="rId8">
            <a:alphaModFix amt="80028"/>
          </a:blip>
          <a:stretch>
            <a:fillRect/>
          </a:stretch>
        </p:blipFill>
        <p:spPr>
          <a:xfrm>
            <a:off x="19841111" y="430850"/>
            <a:ext cx="1636706" cy="737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" name="未命名.jpg" descr="未命名.jp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1688890" y="597552"/>
            <a:ext cx="2015020" cy="53062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763346" y="3944134"/>
            <a:ext cx="13118449" cy="98321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1pPr>
      <a:lvl2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2pPr>
      <a:lvl3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3pPr>
      <a:lvl4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4pPr>
      <a:lvl5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5pPr>
      <a:lvl6pPr marL="0" marR="0" indent="2286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6pPr>
      <a:lvl7pPr marL="0" marR="0" indent="2743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7pPr>
      <a:lvl8pPr marL="0" marR="0" indent="3200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8pPr>
      <a:lvl9pPr marL="0" marR="0" indent="3657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9pPr>
    </p:titleStyle>
    <p:bodyStyle>
      <a:lvl1pPr marL="6096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1pPr>
      <a:lvl2pPr marL="12192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2pPr>
      <a:lvl3pPr marL="18288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3pPr>
      <a:lvl4pPr marL="24384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4pPr>
      <a:lvl5pPr marL="30480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5pPr>
      <a:lvl6pPr marL="36576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6pPr>
      <a:lvl7pPr marL="42672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7pPr>
      <a:lvl8pPr marL="48768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8pPr>
      <a:lvl9pPr marL="54864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成组"/>
          <p:cNvGrpSpPr/>
          <p:nvPr/>
        </p:nvGrpSpPr>
        <p:grpSpPr>
          <a:xfrm>
            <a:off x="3672743" y="3507853"/>
            <a:ext cx="17038512" cy="4650775"/>
            <a:chOff x="-1" y="0"/>
            <a:chExt cx="17038510" cy="4650773"/>
          </a:xfrm>
        </p:grpSpPr>
        <p:sp>
          <p:nvSpPr>
            <p:cNvPr id="70" name="智泊AI大模型实战课"/>
            <p:cNvSpPr txBox="1"/>
            <p:nvPr/>
          </p:nvSpPr>
          <p:spPr>
            <a:xfrm>
              <a:off x="0" y="0"/>
              <a:ext cx="17038509" cy="127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7200" spc="3096">
                  <a:solidFill>
                    <a:srgbClr val="FFFFFF"/>
                  </a:solidFill>
                  <a:latin typeface="PingFang SC Light" panose="020B0400000000000000" charset="-122"/>
                  <a:ea typeface="PingFang SC Light" panose="020B0400000000000000" charset="-122"/>
                  <a:cs typeface="PingFang SC Light" panose="020B0400000000000000" charset="-122"/>
                  <a:sym typeface="PingFang SC Light" panose="020B0400000000000000" charset="-122"/>
                </a:defRPr>
              </a:lvl1pPr>
            </a:lstStyle>
            <a:p>
              <a:r>
                <a:rPr>
                  <a:latin typeface=".萍方-简" panose="020B0300000000000000" charset="-122"/>
                  <a:ea typeface=".萍方-简" panose="020B0300000000000000" charset="-122"/>
                  <a:cs typeface=".萍方-简" panose="020B0300000000000000" charset="-122"/>
                </a:rPr>
                <a:t>智泊AI大模型实战课</a:t>
              </a:r>
              <a:endParaRPr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endParaRPr>
            </a:p>
          </p:txBody>
        </p:sp>
        <p:sp>
          <p:nvSpPr>
            <p:cNvPr id="71" name="这里是本节课程的课题"/>
            <p:cNvSpPr txBox="1"/>
            <p:nvPr/>
          </p:nvSpPr>
          <p:spPr>
            <a:xfrm>
              <a:off x="-1" y="1551972"/>
              <a:ext cx="17038510" cy="309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8800" spc="968">
                  <a:solidFill>
                    <a:srgbClr val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PingFang SC Semibold" panose="020B0400000000000000" charset="-122"/>
                </a:defRPr>
              </a:lvl1pPr>
            </a:lstStyle>
            <a:p>
              <a:r>
                <a:rPr lang="en-US" altLang="zh-CN">
                  <a:latin typeface=".萍方-简" panose="020B0300000000000000" charset="-122"/>
                  <a:ea typeface=".萍方-简" panose="020B0300000000000000" charset="-122"/>
                </a:rPr>
                <a:t>LangChainV1.0</a:t>
              </a:r>
              <a:r>
                <a:rPr lang="zh-CN" altLang="en-US">
                  <a:latin typeface=".萍方-简" panose="020B0300000000000000" charset="-122"/>
                  <a:ea typeface=".萍方-简" panose="020B0300000000000000" charset="-122"/>
                </a:rPr>
                <a:t>从入门到精通</a:t>
              </a:r>
              <a:endParaRPr lang="zh-CN" altLang="en-US">
                <a:latin typeface=".萍方-简" panose="020B0300000000000000" charset="-122"/>
                <a:ea typeface=".萍方-简" panose="020B0300000000000000" charset="-122"/>
              </a:endParaRPr>
            </a:p>
            <a:p>
              <a:endParaRPr lang="zh-CN" altLang="en-US">
                <a:latin typeface=".萍方-简" panose="020B0300000000000000" charset="-122"/>
                <a:ea typeface=".萍方-简" panose="020B0300000000000000" charset="-122"/>
              </a:endParaRPr>
            </a:p>
            <a:p>
              <a:endParaRPr lang="zh-CN">
                <a:latin typeface=".萍方-简" panose="020B0300000000000000" charset="-122"/>
                <a:ea typeface=".萍方-简" panose="020B0300000000000000" charset="-122"/>
              </a:endParaRPr>
            </a:p>
          </p:txBody>
        </p:sp>
      </p:grpSp>
      <p:sp>
        <p:nvSpPr>
          <p:cNvPr id="74" name="主讲人：你的名字"/>
          <p:cNvSpPr txBox="1"/>
          <p:nvPr/>
        </p:nvSpPr>
        <p:spPr>
          <a:xfrm>
            <a:off x="7140115" y="9536107"/>
            <a:ext cx="10103770" cy="53848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pPr>
            <a:r>
              <a:t>主讲人：</a:t>
            </a:r>
            <a:r>
              <a:rPr lang="zh-CN"/>
              <a:t>大白</a:t>
            </a:r>
            <a:endParaRPr lang="zh-CN"/>
          </a:p>
        </p:txBody>
      </p:sp>
      <p:sp>
        <p:nvSpPr>
          <p:cNvPr id="75" name="MoPass「魔泊云」· 智泊AI人工智能研究院"/>
          <p:cNvSpPr txBox="1"/>
          <p:nvPr/>
        </p:nvSpPr>
        <p:spPr>
          <a:xfrm>
            <a:off x="7140115" y="10356559"/>
            <a:ext cx="10103770" cy="355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  <a:sym typeface="PingFang SC Light" panose="020B0400000000000000" charset="-122"/>
              </a:defRPr>
            </a:lvl1pPr>
          </a:lstStyle>
          <a:p>
            <a:r>
              <a:t>MoPass「魔泊云」· 智泊AI人工智能研究院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这里是目录 1…"/>
          <p:cNvSpPr txBox="1">
            <a:spLocks noGrp="1"/>
          </p:cNvSpPr>
          <p:nvPr>
            <p:ph type="body" idx="1"/>
          </p:nvPr>
        </p:nvSpPr>
        <p:spPr>
          <a:xfrm>
            <a:off x="9703039" y="1636598"/>
            <a:ext cx="14308427" cy="911607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"/>
            </a:pP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什么是</a:t>
            </a: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 1.0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？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体系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应用程序开发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的链和</a:t>
            </a: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LCEL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与</a:t>
            </a: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RAG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实战</a:t>
            </a:r>
            <a:endParaRPr lang="en-US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的工具调用和中间件</a:t>
            </a:r>
            <a:endParaRPr lang="en-US" b="1" dirty="0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755207" y="5545307"/>
            <a:ext cx="23036125" cy="20746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的链和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LCEL</a:t>
            </a:r>
            <a:endParaRPr lang="zh-CN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什么是链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4235" y="1696085"/>
            <a:ext cx="11722735" cy="73113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实际上，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的名字源自其框架的核心设计思路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: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用链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(Chain)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，将大语言模型开发的各个组件链接起来，以构建复杂的应用程序。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链的主要功能是管理应用程序中的数据流动，它将不同的组件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(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或其他链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)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链接在一起，形成一个完整的数据处理流程。每个组件都是链中的一个环节，它们按照预设的顺序，接力完成各自的任务，就好比工厂里的流水线。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5430" y="2427605"/>
            <a:ext cx="9654540" cy="926020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LCEL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链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3044" y="1908531"/>
            <a:ext cx="22565223" cy="770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所以我们以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LCEL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链为主要学习对象，如无特殊情况，遗留链不会进行说明和学习。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3043" y="3235844"/>
            <a:ext cx="22565223" cy="82911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LCEL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也被称为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表达式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(LangChain Expression Language)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，是一种用声明式的方法来链接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组件。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所有可以被链起来的组件，如大语言模型、输出解析器、检索器、提示词模板一般都支持下面三个方法：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 lvl="8"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stream: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流式返回响应的块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 lvl="8"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invoke: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接受输入返回输出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 lvl="8"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batch: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接受批量输入返回输出列表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所以最终组成的链在使用上，也是调用这三个方法。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如何组合链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3044" y="1908531"/>
            <a:ext cx="22565223" cy="770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如何把组件链起来？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3043" y="3235844"/>
            <a:ext cx="22565223" cy="770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最简单最常见的就是用管道操作符 “ 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|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 ”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708" y="4423139"/>
            <a:ext cx="18990584" cy="175297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3043" y="6593072"/>
            <a:ext cx="22565223" cy="770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或者使用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RunnableSequence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08" y="7746500"/>
            <a:ext cx="19232098" cy="171923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LCEL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高级特性与组件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3044" y="1908531"/>
            <a:ext cx="22565223" cy="770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RunnableLambda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3042" y="2923488"/>
            <a:ext cx="22565223" cy="20999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很多的时候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组件未提供的功能，需要我们自己写函数实现，但是这个函数我们也需要把它加入链，作为工作流程的一部分，此时就需要使用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RunnableLambda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3042" y="6087661"/>
            <a:ext cx="22565223" cy="770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RunnableParallel/ RunnableMap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3040" y="7102618"/>
            <a:ext cx="22565223" cy="33418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把组件链起来，前面我们使用了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RunnableSequence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。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Sequence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的中文意思“顺序，一连串”，也就是所有的组件或多个任务都是按顺序一个个执行的。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但是有时候，我们希望多个任务能够同时执行，这时可以使用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RunnableParallel / RunnableMap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LCEL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高级特性与组件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3044" y="1908531"/>
            <a:ext cx="22565223" cy="7703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RunnablePassthrough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3043" y="2923488"/>
            <a:ext cx="20296158" cy="7049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RunnablePassthrough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类允许我们在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的链中传递数据：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  1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、确保数据保持不变，直接用于后续步骤的输入。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 RunnablePassthrough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常用在链的第一个位置，用于接收用户的输入（也可以用在中间位置，则用于接收上一步的输出）。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  2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RunnablePassthrough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也允许通过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assign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对数据增强后，再往后传。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 marL="914400" lvl="2" indent="457200"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它会创建一个新的字典，包含原始的所有字段以及你新指定的字段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3040" y="11545831"/>
            <a:ext cx="19906694" cy="92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6000">
                <a:latin typeface=".萍方-简" panose="020B0300000000000000" charset="-122"/>
                <a:ea typeface=".萍方-简" panose="020B0300000000000000" charset="-122"/>
              </a:rPr>
              <a:t>智能电商客服实战</a:t>
            </a:r>
            <a:endParaRPr lang="zh-CN" altLang="en-US" sz="6000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LCEL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高级特性与组件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3044" y="1908531"/>
            <a:ext cx="22565223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常用预制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LCEL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链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3043" y="2923488"/>
            <a:ext cx="21803224" cy="95326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已经事先做好了很多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LCEL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链，可以到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官方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API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查询：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https://reference.langchain.com/python/langchain_classic/chains/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但是注意：在“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Deprecated classes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”和“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Deprecated functions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”中的属于被声明废弃，不建议使用。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create_stuff_documents_chain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：将多个文档内容合并成一个长文本，然后一次性交给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LLM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处理</a:t>
            </a:r>
            <a:endParaRPr lang="en-US" altLang="zh-CN">
              <a:latin typeface=".萍方-简" panose="020B0300000000000000" charset="-122"/>
              <a:ea typeface=".萍方-简" panose="020B0300000000000000" charset="-122"/>
              <a:sym typeface="+mn-ea"/>
            </a:endParaRPr>
          </a:p>
          <a:p>
            <a:pPr>
              <a:buNone/>
            </a:pPr>
            <a:endParaRPr lang="en-US" altLang="zh-CN">
              <a:latin typeface=".萍方-简" panose="020B0300000000000000" charset="-122"/>
              <a:ea typeface=".萍方-简" panose="020B0300000000000000" charset="-122"/>
              <a:sym typeface="+mn-ea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更多的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LCEL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链的使用，将在后面的课程中有需要时用到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LCEL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高级特性与组件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8370" y="1825867"/>
            <a:ext cx="22565223" cy="1997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记忆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（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Memory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）：用于链的多次运行之间持久化应用程序状态。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3015" y="3673946"/>
            <a:ext cx="19906694" cy="77139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大模型是无状态的，也就是大模型是记不住我们聊天中每次的对话内容的。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早期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中有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ConversationBufferMemory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之类的记忆组件，现在这些组件已经被声明为废弃。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新版本的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提供了专门的消息历史组件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</a:rPr>
              <a:t>ChatMessageHistory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和自动会话历史管理组件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RunnableWithMessageHistory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LCEL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高级特性与组件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8370" y="1825867"/>
            <a:ext cx="22565223" cy="75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记忆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（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Memory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）：记忆持久化。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43330" y="2804160"/>
            <a:ext cx="22230715" cy="32385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ChatMessageHistory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是在内存中存储，那怎么长久保存？</a:t>
            </a:r>
            <a:endParaRPr lang="zh-CN" altLang="en-US">
              <a:latin typeface=".萍方-简" panose="020B0300000000000000" charset="-122"/>
              <a:ea typeface=".萍方-简" panose="020B0300000000000000" charset="-122"/>
              <a:sym typeface="+mn-ea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存储在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redis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数据库中：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                               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记忆自动化管理：</a:t>
            </a:r>
            <a:endParaRPr lang="zh-CN" altLang="en-US">
              <a:latin typeface=".萍方-简" panose="020B0300000000000000" charset="-122"/>
              <a:ea typeface=".萍方-简" panose="020B0300000000000000" charset="-122"/>
              <a:sym typeface="+mn-ea"/>
            </a:endParaRPr>
          </a:p>
          <a:p>
            <a:pPr>
              <a:buNone/>
            </a:pPr>
            <a:endParaRPr lang="en-US" altLang="zh-CN">
              <a:latin typeface=".萍方-简" panose="020B0300000000000000" charset="-122"/>
              <a:ea typeface=".萍方-简" panose="020B03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3015" y="11949691"/>
            <a:ext cx="19906694" cy="92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6000">
                <a:latin typeface=".萍方-简" panose="020B0300000000000000" charset="-122"/>
                <a:ea typeface=".萍方-简" panose="020B0300000000000000" charset="-122"/>
              </a:rPr>
              <a:t>多用户聊天机器人案例</a:t>
            </a:r>
            <a:endParaRPr lang="zh-CN" altLang="en-US" sz="6000"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4425" y="5325110"/>
            <a:ext cx="9156065" cy="4592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330" y="5325110"/>
            <a:ext cx="10445750" cy="45916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WPS 演示</Application>
  <PresentationFormat>自定义</PresentationFormat>
  <Paragraphs>99</Paragraphs>
  <Slides>11</Slides>
  <Notes>62</Notes>
  <HiddenSlides>0</HiddenSlides>
  <MMClips>1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9" baseType="lpstr">
      <vt:lpstr>Arial</vt:lpstr>
      <vt:lpstr>宋体</vt:lpstr>
      <vt:lpstr>Wingdings</vt:lpstr>
      <vt:lpstr>Helvetica Neue</vt:lpstr>
      <vt:lpstr>Helvetica Neue Medium</vt:lpstr>
      <vt:lpstr>PingFang SC Semibold</vt:lpstr>
      <vt:lpstr>PingFang SC Light</vt:lpstr>
      <vt:lpstr>.萍方-简</vt:lpstr>
      <vt:lpstr>Wingdings</vt:lpstr>
      <vt:lpstr>微软雅黑</vt:lpstr>
      <vt:lpstr>Arial Unicode MS</vt:lpstr>
      <vt:lpstr>Helvetica Neue Bold</vt:lpstr>
      <vt:lpstr>Hannotate SC Regular</vt:lpstr>
      <vt:lpstr>DejaVu Math TeX Gyre</vt:lpstr>
      <vt:lpstr>Calibri</vt:lpstr>
      <vt:lpstr>Hannotate SC Regular</vt:lpstr>
      <vt:lpstr>Helvetica Neue</vt:lpstr>
      <vt:lpstr>Helvetica Neue Medium</vt:lpstr>
      <vt:lpstr>PingFang SC Light</vt:lpstr>
      <vt:lpstr>PingFang SC Semibold</vt:lpstr>
      <vt:lpstr>Segoe Print</vt:lpstr>
      <vt:lpstr>Sweetie</vt:lpstr>
      <vt:lpstr>Retro Cute Medium</vt:lpstr>
      <vt:lpstr>Crunch SemiBold</vt:lpstr>
      <vt:lpstr>Windsor Std Light</vt:lpstr>
      <vt:lpstr>Retro Cute Bold</vt:lpstr>
      <vt:lpstr>Oxford Regular</vt:lpstr>
      <vt:lpstr>21_BasicWhite</vt:lpstr>
      <vt:lpstr>PowerPoint 演示文稿</vt:lpstr>
      <vt:lpstr>PowerPoint 演示文稿</vt:lpstr>
      <vt:lpstr>LangChain的链和LCEL</vt:lpstr>
      <vt:lpstr>什么是链</vt:lpstr>
      <vt:lpstr>LCEL链</vt:lpstr>
      <vt:lpstr>如何组合链</vt:lpstr>
      <vt:lpstr>LCEL高级特性与组件</vt:lpstr>
      <vt:lpstr>LCEL高级特性与组件</vt:lpstr>
      <vt:lpstr>LCEL高级特性与组件</vt:lpstr>
      <vt:lpstr>LCEL高级特性与组件</vt:lpstr>
      <vt:lpstr>LCEL高级特性与组件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郭培</cp:lastModifiedBy>
  <cp:revision>310</cp:revision>
  <dcterms:created xsi:type="dcterms:W3CDTF">2025-03-08T12:13:00Z</dcterms:created>
  <dcterms:modified xsi:type="dcterms:W3CDTF">2025-12-04T14:00:24Z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788BC8F5AE1B41898161E6F2DDF15955_13</vt:lpwstr>
  </property>
  <property fmtid="{D5CDD505-2E9C-101B-9397-08002B2CF9AE}" pid="3" name="KSOProductBuildVer">
    <vt:lpwstr>2052-12.1.0.24034</vt:lpwstr>
  </property>
</Properties>
</file>