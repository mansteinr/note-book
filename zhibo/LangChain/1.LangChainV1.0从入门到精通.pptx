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368" r:id="rId5"/>
    <p:sldId id="374" r:id="rId6"/>
    <p:sldId id="381" r:id="rId7"/>
    <p:sldId id="367" r:id="rId8"/>
    <p:sldId id="377" r:id="rId9"/>
    <p:sldId id="379" r:id="rId10"/>
    <p:sldId id="277" r:id="rId11"/>
    <p:sldId id="258" r:id="rId12"/>
    <p:sldId id="257" r:id="rId13"/>
    <p:sldId id="262" r:id="rId14"/>
    <p:sldId id="327" r:id="rId15"/>
    <p:sldId id="329" r:id="rId16"/>
    <p:sldId id="380" r:id="rId17"/>
    <p:sldId id="330" r:id="rId18"/>
    <p:sldId id="331" r:id="rId19"/>
    <p:sldId id="298" r:id="rId20"/>
    <p:sldId id="334" r:id="rId21"/>
    <p:sldId id="337" r:id="rId22"/>
    <p:sldId id="335" r:id="rId23"/>
    <p:sldId id="336" r:id="rId24"/>
    <p:sldId id="338" r:id="rId25"/>
    <p:sldId id="339" r:id="rId26"/>
    <p:sldId id="340" r:id="rId27"/>
    <p:sldId id="345" r:id="rId28"/>
    <p:sldId id="346" r:id="rId29"/>
    <p:sldId id="364" r:id="rId30"/>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1pPr>
    <a:lvl2pPr marL="0" marR="0" indent="4572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2pPr>
    <a:lvl3pPr marL="0" marR="0" indent="9144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3pPr>
    <a:lvl4pPr marL="0" marR="0" indent="13716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4pPr>
    <a:lvl5pPr marL="0" marR="0" indent="18288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5pPr>
    <a:lvl6pPr marL="0" marR="0" indent="22860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6pPr>
    <a:lvl7pPr marL="0" marR="0" indent="27432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7pPr>
    <a:lvl8pPr marL="0" marR="0" indent="32004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8pPr>
    <a:lvl9pPr marL="0" marR="0" indent="36576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233" autoAdjust="0"/>
    <p:restoredTop sz="96331" autoAdjust="0"/>
  </p:normalViewPr>
  <p:slideViewPr>
    <p:cSldViewPr snapToGrid="0">
      <p:cViewPr varScale="1">
        <p:scale>
          <a:sx n="56" d="100"/>
          <a:sy n="56" d="100"/>
        </p:scale>
        <p:origin x="79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7" name="Shape 67"/>
          <p:cNvSpPr>
            <a:spLocks noGrp="1" noRot="1" noChangeAspect="1"/>
          </p:cNvSpPr>
          <p:nvPr>
            <p:ph type="sldImg"/>
          </p:nvPr>
        </p:nvSpPr>
        <p:spPr>
          <a:xfrm>
            <a:off x="1143000" y="685800"/>
            <a:ext cx="4572000" cy="3429000"/>
          </a:xfrm>
          <a:prstGeom prst="rect">
            <a:avLst/>
          </a:prstGeom>
        </p:spPr>
        <p:txBody>
          <a:bodyPr/>
          <a:lstStyle/>
          <a:p/>
        </p:txBody>
      </p:sp>
      <p:sp>
        <p:nvSpPr>
          <p:cNvPr id="68" name="Shape 68"/>
          <p:cNvSpPr>
            <a:spLocks noGrp="1"/>
          </p:cNvSpPr>
          <p:nvPr>
            <p:ph type="body" sz="quarter" idx="1"/>
          </p:nvPr>
        </p:nvSpPr>
        <p:spPr>
          <a:xfrm>
            <a:off x="914400" y="4343400"/>
            <a:ext cx="5029200" cy="4114800"/>
          </a:xfrm>
          <a:prstGeom prst="rect">
            <a:avLst/>
          </a:prstGeom>
        </p:spPr>
        <p:txBody>
          <a:bodyPr/>
          <a:lstStyle/>
          <a:p/>
        </p:txBody>
      </p:sp>
    </p:spTree>
  </p:cSld>
  <p:clrMap bg1="lt1" tx1="dk1" bg2="lt2" tx2="dk2" accent1="accent1" accent2="accent2" accent3="accent3" accent4="accent4" accent5="accent5" accent6="accent6" hlink="hlink" folHlink="folHlink"/>
  <p:notesStyle>
    <a:lvl1pPr defTabSz="457200" latinLnBrk="0">
      <a:lnSpc>
        <a:spcPct val="118000"/>
      </a:lnSpc>
      <a:defRPr sz="2200">
        <a:latin typeface="+mn-lt"/>
        <a:ea typeface="+mn-ea"/>
        <a:cs typeface="+mn-cs"/>
        <a:sym typeface="Helvetica Neue" panose="02000503000000020004"/>
      </a:defRPr>
    </a:lvl1pPr>
    <a:lvl2pPr indent="228600" defTabSz="457200" latinLnBrk="0">
      <a:lnSpc>
        <a:spcPct val="118000"/>
      </a:lnSpc>
      <a:defRPr sz="2200">
        <a:latin typeface="+mn-lt"/>
        <a:ea typeface="+mn-ea"/>
        <a:cs typeface="+mn-cs"/>
        <a:sym typeface="Helvetica Neue" panose="02000503000000020004"/>
      </a:defRPr>
    </a:lvl2pPr>
    <a:lvl3pPr indent="457200" defTabSz="457200" latinLnBrk="0">
      <a:lnSpc>
        <a:spcPct val="118000"/>
      </a:lnSpc>
      <a:defRPr sz="2200">
        <a:latin typeface="+mn-lt"/>
        <a:ea typeface="+mn-ea"/>
        <a:cs typeface="+mn-cs"/>
        <a:sym typeface="Helvetica Neue" panose="02000503000000020004"/>
      </a:defRPr>
    </a:lvl3pPr>
    <a:lvl4pPr indent="685800" defTabSz="457200" latinLnBrk="0">
      <a:lnSpc>
        <a:spcPct val="118000"/>
      </a:lnSpc>
      <a:defRPr sz="2200">
        <a:latin typeface="+mn-lt"/>
        <a:ea typeface="+mn-ea"/>
        <a:cs typeface="+mn-cs"/>
        <a:sym typeface="Helvetica Neue" panose="02000503000000020004"/>
      </a:defRPr>
    </a:lvl4pPr>
    <a:lvl5pPr indent="914400" defTabSz="457200" latinLnBrk="0">
      <a:lnSpc>
        <a:spcPct val="118000"/>
      </a:lnSpc>
      <a:defRPr sz="2200">
        <a:latin typeface="+mn-lt"/>
        <a:ea typeface="+mn-ea"/>
        <a:cs typeface="+mn-cs"/>
        <a:sym typeface="Helvetica Neue" panose="02000503000000020004"/>
      </a:defRPr>
    </a:lvl5pPr>
    <a:lvl6pPr indent="1143000" defTabSz="457200" latinLnBrk="0">
      <a:lnSpc>
        <a:spcPct val="118000"/>
      </a:lnSpc>
      <a:defRPr sz="2200">
        <a:latin typeface="+mn-lt"/>
        <a:ea typeface="+mn-ea"/>
        <a:cs typeface="+mn-cs"/>
        <a:sym typeface="Helvetica Neue" panose="02000503000000020004"/>
      </a:defRPr>
    </a:lvl6pPr>
    <a:lvl7pPr indent="1371600" defTabSz="457200" latinLnBrk="0">
      <a:lnSpc>
        <a:spcPct val="118000"/>
      </a:lnSpc>
      <a:defRPr sz="2200">
        <a:latin typeface="+mn-lt"/>
        <a:ea typeface="+mn-ea"/>
        <a:cs typeface="+mn-cs"/>
        <a:sym typeface="Helvetica Neue" panose="02000503000000020004"/>
      </a:defRPr>
    </a:lvl7pPr>
    <a:lvl8pPr indent="1600200" defTabSz="457200" latinLnBrk="0">
      <a:lnSpc>
        <a:spcPct val="118000"/>
      </a:lnSpc>
      <a:defRPr sz="2200">
        <a:latin typeface="+mn-lt"/>
        <a:ea typeface="+mn-ea"/>
        <a:cs typeface="+mn-cs"/>
        <a:sym typeface="Helvetica Neue" panose="02000503000000020004"/>
      </a:defRPr>
    </a:lvl8pPr>
    <a:lvl9pPr indent="1828800" defTabSz="457200" latinLnBrk="0">
      <a:lnSpc>
        <a:spcPct val="118000"/>
      </a:lnSpc>
      <a:defRPr sz="2200">
        <a:latin typeface="+mn-lt"/>
        <a:ea typeface="+mn-ea"/>
        <a:cs typeface="+mn-cs"/>
        <a:sym typeface="Helvetica Neue" panose="020005030000000200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r>
              <a:rPr lang="zh-CN" altLang="en-US">
                <a:latin typeface=".萍方-简" panose="020B0300000000000000" charset="-122"/>
                <a:ea typeface=".萍方-简" panose="020B0300000000000000" charset="-122"/>
                <a:sym typeface="+mn-ea"/>
              </a:rPr>
              <a:t>聊天模型包装器的设计目标是处理复杂的对话场景，它支持多轮对话。这个聊天消息列表中的每一则消息都包含了消息角色和消息内容，它们合在一起构成了一个完整的对话上下文。这种输入方式非常适合处理那些需要引入历史对话内容以便生成带有对话上下文的响应的任务。</a:t>
            </a:r>
            <a:endParaRPr lang="en-US" altLang="zh-CN">
              <a:latin typeface=".萍方-简" panose="020B0300000000000000" charset="-122"/>
              <a:ea typeface=".萍方-简" panose="020B0300000000000000" charset="-122"/>
            </a:endParaRPr>
          </a:p>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4" Type="http://schemas.openxmlformats.org/officeDocument/2006/relationships/image" Target="../media/image7.png"/><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Sp="0">
  <p:cSld name="标题">
    <p:bg>
      <p:bgPr>
        <a:solidFill>
          <a:srgbClr val="000000"/>
        </a:solidFill>
        <a:effectLst/>
      </p:bgPr>
    </p:bg>
    <p:spTree>
      <p:nvGrpSpPr>
        <p:cNvPr id="1" name=""/>
        <p:cNvGrpSpPr/>
        <p:nvPr/>
      </p:nvGrpSpPr>
      <p:grpSpPr>
        <a:xfrm>
          <a:off x="0" y="0"/>
          <a:ext cx="0" cy="0"/>
          <a:chOff x="0" y="0"/>
          <a:chExt cx="0" cy="0"/>
        </a:xfrm>
      </p:grpSpPr>
      <p:pic>
        <p:nvPicPr>
          <p:cNvPr id="19" name="wallhaven-rdvvlq.jpg" descr="wallhaven-rdvvlq.jpg"/>
          <p:cNvPicPr>
            <a:picLocks noChangeAspect="1"/>
          </p:cNvPicPr>
          <p:nvPr/>
        </p:nvPicPr>
        <p:blipFill>
          <a:blip r:embed="rId2">
            <a:alphaModFix amt="73715"/>
          </a:blip>
          <a:stretch>
            <a:fillRect/>
          </a:stretch>
        </p:blipFill>
        <p:spPr>
          <a:xfrm>
            <a:off x="-1" y="8708"/>
            <a:ext cx="24384001" cy="13698584"/>
          </a:xfrm>
          <a:prstGeom prst="rect">
            <a:avLst/>
          </a:prstGeom>
          <a:ln w="12700">
            <a:miter lim="400000"/>
            <a:headEnd/>
            <a:tailEnd/>
          </a:ln>
        </p:spPr>
      </p:pic>
      <p:pic>
        <p:nvPicPr>
          <p:cNvPr id="20" name="未命名.png" descr="未命名.png"/>
          <p:cNvPicPr>
            <a:picLocks noChangeAspect="1"/>
          </p:cNvPicPr>
          <p:nvPr/>
        </p:nvPicPr>
        <p:blipFill>
          <a:blip r:embed="rId3"/>
          <a:stretch>
            <a:fillRect/>
          </a:stretch>
        </p:blipFill>
        <p:spPr>
          <a:xfrm>
            <a:off x="20477455" y="411980"/>
            <a:ext cx="1750700" cy="461019"/>
          </a:xfrm>
          <a:prstGeom prst="rect">
            <a:avLst/>
          </a:prstGeom>
          <a:ln w="12700">
            <a:miter lim="400000"/>
            <a:headEnd/>
            <a:tailEnd/>
          </a:ln>
        </p:spPr>
      </p:pic>
      <p:pic>
        <p:nvPicPr>
          <p:cNvPr id="21" name="未命名2.png" descr="未命名2.png"/>
          <p:cNvPicPr>
            <a:picLocks noChangeAspect="1"/>
          </p:cNvPicPr>
          <p:nvPr/>
        </p:nvPicPr>
        <p:blipFill>
          <a:blip r:embed="rId4"/>
          <a:stretch>
            <a:fillRect/>
          </a:stretch>
        </p:blipFill>
        <p:spPr>
          <a:xfrm>
            <a:off x="22201103" y="-81128"/>
            <a:ext cx="1929647" cy="1447235"/>
          </a:xfrm>
          <a:prstGeom prst="rect">
            <a:avLst/>
          </a:prstGeom>
          <a:ln w="12700">
            <a:miter lim="400000"/>
            <a:headEnd/>
            <a:tailEnd/>
          </a:ln>
        </p:spPr>
      </p:pic>
      <p:sp>
        <p:nvSpPr>
          <p:cNvPr id="22"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标题与项目符号">
    <p:spTree>
      <p:nvGrpSpPr>
        <p:cNvPr id="1" name=""/>
        <p:cNvGrpSpPr/>
        <p:nvPr/>
      </p:nvGrpSpPr>
      <p:grpSpPr>
        <a:xfrm>
          <a:off x="0" y="0"/>
          <a:ext cx="0" cy="0"/>
          <a:chOff x="0" y="0"/>
          <a:chExt cx="0" cy="0"/>
        </a:xfrm>
      </p:grpSpPr>
      <p:sp>
        <p:nvSpPr>
          <p:cNvPr id="29" name="正文级别 1…"/>
          <p:cNvSpPr txBox="1">
            <a:spLocks noGrp="1"/>
          </p:cNvSpPr>
          <p:nvPr>
            <p:ph type="body" idx="1" hasCustomPrompt="1"/>
          </p:nvPr>
        </p:nvSpPr>
        <p:spPr>
          <a:prstGeom prst="rect">
            <a:avLst/>
          </a:prstGeom>
        </p:spPr>
        <p:txBody>
          <a:bodyPr/>
          <a:lstStyle/>
          <a:p>
            <a:r>
              <a:t>幻灯片项目符号文本</a:t>
            </a:r>
          </a:p>
          <a:p>
            <a:pPr lvl="1"/>
          </a:p>
          <a:p>
            <a:pPr lvl="2"/>
          </a:p>
          <a:p>
            <a:pPr lvl="3"/>
          </a:p>
          <a:p>
            <a:pPr lvl="4"/>
          </a:p>
        </p:txBody>
      </p:sp>
      <p:sp>
        <p:nvSpPr>
          <p:cNvPr id="30"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showMasterSp="0">
  <p:cSld name="标题">
    <p:bg>
      <p:bgPr>
        <a:solidFill>
          <a:srgbClr val="000000"/>
        </a:solidFill>
        <a:effectLst/>
      </p:bgPr>
    </p:bg>
    <p:spTree>
      <p:nvGrpSpPr>
        <p:cNvPr id="1" name=""/>
        <p:cNvGrpSpPr/>
        <p:nvPr/>
      </p:nvGrpSpPr>
      <p:grpSpPr>
        <a:xfrm>
          <a:off x="0" y="0"/>
          <a:ext cx="0" cy="0"/>
          <a:chOff x="0" y="0"/>
          <a:chExt cx="0" cy="0"/>
        </a:xfrm>
      </p:grpSpPr>
      <p:pic>
        <p:nvPicPr>
          <p:cNvPr id="37" name="wallhaven-qzqvp7.png" descr="wallhaven-qzqvp7.png"/>
          <p:cNvPicPr>
            <a:picLocks noChangeAspect="1"/>
          </p:cNvPicPr>
          <p:nvPr/>
        </p:nvPicPr>
        <p:blipFill>
          <a:blip r:embed="rId2">
            <a:alphaModFix amt="68948"/>
          </a:blip>
          <a:stretch>
            <a:fillRect/>
          </a:stretch>
        </p:blipFill>
        <p:spPr>
          <a:xfrm>
            <a:off x="-496866" y="-2093472"/>
            <a:ext cx="25377732" cy="16918490"/>
          </a:xfrm>
          <a:prstGeom prst="rect">
            <a:avLst/>
          </a:prstGeom>
          <a:ln w="12700">
            <a:miter lim="400000"/>
            <a:headEnd/>
            <a:tailEnd/>
          </a:ln>
        </p:spPr>
      </p:pic>
      <p:pic>
        <p:nvPicPr>
          <p:cNvPr id="38" name="未命名.png" descr="未命名.png"/>
          <p:cNvPicPr>
            <a:picLocks noChangeAspect="1"/>
          </p:cNvPicPr>
          <p:nvPr/>
        </p:nvPicPr>
        <p:blipFill>
          <a:blip r:embed="rId3"/>
          <a:stretch>
            <a:fillRect/>
          </a:stretch>
        </p:blipFill>
        <p:spPr>
          <a:xfrm>
            <a:off x="20477455" y="411980"/>
            <a:ext cx="1750701" cy="461019"/>
          </a:xfrm>
          <a:prstGeom prst="rect">
            <a:avLst/>
          </a:prstGeom>
          <a:ln w="12700">
            <a:miter lim="400000"/>
            <a:headEnd/>
            <a:tailEnd/>
          </a:ln>
        </p:spPr>
      </p:pic>
      <p:pic>
        <p:nvPicPr>
          <p:cNvPr id="39" name="未命名2.png" descr="未命名2.png"/>
          <p:cNvPicPr>
            <a:picLocks noChangeAspect="1"/>
          </p:cNvPicPr>
          <p:nvPr/>
        </p:nvPicPr>
        <p:blipFill>
          <a:blip r:embed="rId4"/>
          <a:stretch>
            <a:fillRect/>
          </a:stretch>
        </p:blipFill>
        <p:spPr>
          <a:xfrm>
            <a:off x="22201103" y="-81128"/>
            <a:ext cx="1929648" cy="1447235"/>
          </a:xfrm>
          <a:prstGeom prst="rect">
            <a:avLst/>
          </a:prstGeom>
          <a:ln w="12700">
            <a:miter lim="400000"/>
            <a:headEnd/>
            <a:tailEnd/>
          </a:ln>
        </p:spPr>
      </p:pic>
      <p:sp>
        <p:nvSpPr>
          <p:cNvPr id="40" name="幻灯片标题"/>
          <p:cNvSpPr txBox="1">
            <a:spLocks noGrp="1"/>
          </p:cNvSpPr>
          <p:nvPr>
            <p:ph type="title" hasCustomPrompt="1"/>
          </p:nvPr>
        </p:nvSpPr>
        <p:spPr>
          <a:xfrm>
            <a:off x="5746308" y="5399214"/>
            <a:ext cx="13119984" cy="2187118"/>
          </a:xfrm>
          <a:prstGeom prst="rect">
            <a:avLst/>
          </a:prstGeom>
        </p:spPr>
        <p:txBody>
          <a:bodyPr anchor="ctr"/>
          <a:lstStyle>
            <a:lvl1pPr algn="ctr" defTabSz="2438400">
              <a:lnSpc>
                <a:spcPct val="80000"/>
              </a:lnSpc>
              <a:defRPr sz="10000" spc="-200">
                <a:solidFill>
                  <a:srgbClr val="FFFFFF"/>
                </a:solidFill>
              </a:defRPr>
            </a:lvl1pPr>
          </a:lstStyle>
          <a:p>
            <a:r>
              <a:t>幻灯片标题</a:t>
            </a:r>
          </a:p>
        </p:txBody>
      </p:sp>
      <p:sp>
        <p:nvSpPr>
          <p:cNvPr id="41"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showMasterSp="0">
  <p:cSld name="内容">
    <p:spTree>
      <p:nvGrpSpPr>
        <p:cNvPr id="1" name=""/>
        <p:cNvGrpSpPr/>
        <p:nvPr/>
      </p:nvGrpSpPr>
      <p:grpSpPr>
        <a:xfrm>
          <a:off x="0" y="0"/>
          <a:ext cx="0" cy="0"/>
          <a:chOff x="0" y="0"/>
          <a:chExt cx="0" cy="0"/>
        </a:xfrm>
      </p:grpSpPr>
      <p:pic>
        <p:nvPicPr>
          <p:cNvPr id="48" name="未命名.jpg" descr="未命名.jpg"/>
          <p:cNvPicPr>
            <a:picLocks noChangeAspect="1"/>
          </p:cNvPicPr>
          <p:nvPr/>
        </p:nvPicPr>
        <p:blipFill>
          <a:blip r:embed="rId2">
            <a:alphaModFix amt="80028"/>
          </a:blip>
          <a:stretch>
            <a:fillRect/>
          </a:stretch>
        </p:blipFill>
        <p:spPr>
          <a:xfrm>
            <a:off x="19841111" y="430850"/>
            <a:ext cx="1636706" cy="737026"/>
          </a:xfrm>
          <a:prstGeom prst="rect">
            <a:avLst/>
          </a:prstGeom>
          <a:ln w="12700">
            <a:miter lim="400000"/>
            <a:headEnd/>
            <a:tailEnd/>
          </a:ln>
        </p:spPr>
      </p:pic>
      <p:pic>
        <p:nvPicPr>
          <p:cNvPr id="49" name="未命名.jpg" descr="未命名.jpg"/>
          <p:cNvPicPr>
            <a:picLocks noChangeAspect="1"/>
          </p:cNvPicPr>
          <p:nvPr/>
        </p:nvPicPr>
        <p:blipFill>
          <a:blip r:embed="rId3">
            <a:alphaModFix amt="80000"/>
          </a:blip>
          <a:stretch>
            <a:fillRect/>
          </a:stretch>
        </p:blipFill>
        <p:spPr>
          <a:xfrm>
            <a:off x="21688890" y="597552"/>
            <a:ext cx="2015020" cy="530623"/>
          </a:xfrm>
          <a:prstGeom prst="rect">
            <a:avLst/>
          </a:prstGeom>
          <a:ln w="12700">
            <a:miter lim="400000"/>
            <a:headEnd/>
            <a:tailEnd/>
          </a:ln>
        </p:spPr>
      </p:pic>
      <p:sp>
        <p:nvSpPr>
          <p:cNvPr id="50" name="线条"/>
          <p:cNvSpPr/>
          <p:nvPr/>
        </p:nvSpPr>
        <p:spPr>
          <a:xfrm>
            <a:off x="581148" y="1527029"/>
            <a:ext cx="23221704" cy="1"/>
          </a:xfrm>
          <a:prstGeom prst="line">
            <a:avLst/>
          </a:prstGeom>
          <a:ln w="25400">
            <a:solidFill>
              <a:srgbClr val="7F9191"/>
            </a:solidFill>
            <a:miter lim="400000"/>
          </a:ln>
        </p:spPr>
        <p:txBody>
          <a:bodyPr lIns="50800" tIns="50800" rIns="50800" bIns="50800" anchor="ctr"/>
          <a:lstStyle/>
          <a:p/>
        </p:txBody>
      </p:sp>
      <p:sp>
        <p:nvSpPr>
          <p:cNvPr id="51" name="幻灯片标题"/>
          <p:cNvSpPr txBox="1">
            <a:spLocks noGrp="1"/>
          </p:cNvSpPr>
          <p:nvPr>
            <p:ph type="title" hasCustomPrompt="1"/>
          </p:nvPr>
        </p:nvSpPr>
        <p:spPr>
          <a:xfrm>
            <a:off x="1243044" y="374169"/>
            <a:ext cx="10477501" cy="977388"/>
          </a:xfrm>
          <a:prstGeom prst="rect">
            <a:avLst/>
          </a:prstGeom>
        </p:spPr>
        <p:txBody>
          <a:bodyPr anchor="ctr"/>
          <a:lstStyle>
            <a:lvl1pPr>
              <a:defRPr>
                <a:solidFill>
                  <a:srgbClr val="3D3D3D"/>
                </a:solidFill>
              </a:defRPr>
            </a:lvl1pPr>
          </a:lstStyle>
          <a:p>
            <a:r>
              <a:t>幻灯片标题</a:t>
            </a:r>
          </a:p>
        </p:txBody>
      </p:sp>
      <p:pic>
        <p:nvPicPr>
          <p:cNvPr id="52" name="20250308172252.png" descr="20250308172252.png"/>
          <p:cNvPicPr>
            <a:picLocks noChangeAspect="1"/>
          </p:cNvPicPr>
          <p:nvPr/>
        </p:nvPicPr>
        <p:blipFill>
          <a:blip r:embed="rId4">
            <a:alphaModFix amt="53471"/>
          </a:blip>
          <a:srcRect b="52457"/>
          <a:stretch>
            <a:fillRect/>
          </a:stretch>
        </p:blipFill>
        <p:spPr>
          <a:xfrm>
            <a:off x="18329327" y="12979486"/>
            <a:ext cx="5829796" cy="530650"/>
          </a:xfrm>
          <a:prstGeom prst="rect">
            <a:avLst/>
          </a:prstGeom>
          <a:ln w="12700">
            <a:miter lim="400000"/>
            <a:headEnd/>
            <a:tailEnd/>
          </a:ln>
        </p:spPr>
      </p:pic>
      <p:sp>
        <p:nvSpPr>
          <p:cNvPr id="53" name="矩形"/>
          <p:cNvSpPr/>
          <p:nvPr/>
        </p:nvSpPr>
        <p:spPr>
          <a:xfrm>
            <a:off x="569800" y="494350"/>
            <a:ext cx="269381" cy="737026"/>
          </a:xfrm>
          <a:prstGeom prst="rect">
            <a:avLst/>
          </a:prstGeom>
          <a:solidFill>
            <a:srgbClr val="414141"/>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panose="02000503000000020004"/>
                <a:ea typeface="Helvetica Neue Medium" panose="02000503000000020004"/>
                <a:cs typeface="Helvetica Neue Medium" panose="02000503000000020004"/>
                <a:sym typeface="Helvetica Neue Medium" panose="02000503000000020004"/>
              </a:defRPr>
            </a:pPr>
          </a:p>
        </p:txBody>
      </p:sp>
      <p:sp>
        <p:nvSpPr>
          <p:cNvPr id="54"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showMasterSp="0">
  <p:cSld name="空白">
    <p:spTree>
      <p:nvGrpSpPr>
        <p:cNvPr id="1" name=""/>
        <p:cNvGrpSpPr/>
        <p:nvPr/>
      </p:nvGrpSpPr>
      <p:grpSpPr>
        <a:xfrm>
          <a:off x="0" y="0"/>
          <a:ext cx="0" cy="0"/>
          <a:chOff x="0" y="0"/>
          <a:chExt cx="0" cy="0"/>
        </a:xfrm>
      </p:grpSpPr>
      <p:sp>
        <p:nvSpPr>
          <p:cNvPr id="61"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6.jpeg"/><Relationship Id="rId8" Type="http://schemas.openxmlformats.org/officeDocument/2006/relationships/image" Target="../media/image5.jpeg"/><Relationship Id="rId7" Type="http://schemas.openxmlformats.org/officeDocument/2006/relationships/image" Target="../media/image1.jpeg"/><Relationship Id="rId6" Type="http://schemas.openxmlformats.org/officeDocument/2006/relationships/image" Target="../media/image7.png"/><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20250308172252.png" descr="20250308172252.png"/>
          <p:cNvPicPr>
            <a:picLocks noChangeAspect="1"/>
          </p:cNvPicPr>
          <p:nvPr/>
        </p:nvPicPr>
        <p:blipFill>
          <a:blip r:embed="rId6">
            <a:alphaModFix amt="53471"/>
          </a:blip>
          <a:srcRect b="52457"/>
          <a:stretch>
            <a:fillRect/>
          </a:stretch>
        </p:blipFill>
        <p:spPr>
          <a:xfrm>
            <a:off x="18329327" y="12979486"/>
            <a:ext cx="5829796" cy="530650"/>
          </a:xfrm>
          <a:prstGeom prst="rect">
            <a:avLst/>
          </a:prstGeom>
          <a:ln w="12700">
            <a:miter lim="400000"/>
            <a:headEnd/>
            <a:tailEnd/>
          </a:ln>
        </p:spPr>
      </p:pic>
      <p:pic>
        <p:nvPicPr>
          <p:cNvPr id="3" name="wallhaven-rdvvlq.jpg" descr="wallhaven-rdvvlq.jpg"/>
          <p:cNvPicPr>
            <a:picLocks noChangeAspect="1"/>
          </p:cNvPicPr>
          <p:nvPr/>
        </p:nvPicPr>
        <p:blipFill>
          <a:blip r:embed="rId7"/>
          <a:srcRect l="51258" t="79" r="120" b="91"/>
          <a:stretch>
            <a:fillRect/>
          </a:stretch>
        </p:blipFill>
        <p:spPr>
          <a:xfrm>
            <a:off x="-3362115" y="-131565"/>
            <a:ext cx="12119241" cy="13979130"/>
          </a:xfrm>
          <a:custGeom>
            <a:avLst/>
            <a:gdLst/>
            <a:ahLst/>
            <a:cxnLst>
              <a:cxn ang="0">
                <a:pos x="wd2" y="hd2"/>
              </a:cxn>
              <a:cxn ang="5400000">
                <a:pos x="wd2" y="hd2"/>
              </a:cxn>
              <a:cxn ang="10800000">
                <a:pos x="wd2" y="hd2"/>
              </a:cxn>
              <a:cxn ang="16200000">
                <a:pos x="wd2" y="hd2"/>
              </a:cxn>
            </a:cxnLst>
            <a:rect l="0" t="0" r="r" b="b"/>
            <a:pathLst>
              <a:path w="21042" h="21600" extrusionOk="0">
                <a:moveTo>
                  <a:pt x="18981" y="0"/>
                </a:moveTo>
                <a:lnTo>
                  <a:pt x="0" y="40"/>
                </a:lnTo>
                <a:lnTo>
                  <a:pt x="0" y="21600"/>
                </a:lnTo>
                <a:lnTo>
                  <a:pt x="18464" y="21600"/>
                </a:lnTo>
                <a:cubicBezTo>
                  <a:pt x="19187" y="20932"/>
                  <a:pt x="19470" y="19979"/>
                  <a:pt x="19213" y="19080"/>
                </a:cubicBezTo>
                <a:cubicBezTo>
                  <a:pt x="18981" y="18273"/>
                  <a:pt x="18317" y="17557"/>
                  <a:pt x="18425" y="16720"/>
                </a:cubicBezTo>
                <a:cubicBezTo>
                  <a:pt x="18575" y="15561"/>
                  <a:pt x="20094" y="14917"/>
                  <a:pt x="20234" y="13755"/>
                </a:cubicBezTo>
                <a:cubicBezTo>
                  <a:pt x="20419" y="12209"/>
                  <a:pt x="18254" y="11381"/>
                  <a:pt x="18043" y="9903"/>
                </a:cubicBezTo>
                <a:cubicBezTo>
                  <a:pt x="17839" y="8471"/>
                  <a:pt x="19494" y="7572"/>
                  <a:pt x="20268" y="6333"/>
                </a:cubicBezTo>
                <a:cubicBezTo>
                  <a:pt x="21600" y="4201"/>
                  <a:pt x="21238" y="1468"/>
                  <a:pt x="18981" y="0"/>
                </a:cubicBezTo>
                <a:close/>
              </a:path>
            </a:pathLst>
          </a:custGeom>
          <a:ln w="12700">
            <a:miter lim="400000"/>
            <a:headEnd/>
            <a:tailEnd/>
          </a:ln>
        </p:spPr>
      </p:pic>
      <p:grpSp>
        <p:nvGrpSpPr>
          <p:cNvPr id="7" name="成组"/>
          <p:cNvGrpSpPr/>
          <p:nvPr/>
        </p:nvGrpSpPr>
        <p:grpSpPr>
          <a:xfrm>
            <a:off x="2356553" y="5489648"/>
            <a:ext cx="2146301" cy="2334715"/>
            <a:chOff x="0" y="0"/>
            <a:chExt cx="2146300" cy="2334713"/>
          </a:xfrm>
        </p:grpSpPr>
        <p:sp>
          <p:nvSpPr>
            <p:cNvPr id="4" name="目录"/>
            <p:cNvSpPr txBox="1"/>
            <p:nvPr/>
          </p:nvSpPr>
          <p:spPr>
            <a:xfrm>
              <a:off x="0" y="0"/>
              <a:ext cx="2146300" cy="1524001"/>
            </a:xfrm>
            <a:prstGeom prst="rect">
              <a:avLst/>
            </a:prstGeom>
            <a:noFill/>
            <a:ln w="12700" cap="flat">
              <a:noFill/>
              <a:miter lim="400000"/>
            </a:ln>
            <a:effectLst/>
          </p:spPr>
          <p:txBody>
            <a:bodyPr wrap="none" lIns="50800" tIns="50800" rIns="50800" bIns="50800" numCol="1" anchor="ctr">
              <a:spAutoFit/>
            </a:bodyPr>
            <a:lstStyle>
              <a:lvl1pPr>
                <a:defRPr sz="8000">
                  <a:solidFill>
                    <a:srgbClr val="FFFFF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1pPr>
            </a:lstStyle>
            <a:p>
              <a:r>
                <a:t>目录</a:t>
              </a:r>
            </a:p>
          </p:txBody>
        </p:sp>
        <p:sp>
          <p:nvSpPr>
            <p:cNvPr id="5" name="线条"/>
            <p:cNvSpPr/>
            <p:nvPr/>
          </p:nvSpPr>
          <p:spPr>
            <a:xfrm>
              <a:off x="167770" y="1506240"/>
              <a:ext cx="1810760" cy="1"/>
            </a:xfrm>
            <a:prstGeom prst="line">
              <a:avLst/>
            </a:prstGeom>
            <a:noFill/>
            <a:ln w="25400" cap="flat">
              <a:solidFill>
                <a:srgbClr val="FFFFFF"/>
              </a:solidFill>
              <a:prstDash val="solid"/>
              <a:miter lim="400000"/>
            </a:ln>
            <a:effectLst/>
          </p:spPr>
          <p:txBody>
            <a:bodyPr wrap="square" lIns="50800" tIns="50800" rIns="50800" bIns="50800" numCol="1" anchor="ctr">
              <a:noAutofit/>
            </a:bodyPr>
            <a:lstStyle/>
            <a:p/>
          </p:txBody>
        </p:sp>
        <p:sp>
          <p:nvSpPr>
            <p:cNvPr id="6" name="Content"/>
            <p:cNvSpPr txBox="1"/>
            <p:nvPr/>
          </p:nvSpPr>
          <p:spPr>
            <a:xfrm>
              <a:off x="90169" y="1521913"/>
              <a:ext cx="1965961" cy="812801"/>
            </a:xfrm>
            <a:prstGeom prst="rect">
              <a:avLst/>
            </a:prstGeom>
            <a:noFill/>
            <a:ln w="12700" cap="flat">
              <a:noFill/>
              <a:miter lim="400000"/>
            </a:ln>
            <a:effectLst/>
          </p:spPr>
          <p:txBody>
            <a:bodyPr wrap="none" lIns="50800" tIns="50800" rIns="50800" bIns="50800" numCol="1" anchor="ctr">
              <a:spAutoFit/>
            </a:bodyPr>
            <a:lstStyle>
              <a:lvl1pPr>
                <a:defRPr sz="4000">
                  <a:solidFill>
                    <a:srgbClr val="FFFFFF"/>
                  </a:solidFill>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1pPr>
            </a:lstStyle>
            <a:p>
              <a:r>
                <a:t>Content</a:t>
              </a:r>
            </a:p>
          </p:txBody>
        </p:sp>
      </p:grpSp>
      <p:sp>
        <p:nvSpPr>
          <p:cNvPr id="8" name="正文级别 1…"/>
          <p:cNvSpPr txBox="1">
            <a:spLocks noGrp="1"/>
          </p:cNvSpPr>
          <p:nvPr>
            <p:ph type="body" idx="1" hasCustomPrompt="1"/>
          </p:nvPr>
        </p:nvSpPr>
        <p:spPr>
          <a:xfrm>
            <a:off x="10258676" y="2729994"/>
            <a:ext cx="21971001" cy="8256012"/>
          </a:xfrm>
          <a:prstGeom prst="rect">
            <a:avLst/>
          </a:prstGeom>
          <a:ln w="12700">
            <a:miter lim="400000"/>
          </a:ln>
        </p:spPr>
        <p:txBody>
          <a:bodyPr lIns="50800" tIns="50800" rIns="50800" bIns="50800" anchor="ctr">
            <a:normAutofit/>
          </a:bodyPr>
          <a:lstStyle/>
          <a:p>
            <a:r>
              <a:t>幻灯片项目符号文本</a:t>
            </a:r>
          </a:p>
          <a:p>
            <a:pPr lvl="1"/>
          </a:p>
          <a:p>
            <a:pPr lvl="2"/>
          </a:p>
          <a:p>
            <a:pPr lvl="3"/>
          </a:p>
          <a:p>
            <a:pPr lvl="4"/>
          </a:p>
        </p:txBody>
      </p:sp>
      <p:pic>
        <p:nvPicPr>
          <p:cNvPr id="9" name="未命名.jpg" descr="未命名.jpg"/>
          <p:cNvPicPr>
            <a:picLocks noChangeAspect="1"/>
          </p:cNvPicPr>
          <p:nvPr/>
        </p:nvPicPr>
        <p:blipFill>
          <a:blip r:embed="rId8">
            <a:alphaModFix amt="80028"/>
          </a:blip>
          <a:stretch>
            <a:fillRect/>
          </a:stretch>
        </p:blipFill>
        <p:spPr>
          <a:xfrm>
            <a:off x="19841111" y="430850"/>
            <a:ext cx="1636706" cy="737026"/>
          </a:xfrm>
          <a:prstGeom prst="rect">
            <a:avLst/>
          </a:prstGeom>
          <a:ln w="12700">
            <a:miter lim="400000"/>
            <a:headEnd/>
            <a:tailEnd/>
          </a:ln>
        </p:spPr>
      </p:pic>
      <p:pic>
        <p:nvPicPr>
          <p:cNvPr id="10" name="未命名.jpg" descr="未命名.jpg"/>
          <p:cNvPicPr>
            <a:picLocks noChangeAspect="1"/>
          </p:cNvPicPr>
          <p:nvPr/>
        </p:nvPicPr>
        <p:blipFill>
          <a:blip r:embed="rId9">
            <a:alphaModFix amt="80000"/>
          </a:blip>
          <a:stretch>
            <a:fillRect/>
          </a:stretch>
        </p:blipFill>
        <p:spPr>
          <a:xfrm>
            <a:off x="21688890" y="597552"/>
            <a:ext cx="2015020" cy="530623"/>
          </a:xfrm>
          <a:prstGeom prst="rect">
            <a:avLst/>
          </a:prstGeom>
          <a:ln w="12700">
            <a:miter lim="400000"/>
            <a:headEnd/>
            <a:tailEnd/>
          </a:ln>
        </p:spPr>
      </p:pic>
      <p:sp>
        <p:nvSpPr>
          <p:cNvPr id="11" name="幻灯片标题"/>
          <p:cNvSpPr txBox="1">
            <a:spLocks noGrp="1"/>
          </p:cNvSpPr>
          <p:nvPr>
            <p:ph type="title" hasCustomPrompt="1"/>
          </p:nvPr>
        </p:nvSpPr>
        <p:spPr>
          <a:xfrm>
            <a:off x="12763346" y="3944134"/>
            <a:ext cx="13118449" cy="983210"/>
          </a:xfrm>
          <a:prstGeom prst="rect">
            <a:avLst/>
          </a:prstGeom>
          <a:ln w="12700">
            <a:miter lim="400000"/>
          </a:ln>
        </p:spPr>
        <p:txBody>
          <a:bodyPr lIns="50800" tIns="50800" rIns="50800" bIns="50800">
            <a:normAutofit/>
          </a:bodyPr>
          <a:lstStyle/>
          <a:p>
            <a:r>
              <a:t>幻灯片标题</a:t>
            </a:r>
          </a:p>
        </p:txBody>
      </p:sp>
      <p:sp>
        <p:nvSpPr>
          <p:cNvPr id="12" name="幻灯片编号"/>
          <p:cNvSpPr txBox="1">
            <a:spLocks noGrp="1"/>
          </p:cNvSpPr>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800"/>
            </a:lvl1pPr>
          </a:lstStyle>
          <a:p>
            <a:fld id="{86CB4B4D-7CA3-9044-876B-883B54F8677D}"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ransition spd="med"/>
  <p:txStyles>
    <p:titleStyle>
      <a:lvl1pPr marL="0" marR="0" indent="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1pPr>
      <a:lvl2pPr marL="0" marR="0" indent="45720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2pPr>
      <a:lvl3pPr marL="0" marR="0" indent="91440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3pPr>
      <a:lvl4pPr marL="0" marR="0" indent="137160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4pPr>
      <a:lvl5pPr marL="0" marR="0" indent="182880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5pPr>
      <a:lvl6pPr marL="0" marR="0" indent="228600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6pPr>
      <a:lvl7pPr marL="0" marR="0" indent="274320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7pPr>
      <a:lvl8pPr marL="0" marR="0" indent="320040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8pPr>
      <a:lvl9pPr marL="0" marR="0" indent="365760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9pPr>
    </p:titleStyle>
    <p:bodyStyle>
      <a:lvl1pPr marL="6096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1pPr>
      <a:lvl2pPr marL="12192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2pPr>
      <a:lvl3pPr marL="18288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3pPr>
      <a:lvl4pPr marL="24384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4pPr>
      <a:lvl5pPr marL="30480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5pPr>
      <a:lvl6pPr marL="36576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6pPr>
      <a:lvl7pPr marL="42672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7pPr>
      <a:lvl8pPr marL="48768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8pPr>
      <a:lvl9pPr marL="54864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9pPr>
    </p:bodyStyle>
    <p:otherStyle>
      <a:lvl1pPr marL="0" marR="0" indent="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1pPr>
      <a:lvl2pPr marL="0" marR="0" indent="457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2pPr>
      <a:lvl3pPr marL="0" marR="0" indent="914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3pPr>
      <a:lvl4pPr marL="0" marR="0" indent="1371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4pPr>
      <a:lvl5pPr marL="0" marR="0" indent="18288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5pPr>
      <a:lvl6pPr marL="0" marR="0" indent="22860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6pPr>
      <a:lvl7pPr marL="0" marR="0" indent="2743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7pPr>
      <a:lvl8pPr marL="0" marR="0" indent="3200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8pPr>
      <a:lvl9pPr marL="0" marR="0" indent="3657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4.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image" Target="../media/image17.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4.xml"/><Relationship Id="rId2" Type="http://schemas.openxmlformats.org/officeDocument/2006/relationships/image" Target="../media/image19.png"/><Relationship Id="rId1" Type="http://schemas.openxmlformats.org/officeDocument/2006/relationships/image" Target="../media/image18.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4.xml"/><Relationship Id="rId2" Type="http://schemas.openxmlformats.org/officeDocument/2006/relationships/image" Target="../media/image21.png"/><Relationship Id="rId1" Type="http://schemas.openxmlformats.org/officeDocument/2006/relationships/image" Target="../media/image2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4.xml"/><Relationship Id="rId2" Type="http://schemas.openxmlformats.org/officeDocument/2006/relationships/image" Target="../media/image23.png"/><Relationship Id="rId1" Type="http://schemas.openxmlformats.org/officeDocument/2006/relationships/image" Target="../media/image2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4.xml"/><Relationship Id="rId2" Type="http://schemas.openxmlformats.org/officeDocument/2006/relationships/image" Target="../media/image25.png"/><Relationship Id="rId1" Type="http://schemas.openxmlformats.org/officeDocument/2006/relationships/image" Target="../media/image2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image" Target="../media/image26.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4.xml"/><Relationship Id="rId2" Type="http://schemas.openxmlformats.org/officeDocument/2006/relationships/image" Target="../media/image28.png"/><Relationship Id="rId1"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4.xml"/><Relationship Id="rId1" Type="http://schemas.openxmlformats.org/officeDocument/2006/relationships/image" Target="../media/image29.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4.xml"/><Relationship Id="rId2" Type="http://schemas.openxmlformats.org/officeDocument/2006/relationships/image" Target="../media/image31.png"/><Relationship Id="rId1"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成组"/>
          <p:cNvGrpSpPr/>
          <p:nvPr/>
        </p:nvGrpSpPr>
        <p:grpSpPr>
          <a:xfrm>
            <a:off x="2199545" y="3507853"/>
            <a:ext cx="21405522" cy="4808518"/>
            <a:chOff x="-1473199" y="0"/>
            <a:chExt cx="21405520" cy="4808516"/>
          </a:xfrm>
        </p:grpSpPr>
        <p:sp>
          <p:nvSpPr>
            <p:cNvPr id="70" name="智泊AI大模型实战课"/>
            <p:cNvSpPr txBox="1"/>
            <p:nvPr/>
          </p:nvSpPr>
          <p:spPr>
            <a:xfrm>
              <a:off x="0" y="0"/>
              <a:ext cx="17038509" cy="1270000"/>
            </a:xfrm>
            <a:prstGeom prst="rect">
              <a:avLst/>
            </a:prstGeom>
            <a:noFill/>
            <a:ln w="12700" cap="flat">
              <a:noFill/>
              <a:miter lim="400000"/>
            </a:ln>
            <a:effectLst/>
          </p:spPr>
          <p:txBody>
            <a:bodyPr wrap="square" lIns="0" tIns="0" rIns="0" bIns="0" numCol="1" anchor="t">
              <a:noAutofit/>
            </a:bodyPr>
            <a:lstStyle>
              <a:lvl1pPr algn="ctr" defTabSz="914400">
                <a:lnSpc>
                  <a:spcPct val="100000"/>
                </a:lnSpc>
                <a:spcBef>
                  <a:spcPts val="0"/>
                </a:spcBef>
                <a:defRPr sz="7200" spc="3096">
                  <a:solidFill>
                    <a:srgbClr val="FFFFFF"/>
                  </a:solidFill>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1pPr>
            </a:lstStyle>
            <a:p>
              <a:r>
                <a:rPr>
                  <a:latin typeface=".萍方-简" panose="020B0300000000000000" charset="-122"/>
                  <a:ea typeface=".萍方-简" panose="020B0300000000000000" charset="-122"/>
                  <a:cs typeface=".萍方-简" panose="020B0300000000000000" charset="-122"/>
                </a:rPr>
                <a:t>智泊AI大模型实战课</a:t>
              </a:r>
              <a:endParaRPr>
                <a:latin typeface=".萍方-简" panose="020B0300000000000000" charset="-122"/>
                <a:ea typeface=".萍方-简" panose="020B0300000000000000" charset="-122"/>
                <a:cs typeface=".萍方-简" panose="020B0300000000000000" charset="-122"/>
              </a:endParaRPr>
            </a:p>
          </p:txBody>
        </p:sp>
        <p:sp>
          <p:nvSpPr>
            <p:cNvPr id="71" name="这里是本节课程的课题"/>
            <p:cNvSpPr txBox="1"/>
            <p:nvPr/>
          </p:nvSpPr>
          <p:spPr>
            <a:xfrm>
              <a:off x="-1473199" y="1891775"/>
              <a:ext cx="21405520" cy="2916741"/>
            </a:xfrm>
            <a:prstGeom prst="rect">
              <a:avLst/>
            </a:prstGeom>
            <a:noFill/>
            <a:ln w="12700" cap="flat">
              <a:noFill/>
              <a:miter lim="400000"/>
            </a:ln>
            <a:effectLst/>
          </p:spPr>
          <p:txBody>
            <a:bodyPr wrap="square" lIns="0" tIns="0" rIns="0" bIns="0" numCol="1" anchor="t">
              <a:noAutofit/>
            </a:bodyPr>
            <a:lstStyle>
              <a:lvl1pPr algn="ctr" defTabSz="914400">
                <a:lnSpc>
                  <a:spcPct val="100000"/>
                </a:lnSpc>
                <a:spcBef>
                  <a:spcPts val="0"/>
                </a:spcBef>
                <a:defRPr sz="8800" spc="968">
                  <a:solidFill>
                    <a:srgbClr val="FFFFF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1pPr>
            </a:lstStyle>
            <a:p>
              <a:r>
                <a:rPr lang="en-US" altLang="zh-CN">
                  <a:latin typeface=".萍方-简" panose="020B0300000000000000" charset="-122"/>
                  <a:ea typeface=".萍方-简" panose="020B0300000000000000" charset="-122"/>
                </a:rPr>
                <a:t>L2</a:t>
              </a:r>
              <a:r>
                <a:rPr lang="zh-CN" altLang="en-US">
                  <a:latin typeface=".萍方-简" panose="020B0300000000000000" charset="-122"/>
                  <a:ea typeface=".萍方-简" panose="020B0300000000000000" charset="-122"/>
                </a:rPr>
                <a:t>阶段：攻坚篇 </a:t>
              </a:r>
              <a:r>
                <a:rPr lang="en-US" altLang="zh-CN">
                  <a:latin typeface=".萍方-简" panose="020B0300000000000000" charset="-122"/>
                  <a:ea typeface=".萍方-简" panose="020B0300000000000000" charset="-122"/>
                </a:rPr>
                <a:t>| RAG</a:t>
              </a:r>
              <a:r>
                <a:rPr lang="zh-CN" altLang="en-US">
                  <a:latin typeface=".萍方-简" panose="020B0300000000000000" charset="-122"/>
                  <a:ea typeface=".萍方-简" panose="020B0300000000000000" charset="-122"/>
                </a:rPr>
                <a:t>开发实战工坊</a:t>
              </a:r>
              <a:endParaRPr lang="zh-CN">
                <a:latin typeface=".萍方-简" panose="020B0300000000000000" charset="-122"/>
                <a:ea typeface=".萍方-简" panose="020B0300000000000000" charset="-122"/>
              </a:endParaRPr>
            </a:p>
          </p:txBody>
        </p:sp>
      </p:grpSp>
      <p:sp>
        <p:nvSpPr>
          <p:cNvPr id="74" name="主讲人：你的名字"/>
          <p:cNvSpPr txBox="1"/>
          <p:nvPr/>
        </p:nvSpPr>
        <p:spPr>
          <a:xfrm>
            <a:off x="7140115" y="9536107"/>
            <a:ext cx="10103770" cy="538480"/>
          </a:xfrm>
          <a:prstGeom prst="rect">
            <a:avLst/>
          </a:prstGeom>
          <a:ln w="12700">
            <a:miter lim="400000"/>
          </a:ln>
        </p:spPr>
        <p:txBody>
          <a:bodyPr lIns="0" tIns="0" rIns="0" bIns="0">
            <a:spAutoFit/>
          </a:bodyPr>
          <a:lstStyle/>
          <a:p>
            <a:pPr algn="ctr" defTabSz="914400">
              <a:lnSpc>
                <a:spcPct val="100000"/>
              </a:lnSpc>
              <a:spcBef>
                <a:spcPts val="0"/>
              </a:spcBef>
              <a:defRPr sz="3500">
                <a:solidFill>
                  <a:srgbClr val="FFFFF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t>主讲人：</a:t>
            </a:r>
            <a:r>
              <a:rPr lang="zh-CN" altLang="en-US">
                <a:sym typeface="+mn-ea"/>
              </a:rPr>
              <a:t>大白老师</a:t>
            </a:r>
            <a:endParaRPr lang="zh-CN"/>
          </a:p>
        </p:txBody>
      </p:sp>
      <p:sp>
        <p:nvSpPr>
          <p:cNvPr id="75" name="MoPass「魔泊云」· 智泊AI人工智能研究院"/>
          <p:cNvSpPr txBox="1"/>
          <p:nvPr/>
        </p:nvSpPr>
        <p:spPr>
          <a:xfrm>
            <a:off x="7140115" y="10356559"/>
            <a:ext cx="10103770" cy="355601"/>
          </a:xfrm>
          <a:prstGeom prst="rect">
            <a:avLst/>
          </a:prstGeom>
          <a:ln w="12700">
            <a:miter lim="400000"/>
          </a:ln>
        </p:spPr>
        <p:txBody>
          <a:bodyPr lIns="0" tIns="0" rIns="0" bIns="0">
            <a:spAutoFit/>
          </a:bodyPr>
          <a:lstStyle>
            <a:lvl1pPr algn="ctr" defTabSz="914400">
              <a:lnSpc>
                <a:spcPct val="100000"/>
              </a:lnSpc>
              <a:spcBef>
                <a:spcPts val="0"/>
              </a:spcBef>
              <a:defRPr sz="2000">
                <a:solidFill>
                  <a:srgbClr val="FFFFFF"/>
                </a:solidFill>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1pPr>
          </a:lstStyle>
          <a:p>
            <a:r>
              <a:t>MoPass「魔泊云」· 智泊AI人工智能研究院</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normAutofit/>
          </a:bodyPr>
          <a:lstStyle/>
          <a:p>
            <a:pPr defTabSz="742950">
              <a:defRPr sz="4950"/>
            </a:pPr>
            <a:r>
              <a:rPr lang="zh-CN" altLang="en-US">
                <a:solidFill>
                  <a:srgbClr val="262C5B"/>
                </a:solidFill>
                <a:latin typeface=".萍方-简" panose="020B0300000000000000" charset="-122"/>
                <a:ea typeface=".萍方-简" panose="020B0300000000000000" charset="-122"/>
                <a:cs typeface="微软雅黑" panose="020B0503020204020204" pitchFamily="34" charset="-120"/>
                <a:sym typeface="+mn-ea"/>
              </a:rPr>
              <a:t>本阶段课程安排</a:t>
            </a:r>
            <a:endParaRPr lang="zh-CN">
              <a:latin typeface=".萍方-简" panose="020B0300000000000000" charset="-122"/>
              <a:ea typeface=".萍方-简" panose="020B0300000000000000" charset="-122"/>
            </a:endParaRPr>
          </a:p>
        </p:txBody>
      </p:sp>
      <p:graphicFrame>
        <p:nvGraphicFramePr>
          <p:cNvPr id="2" name="表格 1"/>
          <p:cNvGraphicFramePr>
            <a:graphicFrameLocks noGrp="1"/>
          </p:cNvGraphicFramePr>
          <p:nvPr/>
        </p:nvGraphicFramePr>
        <p:xfrm>
          <a:off x="1930400" y="1993569"/>
          <a:ext cx="20980400" cy="7878563"/>
        </p:xfrm>
        <a:graphic>
          <a:graphicData uri="http://schemas.openxmlformats.org/drawingml/2006/table">
            <a:tbl>
              <a:tblPr/>
              <a:tblGrid>
                <a:gridCol w="2513537"/>
                <a:gridCol w="18466863"/>
              </a:tblGrid>
              <a:tr h="1366133">
                <a:tc>
                  <a:txBody>
                    <a:bodyPr/>
                    <a:lstStyle/>
                    <a:p>
                      <a:pPr algn="ctr" fontAlgn="ctr"/>
                      <a:r>
                        <a:rPr lang="zh-CN" altLang="en-US" sz="4800" b="1" i="0" u="none" strike="noStrike">
                          <a:solidFill>
                            <a:srgbClr val="000000"/>
                          </a:solidFill>
                          <a:latin typeface=".萍方-简" panose="020B0300000000000000" charset="-122"/>
                          <a:ea typeface=".萍方-简" panose="020B0300000000000000" charset="-122"/>
                          <a:cs typeface="更纱黑体 SC Light" panose="02000400000000000000" pitchFamily="2" charset="-122"/>
                        </a:rPr>
                        <a:t>章节</a:t>
                      </a:r>
                      <a:endParaRPr lang="zh-CN" altLang="en-US" sz="4800" b="1" i="0" u="none" strike="noStrike">
                        <a:solidFill>
                          <a:srgbClr val="000000"/>
                        </a:solidFill>
                        <a:latin typeface=".萍方-简" panose="020B0300000000000000" charset="-122"/>
                        <a:ea typeface=".萍方-简" panose="020B0300000000000000"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4800" b="1" i="0" u="none" strike="noStrike">
                          <a:solidFill>
                            <a:srgbClr val="000000"/>
                          </a:solidFill>
                          <a:latin typeface=".萍方-简" panose="020B0300000000000000" charset="-122"/>
                          <a:ea typeface=".萍方-简" panose="020B0300000000000000" charset="-122"/>
                          <a:cs typeface="更纱黑体 SC Light" panose="02000400000000000000" pitchFamily="2" charset="-122"/>
                        </a:rPr>
                        <a:t>章节名称</a:t>
                      </a:r>
                      <a:endParaRPr lang="zh-CN" altLang="en-US" sz="4800" b="1" i="0" u="none" strike="noStrike">
                        <a:solidFill>
                          <a:srgbClr val="000000"/>
                        </a:solidFill>
                        <a:latin typeface=".萍方-简" panose="020B0300000000000000" charset="-122"/>
                        <a:ea typeface=".萍方-简" panose="020B0300000000000000"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1085405">
                <a:tc>
                  <a:txBody>
                    <a:bodyPr/>
                    <a:lstStyle/>
                    <a:p>
                      <a:pPr algn="ctr" fontAlgn="ctr"/>
                      <a:r>
                        <a:rPr lang="en-US" altLang="zh-CN" sz="48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1</a:t>
                      </a:r>
                      <a:endParaRPr lang="en-US" altLang="zh-CN" sz="48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zh-CN" sz="48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RAG</a:t>
                      </a:r>
                      <a:r>
                        <a:rPr lang="zh-CN" altLang="en-US" sz="48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认知与项目实践</a:t>
                      </a:r>
                      <a:endParaRPr lang="zh-CN" altLang="en-US" sz="48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1085405">
                <a:tc>
                  <a:txBody>
                    <a:bodyPr/>
                    <a:lstStyle/>
                    <a:p>
                      <a:pPr algn="ctr" fontAlgn="ctr"/>
                      <a:r>
                        <a:rPr lang="en-US" altLang="zh-CN" sz="4800" b="1" i="0" u="none" strike="noStrike">
                          <a:solidFill>
                            <a:srgbClr val="C00000"/>
                          </a:solidFill>
                          <a:latin typeface="微软雅黑" panose="020B0503020204020204" pitchFamily="34" charset="-122"/>
                          <a:ea typeface="微软雅黑" panose="020B0503020204020204" pitchFamily="34" charset="-122"/>
                          <a:cs typeface="更纱黑体 SC Light" panose="02000400000000000000" pitchFamily="2" charset="-122"/>
                        </a:rPr>
                        <a:t>2</a:t>
                      </a:r>
                      <a:endParaRPr lang="en-US" altLang="zh-CN" sz="4800" b="1" i="0" u="none" strike="noStrike">
                        <a:solidFill>
                          <a:srgbClr val="C00000"/>
                        </a:solidFill>
                        <a:latin typeface="微软雅黑" panose="020B0503020204020204" pitchFamily="34" charset="-122"/>
                        <a:ea typeface="微软雅黑" panose="020B0503020204020204" pitchFamily="34"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zh-CN" sz="4800" b="1" i="0" u="none" strike="noStrike">
                          <a:solidFill>
                            <a:srgbClr val="C00000"/>
                          </a:solidFill>
                          <a:latin typeface="微软雅黑" panose="020B0503020204020204" pitchFamily="34" charset="-122"/>
                          <a:ea typeface="微软雅黑" panose="020B0503020204020204" pitchFamily="34" charset="-122"/>
                          <a:cs typeface="更纱黑体 SC Light" panose="02000400000000000000" pitchFamily="2" charset="-122"/>
                        </a:rPr>
                        <a:t>LangChainV1.0</a:t>
                      </a:r>
                      <a:r>
                        <a:rPr lang="zh-CN" altLang="en-US" sz="4800" b="1" i="0" u="none" strike="noStrike">
                          <a:solidFill>
                            <a:srgbClr val="C00000"/>
                          </a:solidFill>
                          <a:latin typeface="微软雅黑" panose="020B0503020204020204" pitchFamily="34" charset="-122"/>
                          <a:ea typeface="微软雅黑" panose="020B0503020204020204" pitchFamily="34" charset="-122"/>
                          <a:cs typeface="更纱黑体 SC Light" panose="02000400000000000000" pitchFamily="2" charset="-122"/>
                        </a:rPr>
                        <a:t>从入门到精通</a:t>
                      </a:r>
                      <a:endParaRPr lang="zh-CN" altLang="en-US" sz="4800" b="1" i="0" u="none" strike="noStrike">
                        <a:solidFill>
                          <a:srgbClr val="C00000"/>
                        </a:solidFill>
                        <a:latin typeface="微软雅黑" panose="020B0503020204020204" pitchFamily="34" charset="-122"/>
                        <a:ea typeface="微软雅黑" panose="020B0503020204020204" pitchFamily="34"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1085405">
                <a:tc>
                  <a:txBody>
                    <a:bodyPr/>
                    <a:lstStyle/>
                    <a:p>
                      <a:pPr algn="ctr" fontAlgn="ctr"/>
                      <a:r>
                        <a:rPr lang="en-US" altLang="zh-CN" sz="48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3</a:t>
                      </a:r>
                      <a:endParaRPr lang="en-US" altLang="zh-CN" sz="48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defTabSz="1219200" rtl="0" eaLnBrk="1" fontAlgn="ctr" latinLnBrk="0" hangingPunct="1">
                        <a:lnSpc>
                          <a:spcPct val="100000"/>
                        </a:lnSpc>
                        <a:spcBef>
                          <a:spcPts val="0"/>
                        </a:spcBef>
                        <a:spcAft>
                          <a:spcPts val="0"/>
                        </a:spcAft>
                        <a:buClrTx/>
                        <a:buSzTx/>
                        <a:buFontTx/>
                        <a:buNone/>
                        <a:defRPr/>
                      </a:pPr>
                      <a:r>
                        <a:rPr lang="zh-CN" altLang="en-US" sz="48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基于</a:t>
                      </a:r>
                      <a:r>
                        <a:rPr lang="en-US" altLang="zh-CN" sz="48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LangChain</a:t>
                      </a:r>
                      <a:r>
                        <a:rPr lang="zh-CN" altLang="en-US" sz="48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的</a:t>
                      </a:r>
                      <a:r>
                        <a:rPr lang="en-US" altLang="zh-CN" sz="48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RAG</a:t>
                      </a:r>
                      <a:r>
                        <a:rPr lang="zh-CN" altLang="en-US" sz="48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系统优化实践</a:t>
                      </a:r>
                      <a:r>
                        <a:rPr lang="en-US" altLang="zh-CN" sz="48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/Advanced RAG</a:t>
                      </a:r>
                      <a:endParaRPr lang="zh-CN" altLang="en-US" sz="48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1085405">
                <a:tc>
                  <a:txBody>
                    <a:bodyPr/>
                    <a:lstStyle/>
                    <a:p>
                      <a:pPr algn="ctr" fontAlgn="ctr"/>
                      <a:r>
                        <a:rPr lang="en-US" altLang="zh-CN" sz="48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4</a:t>
                      </a:r>
                      <a:endParaRPr lang="en-US" altLang="zh-CN" sz="48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defTabSz="1219200" rtl="0" eaLnBrk="1" fontAlgn="ctr" latinLnBrk="0" hangingPunct="1">
                        <a:lnSpc>
                          <a:spcPct val="100000"/>
                        </a:lnSpc>
                        <a:spcBef>
                          <a:spcPts val="0"/>
                        </a:spcBef>
                        <a:spcAft>
                          <a:spcPts val="0"/>
                        </a:spcAft>
                        <a:buClrTx/>
                        <a:buSzTx/>
                        <a:buFontTx/>
                        <a:buNone/>
                        <a:defRPr/>
                      </a:pPr>
                      <a:r>
                        <a:rPr lang="zh-CN" altLang="en-US" sz="48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掌握</a:t>
                      </a:r>
                      <a:r>
                        <a:rPr lang="en-US" altLang="zh-CN" sz="48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RAG</a:t>
                      </a:r>
                      <a:r>
                        <a:rPr lang="zh-CN" altLang="en-US" sz="48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应用评估技能和工具</a:t>
                      </a:r>
                      <a:endParaRPr lang="en-US" altLang="zh-CN" sz="48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1085405">
                <a:tc>
                  <a:txBody>
                    <a:bodyPr/>
                    <a:lstStyle/>
                    <a:p>
                      <a:pPr algn="ctr" fontAlgn="ctr"/>
                      <a:r>
                        <a:rPr lang="en-US" altLang="zh-CN" sz="48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5</a:t>
                      </a:r>
                      <a:endParaRPr lang="en-US" altLang="zh-CN" sz="48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defTabSz="1219200" rtl="0" eaLnBrk="1" fontAlgn="ctr" latinLnBrk="0" hangingPunct="1">
                        <a:lnSpc>
                          <a:spcPct val="100000"/>
                        </a:lnSpc>
                        <a:spcBef>
                          <a:spcPts val="0"/>
                        </a:spcBef>
                        <a:spcAft>
                          <a:spcPts val="0"/>
                        </a:spcAft>
                        <a:buClrTx/>
                        <a:buSzTx/>
                        <a:buFontTx/>
                        <a:buNone/>
                        <a:defRPr/>
                      </a:pPr>
                      <a:r>
                        <a:rPr lang="en-US" altLang="zh-CN" sz="48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RAG</a:t>
                      </a:r>
                      <a:r>
                        <a:rPr lang="zh-CN" altLang="en-US" sz="48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开源项目综合应用</a:t>
                      </a:r>
                      <a:endParaRPr lang="en-US" altLang="zh-CN" sz="48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1085405">
                <a:tc>
                  <a:txBody>
                    <a:bodyPr/>
                    <a:lstStyle/>
                    <a:p>
                      <a:pPr algn="ctr" fontAlgn="ctr"/>
                      <a:r>
                        <a:rPr lang="en-US" altLang="zh-CN" sz="48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6</a:t>
                      </a:r>
                      <a:endParaRPr lang="en-US" altLang="zh-CN" sz="48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defTabSz="1219200" rtl="0" eaLnBrk="1" fontAlgn="ctr" latinLnBrk="0" hangingPunct="1">
                        <a:lnSpc>
                          <a:spcPct val="100000"/>
                        </a:lnSpc>
                        <a:spcBef>
                          <a:spcPts val="0"/>
                        </a:spcBef>
                        <a:spcAft>
                          <a:spcPts val="0"/>
                        </a:spcAft>
                        <a:buClrTx/>
                        <a:buSzTx/>
                        <a:buFontTx/>
                        <a:buNone/>
                        <a:defRPr/>
                      </a:pPr>
                      <a:r>
                        <a:rPr lang="zh-CN" altLang="en-US" sz="48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实战项目：通用文档智能问答系统商业化实战</a:t>
                      </a:r>
                      <a:endParaRPr lang="en-US" altLang="zh-CN" sz="48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bl>
          </a:graphicData>
        </a:graphic>
      </p:graphicFrame>
      <p:sp>
        <p:nvSpPr>
          <p:cNvPr id="4" name="TextBox 8"/>
          <p:cNvSpPr txBox="1"/>
          <p:nvPr/>
        </p:nvSpPr>
        <p:spPr>
          <a:xfrm>
            <a:off x="567266" y="10514144"/>
            <a:ext cx="23249467" cy="590931"/>
          </a:xfrm>
          <a:prstGeom prst="rect">
            <a:avLst/>
          </a:prstGeom>
          <a:noFill/>
        </p:spPr>
        <p:txBody>
          <a:bodyPr wrap="square" rtlCol="0">
            <a:spAutoFit/>
          </a:bodyPr>
          <a:lstStyle/>
          <a:p>
            <a:r>
              <a:rPr lang="zh-CN" altLang="en-US" sz="3600" b="1">
                <a:solidFill>
                  <a:srgbClr val="FF0000"/>
                </a:solidFill>
                <a:latin typeface="微软雅黑" panose="020B0503020204020204" pitchFamily="34" charset="-122"/>
                <a:ea typeface="微软雅黑" panose="020B0503020204020204" pitchFamily="34" charset="-122"/>
              </a:rPr>
              <a:t>课程前置：计算机通识、</a:t>
            </a:r>
            <a:r>
              <a:rPr lang="en-US" altLang="zh-CN" sz="3600" b="1">
                <a:solidFill>
                  <a:srgbClr val="FF0000"/>
                </a:solidFill>
                <a:latin typeface="微软雅黑" panose="020B0503020204020204" pitchFamily="34" charset="-122"/>
                <a:ea typeface="微软雅黑" panose="020B0503020204020204" pitchFamily="34" charset="-122"/>
              </a:rPr>
              <a:t>Python</a:t>
            </a:r>
            <a:r>
              <a:rPr lang="zh-CN" altLang="en-US" sz="3600" b="1">
                <a:solidFill>
                  <a:srgbClr val="FF0000"/>
                </a:solidFill>
                <a:latin typeface="微软雅黑" panose="020B0503020204020204" pitchFamily="34" charset="-122"/>
                <a:ea typeface="微软雅黑" panose="020B0503020204020204" pitchFamily="34" charset="-122"/>
              </a:rPr>
              <a:t>语言基础知识、</a:t>
            </a:r>
            <a:r>
              <a:rPr lang="en-US" altLang="zh-CN" sz="3600" b="1">
                <a:solidFill>
                  <a:srgbClr val="FF0000"/>
                </a:solidFill>
                <a:latin typeface="微软雅黑" panose="020B0503020204020204" pitchFamily="34" charset="-122"/>
                <a:ea typeface="微软雅黑" panose="020B0503020204020204" pitchFamily="34" charset="-122"/>
              </a:rPr>
              <a:t>PyCharm</a:t>
            </a:r>
            <a:r>
              <a:rPr lang="zh-CN" altLang="en-US" sz="3600" b="1">
                <a:solidFill>
                  <a:srgbClr val="FF0000"/>
                </a:solidFill>
                <a:latin typeface="微软雅黑" panose="020B0503020204020204" pitchFamily="34" charset="-122"/>
                <a:ea typeface="微软雅黑" panose="020B0503020204020204" pitchFamily="34" charset="-122"/>
              </a:rPr>
              <a:t>基本使用、</a:t>
            </a:r>
            <a:r>
              <a:rPr lang="en-US" altLang="zh-CN" sz="3600" b="1">
                <a:solidFill>
                  <a:srgbClr val="FF0000"/>
                </a:solidFill>
                <a:latin typeface="微软雅黑" panose="020B0503020204020204" pitchFamily="34" charset="-122"/>
                <a:ea typeface="微软雅黑" panose="020B0503020204020204" pitchFamily="34" charset="-122"/>
              </a:rPr>
              <a:t>L1</a:t>
            </a:r>
            <a:r>
              <a:rPr lang="zh-CN" altLang="en-US" sz="3600" b="1">
                <a:solidFill>
                  <a:srgbClr val="FF0000"/>
                </a:solidFill>
                <a:latin typeface="微软雅黑" panose="020B0503020204020204" pitchFamily="34" charset="-122"/>
                <a:ea typeface="微软雅黑" panose="020B0503020204020204" pitchFamily="34" charset="-122"/>
              </a:rPr>
              <a:t>阶段学习内容等等。</a:t>
            </a:r>
            <a:endParaRPr lang="en-US" altLang="zh-CN" sz="3600" b="1">
              <a:solidFill>
                <a:srgbClr val="FF0000"/>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567266" y="11399672"/>
            <a:ext cx="22800734" cy="1200329"/>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sz="4000">
                <a:latin typeface="微软雅黑 Light" panose="020B0502040204020203" pitchFamily="34" charset="-122"/>
                <a:ea typeface="微软雅黑 Light" panose="020B0502040204020203" pitchFamily="34" charset="-122"/>
              </a:rPr>
              <a:t>以上为本阶段的章节安排，不是课时安排，如果一章内容在一次课内未讲完，则会顺延到后面的课程继续讲解，同理，一次课内也有可能讲述多个章节。</a:t>
            </a:r>
            <a:endParaRPr lang="en-US" altLang="zh-CN" sz="4000">
              <a:latin typeface="微软雅黑 Light" panose="020B0502040204020203" pitchFamily="34" charset="-122"/>
              <a:ea typeface="微软雅黑 Light" panose="020B0502040204020203" pitchFamily="34" charset="-122"/>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normAutofit/>
          </a:bodyPr>
          <a:lstStyle/>
          <a:p>
            <a:pPr defTabSz="742950">
              <a:defRPr sz="4950"/>
            </a:pPr>
            <a:r>
              <a:rPr lang="zh-CN" altLang="en-US">
                <a:solidFill>
                  <a:srgbClr val="262C5B"/>
                </a:solidFill>
                <a:latin typeface=".萍方-简" panose="020B0300000000000000" charset="-122"/>
                <a:ea typeface=".萍方-简" panose="020B0300000000000000" charset="-122"/>
                <a:cs typeface="微软雅黑" panose="020B0503020204020204" pitchFamily="34" charset="-120"/>
                <a:sym typeface="+mn-ea"/>
              </a:rPr>
              <a:t>为什么要学？</a:t>
            </a:r>
            <a:endParaRPr lang="zh-CN">
              <a:latin typeface=".萍方-简" panose="020B0300000000000000" charset="-122"/>
              <a:ea typeface=".萍方-简" panose="020B0300000000000000" charset="-122"/>
            </a:endParaRPr>
          </a:p>
        </p:txBody>
      </p:sp>
      <p:pic>
        <p:nvPicPr>
          <p:cNvPr id="9" name="图片 8"/>
          <p:cNvPicPr>
            <a:picLocks noChangeAspect="1"/>
          </p:cNvPicPr>
          <p:nvPr/>
        </p:nvPicPr>
        <p:blipFill>
          <a:blip r:embed="rId1"/>
          <a:stretch>
            <a:fillRect/>
          </a:stretch>
        </p:blipFill>
        <p:spPr>
          <a:xfrm>
            <a:off x="354330" y="1605280"/>
            <a:ext cx="16551910" cy="8778240"/>
          </a:xfrm>
          <a:prstGeom prst="rect">
            <a:avLst/>
          </a:prstGeom>
        </p:spPr>
      </p:pic>
      <p:pic>
        <p:nvPicPr>
          <p:cNvPr id="11" name="图片 10"/>
          <p:cNvPicPr>
            <a:picLocks noChangeAspect="1"/>
          </p:cNvPicPr>
          <p:nvPr/>
        </p:nvPicPr>
        <p:blipFill>
          <a:blip r:embed="rId2"/>
          <a:stretch>
            <a:fillRect/>
          </a:stretch>
        </p:blipFill>
        <p:spPr>
          <a:xfrm>
            <a:off x="2159635" y="2455545"/>
            <a:ext cx="11694795" cy="11260455"/>
          </a:xfrm>
          <a:prstGeom prst="rect">
            <a:avLst/>
          </a:prstGeom>
        </p:spPr>
      </p:pic>
      <p:pic>
        <p:nvPicPr>
          <p:cNvPr id="12" name="图片 11"/>
          <p:cNvPicPr>
            <a:picLocks noChangeAspect="1"/>
          </p:cNvPicPr>
          <p:nvPr/>
        </p:nvPicPr>
        <p:blipFill>
          <a:blip r:embed="rId3"/>
          <a:stretch>
            <a:fillRect/>
          </a:stretch>
        </p:blipFill>
        <p:spPr>
          <a:xfrm>
            <a:off x="3382645" y="3161665"/>
            <a:ext cx="11038840" cy="9847580"/>
          </a:xfrm>
          <a:prstGeom prst="rect">
            <a:avLst/>
          </a:prstGeom>
        </p:spPr>
      </p:pic>
      <p:pic>
        <p:nvPicPr>
          <p:cNvPr id="13" name="图片 12"/>
          <p:cNvPicPr>
            <a:picLocks noChangeAspect="1"/>
          </p:cNvPicPr>
          <p:nvPr/>
        </p:nvPicPr>
        <p:blipFill>
          <a:blip r:embed="rId4"/>
          <a:stretch>
            <a:fillRect/>
          </a:stretch>
        </p:blipFill>
        <p:spPr>
          <a:xfrm>
            <a:off x="4340860" y="4246245"/>
            <a:ext cx="14190980" cy="9199880"/>
          </a:xfrm>
          <a:prstGeom prst="rect">
            <a:avLst/>
          </a:prstGeom>
        </p:spPr>
      </p:pic>
      <p:pic>
        <p:nvPicPr>
          <p:cNvPr id="5" name="图片 4"/>
          <p:cNvPicPr>
            <a:picLocks noChangeAspect="1"/>
          </p:cNvPicPr>
          <p:nvPr/>
        </p:nvPicPr>
        <p:blipFill>
          <a:blip r:embed="rId5"/>
          <a:stretch>
            <a:fillRect/>
          </a:stretch>
        </p:blipFill>
        <p:spPr>
          <a:xfrm>
            <a:off x="11390630" y="2687320"/>
            <a:ext cx="11533505" cy="10321925"/>
          </a:xfrm>
          <a:prstGeom prst="rect">
            <a:avLst/>
          </a:prstGeom>
        </p:spPr>
      </p:pic>
      <p:pic>
        <p:nvPicPr>
          <p:cNvPr id="3" name="图片 2"/>
          <p:cNvPicPr>
            <a:picLocks noChangeAspect="1"/>
          </p:cNvPicPr>
          <p:nvPr/>
        </p:nvPicPr>
        <p:blipFill>
          <a:blip r:embed="rId6"/>
          <a:stretch>
            <a:fillRect/>
          </a:stretch>
        </p:blipFill>
        <p:spPr>
          <a:xfrm>
            <a:off x="12447270" y="3426460"/>
            <a:ext cx="9419590" cy="9317355"/>
          </a:xfrm>
          <a:prstGeom prst="rect">
            <a:avLst/>
          </a:prstGeom>
        </p:spPr>
      </p:pic>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ppt_x"/>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normAutofit/>
          </a:bodyPr>
          <a:lstStyle/>
          <a:p>
            <a:pPr defTabSz="742950">
              <a:defRPr sz="4950"/>
            </a:pPr>
            <a:r>
              <a:rPr lang="zh-CN" altLang="en-US">
                <a:solidFill>
                  <a:srgbClr val="262C5B"/>
                </a:solidFill>
                <a:latin typeface=".萍方-简" panose="020B0300000000000000" charset="-122"/>
                <a:ea typeface=".萍方-简" panose="020B0300000000000000" charset="-122"/>
                <a:cs typeface="微软雅黑" panose="020B0503020204020204" pitchFamily="34" charset="-120"/>
                <a:sym typeface="+mn-ea"/>
              </a:rPr>
              <a:t>本阶段环境</a:t>
            </a:r>
            <a:endParaRPr lang="zh-CN">
              <a:latin typeface=".萍方-简" panose="020B0300000000000000" charset="-122"/>
              <a:ea typeface=".萍方-简" panose="020B0300000000000000" charset="-122"/>
            </a:endParaRPr>
          </a:p>
        </p:txBody>
      </p:sp>
      <p:sp>
        <p:nvSpPr>
          <p:cNvPr id="4" name="TextBox 8"/>
          <p:cNvSpPr txBox="1"/>
          <p:nvPr/>
        </p:nvSpPr>
        <p:spPr>
          <a:xfrm>
            <a:off x="922865" y="1769012"/>
            <a:ext cx="22479002" cy="1089529"/>
          </a:xfrm>
          <a:prstGeom prst="rect">
            <a:avLst/>
          </a:prstGeom>
          <a:noFill/>
        </p:spPr>
        <p:txBody>
          <a:bodyPr wrap="square" rtlCol="0">
            <a:spAutoFit/>
          </a:bodyPr>
          <a:lstStyle/>
          <a:p>
            <a:r>
              <a:rPr lang="zh-CN" altLang="en-US" sz="3600">
                <a:latin typeface="微软雅黑 Light" panose="020B0502040204020203" pitchFamily="34" charset="-122"/>
                <a:ea typeface="微软雅黑 Light" panose="020B0502040204020203" pitchFamily="34" charset="-122"/>
                <a:sym typeface="Wingdings" panose="05000000000000000000" pitchFamily="2" charset="2"/>
              </a:rPr>
              <a:t>各个大模型平台的</a:t>
            </a:r>
            <a:r>
              <a:rPr lang="en-US" altLang="zh-CN" sz="3600">
                <a:latin typeface="微软雅黑 Light" panose="020B0502040204020203" pitchFamily="34" charset="-122"/>
                <a:ea typeface="微软雅黑 Light" panose="020B0502040204020203" pitchFamily="34" charset="-122"/>
                <a:sym typeface="Wingdings" panose="05000000000000000000" pitchFamily="2" charset="2"/>
              </a:rPr>
              <a:t>API-KEY</a:t>
            </a:r>
            <a:r>
              <a:rPr lang="zh-CN" altLang="en-US" sz="3600">
                <a:latin typeface="微软雅黑 Light" panose="020B0502040204020203" pitchFamily="34" charset="-122"/>
                <a:ea typeface="微软雅黑 Light" panose="020B0502040204020203" pitchFamily="34" charset="-122"/>
                <a:sym typeface="Wingdings" panose="05000000000000000000" pitchFamily="2" charset="2"/>
              </a:rPr>
              <a:t>请自行申请，喜欢哪个平台就用哪个平台</a:t>
            </a:r>
            <a:r>
              <a:rPr lang="en-US" altLang="zh-CN" sz="3600">
                <a:latin typeface="微软雅黑 Light" panose="020B0502040204020203" pitchFamily="34" charset="-122"/>
                <a:ea typeface="微软雅黑 Light" panose="020B0502040204020203" pitchFamily="34" charset="-122"/>
                <a:sym typeface="Wingdings" panose="05000000000000000000" pitchFamily="2" charset="2"/>
              </a:rPr>
              <a:t>(</a:t>
            </a:r>
            <a:r>
              <a:rPr lang="zh-CN" altLang="en-US" sz="3600">
                <a:latin typeface="微软雅黑 Light" panose="020B0502040204020203" pitchFamily="34" charset="-122"/>
                <a:ea typeface="微软雅黑 Light" panose="020B0502040204020203" pitchFamily="34" charset="-122"/>
                <a:sym typeface="Wingdings" panose="05000000000000000000" pitchFamily="2" charset="2"/>
              </a:rPr>
              <a:t>建议阿里云百炼、腾讯混元</a:t>
            </a:r>
            <a:r>
              <a:rPr lang="en-US" altLang="zh-CN" sz="3600">
                <a:latin typeface="微软雅黑 Light" panose="020B0502040204020203" pitchFamily="34" charset="-122"/>
                <a:ea typeface="微软雅黑 Light" panose="020B0502040204020203" pitchFamily="34" charset="-122"/>
                <a:sym typeface="Wingdings" panose="05000000000000000000" pitchFamily="2" charset="2"/>
              </a:rPr>
              <a:t>)</a:t>
            </a:r>
            <a:r>
              <a:rPr lang="zh-CN" altLang="en-US" sz="3600">
                <a:latin typeface="微软雅黑 Light" panose="020B0502040204020203" pitchFamily="34" charset="-122"/>
                <a:ea typeface="微软雅黑 Light" panose="020B0502040204020203" pitchFamily="34" charset="-122"/>
                <a:sym typeface="Wingdings" panose="05000000000000000000" pitchFamily="2" charset="2"/>
              </a:rPr>
              <a:t>。从安全角度考虑，</a:t>
            </a:r>
            <a:r>
              <a:rPr lang="en-US" altLang="zh-CN" sz="3600">
                <a:latin typeface="微软雅黑 Light" panose="020B0502040204020203" pitchFamily="34" charset="-122"/>
                <a:ea typeface="微软雅黑 Light" panose="020B0502040204020203" pitchFamily="34" charset="-122"/>
                <a:sym typeface="Wingdings" panose="05000000000000000000" pitchFamily="2" charset="2"/>
              </a:rPr>
              <a:t> API-KEY</a:t>
            </a:r>
            <a:r>
              <a:rPr lang="zh-CN" altLang="en-US" sz="3600">
                <a:latin typeface="微软雅黑 Light" panose="020B0502040204020203" pitchFamily="34" charset="-122"/>
                <a:ea typeface="微软雅黑 Light" panose="020B0502040204020203" pitchFamily="34" charset="-122"/>
                <a:sym typeface="Wingdings" panose="05000000000000000000" pitchFamily="2" charset="2"/>
              </a:rPr>
              <a:t>统一放在操作系统的系统变量中，代码中读取</a:t>
            </a:r>
            <a:r>
              <a:rPr lang="en-US" altLang="zh-CN" sz="3600">
                <a:latin typeface="微软雅黑 Light" panose="020B0502040204020203" pitchFamily="34" charset="-122"/>
                <a:ea typeface="微软雅黑 Light" panose="020B0502040204020203" pitchFamily="34" charset="-122"/>
                <a:sym typeface="Wingdings" panose="05000000000000000000" pitchFamily="2" charset="2"/>
              </a:rPr>
              <a:t>API-KEY</a:t>
            </a:r>
            <a:r>
              <a:rPr lang="zh-CN" altLang="en-US" sz="3600">
                <a:latin typeface="微软雅黑 Light" panose="020B0502040204020203" pitchFamily="34" charset="-122"/>
                <a:ea typeface="微软雅黑 Light" panose="020B0502040204020203" pitchFamily="34" charset="-122"/>
                <a:sym typeface="Wingdings" panose="05000000000000000000" pitchFamily="2" charset="2"/>
              </a:rPr>
              <a:t>也会统一到操作系统的系统变量中读取</a:t>
            </a:r>
            <a:endParaRPr lang="en-US" altLang="zh-CN" sz="3600">
              <a:latin typeface="微软雅黑 Light" panose="020B0502040204020203" pitchFamily="34" charset="-122"/>
              <a:ea typeface="微软雅黑 Light" panose="020B0502040204020203" pitchFamily="34" charset="-122"/>
              <a:sym typeface="Wingdings" panose="05000000000000000000" pitchFamily="2" charset="2"/>
            </a:endParaRPr>
          </a:p>
        </p:txBody>
      </p:sp>
      <p:pic>
        <p:nvPicPr>
          <p:cNvPr id="6" name="图片 5"/>
          <p:cNvPicPr>
            <a:picLocks noChangeAspect="1"/>
          </p:cNvPicPr>
          <p:nvPr/>
        </p:nvPicPr>
        <p:blipFill>
          <a:blip r:embed="rId1"/>
          <a:stretch>
            <a:fillRect/>
          </a:stretch>
        </p:blipFill>
        <p:spPr>
          <a:xfrm>
            <a:off x="602442" y="3964641"/>
            <a:ext cx="7257464" cy="9153070"/>
          </a:xfrm>
          <a:prstGeom prst="rect">
            <a:avLst/>
          </a:prstGeom>
        </p:spPr>
      </p:pic>
      <p:pic>
        <p:nvPicPr>
          <p:cNvPr id="8" name="图片 7"/>
          <p:cNvPicPr>
            <a:picLocks noChangeAspect="1"/>
          </p:cNvPicPr>
          <p:nvPr/>
        </p:nvPicPr>
        <p:blipFill>
          <a:blip r:embed="rId2"/>
          <a:stretch>
            <a:fillRect/>
          </a:stretch>
        </p:blipFill>
        <p:spPr>
          <a:xfrm>
            <a:off x="8012354" y="3959019"/>
            <a:ext cx="7416382" cy="9158692"/>
          </a:xfrm>
          <a:prstGeom prst="rect">
            <a:avLst/>
          </a:prstGeom>
        </p:spPr>
      </p:pic>
      <p:pic>
        <p:nvPicPr>
          <p:cNvPr id="10" name="图片 9"/>
          <p:cNvPicPr>
            <a:picLocks noChangeAspect="1"/>
          </p:cNvPicPr>
          <p:nvPr/>
        </p:nvPicPr>
        <p:blipFill>
          <a:blip r:embed="rId3"/>
          <a:stretch>
            <a:fillRect/>
          </a:stretch>
        </p:blipFill>
        <p:spPr>
          <a:xfrm>
            <a:off x="15581184" y="3959019"/>
            <a:ext cx="8523637" cy="4422247"/>
          </a:xfrm>
          <a:prstGeom prst="rect">
            <a:avLst/>
          </a:prstGeom>
        </p:spPr>
      </p:pic>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normAutofit/>
          </a:bodyPr>
          <a:lstStyle/>
          <a:p>
            <a:pPr defTabSz="742950">
              <a:defRPr sz="4950"/>
            </a:pPr>
            <a:r>
              <a:rPr lang="zh-CN" altLang="en-US">
                <a:solidFill>
                  <a:srgbClr val="262C5B"/>
                </a:solidFill>
                <a:latin typeface=".萍方-简" panose="020B0300000000000000" charset="-122"/>
                <a:ea typeface=".萍方-简" panose="020B0300000000000000" charset="-122"/>
                <a:cs typeface="微软雅黑" panose="020B0503020204020204" pitchFamily="34" charset="-120"/>
                <a:sym typeface="+mn-ea"/>
              </a:rPr>
              <a:t>本阶段环境方式一</a:t>
            </a:r>
            <a:endParaRPr lang="zh-CN">
              <a:latin typeface=".萍方-简" panose="020B0300000000000000" charset="-122"/>
              <a:ea typeface=".萍方-简" panose="020B0300000000000000" charset="-122"/>
            </a:endParaRPr>
          </a:p>
        </p:txBody>
      </p:sp>
      <p:sp>
        <p:nvSpPr>
          <p:cNvPr id="4" name="TextBox 8"/>
          <p:cNvSpPr txBox="1"/>
          <p:nvPr/>
        </p:nvSpPr>
        <p:spPr>
          <a:xfrm>
            <a:off x="922864" y="1769012"/>
            <a:ext cx="23249467" cy="3815080"/>
          </a:xfrm>
          <a:prstGeom prst="rect">
            <a:avLst/>
          </a:prstGeom>
          <a:noFill/>
        </p:spPr>
        <p:txBody>
          <a:bodyPr wrap="square" rtlCol="0">
            <a:spAutoFit/>
          </a:bodyPr>
          <a:lstStyle/>
          <a:p>
            <a:r>
              <a:rPr lang="zh-CN" altLang="en-US" sz="3600">
                <a:latin typeface="微软雅黑 Light" panose="020B0502040204020203" pitchFamily="34" charset="-122"/>
                <a:ea typeface="微软雅黑 Light" panose="020B0502040204020203" pitchFamily="34" charset="-122"/>
              </a:rPr>
              <a:t>上课环境说明：</a:t>
            </a:r>
            <a:r>
              <a:rPr lang="en-US" altLang="zh-CN" sz="3600">
                <a:latin typeface="微软雅黑 Light" panose="020B0502040204020203" pitchFamily="34" charset="-122"/>
                <a:ea typeface="微软雅黑 Light" panose="020B0502040204020203" pitchFamily="34" charset="-122"/>
              </a:rPr>
              <a:t>Python</a:t>
            </a:r>
            <a:r>
              <a:rPr lang="zh-CN" altLang="en-US" sz="3600">
                <a:latin typeface="微软雅黑 Light" panose="020B0502040204020203" pitchFamily="34" charset="-122"/>
                <a:ea typeface="微软雅黑 Light" panose="020B0502040204020203" pitchFamily="34" charset="-122"/>
              </a:rPr>
              <a:t>版本 </a:t>
            </a:r>
            <a:r>
              <a:rPr lang="en-US" altLang="zh-CN" sz="3600">
                <a:latin typeface="微软雅黑 Light" panose="020B0502040204020203" pitchFamily="34" charset="-122"/>
                <a:ea typeface="微软雅黑 Light" panose="020B0502040204020203" pitchFamily="34" charset="-122"/>
              </a:rPr>
              <a:t>3.11</a:t>
            </a:r>
            <a:endParaRPr lang="en-US" altLang="zh-CN" sz="3600">
              <a:latin typeface="微软雅黑 Light" panose="020B0502040204020203" pitchFamily="34" charset="-122"/>
              <a:ea typeface="微软雅黑 Light" panose="020B0502040204020203" pitchFamily="34" charset="-122"/>
            </a:endParaRPr>
          </a:p>
          <a:p>
            <a:r>
              <a:rPr lang="zh-CN" altLang="en-US" sz="3600" b="1">
                <a:latin typeface="微软雅黑 Light" panose="020B0502040204020203" pitchFamily="34" charset="-122"/>
                <a:ea typeface="微软雅黑 Light" panose="020B0502040204020203" pitchFamily="34" charset="-122"/>
              </a:rPr>
              <a:t>方式一：</a:t>
            </a:r>
            <a:r>
              <a:rPr lang="zh-CN" altLang="en-US" sz="3600">
                <a:latin typeface="微软雅黑 Light" panose="020B0502040204020203" pitchFamily="34" charset="-122"/>
                <a:ea typeface="微软雅黑 Light" panose="020B0502040204020203" pitchFamily="34" charset="-122"/>
              </a:rPr>
              <a:t>安装的</a:t>
            </a:r>
            <a:r>
              <a:rPr lang="en-US" altLang="zh-CN" sz="3600">
                <a:latin typeface="微软雅黑 Light" panose="020B0502040204020203" pitchFamily="34" charset="-122"/>
                <a:ea typeface="微软雅黑 Light" panose="020B0502040204020203" pitchFamily="34" charset="-122"/>
              </a:rPr>
              <a:t>Python</a:t>
            </a:r>
            <a:r>
              <a:rPr lang="zh-CN" altLang="en-US" sz="3600">
                <a:latin typeface="微软雅黑 Light" panose="020B0502040204020203" pitchFamily="34" charset="-122"/>
                <a:ea typeface="微软雅黑 Light" panose="020B0502040204020203" pitchFamily="34" charset="-122"/>
              </a:rPr>
              <a:t>库：</a:t>
            </a:r>
            <a:endParaRPr lang="zh-CN" altLang="en-US" sz="3600">
              <a:latin typeface="微软雅黑 Light" panose="020B0502040204020203" pitchFamily="34" charset="-122"/>
              <a:ea typeface="微软雅黑 Light" panose="020B0502040204020203" pitchFamily="34" charset="-122"/>
            </a:endParaRPr>
          </a:p>
          <a:p>
            <a:endParaRPr lang="en-US" altLang="zh-CN" sz="3600">
              <a:latin typeface="微软雅黑 Light" panose="020B0502040204020203" pitchFamily="34" charset="-122"/>
              <a:ea typeface="微软雅黑 Light" panose="020B0502040204020203" pitchFamily="34" charset="-122"/>
              <a:sym typeface="Wingdings" panose="05000000000000000000" pitchFamily="2" charset="2"/>
            </a:endParaRPr>
          </a:p>
          <a:p>
            <a:r>
              <a:rPr lang="en-US" altLang="zh-CN" sz="3600">
                <a:latin typeface="微软雅黑 Light" panose="020B0502040204020203" pitchFamily="34" charset="-122"/>
                <a:ea typeface="微软雅黑 Light" panose="020B0502040204020203" pitchFamily="34" charset="-122"/>
                <a:sym typeface="Wingdings" panose="05000000000000000000" pitchFamily="2" charset="2"/>
              </a:rPr>
              <a:t>     </a:t>
            </a:r>
            <a:endParaRPr lang="en-US" altLang="zh-CN" sz="3600">
              <a:latin typeface="微软雅黑 Light" panose="020B0502040204020203" pitchFamily="34" charset="-122"/>
              <a:ea typeface="微软雅黑 Light" panose="020B0502040204020203" pitchFamily="34" charset="-122"/>
              <a:sym typeface="Wingdings" panose="05000000000000000000" pitchFamily="2" charset="2"/>
            </a:endParaRPr>
          </a:p>
        </p:txBody>
      </p:sp>
      <p:sp>
        <p:nvSpPr>
          <p:cNvPr id="2" name="TextBox 8"/>
          <p:cNvSpPr txBox="1"/>
          <p:nvPr/>
        </p:nvSpPr>
        <p:spPr>
          <a:xfrm>
            <a:off x="1769110" y="3764915"/>
            <a:ext cx="22882225" cy="2588260"/>
          </a:xfrm>
          <a:prstGeom prst="rect">
            <a:avLst/>
          </a:prstGeom>
          <a:noFill/>
        </p:spPr>
        <p:txBody>
          <a:bodyPr wrap="square" rtlCol="0">
            <a:noAutofit/>
          </a:bodyPr>
          <a:lstStyle/>
          <a:p>
            <a:r>
              <a:rPr lang="en-US" altLang="zh-CN" sz="3600">
                <a:latin typeface="微软雅黑 Light" panose="020B0502040204020203" pitchFamily="34" charset="-122"/>
                <a:ea typeface="微软雅黑 Light" panose="020B0502040204020203" pitchFamily="34" charset="-122"/>
              </a:rPr>
              <a:t> 1.</a:t>
            </a:r>
            <a:r>
              <a:rPr lang="zh-CN" altLang="en-US" sz="3600">
                <a:latin typeface="微软雅黑 Light" panose="020B0502040204020203" pitchFamily="34" charset="-122"/>
                <a:ea typeface="微软雅黑 Light" panose="020B0502040204020203" pitchFamily="34" charset="-122"/>
              </a:rPr>
              <a:t>直接使用提供的</a:t>
            </a:r>
            <a:r>
              <a:rPr lang="en-US" altLang="zh-CN" sz="3600">
                <a:latin typeface="微软雅黑 Light" panose="020B0502040204020203" pitchFamily="34" charset="-122"/>
                <a:ea typeface="微软雅黑 Light" panose="020B0502040204020203" pitchFamily="34" charset="-122"/>
              </a:rPr>
              <a:t>requirements.txt</a:t>
            </a:r>
            <a:r>
              <a:rPr lang="zh-CN" altLang="en-US" sz="3600">
                <a:latin typeface="微软雅黑 Light" panose="020B0502040204020203" pitchFamily="34" charset="-122"/>
                <a:ea typeface="微软雅黑 Light" panose="020B0502040204020203" pitchFamily="34" charset="-122"/>
              </a:rPr>
              <a:t>一次性安装，可以</a:t>
            </a:r>
            <a:r>
              <a:rPr lang="zh-CN" altLang="en-US" sz="3600" b="1">
                <a:solidFill>
                  <a:schemeClr val="accent5">
                    <a:lumMod val="50000"/>
                  </a:schemeClr>
                </a:solidFill>
                <a:latin typeface="微软雅黑 Light" panose="020B0502040204020203" pitchFamily="34" charset="-122"/>
                <a:ea typeface="微软雅黑 Light" panose="020B0502040204020203" pitchFamily="34" charset="-122"/>
              </a:rPr>
              <a:t>在</a:t>
            </a:r>
            <a:r>
              <a:rPr lang="zh-CN" altLang="en-US" sz="3600" b="1">
                <a:solidFill>
                  <a:schemeClr val="accent5">
                    <a:lumMod val="50000"/>
                  </a:schemeClr>
                </a:solidFill>
                <a:latin typeface="微软雅黑" panose="020B0503020204020204" pitchFamily="34" charset="-122"/>
                <a:ea typeface="微软雅黑" panose="020B0503020204020204" pitchFamily="34" charset="-122"/>
              </a:rPr>
              <a:t>项目的虚拟环境</a:t>
            </a:r>
            <a:r>
              <a:rPr lang="zh-CN" altLang="en-US" sz="3600" b="1">
                <a:solidFill>
                  <a:schemeClr val="accent5">
                    <a:lumMod val="50000"/>
                  </a:schemeClr>
                </a:solidFill>
                <a:latin typeface="微软雅黑 Light" panose="020B0502040204020203" pitchFamily="34" charset="-122"/>
                <a:ea typeface="微软雅黑 Light" panose="020B0502040204020203" pitchFamily="34" charset="-122"/>
              </a:rPr>
              <a:t>中执行 </a:t>
            </a:r>
            <a:r>
              <a:rPr lang="en-US" altLang="zh-CN" sz="3600" b="1">
                <a:solidFill>
                  <a:schemeClr val="accent5">
                    <a:lumMod val="50000"/>
                  </a:schemeClr>
                </a:solidFill>
                <a:latin typeface="微软雅黑 Light" panose="020B0502040204020203" pitchFamily="34" charset="-122"/>
                <a:ea typeface="微软雅黑 Light" panose="020B0502040204020203" pitchFamily="34" charset="-122"/>
              </a:rPr>
              <a:t>pip install -r requirements.txt</a:t>
            </a:r>
            <a:endParaRPr lang="en-US" altLang="zh-CN" sz="3600" b="1">
              <a:solidFill>
                <a:schemeClr val="accent5">
                  <a:lumMod val="50000"/>
                </a:schemeClr>
              </a:solidFill>
              <a:latin typeface="微软雅黑 Light" panose="020B0502040204020203" pitchFamily="34" charset="-122"/>
              <a:ea typeface="微软雅黑 Light" panose="020B0502040204020203" pitchFamily="34" charset="-122"/>
            </a:endParaRPr>
          </a:p>
          <a:p>
            <a:r>
              <a:rPr lang="en-US" altLang="zh-CN" sz="3600">
                <a:latin typeface="微软雅黑 Light" panose="020B0502040204020203" pitchFamily="34" charset="-122"/>
                <a:ea typeface="微软雅黑 Light" panose="020B0502040204020203" pitchFamily="34" charset="-122"/>
                <a:sym typeface="Wingdings" panose="05000000000000000000" pitchFamily="2" charset="2"/>
              </a:rPr>
              <a:t> 2.</a:t>
            </a:r>
            <a:r>
              <a:rPr lang="zh-CN" altLang="en-US" sz="3600">
                <a:latin typeface="微软雅黑 Light" panose="020B0502040204020203" pitchFamily="34" charset="-122"/>
                <a:ea typeface="微软雅黑 Light" panose="020B0502040204020203" pitchFamily="34" charset="-122"/>
                <a:sym typeface="Wingdings" panose="05000000000000000000" pitchFamily="2" charset="2"/>
              </a:rPr>
              <a:t>课程的</a:t>
            </a:r>
            <a:r>
              <a:rPr lang="en-US" altLang="zh-CN" sz="3600">
                <a:latin typeface="微软雅黑 Light" panose="020B0502040204020203" pitchFamily="34" charset="-122"/>
                <a:ea typeface="微软雅黑 Light" panose="020B0502040204020203" pitchFamily="34" charset="-122"/>
                <a:sym typeface="+mn-ea"/>
              </a:rPr>
              <a:t>requirements.txt</a:t>
            </a:r>
            <a:r>
              <a:rPr lang="zh-CN" altLang="en-US" sz="3600">
                <a:latin typeface="微软雅黑 Light" panose="020B0502040204020203" pitchFamily="34" charset="-122"/>
                <a:ea typeface="微软雅黑 Light" panose="020B0502040204020203" pitchFamily="34" charset="-122"/>
                <a:sym typeface="+mn-ea"/>
              </a:rPr>
              <a:t>文件中包含了本阶段所需的所有依赖包（注意</a:t>
            </a:r>
            <a:r>
              <a:rPr lang="en-US" altLang="zh-CN" sz="3600">
                <a:latin typeface="微软雅黑 Light" panose="020B0502040204020203" pitchFamily="34" charset="-122"/>
                <a:ea typeface="微软雅黑 Light" panose="020B0502040204020203" pitchFamily="34" charset="-122"/>
                <a:sym typeface="+mn-ea"/>
              </a:rPr>
              <a:t>requirements.txt</a:t>
            </a:r>
            <a:r>
              <a:rPr lang="zh-CN" altLang="en-US" sz="3600">
                <a:latin typeface="微软雅黑 Light" panose="020B0502040204020203" pitchFamily="34" charset="-122"/>
                <a:ea typeface="微软雅黑 Light" panose="020B0502040204020203" pitchFamily="34" charset="-122"/>
                <a:sym typeface="+mn-ea"/>
              </a:rPr>
              <a:t>所在的目录是否正确）</a:t>
            </a:r>
            <a:endParaRPr lang="en-US" altLang="zh-CN" sz="3600">
              <a:latin typeface="微软雅黑 Light" panose="020B0502040204020203" pitchFamily="34" charset="-122"/>
              <a:ea typeface="微软雅黑 Light" panose="020B0502040204020203" pitchFamily="34" charset="-122"/>
              <a:sym typeface="+mn-ea"/>
            </a:endParaRPr>
          </a:p>
          <a:p>
            <a:endParaRPr lang="en-US" altLang="zh-CN" sz="3600">
              <a:latin typeface="微软雅黑 Light" panose="020B0502040204020203" pitchFamily="34" charset="-122"/>
              <a:ea typeface="微软雅黑 Light" panose="020B0502040204020203" pitchFamily="34" charset="-122"/>
              <a:sym typeface="Wingdings" panose="05000000000000000000" pitchFamily="2" charset="2"/>
            </a:endParaRPr>
          </a:p>
          <a:p>
            <a:endParaRPr lang="en-US" altLang="zh-CN" sz="3600" b="1">
              <a:solidFill>
                <a:schemeClr val="accent5">
                  <a:lumMod val="50000"/>
                </a:schemeClr>
              </a:solidFill>
              <a:latin typeface="微软雅黑 Light" panose="020B0502040204020203" pitchFamily="34" charset="-122"/>
              <a:ea typeface="微软雅黑 Light" panose="020B0502040204020203" pitchFamily="34" charset="-122"/>
              <a:sym typeface="Wingdings" panose="05000000000000000000" pitchFamily="2" charset="2"/>
            </a:endParaRPr>
          </a:p>
        </p:txBody>
      </p:sp>
      <p:pic>
        <p:nvPicPr>
          <p:cNvPr id="11" name="图片 10"/>
          <p:cNvPicPr>
            <a:picLocks noChangeAspect="1"/>
          </p:cNvPicPr>
          <p:nvPr/>
        </p:nvPicPr>
        <p:blipFill>
          <a:blip r:embed="rId1"/>
          <a:stretch>
            <a:fillRect/>
          </a:stretch>
        </p:blipFill>
        <p:spPr>
          <a:xfrm>
            <a:off x="3124200" y="5584190"/>
            <a:ext cx="15245080" cy="7773670"/>
          </a:xfrm>
          <a:prstGeom prst="rect">
            <a:avLst/>
          </a:prstGeom>
        </p:spPr>
      </p:pic>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normAutofit/>
          </a:bodyPr>
          <a:lstStyle/>
          <a:p>
            <a:pPr defTabSz="742950">
              <a:defRPr sz="4950"/>
            </a:pPr>
            <a:r>
              <a:rPr lang="zh-CN" altLang="en-US">
                <a:solidFill>
                  <a:srgbClr val="262C5B"/>
                </a:solidFill>
                <a:latin typeface=".萍方-简" panose="020B0300000000000000" charset="-122"/>
                <a:ea typeface=".萍方-简" panose="020B0300000000000000" charset="-122"/>
                <a:cs typeface="微软雅黑" panose="020B0503020204020204" pitchFamily="34" charset="-120"/>
                <a:sym typeface="+mn-ea"/>
              </a:rPr>
              <a:t>本阶段环境方式二</a:t>
            </a:r>
            <a:endParaRPr lang="zh-CN">
              <a:latin typeface=".萍方-简" panose="020B0300000000000000" charset="-122"/>
              <a:ea typeface=".萍方-简" panose="020B0300000000000000" charset="-122"/>
            </a:endParaRPr>
          </a:p>
        </p:txBody>
      </p:sp>
      <p:pic>
        <p:nvPicPr>
          <p:cNvPr id="3" name="图片 2"/>
          <p:cNvPicPr>
            <a:picLocks noChangeAspect="1"/>
          </p:cNvPicPr>
          <p:nvPr/>
        </p:nvPicPr>
        <p:blipFill>
          <a:blip r:embed="rId1"/>
          <a:stretch>
            <a:fillRect/>
          </a:stretch>
        </p:blipFill>
        <p:spPr>
          <a:xfrm>
            <a:off x="2559555" y="3571026"/>
            <a:ext cx="6350750" cy="7356661"/>
          </a:xfrm>
          <a:prstGeom prst="rect">
            <a:avLst/>
          </a:prstGeom>
        </p:spPr>
      </p:pic>
      <p:sp>
        <p:nvSpPr>
          <p:cNvPr id="6" name="TextBox 8"/>
          <p:cNvSpPr txBox="1"/>
          <p:nvPr/>
        </p:nvSpPr>
        <p:spPr>
          <a:xfrm>
            <a:off x="922864" y="1769012"/>
            <a:ext cx="23249467" cy="589280"/>
          </a:xfrm>
          <a:prstGeom prst="rect">
            <a:avLst/>
          </a:prstGeom>
          <a:noFill/>
        </p:spPr>
        <p:txBody>
          <a:bodyPr wrap="square" rtlCol="0">
            <a:spAutoFit/>
          </a:bodyPr>
          <a:lstStyle/>
          <a:p>
            <a:r>
              <a:rPr lang="zh-CN" altLang="en-US" sz="3600" b="1">
                <a:latin typeface="微软雅黑 Light" panose="020B0502040204020203" pitchFamily="34" charset="-122"/>
                <a:ea typeface="微软雅黑 Light" panose="020B0502040204020203" pitchFamily="34" charset="-122"/>
                <a:sym typeface="Wingdings" panose="05000000000000000000" pitchFamily="2" charset="2"/>
              </a:rPr>
              <a:t>方式二：</a:t>
            </a:r>
            <a:r>
              <a:rPr lang="zh-CN" altLang="en-US" sz="3600">
                <a:latin typeface="微软雅黑 Light" panose="020B0502040204020203" pitchFamily="34" charset="-122"/>
                <a:ea typeface="微软雅黑 Light" panose="020B0502040204020203" pitchFamily="34" charset="-122"/>
                <a:sym typeface="Wingdings" panose="05000000000000000000" pitchFamily="2" charset="2"/>
              </a:rPr>
              <a:t>导入本地代码：选择你在本地存放代码的目录，并确定和“信任项目”</a:t>
            </a:r>
            <a:endParaRPr lang="en-US" altLang="zh-CN" sz="3600">
              <a:latin typeface="微软雅黑 Light" panose="020B0502040204020203" pitchFamily="34" charset="-122"/>
              <a:ea typeface="微软雅黑 Light" panose="020B0502040204020203" pitchFamily="34" charset="-122"/>
              <a:sym typeface="Wingdings" panose="05000000000000000000" pitchFamily="2" charset="2"/>
            </a:endParaRPr>
          </a:p>
        </p:txBody>
      </p:sp>
      <p:pic>
        <p:nvPicPr>
          <p:cNvPr id="8" name="图片 7"/>
          <p:cNvPicPr>
            <a:picLocks noChangeAspect="1"/>
          </p:cNvPicPr>
          <p:nvPr/>
        </p:nvPicPr>
        <p:blipFill>
          <a:blip r:embed="rId2"/>
          <a:stretch>
            <a:fillRect/>
          </a:stretch>
        </p:blipFill>
        <p:spPr>
          <a:xfrm>
            <a:off x="11217757" y="4468329"/>
            <a:ext cx="9757823" cy="4779342"/>
          </a:xfrm>
          <a:prstGeom prst="rect">
            <a:avLst/>
          </a:prstGeom>
        </p:spPr>
      </p:pic>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normAutofit/>
          </a:bodyPr>
          <a:lstStyle/>
          <a:p>
            <a:pPr defTabSz="742950">
              <a:defRPr sz="4950"/>
            </a:pPr>
            <a:r>
              <a:rPr lang="zh-CN" altLang="en-US">
                <a:solidFill>
                  <a:srgbClr val="262C5B"/>
                </a:solidFill>
                <a:latin typeface=".萍方-简" panose="020B0300000000000000" charset="-122"/>
                <a:ea typeface=".萍方-简" panose="020B0300000000000000" charset="-122"/>
                <a:cs typeface="微软雅黑" panose="020B0503020204020204" pitchFamily="34" charset="-120"/>
                <a:sym typeface="+mn-ea"/>
              </a:rPr>
              <a:t>本阶段环境</a:t>
            </a:r>
            <a:endParaRPr lang="zh-CN">
              <a:latin typeface=".萍方-简" panose="020B0300000000000000" charset="-122"/>
              <a:ea typeface=".萍方-简" panose="020B0300000000000000" charset="-122"/>
            </a:endParaRPr>
          </a:p>
        </p:txBody>
      </p:sp>
      <p:pic>
        <p:nvPicPr>
          <p:cNvPr id="11" name="图片 10"/>
          <p:cNvPicPr>
            <a:picLocks noChangeAspect="1"/>
          </p:cNvPicPr>
          <p:nvPr/>
        </p:nvPicPr>
        <p:blipFill>
          <a:blip r:embed="rId1"/>
          <a:stretch>
            <a:fillRect/>
          </a:stretch>
        </p:blipFill>
        <p:spPr>
          <a:xfrm>
            <a:off x="2857044" y="3105613"/>
            <a:ext cx="10310363" cy="4289713"/>
          </a:xfrm>
          <a:prstGeom prst="rect">
            <a:avLst/>
          </a:prstGeom>
        </p:spPr>
      </p:pic>
      <p:sp>
        <p:nvSpPr>
          <p:cNvPr id="12" name="TextBox 8"/>
          <p:cNvSpPr txBox="1"/>
          <p:nvPr/>
        </p:nvSpPr>
        <p:spPr>
          <a:xfrm>
            <a:off x="734946" y="2018059"/>
            <a:ext cx="22366593" cy="1089529"/>
          </a:xfrm>
          <a:prstGeom prst="rect">
            <a:avLst/>
          </a:prstGeom>
          <a:noFill/>
        </p:spPr>
        <p:txBody>
          <a:bodyPr wrap="square" rtlCol="0">
            <a:spAutoFit/>
          </a:bodyPr>
          <a:lstStyle/>
          <a:p>
            <a:r>
              <a:rPr lang="zh-CN" altLang="en-US" sz="3600">
                <a:latin typeface="微软雅黑 Light" panose="020B0502040204020203" pitchFamily="34" charset="-122"/>
                <a:ea typeface="微软雅黑 Light" panose="020B0502040204020203" pitchFamily="34" charset="-122"/>
                <a:sym typeface="Wingdings" panose="05000000000000000000" pitchFamily="2" charset="2"/>
              </a:rPr>
              <a:t>确定后</a:t>
            </a:r>
            <a:r>
              <a:rPr lang="en-US" altLang="zh-CN" sz="3600">
                <a:latin typeface="微软雅黑 Light" panose="020B0502040204020203" pitchFamily="34" charset="-122"/>
                <a:ea typeface="微软雅黑 Light" panose="020B0502040204020203" pitchFamily="34" charset="-122"/>
                <a:sym typeface="Wingdings" panose="05000000000000000000" pitchFamily="2" charset="2"/>
              </a:rPr>
              <a:t>Pycharm</a:t>
            </a:r>
            <a:r>
              <a:rPr lang="zh-CN" altLang="en-US" sz="3600">
                <a:latin typeface="微软雅黑 Light" panose="020B0502040204020203" pitchFamily="34" charset="-122"/>
                <a:ea typeface="微软雅黑 Light" panose="020B0502040204020203" pitchFamily="34" charset="-122"/>
                <a:sym typeface="Wingdings" panose="05000000000000000000" pitchFamily="2" charset="2"/>
              </a:rPr>
              <a:t>会自动创建虚拟环境并自动执行 </a:t>
            </a:r>
            <a:r>
              <a:rPr lang="en-US" altLang="zh-CN" sz="3600">
                <a:latin typeface="微软雅黑 Light" panose="020B0502040204020203" pitchFamily="34" charset="-122"/>
                <a:ea typeface="微软雅黑 Light" panose="020B0502040204020203" pitchFamily="34" charset="-122"/>
                <a:sym typeface="Wingdings" panose="05000000000000000000" pitchFamily="2" charset="2"/>
              </a:rPr>
              <a:t>pip install -r requirements.txt </a:t>
            </a:r>
            <a:r>
              <a:rPr lang="zh-CN" altLang="en-US" sz="3600">
                <a:latin typeface="微软雅黑 Light" panose="020B0502040204020203" pitchFamily="34" charset="-122"/>
                <a:ea typeface="微软雅黑 Light" panose="020B0502040204020203" pitchFamily="34" charset="-122"/>
                <a:sym typeface="Wingdings" panose="05000000000000000000" pitchFamily="2" charset="2"/>
              </a:rPr>
              <a:t>下载软件包，静静等待下载完成即可</a:t>
            </a:r>
            <a:endParaRPr lang="en-US" altLang="zh-CN" sz="3600">
              <a:latin typeface="微软雅黑 Light" panose="020B0502040204020203" pitchFamily="34" charset="-122"/>
              <a:ea typeface="微软雅黑 Light" panose="020B0502040204020203" pitchFamily="34" charset="-122"/>
              <a:sym typeface="Wingdings" panose="05000000000000000000" pitchFamily="2" charset="2"/>
            </a:endParaRPr>
          </a:p>
        </p:txBody>
      </p:sp>
      <p:pic>
        <p:nvPicPr>
          <p:cNvPr id="14" name="图片 13"/>
          <p:cNvPicPr>
            <a:picLocks noChangeAspect="1"/>
          </p:cNvPicPr>
          <p:nvPr/>
        </p:nvPicPr>
        <p:blipFill>
          <a:blip r:embed="rId2"/>
          <a:stretch>
            <a:fillRect/>
          </a:stretch>
        </p:blipFill>
        <p:spPr>
          <a:xfrm>
            <a:off x="5849313" y="7446310"/>
            <a:ext cx="8727956" cy="1899347"/>
          </a:xfrm>
          <a:prstGeom prst="rect">
            <a:avLst/>
          </a:prstGeom>
        </p:spPr>
      </p:pic>
      <p:sp>
        <p:nvSpPr>
          <p:cNvPr id="15" name="TextBox 8"/>
          <p:cNvSpPr txBox="1"/>
          <p:nvPr/>
        </p:nvSpPr>
        <p:spPr>
          <a:xfrm>
            <a:off x="734947" y="8703742"/>
            <a:ext cx="15490964" cy="590931"/>
          </a:xfrm>
          <a:prstGeom prst="rect">
            <a:avLst/>
          </a:prstGeom>
          <a:noFill/>
        </p:spPr>
        <p:txBody>
          <a:bodyPr wrap="square" rtlCol="0">
            <a:spAutoFit/>
          </a:bodyPr>
          <a:lstStyle/>
          <a:p>
            <a:r>
              <a:rPr lang="en-US" altLang="zh-CN" sz="3600">
                <a:latin typeface="微软雅黑 Light" panose="020B0502040204020203" pitchFamily="34" charset="-122"/>
                <a:ea typeface="微软雅黑 Light" panose="020B0502040204020203" pitchFamily="34" charset="-122"/>
                <a:sym typeface="Wingdings" panose="05000000000000000000" pitchFamily="2" charset="2"/>
              </a:rPr>
              <a:t>Pycharm</a:t>
            </a:r>
            <a:r>
              <a:rPr lang="zh-CN" altLang="en-US" sz="3600">
                <a:latin typeface="微软雅黑 Light" panose="020B0502040204020203" pitchFamily="34" charset="-122"/>
                <a:ea typeface="微软雅黑 Light" panose="020B0502040204020203" pitchFamily="34" charset="-122"/>
                <a:sym typeface="Wingdings" panose="05000000000000000000" pitchFamily="2" charset="2"/>
              </a:rPr>
              <a:t>右下角会有进度提示：</a:t>
            </a:r>
            <a:endParaRPr lang="en-US" altLang="zh-CN" sz="3600">
              <a:latin typeface="微软雅黑 Light" panose="020B0502040204020203" pitchFamily="34" charset="-122"/>
              <a:ea typeface="微软雅黑 Light" panose="020B0502040204020203" pitchFamily="34" charset="-122"/>
              <a:sym typeface="Wingdings" panose="05000000000000000000" pitchFamily="2" charset="2"/>
            </a:endParaRPr>
          </a:p>
        </p:txBody>
      </p:sp>
      <p:sp>
        <p:nvSpPr>
          <p:cNvPr id="2" name="TextBox 8"/>
          <p:cNvSpPr txBox="1"/>
          <p:nvPr/>
        </p:nvSpPr>
        <p:spPr>
          <a:xfrm>
            <a:off x="734947" y="10530443"/>
            <a:ext cx="15490964" cy="590931"/>
          </a:xfrm>
          <a:prstGeom prst="rect">
            <a:avLst/>
          </a:prstGeom>
          <a:noFill/>
        </p:spPr>
        <p:txBody>
          <a:bodyPr wrap="square" rtlCol="0">
            <a:spAutoFit/>
          </a:bodyPr>
          <a:lstStyle/>
          <a:p>
            <a:r>
              <a:rPr lang="zh-CN" altLang="en-US" sz="3600">
                <a:latin typeface="微软雅黑 Light" panose="020B0502040204020203" pitchFamily="34" charset="-122"/>
                <a:ea typeface="微软雅黑 Light" panose="020B0502040204020203" pitchFamily="34" charset="-122"/>
                <a:sym typeface="Wingdings" panose="05000000000000000000" pitchFamily="2" charset="2"/>
              </a:rPr>
              <a:t>此时就不再需要自己手动执行 </a:t>
            </a:r>
            <a:r>
              <a:rPr lang="en-US" altLang="zh-CN" sz="3600">
                <a:latin typeface="微软雅黑 Light" panose="020B0502040204020203" pitchFamily="34" charset="-122"/>
                <a:ea typeface="微软雅黑 Light" panose="020B0502040204020203" pitchFamily="34" charset="-122"/>
                <a:sym typeface="Wingdings" panose="05000000000000000000" pitchFamily="2" charset="2"/>
              </a:rPr>
              <a:t>pip install -r requirements.txt </a:t>
            </a:r>
            <a:r>
              <a:rPr lang="zh-CN" altLang="en-US" sz="3600">
                <a:latin typeface="微软雅黑 Light" panose="020B0502040204020203" pitchFamily="34" charset="-122"/>
                <a:ea typeface="微软雅黑 Light" panose="020B0502040204020203" pitchFamily="34" charset="-122"/>
                <a:sym typeface="Wingdings" panose="05000000000000000000" pitchFamily="2" charset="2"/>
              </a:rPr>
              <a:t>了</a:t>
            </a:r>
            <a:endParaRPr lang="en-US" altLang="zh-CN" sz="3600">
              <a:latin typeface="微软雅黑 Light" panose="020B0502040204020203" pitchFamily="34" charset="-122"/>
              <a:ea typeface="微软雅黑 Light" panose="020B0502040204020203" pitchFamily="34" charset="-122"/>
              <a:sym typeface="Wingdings" panose="05000000000000000000" pitchFamily="2" charset="2"/>
            </a:endParaRP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成组"/>
          <p:cNvGrpSpPr/>
          <p:nvPr/>
        </p:nvGrpSpPr>
        <p:grpSpPr>
          <a:xfrm>
            <a:off x="3672743" y="3507853"/>
            <a:ext cx="17038512" cy="4650775"/>
            <a:chOff x="-1" y="0"/>
            <a:chExt cx="17038510" cy="4650773"/>
          </a:xfrm>
        </p:grpSpPr>
        <p:sp>
          <p:nvSpPr>
            <p:cNvPr id="70" name="智泊AI大模型实战课"/>
            <p:cNvSpPr txBox="1"/>
            <p:nvPr/>
          </p:nvSpPr>
          <p:spPr>
            <a:xfrm>
              <a:off x="0" y="0"/>
              <a:ext cx="17038509" cy="1270000"/>
            </a:xfrm>
            <a:prstGeom prst="rect">
              <a:avLst/>
            </a:prstGeom>
            <a:noFill/>
            <a:ln w="12700" cap="flat">
              <a:noFill/>
              <a:miter lim="400000"/>
            </a:ln>
            <a:effectLst/>
          </p:spPr>
          <p:txBody>
            <a:bodyPr wrap="square" lIns="0" tIns="0" rIns="0" bIns="0" numCol="1" anchor="t">
              <a:noAutofit/>
            </a:bodyPr>
            <a:lstStyle>
              <a:lvl1pPr algn="ctr" defTabSz="914400">
                <a:lnSpc>
                  <a:spcPct val="100000"/>
                </a:lnSpc>
                <a:spcBef>
                  <a:spcPts val="0"/>
                </a:spcBef>
                <a:defRPr sz="7200" spc="3096">
                  <a:solidFill>
                    <a:srgbClr val="FFFFFF"/>
                  </a:solidFill>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1pPr>
            </a:lstStyle>
            <a:p>
              <a:r>
                <a:rPr>
                  <a:latin typeface=".萍方-简" panose="020B0300000000000000" charset="-122"/>
                  <a:ea typeface=".萍方-简" panose="020B0300000000000000" charset="-122"/>
                  <a:cs typeface=".萍方-简" panose="020B0300000000000000" charset="-122"/>
                </a:rPr>
                <a:t>智泊AI大模型实战课</a:t>
              </a:r>
              <a:endParaRPr>
                <a:latin typeface=".萍方-简" panose="020B0300000000000000" charset="-122"/>
                <a:ea typeface=".萍方-简" panose="020B0300000000000000" charset="-122"/>
                <a:cs typeface=".萍方-简" panose="020B0300000000000000" charset="-122"/>
              </a:endParaRPr>
            </a:p>
          </p:txBody>
        </p:sp>
        <p:sp>
          <p:nvSpPr>
            <p:cNvPr id="71" name="这里是本节课程的课题"/>
            <p:cNvSpPr txBox="1"/>
            <p:nvPr/>
          </p:nvSpPr>
          <p:spPr>
            <a:xfrm>
              <a:off x="-1" y="1551972"/>
              <a:ext cx="17038510" cy="3098801"/>
            </a:xfrm>
            <a:prstGeom prst="rect">
              <a:avLst/>
            </a:prstGeom>
            <a:noFill/>
            <a:ln w="12700" cap="flat">
              <a:noFill/>
              <a:miter lim="400000"/>
            </a:ln>
            <a:effectLst/>
          </p:spPr>
          <p:txBody>
            <a:bodyPr wrap="square" lIns="0" tIns="0" rIns="0" bIns="0" numCol="1" anchor="t">
              <a:noAutofit/>
            </a:bodyPr>
            <a:lstStyle>
              <a:lvl1pPr algn="ctr" defTabSz="914400">
                <a:lnSpc>
                  <a:spcPct val="100000"/>
                </a:lnSpc>
                <a:spcBef>
                  <a:spcPts val="0"/>
                </a:spcBef>
                <a:defRPr sz="8800" spc="968">
                  <a:solidFill>
                    <a:srgbClr val="FFFFF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1pPr>
            </a:lstStyle>
            <a:p>
              <a:r>
                <a:rPr lang="en-US" altLang="zh-CN">
                  <a:latin typeface=".萍方-简" panose="020B0300000000000000" charset="-122"/>
                  <a:ea typeface=".萍方-简" panose="020B0300000000000000" charset="-122"/>
                </a:rPr>
                <a:t>LangChain V1.0</a:t>
              </a:r>
              <a:r>
                <a:rPr lang="zh-CN" altLang="en-US">
                  <a:latin typeface=".萍方-简" panose="020B0300000000000000" charset="-122"/>
                  <a:ea typeface=".萍方-简" panose="020B0300000000000000" charset="-122"/>
                </a:rPr>
                <a:t>入门</a:t>
              </a:r>
              <a:endParaRPr lang="zh-CN" altLang="en-US">
                <a:latin typeface=".萍方-简" panose="020B0300000000000000" charset="-122"/>
                <a:ea typeface=".萍方-简" panose="020B0300000000000000" charset="-122"/>
              </a:endParaRPr>
            </a:p>
            <a:p>
              <a:endParaRPr lang="zh-CN" altLang="en-US">
                <a:latin typeface=".萍方-简" panose="020B0300000000000000" charset="-122"/>
                <a:ea typeface=".萍方-简" panose="020B0300000000000000" charset="-122"/>
              </a:endParaRPr>
            </a:p>
            <a:p>
              <a:endParaRPr lang="zh-CN">
                <a:latin typeface=".萍方-简" panose="020B0300000000000000" charset="-122"/>
                <a:ea typeface=".萍方-简" panose="020B0300000000000000" charset="-122"/>
              </a:endParaRPr>
            </a:p>
          </p:txBody>
        </p:sp>
      </p:grpSp>
      <p:sp>
        <p:nvSpPr>
          <p:cNvPr id="74" name="主讲人：你的名字"/>
          <p:cNvSpPr txBox="1"/>
          <p:nvPr/>
        </p:nvSpPr>
        <p:spPr>
          <a:xfrm>
            <a:off x="7140115" y="9536107"/>
            <a:ext cx="10103770" cy="538480"/>
          </a:xfrm>
          <a:prstGeom prst="rect">
            <a:avLst/>
          </a:prstGeom>
          <a:ln w="12700">
            <a:miter lim="400000"/>
          </a:ln>
        </p:spPr>
        <p:txBody>
          <a:bodyPr lIns="0" tIns="0" rIns="0" bIns="0">
            <a:spAutoFit/>
          </a:bodyPr>
          <a:lstStyle/>
          <a:p>
            <a:pPr algn="ctr" defTabSz="914400">
              <a:lnSpc>
                <a:spcPct val="100000"/>
              </a:lnSpc>
              <a:spcBef>
                <a:spcPts val="0"/>
              </a:spcBef>
              <a:defRPr sz="3500">
                <a:solidFill>
                  <a:srgbClr val="FFFFF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t>主讲人：</a:t>
            </a:r>
            <a:r>
              <a:rPr lang="zh-CN" altLang="en-US"/>
              <a:t>大白老师</a:t>
            </a:r>
            <a:endParaRPr lang="zh-CN"/>
          </a:p>
        </p:txBody>
      </p:sp>
      <p:sp>
        <p:nvSpPr>
          <p:cNvPr id="75" name="MoPass「魔泊云」· 智泊AI人工智能研究院"/>
          <p:cNvSpPr txBox="1"/>
          <p:nvPr/>
        </p:nvSpPr>
        <p:spPr>
          <a:xfrm>
            <a:off x="7140115" y="10356559"/>
            <a:ext cx="10103770" cy="355601"/>
          </a:xfrm>
          <a:prstGeom prst="rect">
            <a:avLst/>
          </a:prstGeom>
          <a:ln w="12700">
            <a:miter lim="400000"/>
          </a:ln>
        </p:spPr>
        <p:txBody>
          <a:bodyPr lIns="0" tIns="0" rIns="0" bIns="0">
            <a:spAutoFit/>
          </a:bodyPr>
          <a:lstStyle>
            <a:lvl1pPr algn="ctr" defTabSz="914400">
              <a:lnSpc>
                <a:spcPct val="100000"/>
              </a:lnSpc>
              <a:spcBef>
                <a:spcPts val="0"/>
              </a:spcBef>
              <a:defRPr sz="2000">
                <a:solidFill>
                  <a:srgbClr val="FFFFFF"/>
                </a:solidFill>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1pPr>
          </a:lstStyle>
          <a:p>
            <a:r>
              <a:t>MoPass「魔泊云」· 智泊AI人工智能研究院</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这里是目录 1…"/>
          <p:cNvSpPr txBox="1">
            <a:spLocks noGrp="1"/>
          </p:cNvSpPr>
          <p:nvPr>
            <p:ph type="body" idx="1"/>
          </p:nvPr>
        </p:nvSpPr>
        <p:spPr>
          <a:xfrm>
            <a:off x="9703039" y="1636598"/>
            <a:ext cx="14308427" cy="9116070"/>
          </a:xfrm>
          <a:prstGeom prst="rect">
            <a:avLst/>
          </a:prstGeom>
        </p:spPr>
        <p:txBody>
          <a:bodyPr>
            <a:normAutofit lnSpcReduction="10000"/>
          </a:bodyPr>
          <a:lstStyle/>
          <a:p>
            <a:pPr>
              <a:buFont typeface="Wingdings" panose="05000000000000000000" charset="0"/>
              <a:buChar char=""/>
            </a:pPr>
            <a:r>
              <a:rPr lang="zh-CN" altLang="en-US" b="1">
                <a:solidFill>
                  <a:srgbClr val="002060"/>
                </a:solidFill>
                <a:latin typeface=".萍方-简" panose="020B0300000000000000" charset="-122"/>
                <a:ea typeface=".萍方-简" panose="020B0300000000000000" charset="-122"/>
                <a:cs typeface=".萍方-简" panose="020B0300000000000000" charset="-122"/>
                <a:sym typeface="+mn-ea"/>
              </a:rPr>
              <a:t>什么是</a:t>
            </a:r>
            <a:r>
              <a:rPr lang="en-US" altLang="zh-CN" b="1">
                <a:solidFill>
                  <a:srgbClr val="002060"/>
                </a:solidFill>
                <a:latin typeface=".萍方-简" panose="020B0300000000000000" charset="-122"/>
                <a:ea typeface=".萍方-简" panose="020B0300000000000000" charset="-122"/>
                <a:cs typeface=".萍方-简" panose="020B0300000000000000" charset="-122"/>
                <a:sym typeface="+mn-ea"/>
              </a:rPr>
              <a:t>LangChain V1.0</a:t>
            </a:r>
            <a:r>
              <a:rPr lang="zh-CN" altLang="en-US" b="1">
                <a:solidFill>
                  <a:srgbClr val="002060"/>
                </a:solidFill>
                <a:latin typeface=".萍方-简" panose="020B0300000000000000" charset="-122"/>
                <a:ea typeface=".萍方-简" panose="020B0300000000000000" charset="-122"/>
                <a:cs typeface=".萍方-简" panose="020B0300000000000000" charset="-122"/>
                <a:sym typeface="+mn-ea"/>
              </a:rPr>
              <a:t>？</a:t>
            </a:r>
            <a:endParaRPr lang="en-US" altLang="zh-CN" b="1">
              <a:solidFill>
                <a:srgbClr val="002060"/>
              </a:solidFill>
              <a:latin typeface=".萍方-简" panose="020B0300000000000000" charset="-122"/>
              <a:ea typeface=".萍方-简" panose="020B0300000000000000" charset="-122"/>
              <a:cs typeface=".萍方-简" panose="020B0300000000000000" charset="-122"/>
              <a:sym typeface="+mn-ea"/>
            </a:endParaRPr>
          </a:p>
          <a:p>
            <a:pPr>
              <a:buFont typeface="Wingdings" panose="05000000000000000000" charset="0"/>
              <a:buChar char=""/>
            </a:pPr>
            <a:r>
              <a:rPr lang="en-US" altLang="zh-CN" b="1">
                <a:solidFill>
                  <a:srgbClr val="002060"/>
                </a:solidFill>
                <a:latin typeface=".萍方-简" panose="020B0300000000000000" charset="-122"/>
                <a:ea typeface=".萍方-简" panose="020B0300000000000000" charset="-122"/>
                <a:cs typeface=".萍方-简" panose="020B0300000000000000" charset="-122"/>
                <a:sym typeface="+mn-ea"/>
              </a:rPr>
              <a:t>LangChain</a:t>
            </a:r>
            <a:r>
              <a:rPr lang="zh-CN" altLang="en-US" b="1">
                <a:solidFill>
                  <a:srgbClr val="002060"/>
                </a:solidFill>
                <a:latin typeface=".萍方-简" panose="020B0300000000000000" charset="-122"/>
                <a:ea typeface=".萍方-简" panose="020B0300000000000000" charset="-122"/>
                <a:cs typeface=".萍方-简" panose="020B0300000000000000" charset="-122"/>
                <a:sym typeface="+mn-ea"/>
              </a:rPr>
              <a:t>体系</a:t>
            </a:r>
            <a:endParaRPr lang="en-US" altLang="zh-CN" b="1">
              <a:solidFill>
                <a:srgbClr val="002060"/>
              </a:solidFill>
              <a:latin typeface=".萍方-简" panose="020B0300000000000000" charset="-122"/>
              <a:ea typeface=".萍方-简" panose="020B0300000000000000" charset="-122"/>
              <a:cs typeface=".萍方-简" panose="020B0300000000000000" charset="-122"/>
              <a:sym typeface="+mn-ea"/>
            </a:endParaRPr>
          </a:p>
          <a:p>
            <a:pPr>
              <a:buFont typeface="Wingdings" panose="05000000000000000000" charset="0"/>
              <a:buChar char=""/>
            </a:pPr>
            <a:r>
              <a:rPr lang="en-US" altLang="zh-CN" b="1">
                <a:solidFill>
                  <a:srgbClr val="002060"/>
                </a:solidFill>
                <a:latin typeface=".萍方-简" panose="020B0300000000000000" charset="-122"/>
                <a:ea typeface=".萍方-简" panose="020B0300000000000000" charset="-122"/>
                <a:cs typeface=".萍方-简" panose="020B0300000000000000" charset="-122"/>
                <a:sym typeface="+mn-ea"/>
              </a:rPr>
              <a:t>LangChain</a:t>
            </a:r>
            <a:r>
              <a:rPr lang="zh-CN" altLang="en-US" b="1">
                <a:solidFill>
                  <a:srgbClr val="002060"/>
                </a:solidFill>
                <a:latin typeface=".萍方-简" panose="020B0300000000000000" charset="-122"/>
                <a:ea typeface=".萍方-简" panose="020B0300000000000000" charset="-122"/>
                <a:cs typeface=".萍方-简" panose="020B0300000000000000" charset="-122"/>
                <a:sym typeface="+mn-ea"/>
              </a:rPr>
              <a:t>应用程序开发</a:t>
            </a:r>
            <a:endParaRPr lang="en-US" altLang="zh-CN" b="1">
              <a:solidFill>
                <a:srgbClr val="002060"/>
              </a:solidFill>
              <a:latin typeface=".萍方-简" panose="020B0300000000000000" charset="-122"/>
              <a:ea typeface=".萍方-简" panose="020B0300000000000000" charset="-122"/>
              <a:cs typeface=".萍方-简" panose="020B0300000000000000" charset="-122"/>
              <a:sym typeface="+mn-ea"/>
            </a:endParaRPr>
          </a:p>
          <a:p>
            <a:pPr marL="0" indent="0">
              <a:buFont typeface="Wingdings" panose="05000000000000000000" charset="0"/>
              <a:buNone/>
            </a:pPr>
            <a:r>
              <a:rPr lang="en-US" b="1" dirty="0">
                <a:solidFill>
                  <a:srgbClr val="002060"/>
                </a:solidFill>
                <a:latin typeface=".萍方-简" panose="020B0300000000000000" charset="-122"/>
                <a:ea typeface=".萍方-简" panose="020B0300000000000000" charset="-122"/>
                <a:cs typeface=".萍方-简" panose="020B0300000000000000" charset="-122"/>
              </a:rPr>
              <a:t>    </a:t>
            </a:r>
            <a:r>
              <a:rPr lang="zh-CN" altLang="en-US" b="1" dirty="0">
                <a:solidFill>
                  <a:srgbClr val="002060"/>
                </a:solidFill>
                <a:latin typeface=".萍方-简" panose="020B0300000000000000" charset="-122"/>
                <a:ea typeface=".萍方-简" panose="020B0300000000000000" charset="-122"/>
                <a:cs typeface=".萍方-简" panose="020B0300000000000000" charset="-122"/>
              </a:rPr>
              <a:t>提示词模板、输出解析器</a:t>
            </a:r>
            <a:endParaRPr lang="en-US" altLang="zh-CN" b="1" dirty="0">
              <a:solidFill>
                <a:srgbClr val="002060"/>
              </a:solidFill>
              <a:latin typeface=".萍方-简" panose="020B0300000000000000" charset="-122"/>
              <a:ea typeface=".萍方-简" panose="020B0300000000000000" charset="-122"/>
              <a:cs typeface=".萍方-简" panose="020B0300000000000000" charset="-122"/>
            </a:endParaRP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这里是章节一"/>
          <p:cNvSpPr txBox="1">
            <a:spLocks noGrp="1"/>
          </p:cNvSpPr>
          <p:nvPr>
            <p:ph type="title"/>
          </p:nvPr>
        </p:nvSpPr>
        <p:spPr>
          <a:xfrm>
            <a:off x="4700481" y="5206788"/>
            <a:ext cx="15958185" cy="2226945"/>
          </a:xfrm>
          <a:prstGeom prst="rect">
            <a:avLst/>
          </a:prstGeom>
        </p:spPr>
        <p:txBody>
          <a:bodyPr>
            <a:normAutofit/>
          </a:bodyPr>
          <a:lstStyle/>
          <a:p>
            <a:r>
              <a:rPr lang="zh-CN" altLang="en-US">
                <a:latin typeface=".萍方-简" panose="020B0300000000000000" charset="-122"/>
                <a:ea typeface=".萍方-简" panose="020B0300000000000000" charset="-122"/>
              </a:rPr>
              <a:t>什么是</a:t>
            </a:r>
            <a:r>
              <a:rPr lang="en-US" altLang="zh-CN">
                <a:latin typeface=".萍方-简" panose="020B0300000000000000" charset="-122"/>
                <a:ea typeface=".萍方-简" panose="020B0300000000000000" charset="-122"/>
              </a:rPr>
              <a:t>LangChain V1.0</a:t>
            </a:r>
            <a:r>
              <a:rPr lang="zh-CN" altLang="en-US">
                <a:latin typeface=".萍方-简" panose="020B0300000000000000" charset="-122"/>
                <a:ea typeface=".萍方-简" panose="020B0300000000000000" charset="-122"/>
              </a:rPr>
              <a:t>？</a:t>
            </a:r>
            <a:endParaRPr lang="zh-CN" altLang="en-US">
              <a:latin typeface=".萍方-简" panose="020B0300000000000000" charset="-122"/>
              <a:ea typeface=".萍方-简" panose="020B0300000000000000" charset="-122"/>
            </a:endParaRP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什么是</a:t>
            </a:r>
            <a:r>
              <a:rPr lang="en-US" altLang="zh-CN" b="1">
                <a:latin typeface=".萍方-简" panose="020B0300000000000000" charset="-122"/>
                <a:ea typeface=".萍方-简" panose="020B0300000000000000" charset="-122"/>
                <a:cs typeface=".萍方-简" panose="020B0300000000000000" charset="-122"/>
              </a:rPr>
              <a:t>LangChain</a:t>
            </a:r>
            <a:r>
              <a:rPr lang="zh-CN" altLang="en-US" b="1">
                <a:latin typeface=".萍方-简" panose="020B0300000000000000" charset="-122"/>
                <a:ea typeface=".萍方-简" panose="020B0300000000000000" charset="-122"/>
                <a:cs typeface=".萍方-简" panose="020B0300000000000000" charset="-122"/>
              </a:rPr>
              <a:t>？</a:t>
            </a:r>
            <a:endParaRPr lang="en-US" altLang="zh-CN" b="1">
              <a:latin typeface=".萍方-简" panose="020B0300000000000000" charset="-122"/>
              <a:ea typeface=".萍方-简" panose="020B0300000000000000" charset="-122"/>
              <a:cs typeface=".萍方-简" panose="020B0300000000000000" charset="-122"/>
            </a:endParaRPr>
          </a:p>
        </p:txBody>
      </p:sp>
      <p:sp>
        <p:nvSpPr>
          <p:cNvPr id="3" name="文本框 2"/>
          <p:cNvSpPr txBox="1"/>
          <p:nvPr/>
        </p:nvSpPr>
        <p:spPr>
          <a:xfrm>
            <a:off x="955040" y="2011680"/>
            <a:ext cx="21926550" cy="381635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noAutofit/>
          </a:bodyPr>
          <a:lstStyle/>
          <a:p>
            <a:pPr marL="0" marR="0" indent="0" algn="l" defTabSz="2438400" rtl="0" fontAlgn="auto" latinLnBrk="0" hangingPunct="0">
              <a:lnSpc>
                <a:spcPct val="90000"/>
              </a:lnSpc>
              <a:spcBef>
                <a:spcPts val="4500"/>
              </a:spcBef>
              <a:spcAft>
                <a:spcPts val="0"/>
              </a:spcAft>
              <a:buClrTx/>
              <a:buSzTx/>
              <a:buFontTx/>
              <a:buNone/>
            </a:pPr>
            <a:r>
              <a:rPr kumimoji="0" lang="en-US" altLang="zh-CN" sz="48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LangChain</a:t>
            </a:r>
            <a:r>
              <a:rPr kumimoji="0" lang="zh-CN" altLang="en-US" sz="48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是一个用于构建由</a:t>
            </a:r>
            <a:r>
              <a:rPr kumimoji="0" lang="en-US" altLang="zh-CN" sz="48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LLM </a:t>
            </a:r>
            <a:r>
              <a:rPr kumimoji="0" lang="zh-CN" altLang="en-US" sz="48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提供支持的代理和应用程序的框架。</a:t>
            </a:r>
            <a:endParaRPr kumimoji="0" lang="zh-CN" altLang="en-US" sz="48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8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作用：简化</a:t>
            </a:r>
            <a:r>
              <a:rPr kumimoji="0" lang="en-US" altLang="zh-CN" sz="48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LLMs </a:t>
            </a:r>
            <a:r>
              <a:rPr kumimoji="0" lang="zh-CN" altLang="en-US" sz="48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应用的开发难度，方便开发者快速地开发复杂的</a:t>
            </a:r>
            <a:r>
              <a:rPr kumimoji="0" lang="en-US" altLang="zh-CN" sz="48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LLMs </a:t>
            </a:r>
            <a:r>
              <a:rPr kumimoji="0" lang="zh-CN" altLang="en-US" sz="48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应用。</a:t>
            </a:r>
            <a:endParaRPr kumimoji="0" lang="zh-CN" altLang="en-US" sz="48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en-US" altLang="zh-CN" sz="48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LangChain is the easiest way to start building agents and applications powered by LLMs.</a:t>
            </a:r>
            <a:endParaRPr kumimoji="0" lang="en-US" altLang="zh-CN" sz="48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文本框 3"/>
          <p:cNvSpPr txBox="1"/>
          <p:nvPr/>
        </p:nvSpPr>
        <p:spPr>
          <a:xfrm>
            <a:off x="1529715" y="12280900"/>
            <a:ext cx="17417415" cy="1155065"/>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noAutofit/>
          </a:bodyPr>
          <a:lstStyle/>
          <a:p>
            <a:r>
              <a:rPr lang="zh-CN" altLang="en-US" sz="3600">
                <a:latin typeface=".萍方-简" panose="020B0300000000000000" charset="-122"/>
                <a:ea typeface=".萍方-简" panose="020B0300000000000000" charset="-122"/>
              </a:rPr>
              <a:t>官网地址：</a:t>
            </a:r>
            <a:r>
              <a:rPr lang="en-US" altLang="zh-CN" sz="3600">
                <a:latin typeface=".萍方-简" panose="020B0300000000000000" charset="-122"/>
                <a:ea typeface=".萍方-简" panose="020B0300000000000000" charset="-122"/>
              </a:rPr>
              <a:t>https://python.langchain.com/docs/introduction/</a:t>
            </a:r>
            <a:endParaRPr lang="zh-CN" altLang="en-US" sz="3600">
              <a:latin typeface=".萍方-简" panose="020B0300000000000000" charset="-122"/>
              <a:ea typeface=".萍方-简" panose="020B0300000000000000" charset="-122"/>
            </a:endParaRPr>
          </a:p>
        </p:txBody>
      </p:sp>
      <p:pic>
        <p:nvPicPr>
          <p:cNvPr id="2" name="图片 1"/>
          <p:cNvPicPr>
            <a:picLocks noChangeAspect="1"/>
          </p:cNvPicPr>
          <p:nvPr/>
        </p:nvPicPr>
        <p:blipFill>
          <a:blip r:embed="rId1"/>
          <a:stretch>
            <a:fillRect/>
          </a:stretch>
        </p:blipFill>
        <p:spPr>
          <a:xfrm>
            <a:off x="6711315" y="5449570"/>
            <a:ext cx="12016740" cy="5861685"/>
          </a:xfrm>
          <a:prstGeom prst="rect">
            <a:avLst/>
          </a:prstGeom>
        </p:spPr>
      </p:pic>
      <p:pic>
        <p:nvPicPr>
          <p:cNvPr id="5" name="图片 4"/>
          <p:cNvPicPr>
            <a:picLocks noChangeAspect="1"/>
          </p:cNvPicPr>
          <p:nvPr/>
        </p:nvPicPr>
        <p:blipFill>
          <a:blip r:embed="rId2"/>
          <a:stretch>
            <a:fillRect/>
          </a:stretch>
        </p:blipFill>
        <p:spPr>
          <a:xfrm>
            <a:off x="6242685" y="4132580"/>
            <a:ext cx="15492095" cy="7636510"/>
          </a:xfrm>
          <a:prstGeom prst="rect">
            <a:avLst/>
          </a:prstGeom>
        </p:spPr>
      </p:pic>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什么是</a:t>
            </a:r>
            <a:r>
              <a:rPr lang="en-US" altLang="zh-CN" b="1">
                <a:latin typeface=".萍方-简" panose="020B0300000000000000" charset="-122"/>
                <a:ea typeface=".萍方-简" panose="020B0300000000000000" charset="-122"/>
                <a:cs typeface=".萍方-简" panose="020B0300000000000000" charset="-122"/>
              </a:rPr>
              <a:t>LangChain</a:t>
            </a:r>
            <a:r>
              <a:rPr lang="zh-CN" altLang="en-US" b="1">
                <a:latin typeface=".萍方-简" panose="020B0300000000000000" charset="-122"/>
                <a:ea typeface=".萍方-简" panose="020B0300000000000000" charset="-122"/>
                <a:cs typeface=".萍方-简" panose="020B0300000000000000" charset="-122"/>
              </a:rPr>
              <a:t>？</a:t>
            </a:r>
            <a:endParaRPr lang="en-US" altLang="zh-CN" b="1">
              <a:latin typeface=".萍方-简" panose="020B0300000000000000" charset="-122"/>
              <a:ea typeface=".萍方-简" panose="020B0300000000000000" charset="-122"/>
              <a:cs typeface=".萍方-简" panose="020B0300000000000000" charset="-122"/>
            </a:endParaRPr>
          </a:p>
        </p:txBody>
      </p:sp>
      <p:sp>
        <p:nvSpPr>
          <p:cNvPr id="3" name="文本框 2"/>
          <p:cNvSpPr txBox="1"/>
          <p:nvPr/>
        </p:nvSpPr>
        <p:spPr>
          <a:xfrm>
            <a:off x="1243044" y="1916431"/>
            <a:ext cx="21926762" cy="93218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spAutoFit/>
          </a:bodyPr>
          <a:lstStyle/>
          <a:p>
            <a:pPr marL="0" marR="0" indent="0" algn="l" defTabSz="2438400" rtl="0" fontAlgn="auto" latinLnBrk="0" hangingPunct="0">
              <a:lnSpc>
                <a:spcPct val="90000"/>
              </a:lnSpc>
              <a:spcBef>
                <a:spcPts val="4500"/>
              </a:spcBef>
              <a:spcAft>
                <a:spcPts val="0"/>
              </a:spcAft>
              <a:buClrTx/>
              <a:buSzTx/>
              <a:buFontTx/>
              <a:buNone/>
            </a:pPr>
            <a:r>
              <a:rPr lang="en-US" altLang="zh-CN">
                <a:latin typeface=".萍方-简" panose="020B0300000000000000" charset="-122"/>
                <a:ea typeface=".萍方-简" panose="020B0300000000000000" charset="-122"/>
                <a:cs typeface=".萍方-简" panose="020B0300000000000000" charset="-122"/>
              </a:rPr>
              <a:t>                  </a:t>
            </a:r>
            <a:r>
              <a:rPr lang="zh-CN" altLang="en-US">
                <a:latin typeface=".萍方-简" panose="020B0300000000000000" charset="-122"/>
                <a:ea typeface=".萍方-简" panose="020B0300000000000000" charset="-122"/>
                <a:cs typeface=".萍方-简" panose="020B0300000000000000" charset="-122"/>
              </a:rPr>
              <a:t>从</a:t>
            </a:r>
            <a:r>
              <a:rPr lang="en-US" altLang="zh-CN" sz="6000" b="1">
                <a:latin typeface=".萍方-简" panose="020B0300000000000000" charset="-122"/>
                <a:ea typeface=".萍方-简" panose="020B0300000000000000" charset="-122"/>
                <a:cs typeface=".萍方-简" panose="020B0300000000000000" charset="-122"/>
              </a:rPr>
              <a:t>LangChain</a:t>
            </a:r>
            <a:r>
              <a:rPr lang="en-US" sz="6000" b="1">
                <a:latin typeface=".萍方-简" panose="020B0300000000000000" charset="-122"/>
                <a:ea typeface=".萍方-简" panose="020B0300000000000000" charset="-122"/>
                <a:cs typeface=".萍方-简" panose="020B0300000000000000" charset="-122"/>
              </a:rPr>
              <a:t>0.3</a:t>
            </a:r>
            <a:r>
              <a:rPr lang="en-US">
                <a:latin typeface=".萍方-简" panose="020B0300000000000000" charset="-122"/>
                <a:ea typeface=".萍方-简" panose="020B0300000000000000" charset="-122"/>
                <a:cs typeface=".萍方-简" panose="020B0300000000000000" charset="-122"/>
              </a:rPr>
              <a:t>     </a:t>
            </a:r>
            <a:r>
              <a:rPr lang="zh-CN" altLang="en-US">
                <a:latin typeface=".萍方-简" panose="020B0300000000000000" charset="-122"/>
                <a:ea typeface=".萍方-简" panose="020B0300000000000000" charset="-122"/>
                <a:cs typeface=".萍方-简" panose="020B0300000000000000" charset="-122"/>
              </a:rPr>
              <a:t>到</a:t>
            </a:r>
            <a:r>
              <a:rPr lang="en-US" altLang="zh-CN">
                <a:latin typeface=".萍方-简" panose="020B0300000000000000" charset="-122"/>
                <a:ea typeface=".萍方-简" panose="020B0300000000000000" charset="-122"/>
                <a:cs typeface=".萍方-简" panose="020B0300000000000000" charset="-122"/>
              </a:rPr>
              <a:t>       </a:t>
            </a:r>
            <a:r>
              <a:rPr lang="en-US" altLang="zh-CN" sz="6000" b="1">
                <a:latin typeface=".萍方-简" panose="020B0300000000000000" charset="-122"/>
                <a:ea typeface=".萍方-简" panose="020B0300000000000000" charset="-122"/>
                <a:cs typeface=".萍方-简" panose="020B0300000000000000" charset="-122"/>
              </a:rPr>
              <a:t>LangChain1.0</a:t>
            </a:r>
            <a:endParaRPr kumimoji="0" lang="en-US" altLang="zh-CN" sz="6000" b="1"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文本框 1"/>
          <p:cNvSpPr txBox="1"/>
          <p:nvPr/>
        </p:nvSpPr>
        <p:spPr>
          <a:xfrm>
            <a:off x="1576070" y="2848610"/>
            <a:ext cx="22211665" cy="458978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t" forceAA="0">
            <a:noAutofit/>
          </a:bodyPr>
          <a:p>
            <a:pPr marR="0" algn="l" defTabSz="2438400" rtl="0" eaLnBrk="1">
              <a:lnSpc>
                <a:spcPct val="150000"/>
              </a:lnSpc>
              <a:spcBef>
                <a:spcPts val="2100"/>
              </a:spcBef>
              <a:spcAft>
                <a:spcPts val="600"/>
              </a:spcAft>
              <a:buClrTx/>
              <a:buSzTx/>
              <a:buFontTx/>
              <a:buNone/>
            </a:pPr>
            <a:r>
              <a:rPr lang="zh-CN" altLang="en-US" sz="3200" b="1">
                <a:latin typeface="Helvetica Neue Bold" panose="02000503000000020004" charset="0"/>
                <a:cs typeface="Helvetica Neue Bold" panose="02000503000000020004" charset="0"/>
                <a:sym typeface="Helvetica Neue" panose="02000503000000020004"/>
              </a:rPr>
              <a:t>上线时间：</a:t>
            </a:r>
            <a:r>
              <a:rPr lang="en-US" altLang="zh-CN" sz="3200" b="1">
                <a:latin typeface="Helvetica Neue Bold" panose="02000503000000020004" charset="0"/>
                <a:cs typeface="Helvetica Neue Bold" panose="02000503000000020004" charset="0"/>
                <a:sym typeface="Helvetica Neue" panose="02000503000000020004"/>
              </a:rPr>
              <a:t>LangChain V1.0 </a:t>
            </a:r>
            <a:r>
              <a:rPr lang="zh-CN" altLang="en-US" sz="3200" b="1">
                <a:latin typeface="Helvetica Neue Bold" panose="02000503000000020004" charset="0"/>
                <a:cs typeface="Helvetica Neue Bold" panose="02000503000000020004" charset="0"/>
                <a:sym typeface="Helvetica Neue" panose="02000503000000020004"/>
              </a:rPr>
              <a:t>于</a:t>
            </a:r>
            <a:r>
              <a:rPr lang="en-US" altLang="zh-CN" sz="3200" b="1">
                <a:latin typeface="Helvetica Neue Bold" panose="02000503000000020004" charset="0"/>
                <a:cs typeface="Helvetica Neue Bold" panose="02000503000000020004" charset="0"/>
                <a:sym typeface="Helvetica Neue" panose="02000503000000020004"/>
              </a:rPr>
              <a:t> 2025 </a:t>
            </a:r>
            <a:r>
              <a:rPr lang="zh-CN" altLang="en-US" sz="3200" b="1">
                <a:latin typeface="Helvetica Neue Bold" panose="02000503000000020004" charset="0"/>
                <a:cs typeface="Helvetica Neue Bold" panose="02000503000000020004" charset="0"/>
                <a:sym typeface="Helvetica Neue" panose="02000503000000020004"/>
              </a:rPr>
              <a:t>年</a:t>
            </a:r>
            <a:r>
              <a:rPr lang="en-US" altLang="zh-CN" sz="3200" b="1">
                <a:latin typeface="Helvetica Neue Bold" panose="02000503000000020004" charset="0"/>
                <a:cs typeface="Helvetica Neue Bold" panose="02000503000000020004" charset="0"/>
                <a:sym typeface="Helvetica Neue" panose="02000503000000020004"/>
              </a:rPr>
              <a:t> 10 </a:t>
            </a:r>
            <a:r>
              <a:rPr lang="zh-CN" altLang="en-US" sz="3200" b="1">
                <a:latin typeface="Helvetica Neue Bold" panose="02000503000000020004" charset="0"/>
                <a:cs typeface="Helvetica Neue Bold" panose="02000503000000020004" charset="0"/>
                <a:sym typeface="Helvetica Neue" panose="02000503000000020004"/>
              </a:rPr>
              <a:t>月</a:t>
            </a:r>
            <a:r>
              <a:rPr lang="en-US" altLang="zh-CN" sz="3200" b="1">
                <a:latin typeface="Helvetica Neue Bold" panose="02000503000000020004" charset="0"/>
                <a:cs typeface="Helvetica Neue Bold" panose="02000503000000020004" charset="0"/>
                <a:sym typeface="Helvetica Neue" panose="02000503000000020004"/>
              </a:rPr>
              <a:t> 23 </a:t>
            </a:r>
            <a:r>
              <a:rPr lang="zh-CN" altLang="en-US" sz="3200" b="1">
                <a:latin typeface="Helvetica Neue Bold" panose="02000503000000020004" charset="0"/>
                <a:cs typeface="Helvetica Neue Bold" panose="02000503000000020004" charset="0"/>
                <a:sym typeface="Helvetica Neue" panose="02000503000000020004"/>
              </a:rPr>
              <a:t>日正式发布</a:t>
            </a:r>
            <a:r>
              <a:rPr lang="zh-CN" altLang="en-US" sz="3200">
                <a:sym typeface="Helvetica Neue" panose="02000503000000020004"/>
              </a:rPr>
              <a:t>。</a:t>
            </a:r>
            <a:endParaRPr kumimoji="0" lang="en-US" altLang="zh-CN" sz="3200" b="0" i="0" u="none" strike="noStrike" cap="none" spc="0" normalizeH="0" baseline="0">
              <a:ln>
                <a:noFill/>
              </a:ln>
              <a:solidFill>
                <a:srgbClr val="000000"/>
              </a:solidFill>
              <a:effectLst/>
              <a:uFillTx/>
              <a:latin typeface="+mn-lt"/>
              <a:ea typeface="+mn-ea"/>
              <a:cs typeface="+mn-cs"/>
              <a:sym typeface="Helvetica Neue" panose="02000503000000020004"/>
            </a:endParaRPr>
          </a:p>
          <a:p>
            <a:pPr marR="0" algn="l" defTabSz="2438400" rtl="0" eaLnBrk="1">
              <a:lnSpc>
                <a:spcPct val="150000"/>
              </a:lnSpc>
              <a:spcBef>
                <a:spcPts val="2100"/>
              </a:spcBef>
              <a:spcAft>
                <a:spcPts val="600"/>
              </a:spcAft>
              <a:buClrTx/>
              <a:buSzTx/>
              <a:buFontTx/>
              <a:buNone/>
            </a:pPr>
            <a:r>
              <a:rPr lang="en-US" altLang="zh-CN" sz="3200">
                <a:sym typeface="Helvetica Neue" panose="02000503000000020004"/>
              </a:rPr>
              <a:t>2025 </a:t>
            </a:r>
            <a:r>
              <a:rPr lang="zh-CN" altLang="en-US" sz="3200">
                <a:sym typeface="Helvetica Neue" panose="02000503000000020004"/>
              </a:rPr>
              <a:t>年</a:t>
            </a:r>
            <a:r>
              <a:rPr lang="en-US" altLang="zh-CN" sz="3200">
                <a:sym typeface="Helvetica Neue" panose="02000503000000020004"/>
              </a:rPr>
              <a:t> 10 </a:t>
            </a:r>
            <a:r>
              <a:rPr lang="zh-CN" altLang="en-US" sz="3200">
                <a:sym typeface="Helvetica Neue" panose="02000503000000020004"/>
              </a:rPr>
              <a:t>月</a:t>
            </a:r>
            <a:r>
              <a:rPr lang="en-US" altLang="zh-CN" sz="3200">
                <a:sym typeface="Helvetica Neue" panose="02000503000000020004"/>
              </a:rPr>
              <a:t> 22 </a:t>
            </a:r>
            <a:r>
              <a:rPr lang="zh-CN" altLang="en-US" sz="3200">
                <a:sym typeface="Helvetica Neue" panose="02000503000000020004"/>
              </a:rPr>
              <a:t>日，</a:t>
            </a:r>
            <a:r>
              <a:rPr lang="en-US" altLang="zh-CN" sz="3200">
                <a:sym typeface="Helvetica Neue" panose="02000503000000020004"/>
              </a:rPr>
              <a:t>LangChain </a:t>
            </a:r>
            <a:r>
              <a:rPr lang="zh-CN" altLang="en-US" sz="3200">
                <a:sym typeface="Helvetica Neue" panose="02000503000000020004"/>
              </a:rPr>
              <a:t>官方团队宣布</a:t>
            </a:r>
            <a:r>
              <a:rPr lang="en-US" altLang="zh-CN" sz="3200">
                <a:sym typeface="Helvetica Neue" panose="02000503000000020004"/>
              </a:rPr>
              <a:t> LangChain 1.0 </a:t>
            </a:r>
            <a:r>
              <a:rPr lang="zh-CN" altLang="en-US" sz="3200">
                <a:sym typeface="Helvetica Neue" panose="02000503000000020004"/>
              </a:rPr>
              <a:t>与</a:t>
            </a:r>
            <a:r>
              <a:rPr lang="en-US" altLang="zh-CN" sz="3200">
                <a:sym typeface="Helvetica Neue" panose="02000503000000020004"/>
              </a:rPr>
              <a:t> LangGraph 1.0 </a:t>
            </a:r>
            <a:r>
              <a:rPr lang="zh-CN" altLang="en-US" sz="3200">
                <a:sym typeface="Helvetica Neue" panose="02000503000000020004"/>
              </a:rPr>
              <a:t>即将发布；</a:t>
            </a:r>
            <a:endParaRPr kumimoji="0" lang="zh-CN" altLang="en-US" sz="3200" b="0" i="0" u="none" strike="noStrike" cap="none" spc="0" normalizeH="0" baseline="0">
              <a:ln>
                <a:noFill/>
              </a:ln>
              <a:solidFill>
                <a:srgbClr val="000000"/>
              </a:solidFill>
              <a:effectLst/>
              <a:uFillTx/>
              <a:latin typeface="+mn-lt"/>
              <a:ea typeface="+mn-ea"/>
              <a:cs typeface="+mn-cs"/>
              <a:sym typeface="Helvetica Neue" panose="02000503000000020004"/>
            </a:endParaRPr>
          </a:p>
          <a:p>
            <a:pPr marR="0" algn="l" defTabSz="2438400" rtl="0" eaLnBrk="1">
              <a:lnSpc>
                <a:spcPct val="150000"/>
              </a:lnSpc>
              <a:spcBef>
                <a:spcPts val="300"/>
              </a:spcBef>
              <a:buClrTx/>
              <a:buSzTx/>
              <a:buFontTx/>
              <a:buNone/>
            </a:pPr>
            <a:r>
              <a:rPr lang="zh-CN" altLang="en-US" sz="3200">
                <a:sym typeface="Helvetica Neue" panose="02000503000000020004"/>
              </a:rPr>
              <a:t>LangChain V1.0 相较于 V0.3 是一次</a:t>
            </a:r>
            <a:r>
              <a:rPr lang="zh-CN" altLang="en-US" sz="3200" b="1">
                <a:latin typeface="Helvetica Neue Bold" panose="02000503000000020004" charset="0"/>
                <a:sym typeface="Helvetica Neue" panose="02000503000000020004"/>
              </a:rPr>
              <a:t>面向生产级工程化</a:t>
            </a:r>
            <a:r>
              <a:rPr lang="zh-CN" altLang="en-US" sz="3200">
                <a:sym typeface="Helvetica Neue" panose="02000503000000020004"/>
              </a:rPr>
              <a:t>的重大升级，不仅在 API 设计上大幅简化，还在架构、可维护性、稳定性与扩展能力方面实现了质的飞跃。</a:t>
            </a:r>
            <a:endParaRPr kumimoji="0" lang="zh-CN" altLang="en-US" sz="3200" b="0" i="0" u="none" strike="noStrike" cap="none" spc="0" normalizeH="0" baseline="0">
              <a:ln>
                <a:noFill/>
              </a:ln>
              <a:solidFill>
                <a:srgbClr val="000000"/>
              </a:solidFill>
              <a:effectLst/>
              <a:uFillTx/>
              <a:latin typeface="+mn-lt"/>
              <a:ea typeface="+mn-ea"/>
              <a:cs typeface="+mn-cs"/>
              <a:sym typeface="Helvetica Neue" panose="02000503000000020004"/>
            </a:endParaRPr>
          </a:p>
        </p:txBody>
      </p:sp>
      <p:sp>
        <p:nvSpPr>
          <p:cNvPr id="4" name="文本框 3"/>
          <p:cNvSpPr txBox="1"/>
          <p:nvPr/>
        </p:nvSpPr>
        <p:spPr>
          <a:xfrm>
            <a:off x="1576070" y="7022465"/>
            <a:ext cx="23548340" cy="642620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t" forceAA="0">
            <a:noAutofit/>
          </a:bodyPr>
          <a:p>
            <a:pPr marL="0" marR="0" indent="0" algn="l" defTabSz="2438400" rtl="0" fontAlgn="auto" latinLnBrk="0" hangingPunct="0">
              <a:lnSpc>
                <a:spcPct val="90000"/>
              </a:lnSpc>
              <a:spcBef>
                <a:spcPts val="4500"/>
              </a:spcBef>
              <a:spcAft>
                <a:spcPts val="0"/>
              </a:spcAft>
              <a:buClrTx/>
              <a:buSzTx/>
              <a:buFontTx/>
              <a:buNone/>
            </a:pPr>
            <a:r>
              <a:rPr lang="en-US" altLang="zh-CN" sz="3600">
                <a:sym typeface="Helvetica Neue" panose="02000503000000020004"/>
              </a:rPr>
              <a:t>1. </a:t>
            </a:r>
            <a:r>
              <a:rPr lang="zh-CN" altLang="en-US" sz="3600">
                <a:sym typeface="Helvetica Neue" panose="02000503000000020004"/>
              </a:rPr>
              <a:t>统一</a:t>
            </a:r>
            <a:r>
              <a:rPr lang="en-US" altLang="zh-CN" sz="3600">
                <a:sym typeface="Helvetica Neue" panose="02000503000000020004"/>
              </a:rPr>
              <a:t> Agent </a:t>
            </a:r>
            <a:r>
              <a:rPr lang="zh-CN" altLang="en-US" sz="3600">
                <a:sym typeface="Helvetica Neue" panose="02000503000000020004"/>
              </a:rPr>
              <a:t>创建接口</a:t>
            </a:r>
            <a:r>
              <a:rPr lang="en-US" altLang="zh-CN" sz="3600">
                <a:sym typeface="Helvetica Neue" panose="02000503000000020004"/>
              </a:rPr>
              <a:t>——create_agent( )</a:t>
            </a:r>
            <a:endParaRPr lang="en-US" altLang="zh-CN" sz="3600">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lang="en-US" altLang="zh-CN" sz="3600">
                <a:sym typeface="Helvetica Neue" panose="02000503000000020004"/>
              </a:rPr>
              <a:t>2. </a:t>
            </a:r>
            <a:r>
              <a:rPr lang="zh-CN" altLang="en-US" sz="3600">
                <a:sym typeface="Helvetica Neue" panose="02000503000000020004"/>
              </a:rPr>
              <a:t>中间件系统（</a:t>
            </a:r>
            <a:r>
              <a:rPr lang="en-US" altLang="zh-CN" sz="3600">
                <a:sym typeface="Helvetica Neue" panose="02000503000000020004"/>
              </a:rPr>
              <a:t>Middleware</a:t>
            </a:r>
            <a:r>
              <a:rPr lang="zh-CN" altLang="en-US" sz="3600">
                <a:sym typeface="Helvetica Neue" panose="02000503000000020004"/>
              </a:rPr>
              <a:t>）</a:t>
            </a:r>
            <a:r>
              <a:rPr lang="en-US" altLang="zh-CN" sz="3600">
                <a:sym typeface="Helvetica Neue" panose="02000503000000020004"/>
              </a:rPr>
              <a:t>——</a:t>
            </a:r>
            <a:r>
              <a:rPr lang="zh-CN" altLang="en-US" sz="3600">
                <a:sym typeface="Helvetica Neue" panose="02000503000000020004"/>
              </a:rPr>
              <a:t>细粒度流程控制</a:t>
            </a:r>
            <a:endParaRPr kumimoji="0" lang="zh-CN" altLang="en-US" sz="3600" b="0" i="0" u="none" strike="noStrike" cap="none" spc="0" normalizeH="0" baseline="0">
              <a:ln>
                <a:noFill/>
              </a:ln>
              <a:solidFill>
                <a:srgbClr val="000000"/>
              </a:solidFill>
              <a:effectLst/>
              <a:uFillTx/>
              <a:latin typeface="+mn-lt"/>
              <a:ea typeface="+mn-ea"/>
              <a:cs typeface="+mn-cs"/>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lang="en-US" altLang="zh-CN" sz="3600">
                <a:sym typeface="Helvetica Neue" panose="02000503000000020004"/>
              </a:rPr>
              <a:t>3. </a:t>
            </a:r>
            <a:r>
              <a:rPr lang="zh-CN" altLang="en-US" sz="3600">
                <a:sym typeface="Helvetica Neue" panose="02000503000000020004"/>
              </a:rPr>
              <a:t>标准化输出：</a:t>
            </a:r>
            <a:r>
              <a:rPr lang="en-US" altLang="zh-CN" sz="3600">
                <a:sym typeface="Helvetica Neue" panose="02000503000000020004"/>
              </a:rPr>
              <a:t>.content_blocks ——</a:t>
            </a:r>
            <a:r>
              <a:rPr lang="zh-CN" altLang="en-US" sz="3600">
                <a:sym typeface="Helvetica Neue" panose="02000503000000020004"/>
              </a:rPr>
              <a:t>无论使用哪家模型，输出统一为结构化内容块</a:t>
            </a:r>
            <a:endParaRPr kumimoji="0" lang="zh-CN" altLang="en-US" sz="3600" b="0" i="0" u="none" strike="noStrike" cap="none" spc="0" normalizeH="0" baseline="0">
              <a:ln>
                <a:noFill/>
              </a:ln>
              <a:solidFill>
                <a:srgbClr val="000000"/>
              </a:solidFill>
              <a:effectLst/>
              <a:uFillTx/>
              <a:latin typeface="+mn-lt"/>
              <a:ea typeface="+mn-ea"/>
              <a:cs typeface="+mn-cs"/>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lang="en-US" altLang="zh-CN" sz="3600">
                <a:sym typeface="Helvetica Neue" panose="02000503000000020004"/>
              </a:rPr>
              <a:t>4. </a:t>
            </a:r>
            <a:r>
              <a:rPr lang="zh-CN" altLang="en-US" sz="3600">
                <a:sym typeface="Helvetica Neue" panose="02000503000000020004"/>
              </a:rPr>
              <a:t>结构化输出原生支持</a:t>
            </a:r>
            <a:r>
              <a:rPr lang="en-US" altLang="zh-CN" sz="3600">
                <a:sym typeface="Helvetica Neue" panose="02000503000000020004"/>
              </a:rPr>
              <a:t>—— </a:t>
            </a:r>
            <a:r>
              <a:rPr lang="zh-CN" altLang="en-US" sz="3600">
                <a:sym typeface="Helvetica Neue" panose="02000503000000020004"/>
              </a:rPr>
              <a:t>将结构化输出直接集成到主循环中</a:t>
            </a:r>
            <a:endParaRPr kumimoji="0" lang="zh-CN" altLang="en-US" sz="3600" b="0" i="0" u="none" strike="noStrike" cap="none" spc="0" normalizeH="0" baseline="0">
              <a:ln>
                <a:noFill/>
              </a:ln>
              <a:solidFill>
                <a:srgbClr val="000000"/>
              </a:solidFill>
              <a:effectLst/>
              <a:uFillTx/>
              <a:latin typeface="+mn-lt"/>
              <a:ea typeface="+mn-ea"/>
              <a:cs typeface="+mn-cs"/>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lang="en-US" altLang="zh-CN" sz="3600">
                <a:sym typeface="Helvetica Neue" panose="02000503000000020004"/>
              </a:rPr>
              <a:t>5. </a:t>
            </a:r>
            <a:r>
              <a:rPr lang="zh-CN" altLang="en-US" sz="3600">
                <a:sym typeface="Helvetica Neue" panose="02000503000000020004"/>
              </a:rPr>
              <a:t>基于</a:t>
            </a:r>
            <a:r>
              <a:rPr lang="en-US" altLang="zh-CN" sz="3600">
                <a:sym typeface="Helvetica Neue" panose="02000503000000020004"/>
              </a:rPr>
              <a:t> LangGraph </a:t>
            </a:r>
            <a:r>
              <a:rPr lang="zh-CN" altLang="en-US" sz="3600">
                <a:sym typeface="Helvetica Neue" panose="02000503000000020004"/>
              </a:rPr>
              <a:t>的底层架构</a:t>
            </a:r>
            <a:r>
              <a:rPr lang="en-US" altLang="zh-CN" sz="3600">
                <a:sym typeface="Helvetica Neue" panose="02000503000000020004"/>
              </a:rPr>
              <a:t>—— Agent </a:t>
            </a:r>
            <a:r>
              <a:rPr lang="zh-CN" altLang="en-US" sz="3600">
                <a:sym typeface="Helvetica Neue" panose="02000503000000020004"/>
              </a:rPr>
              <a:t>实际是</a:t>
            </a:r>
            <a:r>
              <a:rPr lang="en-US" altLang="zh-CN" sz="3600">
                <a:sym typeface="Helvetica Neue" panose="02000503000000020004"/>
              </a:rPr>
              <a:t> LangGraph </a:t>
            </a:r>
            <a:r>
              <a:rPr lang="zh-CN" altLang="en-US" sz="3600">
                <a:sym typeface="Helvetica Neue" panose="02000503000000020004"/>
              </a:rPr>
              <a:t>编排的状态图</a:t>
            </a:r>
            <a:r>
              <a:rPr lang="en-US" altLang="zh-CN" sz="3600">
                <a:sym typeface="Helvetica Neue" panose="02000503000000020004"/>
              </a:rPr>
              <a:t>(StateGraph)</a:t>
            </a:r>
            <a:endParaRPr lang="en-US" altLang="zh-CN" sz="3600">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lang="en-US" altLang="zh-CN" sz="3600">
                <a:sym typeface="Helvetica Neue" panose="02000503000000020004"/>
              </a:rPr>
              <a:t>6. </a:t>
            </a:r>
            <a:r>
              <a:rPr lang="zh-CN" altLang="en-US" sz="3600">
                <a:sym typeface="Helvetica Neue" panose="02000503000000020004"/>
              </a:rPr>
              <a:t>包结构精简与迁移路径</a:t>
            </a:r>
            <a:r>
              <a:rPr lang="en-US" altLang="zh-CN" sz="3600">
                <a:sym typeface="Helvetica Neue" panose="02000503000000020004"/>
              </a:rPr>
              <a:t>——</a:t>
            </a:r>
            <a:r>
              <a:rPr lang="zh-CN" altLang="en-US" sz="3600">
                <a:sym typeface="Helvetica Neue" panose="02000503000000020004"/>
              </a:rPr>
              <a:t>移除冗余模块，核心包更轻量。旧版功能（如</a:t>
            </a:r>
            <a:r>
              <a:rPr lang="en-US" altLang="zh-CN" sz="3600">
                <a:sym typeface="Helvetica Neue" panose="02000503000000020004"/>
              </a:rPr>
              <a:t> LLMChain, ConversationBufferMemory</a:t>
            </a:r>
            <a:r>
              <a:rPr lang="zh-CN" altLang="en-US" sz="3600">
                <a:sym typeface="Helvetica Neue" panose="02000503000000020004"/>
              </a:rPr>
              <a:t>）迁移到</a:t>
            </a:r>
            <a:r>
              <a:rPr lang="en-US" altLang="zh-CN" sz="3600">
                <a:sym typeface="Helvetica Neue" panose="02000503000000020004"/>
              </a:rPr>
              <a:t> langchain-classic</a:t>
            </a:r>
            <a:endParaRPr kumimoji="0" lang="en-US" altLang="zh-CN" sz="3600" b="0" i="0" u="none" strike="noStrike" cap="none" spc="0" normalizeH="0" baseline="0">
              <a:ln>
                <a:noFill/>
              </a:ln>
              <a:solidFill>
                <a:srgbClr val="000000"/>
              </a:solidFill>
              <a:effectLst/>
              <a:uFillTx/>
              <a:latin typeface="+mn-lt"/>
              <a:ea typeface="+mn-ea"/>
              <a:cs typeface="+mn-cs"/>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endParaRPr kumimoji="0" lang="en-US" altLang="zh-CN" sz="3600" b="0" i="0" u="none" strike="noStrike" cap="none" spc="0" normalizeH="0" baseline="0">
              <a:ln>
                <a:noFill/>
              </a:ln>
              <a:solidFill>
                <a:srgbClr val="000000"/>
              </a:solidFill>
              <a:effectLst/>
              <a:uFillTx/>
              <a:latin typeface="+mn-lt"/>
              <a:ea typeface="+mn-ea"/>
              <a:cs typeface="+mn-cs"/>
              <a:sym typeface="Helvetica Neue" panose="02000503000000020004"/>
            </a:endParaRP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这里是章节一"/>
          <p:cNvSpPr txBox="1">
            <a:spLocks noGrp="1"/>
          </p:cNvSpPr>
          <p:nvPr>
            <p:ph type="title"/>
          </p:nvPr>
        </p:nvSpPr>
        <p:spPr>
          <a:xfrm>
            <a:off x="4700481" y="5206788"/>
            <a:ext cx="15958185" cy="2226945"/>
          </a:xfrm>
          <a:prstGeom prst="rect">
            <a:avLst/>
          </a:prstGeom>
        </p:spPr>
        <p:txBody>
          <a:bodyPr>
            <a:normAutofit/>
          </a:bodyPr>
          <a:lstStyle/>
          <a:p>
            <a:r>
              <a:rPr lang="en-US" altLang="zh-CN">
                <a:latin typeface=".萍方-简" panose="020B0300000000000000" charset="-122"/>
                <a:ea typeface=".萍方-简" panose="020B0300000000000000" charset="-122"/>
              </a:rPr>
              <a:t>LangChain</a:t>
            </a:r>
            <a:r>
              <a:rPr lang="zh-CN" altLang="en-US">
                <a:latin typeface=".萍方-简" panose="020B0300000000000000" charset="-122"/>
                <a:ea typeface=".萍方-简" panose="020B0300000000000000" charset="-122"/>
              </a:rPr>
              <a:t>体系</a:t>
            </a:r>
            <a:endParaRPr lang="zh-CN" altLang="en-US">
              <a:latin typeface=".萍方-简" panose="020B0300000000000000" charset="-122"/>
              <a:ea typeface=".萍方-简" panose="020B0300000000000000" charset="-122"/>
            </a:endParaRP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LangChain</a:t>
            </a:r>
            <a:r>
              <a:rPr lang="zh-CN" altLang="en-US" b="1">
                <a:latin typeface=".萍方-简" panose="020B0300000000000000" charset="-122"/>
                <a:ea typeface=".萍方-简" panose="020B0300000000000000" charset="-122"/>
                <a:cs typeface=".萍方-简" panose="020B0300000000000000" charset="-122"/>
              </a:rPr>
              <a:t>的核心组件</a:t>
            </a:r>
            <a:endParaRPr lang="zh-CN" altLang="en-US" b="1">
              <a:latin typeface=".萍方-简" panose="020B0300000000000000" charset="-122"/>
              <a:ea typeface=".萍方-简" panose="020B0300000000000000" charset="-122"/>
              <a:cs typeface=".萍方-简" panose="020B0300000000000000" charset="-122"/>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Rectangle 2"/>
          <p:cNvSpPr>
            <a:spLocks noChangeArrowheads="1"/>
          </p:cNvSpPr>
          <p:nvPr/>
        </p:nvSpPr>
        <p:spPr bwMode="auto">
          <a:xfrm>
            <a:off x="908612" y="4454798"/>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5" name="图片 4"/>
          <p:cNvPicPr>
            <a:picLocks noChangeAspect="1"/>
          </p:cNvPicPr>
          <p:nvPr/>
        </p:nvPicPr>
        <p:blipFill>
          <a:blip r:embed="rId1"/>
          <a:stretch>
            <a:fillRect/>
          </a:stretch>
        </p:blipFill>
        <p:spPr>
          <a:xfrm>
            <a:off x="7632925" y="2943024"/>
            <a:ext cx="15024161" cy="8275720"/>
          </a:xfrm>
          <a:prstGeom prst="rect">
            <a:avLst/>
          </a:prstGeom>
        </p:spPr>
      </p:pic>
      <p:pic>
        <p:nvPicPr>
          <p:cNvPr id="4" name="图片 3"/>
          <p:cNvPicPr>
            <a:picLocks noChangeAspect="1"/>
          </p:cNvPicPr>
          <p:nvPr/>
        </p:nvPicPr>
        <p:blipFill>
          <a:blip r:embed="rId2"/>
          <a:stretch>
            <a:fillRect/>
          </a:stretch>
        </p:blipFill>
        <p:spPr>
          <a:xfrm>
            <a:off x="1381760" y="2152650"/>
            <a:ext cx="5852795" cy="9856470"/>
          </a:xfrm>
          <a:prstGeom prst="rect">
            <a:avLst/>
          </a:prstGeom>
        </p:spPr>
      </p:pic>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LangChain</a:t>
            </a:r>
            <a:r>
              <a:rPr lang="zh-CN" altLang="en-US" b="1">
                <a:latin typeface=".萍方-简" panose="020B0300000000000000" charset="-122"/>
                <a:ea typeface=".萍方-简" panose="020B0300000000000000" charset="-122"/>
                <a:cs typeface=".萍方-简" panose="020B0300000000000000" charset="-122"/>
              </a:rPr>
              <a:t>的核心组件早期分类</a:t>
            </a:r>
            <a:endParaRPr lang="zh-CN" altLang="en-US" b="1">
              <a:latin typeface=".萍方-简" panose="020B0300000000000000" charset="-122"/>
              <a:ea typeface=".萍方-简" panose="020B0300000000000000" charset="-122"/>
              <a:cs typeface=".萍方-简" panose="020B0300000000000000" charset="-122"/>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Rectangle 2"/>
          <p:cNvSpPr>
            <a:spLocks noChangeArrowheads="1"/>
          </p:cNvSpPr>
          <p:nvPr/>
        </p:nvSpPr>
        <p:spPr bwMode="auto">
          <a:xfrm>
            <a:off x="908612" y="4454798"/>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文本框 3"/>
          <p:cNvSpPr txBox="1"/>
          <p:nvPr/>
        </p:nvSpPr>
        <p:spPr>
          <a:xfrm>
            <a:off x="908685" y="1877695"/>
            <a:ext cx="22967315" cy="1157478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noAutofit/>
          </a:bodyPr>
          <a:lstStyle/>
          <a:p>
            <a:r>
              <a:rPr lang="en-US" altLang="zh-CN" sz="4200" b="1">
                <a:latin typeface="微软雅黑" panose="020B0503020204020204" pitchFamily="34" charset="-122"/>
                <a:ea typeface="微软雅黑" panose="020B0503020204020204" pitchFamily="34" charset="-122"/>
              </a:rPr>
              <a:t>LangChain</a:t>
            </a:r>
            <a:r>
              <a:rPr lang="zh-CN" altLang="en-US" sz="4200" b="1">
                <a:latin typeface="微软雅黑" panose="020B0503020204020204" pitchFamily="34" charset="-122"/>
                <a:ea typeface="微软雅黑" panose="020B0503020204020204" pitchFamily="34" charset="-122"/>
              </a:rPr>
              <a:t>中组件其实相当多的，大致上可以分为</a:t>
            </a:r>
            <a:r>
              <a:rPr lang="en-US" altLang="zh-CN" sz="4200" b="1">
                <a:latin typeface="微软雅黑" panose="020B0503020204020204" pitchFamily="34" charset="-122"/>
                <a:ea typeface="微软雅黑" panose="020B0503020204020204" pitchFamily="34" charset="-122"/>
              </a:rPr>
              <a:t>6</a:t>
            </a:r>
            <a:r>
              <a:rPr lang="zh-CN" altLang="en-US" sz="4200" b="1">
                <a:latin typeface="微软雅黑" panose="020B0503020204020204" pitchFamily="34" charset="-122"/>
                <a:ea typeface="微软雅黑" panose="020B0503020204020204" pitchFamily="34" charset="-122"/>
              </a:rPr>
              <a:t>大部分：</a:t>
            </a:r>
            <a:endParaRPr lang="zh-CN" altLang="en-US" sz="4200" b="1">
              <a:latin typeface="微软雅黑" panose="020B0503020204020204" pitchFamily="34" charset="-122"/>
              <a:ea typeface="微软雅黑" panose="020B0503020204020204" pitchFamily="34" charset="-122"/>
            </a:endParaRPr>
          </a:p>
          <a:p>
            <a:r>
              <a:rPr lang="en-US" altLang="zh-CN" sz="4200" b="1">
                <a:latin typeface="微软雅黑" panose="020B0503020204020204" pitchFamily="34" charset="-122"/>
                <a:ea typeface="微软雅黑" panose="020B0503020204020204" pitchFamily="34" charset="-122"/>
              </a:rPr>
              <a:t>1.</a:t>
            </a:r>
            <a:r>
              <a:rPr lang="zh-CN" altLang="en-US" sz="4200" b="1">
                <a:latin typeface="微软雅黑" panose="020B0503020204020204" pitchFamily="34" charset="-122"/>
                <a:ea typeface="微软雅黑" panose="020B0503020204020204" pitchFamily="34" charset="-122"/>
              </a:rPr>
              <a:t>模型包装器（模型输入/输出（Model I/O））</a:t>
            </a:r>
            <a:r>
              <a:rPr lang="zh-CN" altLang="en-US" sz="4200">
                <a:latin typeface=".萍方-简" panose="020B0300000000000000" charset="-122"/>
                <a:ea typeface=".萍方-简" panose="020B0300000000000000" charset="-122"/>
              </a:rPr>
              <a:t>：与语言模型交互的接口</a:t>
            </a:r>
            <a:endParaRPr lang="en-US" altLang="zh-CN" sz="4200">
              <a:latin typeface=".萍方-简" panose="020B0300000000000000" charset="-122"/>
              <a:ea typeface=".萍方-简" panose="020B0300000000000000" charset="-122"/>
            </a:endParaRPr>
          </a:p>
          <a:p>
            <a:r>
              <a:rPr lang="en-US" altLang="zh-CN" sz="4200">
                <a:latin typeface=".萍方-简" panose="020B0300000000000000" charset="-122"/>
                <a:ea typeface=".萍方-简" panose="020B0300000000000000" charset="-122"/>
              </a:rPr>
              <a:t>	</a:t>
            </a:r>
            <a:r>
              <a:rPr lang="zh-CN" altLang="en-US" sz="4200">
                <a:latin typeface=".萍方-简" panose="020B0300000000000000" charset="-122"/>
                <a:ea typeface=".萍方-简" panose="020B0300000000000000" charset="-122"/>
              </a:rPr>
              <a:t>语言模型 </a:t>
            </a:r>
            <a:r>
              <a:rPr lang="en-US" altLang="zh-CN" sz="4200">
                <a:latin typeface=".萍方-简" panose="020B0300000000000000" charset="-122"/>
                <a:ea typeface=".萍方-简" panose="020B0300000000000000" charset="-122"/>
              </a:rPr>
              <a:t>Language Models</a:t>
            </a:r>
            <a:r>
              <a:rPr lang="zh-CN" altLang="en-US" sz="4200">
                <a:latin typeface=".萍方-简" panose="020B0300000000000000" charset="-122"/>
                <a:ea typeface=".萍方-简" panose="020B0300000000000000" charset="-122"/>
              </a:rPr>
              <a:t>、提示模板 </a:t>
            </a:r>
            <a:r>
              <a:rPr lang="en-US" altLang="zh-CN" sz="4200">
                <a:latin typeface=".萍方-简" panose="020B0300000000000000" charset="-122"/>
                <a:ea typeface=".萍方-简" panose="020B0300000000000000" charset="-122"/>
              </a:rPr>
              <a:t>Prompt Templates</a:t>
            </a:r>
            <a:r>
              <a:rPr lang="zh-CN" altLang="en-US" sz="4200">
                <a:latin typeface=".萍方-简" panose="020B0300000000000000" charset="-122"/>
                <a:ea typeface=".萍方-简" panose="020B0300000000000000" charset="-122"/>
              </a:rPr>
              <a:t>、</a:t>
            </a:r>
            <a:endParaRPr lang="zh-CN" altLang="en-US" sz="4200">
              <a:latin typeface=".萍方-简" panose="020B0300000000000000" charset="-122"/>
              <a:ea typeface=".萍方-简" panose="020B0300000000000000" charset="-122"/>
            </a:endParaRPr>
          </a:p>
          <a:p>
            <a:pPr marL="1828800" lvl="4" indent="457200"/>
            <a:r>
              <a:rPr lang="en-US" altLang="zh-CN" sz="4200">
                <a:latin typeface=".萍方-简" panose="020B0300000000000000" charset="-122"/>
                <a:ea typeface=".萍方-简" panose="020B0300000000000000" charset="-122"/>
              </a:rPr>
              <a:t> </a:t>
            </a:r>
            <a:r>
              <a:rPr lang="zh-CN" altLang="en-US" sz="4200">
                <a:latin typeface=".萍方-简" panose="020B0300000000000000" charset="-122"/>
                <a:ea typeface=".萍方-简" panose="020B0300000000000000" charset="-122"/>
              </a:rPr>
              <a:t>输出解析器 </a:t>
            </a:r>
            <a:r>
              <a:rPr lang="en-US" altLang="zh-CN" sz="4200">
                <a:latin typeface=".萍方-简" panose="020B0300000000000000" charset="-122"/>
                <a:ea typeface=".萍方-简" panose="020B0300000000000000" charset="-122"/>
              </a:rPr>
              <a:t>Output Parsers</a:t>
            </a:r>
            <a:r>
              <a:rPr lang="zh-CN" altLang="en-US" sz="4200">
                <a:latin typeface=".萍方-简" panose="020B0300000000000000" charset="-122"/>
                <a:ea typeface=".萍方-简" panose="020B0300000000000000" charset="-122"/>
              </a:rPr>
              <a:t>等等</a:t>
            </a:r>
            <a:endParaRPr lang="zh-CN" altLang="en-US" sz="4200">
              <a:latin typeface=".萍方-简" panose="020B0300000000000000" charset="-122"/>
              <a:ea typeface=".萍方-简" panose="020B0300000000000000" charset="-122"/>
            </a:endParaRPr>
          </a:p>
          <a:p>
            <a:endParaRPr lang="en-US" altLang="zh-CN" sz="4200">
              <a:latin typeface=".萍方-简" panose="020B0300000000000000" charset="-122"/>
              <a:ea typeface=".萍方-简" panose="020B0300000000000000" charset="-122"/>
            </a:endParaRPr>
          </a:p>
          <a:p>
            <a:r>
              <a:rPr lang="en-US" altLang="zh-CN" sz="4200" b="1">
                <a:latin typeface="微软雅黑" panose="020B0503020204020204" pitchFamily="34" charset="-122"/>
                <a:ea typeface="微软雅黑" panose="020B0503020204020204" pitchFamily="34" charset="-122"/>
              </a:rPr>
              <a:t>2.</a:t>
            </a:r>
            <a:r>
              <a:rPr lang="zh-CN" altLang="en-US" sz="4200" b="1">
                <a:latin typeface="微软雅黑" panose="020B0503020204020204" pitchFamily="34" charset="-122"/>
                <a:ea typeface="微软雅黑" panose="020B0503020204020204" pitchFamily="34" charset="-122"/>
              </a:rPr>
              <a:t>数据连接（Data connection）</a:t>
            </a:r>
            <a:r>
              <a:rPr lang="zh-CN" altLang="en-US" sz="4200">
                <a:latin typeface=".萍方-简" panose="020B0300000000000000" charset="-122"/>
                <a:ea typeface=".萍方-简" panose="020B0300000000000000" charset="-122"/>
              </a:rPr>
              <a:t>：与特定应用程序的数据进行交互的接口</a:t>
            </a:r>
            <a:endParaRPr lang="en-US" altLang="zh-CN" sz="4200">
              <a:latin typeface=".萍方-简" panose="020B0300000000000000" charset="-122"/>
              <a:ea typeface=".萍方-简" panose="020B0300000000000000" charset="-122"/>
            </a:endParaRPr>
          </a:p>
          <a:p>
            <a:r>
              <a:rPr lang="en-US" altLang="zh-CN" sz="4200">
                <a:latin typeface=".萍方-简" panose="020B0300000000000000" charset="-122"/>
                <a:ea typeface=".萍方-简" panose="020B0300000000000000" charset="-122"/>
              </a:rPr>
              <a:t>	</a:t>
            </a:r>
            <a:r>
              <a:rPr lang="zh-CN" altLang="en-US" sz="4200">
                <a:latin typeface=".萍方-简" panose="020B0300000000000000" charset="-122"/>
                <a:ea typeface=".萍方-简" panose="020B0300000000000000" charset="-122"/>
              </a:rPr>
              <a:t>文档加载器 、文档切分、文本嵌入、矢量、检索器等等</a:t>
            </a:r>
            <a:endParaRPr lang="zh-CN" altLang="en-US" sz="4200">
              <a:latin typeface=".萍方-简" panose="020B0300000000000000" charset="-122"/>
              <a:ea typeface=".萍方-简" panose="020B0300000000000000" charset="-122"/>
            </a:endParaRPr>
          </a:p>
          <a:p>
            <a:endParaRPr lang="en-US" altLang="zh-CN" sz="4200">
              <a:latin typeface=".萍方-简" panose="020B0300000000000000" charset="-122"/>
              <a:ea typeface=".萍方-简" panose="020B0300000000000000" charset="-122"/>
            </a:endParaRPr>
          </a:p>
          <a:p>
            <a:r>
              <a:rPr lang="en-US" altLang="zh-CN" sz="4200" b="1">
                <a:latin typeface="微软雅黑" panose="020B0503020204020204" pitchFamily="34" charset="-122"/>
                <a:ea typeface="微软雅黑" panose="020B0503020204020204" pitchFamily="34" charset="-122"/>
              </a:rPr>
              <a:t>3.</a:t>
            </a:r>
            <a:r>
              <a:rPr lang="zh-CN" altLang="en-US" sz="4200" b="1">
                <a:latin typeface="微软雅黑" panose="020B0503020204020204" pitchFamily="34" charset="-122"/>
                <a:ea typeface="微软雅黑" panose="020B0503020204020204" pitchFamily="34" charset="-122"/>
              </a:rPr>
              <a:t>链（Chains）</a:t>
            </a:r>
            <a:r>
              <a:rPr lang="zh-CN" altLang="en-US" sz="4200">
                <a:latin typeface=".萍方-简" panose="020B0300000000000000" charset="-122"/>
                <a:ea typeface=".萍方-简" panose="020B0300000000000000" charset="-122"/>
              </a:rPr>
              <a:t>：将组件组合实现端到端应用。</a:t>
            </a:r>
            <a:endParaRPr lang="en-US" altLang="zh-CN" sz="4200">
              <a:latin typeface=".萍方-简" panose="020B0300000000000000" charset="-122"/>
              <a:ea typeface=".萍方-简" panose="020B0300000000000000" charset="-122"/>
            </a:endParaRPr>
          </a:p>
          <a:p>
            <a:r>
              <a:rPr lang="en-US" altLang="zh-CN" sz="4200">
                <a:latin typeface=".萍方-简" panose="020B0300000000000000" charset="-122"/>
                <a:ea typeface=".萍方-简" panose="020B0300000000000000" charset="-122"/>
              </a:rPr>
              <a:t>	</a:t>
            </a:r>
            <a:r>
              <a:rPr lang="zh-CN" altLang="en-US" sz="4200">
                <a:latin typeface=".萍方-简" panose="020B0300000000000000" charset="-122"/>
                <a:ea typeface=".萍方-简" panose="020B0300000000000000" charset="-122"/>
              </a:rPr>
              <a:t>链允许我们将多个组件组合在一起，以创建一个单一的、连贯的应用程序。</a:t>
            </a:r>
            <a:endParaRPr lang="en-US" altLang="zh-CN" sz="4200">
              <a:latin typeface=".萍方-简" panose="020B0300000000000000" charset="-122"/>
              <a:ea typeface=".萍方-简" panose="020B0300000000000000" charset="-122"/>
            </a:endParaRP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LangChain</a:t>
            </a:r>
            <a:r>
              <a:rPr lang="zh-CN" altLang="en-US" b="1">
                <a:latin typeface=".萍方-简" panose="020B0300000000000000" charset="-122"/>
                <a:ea typeface=".萍方-简" panose="020B0300000000000000" charset="-122"/>
                <a:cs typeface=".萍方-简" panose="020B0300000000000000" charset="-122"/>
              </a:rPr>
              <a:t>的核心组件分类</a:t>
            </a:r>
            <a:endParaRPr lang="zh-CN" altLang="en-US" b="1">
              <a:latin typeface=".萍方-简" panose="020B0300000000000000" charset="-122"/>
              <a:ea typeface=".萍方-简" panose="020B0300000000000000" charset="-122"/>
              <a:cs typeface=".萍方-简" panose="020B0300000000000000" charset="-122"/>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Rectangle 2"/>
          <p:cNvSpPr>
            <a:spLocks noChangeArrowheads="1"/>
          </p:cNvSpPr>
          <p:nvPr/>
        </p:nvSpPr>
        <p:spPr bwMode="auto">
          <a:xfrm>
            <a:off x="908612" y="4454798"/>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文本框 3"/>
          <p:cNvSpPr txBox="1"/>
          <p:nvPr/>
        </p:nvSpPr>
        <p:spPr>
          <a:xfrm>
            <a:off x="908685" y="2872105"/>
            <a:ext cx="22967315" cy="844169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noAutofit/>
          </a:bodyPr>
          <a:lstStyle/>
          <a:p>
            <a:r>
              <a:rPr lang="en-US" altLang="zh-CN" sz="4200" b="1">
                <a:latin typeface="微软雅黑" panose="020B0503020204020204" pitchFamily="34" charset="-122"/>
                <a:ea typeface="微软雅黑" panose="020B0503020204020204" pitchFamily="34" charset="-122"/>
              </a:rPr>
              <a:t>4.</a:t>
            </a:r>
            <a:r>
              <a:rPr lang="zh-CN" altLang="en-US" sz="4200" b="1">
                <a:latin typeface="微软雅黑" panose="020B0503020204020204" pitchFamily="34" charset="-122"/>
                <a:ea typeface="微软雅黑" panose="020B0503020204020204" pitchFamily="34" charset="-122"/>
              </a:rPr>
              <a:t>记忆</a:t>
            </a:r>
            <a:r>
              <a:rPr lang="zh-CN" altLang="en-US" sz="4200">
                <a:latin typeface=".萍方-简" panose="020B0300000000000000" charset="-122"/>
                <a:ea typeface=".萍方-简" panose="020B0300000000000000" charset="-122"/>
              </a:rPr>
              <a:t>（</a:t>
            </a:r>
            <a:r>
              <a:rPr lang="en-US" altLang="zh-CN" sz="4200">
                <a:latin typeface=".萍方-简" panose="020B0300000000000000" charset="-122"/>
                <a:ea typeface=".萍方-简" panose="020B0300000000000000" charset="-122"/>
              </a:rPr>
              <a:t>Memory</a:t>
            </a:r>
            <a:r>
              <a:rPr lang="zh-CN" altLang="en-US" sz="4200">
                <a:latin typeface=".萍方-简" panose="020B0300000000000000" charset="-122"/>
                <a:ea typeface=".萍方-简" panose="020B0300000000000000" charset="-122"/>
              </a:rPr>
              <a:t>）：用于链的多次运行之间持久化应用程序状态。</a:t>
            </a:r>
            <a:endParaRPr lang="zh-CN" altLang="en-US" sz="4200">
              <a:latin typeface=".萍方-简" panose="020B0300000000000000" charset="-122"/>
              <a:ea typeface=".萍方-简" panose="020B0300000000000000" charset="-122"/>
            </a:endParaRPr>
          </a:p>
          <a:p>
            <a:r>
              <a:rPr lang="zh-CN" altLang="en-US" sz="4200">
                <a:latin typeface=".萍方-简" panose="020B0300000000000000" charset="-122"/>
                <a:ea typeface=".萍方-简" panose="020B0300000000000000" charset="-122"/>
              </a:rPr>
              <a:t>	</a:t>
            </a:r>
            <a:endParaRPr lang="zh-CN" altLang="en-US" sz="4200">
              <a:latin typeface=".萍方-简" panose="020B0300000000000000" charset="-122"/>
              <a:ea typeface=".萍方-简" panose="020B0300000000000000" charset="-122"/>
            </a:endParaRPr>
          </a:p>
          <a:p>
            <a:r>
              <a:rPr lang="en-US" altLang="zh-CN" sz="4200" b="1">
                <a:latin typeface="微软雅黑" panose="020B0503020204020204" pitchFamily="34" charset="-122"/>
                <a:ea typeface="微软雅黑" panose="020B0503020204020204" pitchFamily="34" charset="-122"/>
              </a:rPr>
              <a:t>5.</a:t>
            </a:r>
            <a:r>
              <a:rPr lang="zh-CN" altLang="en-US" sz="4200" b="1">
                <a:latin typeface="微软雅黑" panose="020B0503020204020204" pitchFamily="34" charset="-122"/>
                <a:ea typeface="微软雅黑" panose="020B0503020204020204" pitchFamily="34" charset="-122"/>
              </a:rPr>
              <a:t>代理</a:t>
            </a:r>
            <a:r>
              <a:rPr lang="zh-CN" altLang="en-US" sz="4200">
                <a:latin typeface=".萍方-简" panose="020B0300000000000000" charset="-122"/>
                <a:ea typeface=".萍方-简" panose="020B0300000000000000" charset="-122"/>
              </a:rPr>
              <a:t>（</a:t>
            </a:r>
            <a:r>
              <a:rPr lang="en-US" altLang="zh-CN" sz="4200">
                <a:latin typeface=".萍方-简" panose="020B0300000000000000" charset="-122"/>
                <a:ea typeface=".萍方-简" panose="020B0300000000000000" charset="-122"/>
              </a:rPr>
              <a:t>Agents</a:t>
            </a:r>
            <a:r>
              <a:rPr lang="zh-CN" altLang="en-US" sz="4200">
                <a:latin typeface=".萍方-简" panose="020B0300000000000000" charset="-122"/>
                <a:ea typeface=".萍方-简" panose="020B0300000000000000" charset="-122"/>
              </a:rPr>
              <a:t>）与工具：扩展模型的推理能力，用于复杂的应用的调用序列。</a:t>
            </a:r>
            <a:endParaRPr lang="zh-CN" altLang="en-US" sz="4200">
              <a:latin typeface=".萍方-简" panose="020B0300000000000000" charset="-122"/>
              <a:ea typeface=".萍方-简" panose="020B0300000000000000" charset="-122"/>
            </a:endParaRPr>
          </a:p>
          <a:p>
            <a:r>
              <a:rPr lang="zh-CN" altLang="en-US" sz="4200">
                <a:latin typeface=".萍方-简" panose="020B0300000000000000" charset="-122"/>
                <a:ea typeface=".萍方-简" panose="020B0300000000000000" charset="-122"/>
              </a:rPr>
              <a:t>	</a:t>
            </a:r>
            <a:endParaRPr lang="zh-CN" altLang="en-US" sz="4200">
              <a:latin typeface=".萍方-简" panose="020B0300000000000000" charset="-122"/>
              <a:ea typeface=".萍方-简" panose="020B0300000000000000" charset="-122"/>
            </a:endParaRPr>
          </a:p>
          <a:p>
            <a:r>
              <a:rPr lang="en-US" altLang="zh-CN" sz="4200" b="1">
                <a:latin typeface="微软雅黑" panose="020B0503020204020204" pitchFamily="34" charset="-122"/>
                <a:ea typeface="微软雅黑" panose="020B0503020204020204" pitchFamily="34" charset="-122"/>
              </a:rPr>
              <a:t>6.</a:t>
            </a:r>
            <a:r>
              <a:rPr lang="zh-CN" altLang="en-US" sz="4200" b="1">
                <a:latin typeface="微软雅黑" panose="020B0503020204020204" pitchFamily="34" charset="-122"/>
                <a:ea typeface="微软雅黑" panose="020B0503020204020204" pitchFamily="34" charset="-122"/>
              </a:rPr>
              <a:t>中间件</a:t>
            </a:r>
            <a:r>
              <a:rPr lang="zh-CN" altLang="en-US" sz="4200">
                <a:latin typeface=".萍方-简" panose="020B0300000000000000" charset="-122"/>
                <a:ea typeface=".萍方-简" panose="020B0300000000000000" charset="-122"/>
              </a:rPr>
              <a:t>（</a:t>
            </a:r>
            <a:r>
              <a:rPr lang="en-US" altLang="zh-CN" sz="4200">
                <a:latin typeface=".萍方-简" panose="020B0300000000000000" charset="-122"/>
                <a:ea typeface=".萍方-简" panose="020B0300000000000000" charset="-122"/>
              </a:rPr>
              <a:t>Middleware</a:t>
            </a:r>
            <a:r>
              <a:rPr lang="zh-CN" altLang="en-US" sz="4200">
                <a:latin typeface=".萍方-简" panose="020B0300000000000000" charset="-122"/>
                <a:ea typeface=".萍方-简" panose="020B0300000000000000" charset="-122"/>
              </a:rPr>
              <a:t>）：控制和自定义每个步骤的代理执行</a:t>
            </a:r>
            <a:endParaRPr lang="zh-CN" altLang="en-US" sz="4200">
              <a:latin typeface=".萍方-简" panose="020B0300000000000000" charset="-122"/>
              <a:ea typeface=".萍方-简" panose="020B0300000000000000" charset="-122"/>
            </a:endParaRP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这里是章节一"/>
          <p:cNvSpPr txBox="1">
            <a:spLocks noGrp="1"/>
          </p:cNvSpPr>
          <p:nvPr>
            <p:ph type="title"/>
          </p:nvPr>
        </p:nvSpPr>
        <p:spPr>
          <a:xfrm>
            <a:off x="4700270" y="4774565"/>
            <a:ext cx="15958185" cy="2804160"/>
          </a:xfrm>
          <a:prstGeom prst="rect">
            <a:avLst/>
          </a:prstGeom>
        </p:spPr>
        <p:txBody>
          <a:bodyPr>
            <a:normAutofit fontScale="90000"/>
          </a:bodyPr>
          <a:lstStyle/>
          <a:p>
            <a:r>
              <a:rPr lang="zh-CN" altLang="en-US">
                <a:latin typeface=".萍方-简" panose="020B0300000000000000" charset="-122"/>
                <a:ea typeface=".萍方-简" panose="020B0300000000000000" charset="-122"/>
              </a:rPr>
              <a:t>开发</a:t>
            </a:r>
            <a:r>
              <a:rPr lang="zh-CN" altLang="en-US">
                <a:latin typeface=".萍方-简" panose="020B0300000000000000" charset="-122"/>
                <a:ea typeface=".萍方-简" panose="020B0300000000000000" charset="-122"/>
                <a:sym typeface="+mn-ea"/>
              </a:rPr>
              <a:t>第一个</a:t>
            </a:r>
            <a:r>
              <a:rPr lang="en-US" altLang="zh-CN">
                <a:latin typeface=".萍方-简" panose="020B0300000000000000" charset="-122"/>
                <a:ea typeface=".萍方-简" panose="020B0300000000000000" charset="-122"/>
              </a:rPr>
              <a:t>LangChain</a:t>
            </a:r>
            <a:r>
              <a:rPr lang="zh-CN" altLang="en-US">
                <a:latin typeface=".萍方-简" panose="020B0300000000000000" charset="-122"/>
                <a:ea typeface=".萍方-简" panose="020B0300000000000000" charset="-122"/>
              </a:rPr>
              <a:t>应用程序</a:t>
            </a:r>
            <a:br>
              <a:rPr lang="zh-CN" altLang="en-US">
                <a:latin typeface=".萍方-简" panose="020B0300000000000000" charset="-122"/>
                <a:ea typeface=".萍方-简" panose="020B0300000000000000" charset="-122"/>
              </a:rPr>
            </a:br>
            <a:endParaRPr lang="zh-CN" altLang="en-US" sz="4445">
              <a:latin typeface=".萍方-简" panose="020B0300000000000000" charset="-122"/>
              <a:ea typeface=".萍方-简" panose="020B0300000000000000" charset="-122"/>
            </a:endParaRP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第一个</a:t>
            </a:r>
            <a:r>
              <a:rPr lang="en-US" altLang="zh-CN" b="1">
                <a:latin typeface=".萍方-简" panose="020B0300000000000000" charset="-122"/>
                <a:ea typeface=".萍方-简" panose="020B0300000000000000" charset="-122"/>
                <a:cs typeface=".萍方-简" panose="020B0300000000000000" charset="-122"/>
              </a:rPr>
              <a:t>LangChain</a:t>
            </a:r>
            <a:r>
              <a:rPr lang="zh-CN" altLang="en-US" b="1">
                <a:latin typeface=".萍方-简" panose="020B0300000000000000" charset="-122"/>
                <a:ea typeface=".萍方-简" panose="020B0300000000000000" charset="-122"/>
                <a:cs typeface=".萍方-简" panose="020B0300000000000000" charset="-122"/>
              </a:rPr>
              <a:t>应用程序</a:t>
            </a:r>
            <a:endParaRPr lang="en-US" altLang="zh-CN" b="1">
              <a:latin typeface=".萍方-简" panose="020B0300000000000000" charset="-122"/>
              <a:ea typeface=".萍方-简" panose="020B0300000000000000" charset="-122"/>
              <a:cs typeface=".萍方-简" panose="020B0300000000000000" charset="-122"/>
            </a:endParaRPr>
          </a:p>
        </p:txBody>
      </p:sp>
      <p:sp>
        <p:nvSpPr>
          <p:cNvPr id="2" name="文本占位符 1"/>
          <p:cNvSpPr txBox="1"/>
          <p:nvPr/>
        </p:nvSpPr>
        <p:spPr>
          <a:xfrm>
            <a:off x="898523" y="2250017"/>
            <a:ext cx="21961477" cy="96710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zh-CN" altLang="en-US" sz="2000" dirty="0">
              <a:latin typeface="微软雅黑" panose="020B0503020204020204" pitchFamily="34" charset="-122"/>
              <a:ea typeface="微软雅黑" panose="020B0503020204020204" pitchFamily="34" charset="-122"/>
            </a:endParaRPr>
          </a:p>
        </p:txBody>
      </p:sp>
      <p:sp>
        <p:nvSpPr>
          <p:cNvPr id="7" name="文本框 6"/>
          <p:cNvSpPr txBox="1"/>
          <p:nvPr/>
        </p:nvSpPr>
        <p:spPr>
          <a:xfrm>
            <a:off x="898525" y="1864995"/>
            <a:ext cx="21868765" cy="186182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noAutofit/>
          </a:bodyPr>
          <a:lstStyle/>
          <a:p>
            <a:r>
              <a:rPr lang="zh-CN" altLang="en-US" sz="6000" b="1">
                <a:latin typeface="微软雅黑" panose="020B0503020204020204" pitchFamily="34" charset="-122"/>
                <a:ea typeface="微软雅黑" panose="020B0503020204020204" pitchFamily="34" charset="-122"/>
                <a:cs typeface="微软雅黑" panose="020B0503020204020204" pitchFamily="34" charset="-122"/>
              </a:rPr>
              <a:t>模型包装器（</a:t>
            </a:r>
            <a:r>
              <a:rPr lang="en-US" altLang="zh-CN" sz="6000" b="1">
                <a:latin typeface="微软雅黑" panose="020B0503020204020204" pitchFamily="34" charset="-122"/>
                <a:ea typeface="微软雅黑" panose="020B0503020204020204" pitchFamily="34" charset="-122"/>
                <a:cs typeface="微软雅黑" panose="020B0503020204020204" pitchFamily="34" charset="-122"/>
              </a:rPr>
              <a:t>Model I/O</a:t>
            </a:r>
            <a:r>
              <a:rPr lang="zh-CN" altLang="en-US" sz="6000" b="1">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6000" b="1">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a:latin typeface=".萍方-简" panose="020B0300000000000000" charset="-122"/>
                <a:ea typeface=".萍方-简" panose="020B0300000000000000" charset="-122"/>
              </a:rPr>
              <a:t>主要包含三部分：</a:t>
            </a:r>
            <a:r>
              <a:rPr lang="zh-CN" altLang="en-US">
                <a:latin typeface=".萍方-简" panose="020B0300000000000000" charset="-122"/>
                <a:ea typeface=".萍方-简" panose="020B0300000000000000" charset="-122"/>
                <a:sym typeface="+mn-ea"/>
              </a:rPr>
              <a:t>提示词、调用模型、输出解析</a:t>
            </a:r>
            <a:r>
              <a:rPr lang="en-US" altLang="zh-CN">
                <a:latin typeface=".萍方-简" panose="020B0300000000000000" charset="-122"/>
                <a:ea typeface=".萍方-简" panose="020B0300000000000000" charset="-122"/>
                <a:sym typeface="+mn-ea"/>
              </a:rPr>
              <a:t>(Parse)</a:t>
            </a:r>
            <a:endParaRPr lang="zh-CN" altLang="en-US">
              <a:latin typeface=".萍方-简" panose="020B0300000000000000" charset="-122"/>
              <a:ea typeface=".萍方-简" panose="020B0300000000000000" charset="-122"/>
            </a:endParaRPr>
          </a:p>
        </p:txBody>
      </p:sp>
      <p:pic>
        <p:nvPicPr>
          <p:cNvPr id="5" name="图片 4"/>
          <p:cNvPicPr>
            <a:picLocks noChangeAspect="1"/>
          </p:cNvPicPr>
          <p:nvPr/>
        </p:nvPicPr>
        <p:blipFill>
          <a:blip r:embed="rId1"/>
          <a:stretch>
            <a:fillRect/>
          </a:stretch>
        </p:blipFill>
        <p:spPr>
          <a:xfrm>
            <a:off x="1243213" y="4916466"/>
            <a:ext cx="22465784" cy="7256462"/>
          </a:xfrm>
          <a:prstGeom prst="rect">
            <a:avLst/>
          </a:prstGeom>
        </p:spPr>
      </p:pic>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normAutofit fontScale="90000"/>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第一个</a:t>
            </a:r>
            <a:r>
              <a:rPr lang="en-US" altLang="zh-CN" b="1">
                <a:latin typeface=".萍方-简" panose="020B0300000000000000" charset="-122"/>
                <a:ea typeface=".萍方-简" panose="020B0300000000000000" charset="-122"/>
                <a:cs typeface=".萍方-简" panose="020B0300000000000000" charset="-122"/>
              </a:rPr>
              <a:t>LangChain</a:t>
            </a:r>
            <a:r>
              <a:rPr lang="zh-CN" altLang="en-US" b="1">
                <a:latin typeface=".萍方-简" panose="020B0300000000000000" charset="-122"/>
                <a:ea typeface=".萍方-简" panose="020B0300000000000000" charset="-122"/>
                <a:cs typeface=".萍方-简" panose="020B0300000000000000" charset="-122"/>
              </a:rPr>
              <a:t>应用程序</a:t>
            </a:r>
            <a:r>
              <a:rPr lang="en-US" altLang="zh-CN" b="1">
                <a:latin typeface=".萍方-简" panose="020B0300000000000000" charset="-122"/>
                <a:ea typeface=".萍方-简" panose="020B0300000000000000" charset="-122"/>
                <a:cs typeface=".萍方-简" panose="020B0300000000000000" charset="-122"/>
              </a:rPr>
              <a:t>-</a:t>
            </a:r>
            <a:r>
              <a:rPr lang="zh-CN" altLang="en-US" b="1">
                <a:latin typeface=".萍方-简" panose="020B0300000000000000" charset="-122"/>
                <a:ea typeface=".萍方-简" panose="020B0300000000000000" charset="-122"/>
                <a:cs typeface=".萍方-简" panose="020B0300000000000000" charset="-122"/>
              </a:rPr>
              <a:t>模型分类</a:t>
            </a:r>
            <a:endParaRPr lang="zh-CN" altLang="en-US" b="1">
              <a:latin typeface=".萍方-简" panose="020B0300000000000000" charset="-122"/>
              <a:ea typeface=".萍方-简" panose="020B0300000000000000" charset="-122"/>
              <a:cs typeface=".萍方-简" panose="020B0300000000000000" charset="-122"/>
            </a:endParaRPr>
          </a:p>
        </p:txBody>
      </p:sp>
      <p:sp>
        <p:nvSpPr>
          <p:cNvPr id="2" name="文本占位符 1"/>
          <p:cNvSpPr txBox="1"/>
          <p:nvPr/>
        </p:nvSpPr>
        <p:spPr>
          <a:xfrm>
            <a:off x="898523" y="2250017"/>
            <a:ext cx="21961477" cy="96710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zh-CN" altLang="en-US" sz="2000" dirty="0">
              <a:latin typeface="微软雅黑" panose="020B0503020204020204" pitchFamily="34" charset="-122"/>
              <a:ea typeface="微软雅黑" panose="020B0503020204020204" pitchFamily="34" charset="-122"/>
            </a:endParaRPr>
          </a:p>
        </p:txBody>
      </p:sp>
      <p:sp>
        <p:nvSpPr>
          <p:cNvPr id="7" name="文本框 6"/>
          <p:cNvSpPr txBox="1"/>
          <p:nvPr/>
        </p:nvSpPr>
        <p:spPr>
          <a:xfrm>
            <a:off x="898239" y="1864847"/>
            <a:ext cx="19788156" cy="92202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en-US" altLang="zh-CN" sz="6000" b="1">
                <a:latin typeface="微软雅黑" panose="020B0503020204020204" pitchFamily="34" charset="-122"/>
                <a:ea typeface="微软雅黑" panose="020B0503020204020204" pitchFamily="34" charset="-122"/>
                <a:cs typeface="微软雅黑" panose="020B0503020204020204" pitchFamily="34" charset="-122"/>
              </a:rPr>
              <a:t>Model I/O</a:t>
            </a:r>
            <a:r>
              <a:rPr lang="zh-CN" altLang="en-US" sz="6000" b="1">
                <a:latin typeface="微软雅黑" panose="020B0503020204020204" pitchFamily="34" charset="-122"/>
                <a:ea typeface="微软雅黑" panose="020B0503020204020204" pitchFamily="34" charset="-122"/>
                <a:cs typeface="微软雅黑" panose="020B0503020204020204" pitchFamily="34" charset="-122"/>
              </a:rPr>
              <a:t>之模型包装器</a:t>
            </a:r>
            <a:endParaRPr lang="zh-CN" altLang="en-US" sz="60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p:cNvSpPr txBox="1"/>
          <p:nvPr/>
        </p:nvSpPr>
        <p:spPr>
          <a:xfrm>
            <a:off x="1243330" y="3300730"/>
            <a:ext cx="21616670" cy="925195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noAutofit/>
          </a:bodyPr>
          <a:lstStyle/>
          <a:p>
            <a:r>
              <a:rPr lang="en-US" altLang="zh-CN">
                <a:latin typeface=".萍方-简" panose="020B0300000000000000" charset="-122"/>
                <a:ea typeface=".萍方-简" panose="020B0300000000000000" charset="-122"/>
              </a:rPr>
              <a:t>LangChain </a:t>
            </a:r>
            <a:r>
              <a:rPr lang="zh-CN" altLang="en-US">
                <a:latin typeface=".萍方-简" panose="020B0300000000000000" charset="-122"/>
                <a:ea typeface=".萍方-简" panose="020B0300000000000000" charset="-122"/>
              </a:rPr>
              <a:t>提供通用接口调用不同类型的语言模型，这个通用接口被称为模型包装器。</a:t>
            </a:r>
            <a:r>
              <a:rPr lang="en-US" altLang="zh-CN">
                <a:latin typeface=".萍方-简" panose="020B0300000000000000" charset="-122"/>
                <a:ea typeface=".萍方-简" panose="020B0300000000000000" charset="-122"/>
              </a:rPr>
              <a:t>LangChain</a:t>
            </a:r>
            <a:r>
              <a:rPr lang="zh-CN" altLang="en-US">
                <a:latin typeface=".萍方-简" panose="020B0300000000000000" charset="-122"/>
                <a:ea typeface=".萍方-简" panose="020B0300000000000000" charset="-122"/>
              </a:rPr>
              <a:t>支持的模型有三大类：</a:t>
            </a:r>
            <a:endParaRPr lang="zh-CN" altLang="en-US">
              <a:latin typeface=".萍方-简" panose="020B0300000000000000" charset="-122"/>
              <a:ea typeface=".萍方-简" panose="020B0300000000000000" charset="-122"/>
            </a:endParaRPr>
          </a:p>
          <a:p>
            <a:endParaRPr lang="en-US" altLang="zh-CN">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1.</a:t>
            </a:r>
            <a:r>
              <a:rPr lang="zh-CN" altLang="en-US">
                <a:latin typeface=".萍方-简" panose="020B0300000000000000" charset="-122"/>
                <a:ea typeface=".萍方-简" panose="020B0300000000000000" charset="-122"/>
              </a:rPr>
              <a:t>非对话模型（</a:t>
            </a:r>
            <a:r>
              <a:rPr lang="en-US" altLang="zh-CN">
                <a:latin typeface=".萍方-简" panose="020B0300000000000000" charset="-122"/>
                <a:ea typeface=".萍方-简" panose="020B0300000000000000" charset="-122"/>
              </a:rPr>
              <a:t>LLM</a:t>
            </a:r>
            <a:r>
              <a:rPr lang="zh-CN" altLang="en-US">
                <a:latin typeface=".萍方-简" panose="020B0300000000000000" charset="-122"/>
                <a:ea typeface=".萍方-简" panose="020B0300000000000000" charset="-122"/>
              </a:rPr>
              <a:t>）包装器</a:t>
            </a:r>
            <a:endParaRPr lang="zh-CN" altLang="en-US">
              <a:latin typeface=".萍方-简" panose="020B0300000000000000" charset="-122"/>
              <a:ea typeface=".萍方-简" panose="020B0300000000000000" charset="-122"/>
            </a:endParaRPr>
          </a:p>
          <a:p>
            <a:endParaRPr lang="en-US" altLang="zh-CN">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2.</a:t>
            </a:r>
            <a:r>
              <a:rPr lang="zh-CN" altLang="en-US">
                <a:latin typeface=".萍方-简" panose="020B0300000000000000" charset="-122"/>
                <a:ea typeface=".萍方-简" panose="020B0300000000000000" charset="-122"/>
              </a:rPr>
              <a:t>对话聊天模型（</a:t>
            </a:r>
            <a:r>
              <a:rPr lang="en-US" altLang="zh-CN">
                <a:latin typeface=".萍方-简" panose="020B0300000000000000" charset="-122"/>
                <a:ea typeface=".萍方-简" panose="020B0300000000000000" charset="-122"/>
              </a:rPr>
              <a:t>Chat Model</a:t>
            </a:r>
            <a:r>
              <a:rPr lang="zh-CN" altLang="en-US">
                <a:latin typeface=".萍方-简" panose="020B0300000000000000" charset="-122"/>
                <a:ea typeface=".萍方-简" panose="020B0300000000000000" charset="-122"/>
              </a:rPr>
              <a:t>）包装器</a:t>
            </a:r>
            <a:endParaRPr lang="zh-CN" altLang="en-US">
              <a:latin typeface=".萍方-简" panose="020B0300000000000000" charset="-122"/>
              <a:ea typeface=".萍方-简" panose="020B0300000000000000" charset="-122"/>
            </a:endParaRPr>
          </a:p>
          <a:p>
            <a:endParaRPr lang="en-US" altLang="zh-CN">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3.</a:t>
            </a:r>
            <a:r>
              <a:rPr lang="zh-CN" altLang="en-US">
                <a:latin typeface=".萍方-简" panose="020B0300000000000000" charset="-122"/>
                <a:ea typeface=".萍方-简" panose="020B0300000000000000" charset="-122"/>
              </a:rPr>
              <a:t>文本嵌入模型（</a:t>
            </a:r>
            <a:r>
              <a:rPr lang="en-US" altLang="zh-CN">
                <a:latin typeface=".萍方-简" panose="020B0300000000000000" charset="-122"/>
                <a:ea typeface=".萍方-简" panose="020B0300000000000000" charset="-122"/>
              </a:rPr>
              <a:t>Embedding Model</a:t>
            </a:r>
            <a:r>
              <a:rPr lang="zh-CN" altLang="en-US">
                <a:latin typeface=".萍方-简" panose="020B0300000000000000" charset="-122"/>
                <a:ea typeface=".萍方-简" panose="020B0300000000000000" charset="-122"/>
              </a:rPr>
              <a:t>），这些模型将文本作为输入并返回词向量。在后面</a:t>
            </a:r>
            <a:r>
              <a:rPr lang="en-US" altLang="zh-CN">
                <a:latin typeface=".萍方-简" panose="020B0300000000000000" charset="-122"/>
                <a:ea typeface=".萍方-简" panose="020B0300000000000000" charset="-122"/>
              </a:rPr>
              <a:t>RAG</a:t>
            </a:r>
            <a:r>
              <a:rPr lang="zh-CN" altLang="en-US">
                <a:latin typeface=".萍方-简" panose="020B0300000000000000" charset="-122"/>
                <a:ea typeface=".萍方-简" panose="020B0300000000000000" charset="-122"/>
              </a:rPr>
              <a:t>的课程会单独学习和使用</a:t>
            </a:r>
            <a:endParaRPr lang="en-US" altLang="zh-CN">
              <a:latin typeface=".萍方-简" panose="020B0300000000000000" charset="-122"/>
              <a:ea typeface=".萍方-简" panose="020B0300000000000000" charset="-122"/>
            </a:endParaRP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normAutofit fontScale="90000"/>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第一个</a:t>
            </a:r>
            <a:r>
              <a:rPr lang="en-US" altLang="zh-CN" b="1">
                <a:latin typeface=".萍方-简" panose="020B0300000000000000" charset="-122"/>
                <a:ea typeface=".萍方-简" panose="020B0300000000000000" charset="-122"/>
                <a:cs typeface=".萍方-简" panose="020B0300000000000000" charset="-122"/>
              </a:rPr>
              <a:t>LangChain</a:t>
            </a:r>
            <a:r>
              <a:rPr lang="zh-CN" altLang="en-US" b="1">
                <a:latin typeface=".萍方-简" panose="020B0300000000000000" charset="-122"/>
                <a:ea typeface=".萍方-简" panose="020B0300000000000000" charset="-122"/>
                <a:cs typeface=".萍方-简" panose="020B0300000000000000" charset="-122"/>
              </a:rPr>
              <a:t>应用程序</a:t>
            </a:r>
            <a:r>
              <a:rPr lang="en-US" altLang="zh-CN" b="1">
                <a:latin typeface=".萍方-简" panose="020B0300000000000000" charset="-122"/>
                <a:ea typeface=".萍方-简" panose="020B0300000000000000" charset="-122"/>
                <a:cs typeface=".萍方-简" panose="020B0300000000000000" charset="-122"/>
                <a:sym typeface="+mn-ea"/>
              </a:rPr>
              <a:t>-</a:t>
            </a:r>
            <a:r>
              <a:rPr lang="zh-CN" altLang="en-US" b="1">
                <a:latin typeface=".萍方-简" panose="020B0300000000000000" charset="-122"/>
                <a:ea typeface=".萍方-简" panose="020B0300000000000000" charset="-122"/>
                <a:cs typeface=".萍方-简" panose="020B0300000000000000" charset="-122"/>
                <a:sym typeface="+mn-ea"/>
              </a:rPr>
              <a:t>模型分类</a:t>
            </a:r>
            <a:endParaRPr lang="en-US" altLang="zh-CN" b="1">
              <a:latin typeface=".萍方-简" panose="020B0300000000000000" charset="-122"/>
              <a:ea typeface=".萍方-简" panose="020B0300000000000000" charset="-122"/>
              <a:cs typeface=".萍方-简" panose="020B0300000000000000" charset="-122"/>
            </a:endParaRPr>
          </a:p>
        </p:txBody>
      </p:sp>
      <p:sp>
        <p:nvSpPr>
          <p:cNvPr id="7" name="文本框 6"/>
          <p:cNvSpPr txBox="1"/>
          <p:nvPr/>
        </p:nvSpPr>
        <p:spPr>
          <a:xfrm>
            <a:off x="1243044" y="1864847"/>
            <a:ext cx="19788156" cy="75565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模型类型详解：</a:t>
            </a:r>
            <a:endParaRPr lang="zh-CN" altLang="en-US">
              <a:latin typeface=".萍方-简" panose="020B0300000000000000" charset="-122"/>
              <a:ea typeface=".萍方-简" panose="020B0300000000000000" charset="-122"/>
            </a:endParaRPr>
          </a:p>
        </p:txBody>
      </p:sp>
      <p:sp>
        <p:nvSpPr>
          <p:cNvPr id="3" name="文本框 2"/>
          <p:cNvSpPr txBox="1"/>
          <p:nvPr/>
        </p:nvSpPr>
        <p:spPr>
          <a:xfrm>
            <a:off x="1243044" y="3020355"/>
            <a:ext cx="21616956" cy="9209405"/>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en-US" altLang="zh-CN" sz="6000">
                <a:latin typeface=".萍方-简" panose="020B0300000000000000" charset="-122"/>
                <a:ea typeface=".萍方-简" panose="020B0300000000000000" charset="-122"/>
              </a:rPr>
              <a:t>1.</a:t>
            </a:r>
            <a:r>
              <a:rPr lang="zh-CN" altLang="en-US" sz="6000">
                <a:latin typeface=".萍方-简" panose="020B0300000000000000" charset="-122"/>
                <a:ea typeface=".萍方-简" panose="020B0300000000000000" charset="-122"/>
              </a:rPr>
              <a:t>非对话</a:t>
            </a:r>
            <a:r>
              <a:rPr lang="zh-CN" altLang="en-US" sz="6000">
                <a:latin typeface=".萍方-简" panose="020B0300000000000000" charset="-122"/>
                <a:ea typeface=".萍方-简" panose="020B0300000000000000" charset="-122"/>
              </a:rPr>
              <a:t>模型（</a:t>
            </a:r>
            <a:r>
              <a:rPr lang="en-US" altLang="zh-CN" sz="6000">
                <a:latin typeface=".萍方-简" panose="020B0300000000000000" charset="-122"/>
                <a:ea typeface=".萍方-简" panose="020B0300000000000000" charset="-122"/>
              </a:rPr>
              <a:t>LLM</a:t>
            </a:r>
            <a:r>
              <a:rPr lang="zh-CN" altLang="en-US" sz="6000">
                <a:latin typeface=".萍方-简" panose="020B0300000000000000" charset="-122"/>
                <a:ea typeface=".萍方-简" panose="020B0300000000000000" charset="-122"/>
              </a:rPr>
              <a:t>）包装器</a:t>
            </a:r>
            <a:r>
              <a:rPr lang="zh-CN" altLang="en-US">
                <a:latin typeface=".萍方-简" panose="020B0300000000000000" charset="-122"/>
                <a:ea typeface=".萍方-简" panose="020B0300000000000000" charset="-122"/>
              </a:rPr>
              <a:t> ：也叫文本补全模型，接收文本字符串作为输入，并返回一个补全字符串作为输出。</a:t>
            </a:r>
            <a:endParaRPr lang="zh-CN" altLang="en-US">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它基于</a:t>
            </a:r>
            <a:r>
              <a:rPr lang="en-US" altLang="zh-CN">
                <a:latin typeface=".萍方-简" panose="020B0300000000000000" charset="-122"/>
                <a:ea typeface=".萍方-简" panose="020B0300000000000000" charset="-122"/>
              </a:rPr>
              <a:t>Transformer</a:t>
            </a:r>
            <a:r>
              <a:rPr lang="zh-CN" altLang="en-US">
                <a:latin typeface=".萍方-简" panose="020B0300000000000000" charset="-122"/>
                <a:ea typeface=".萍方-简" panose="020B0300000000000000" charset="-122"/>
              </a:rPr>
              <a:t>架构，通过大规模训练数据学习语言规律，适用于文本生成、摘要、翻译、代码生成等任务。</a:t>
            </a:r>
            <a:endParaRPr lang="zh-CN" altLang="en-US">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可以理解为只能一问一答。</a:t>
            </a:r>
            <a:r>
              <a:rPr lang="en-US" altLang="zh-CN">
                <a:latin typeface=".萍方-简" panose="020B0300000000000000" charset="-122"/>
                <a:ea typeface=".萍方-简" panose="020B0300000000000000" charset="-122"/>
              </a:rPr>
              <a:t>OpenAI</a:t>
            </a:r>
            <a:r>
              <a:rPr lang="zh-CN" altLang="en-US">
                <a:latin typeface=".萍方-简" panose="020B0300000000000000" charset="-122"/>
                <a:ea typeface=".萍方-简" panose="020B0300000000000000" charset="-122"/>
              </a:rPr>
              <a:t>的文本补全模型（如</a:t>
            </a:r>
            <a:r>
              <a:rPr lang="en-US" altLang="zh-CN">
                <a:latin typeface=".萍方-简" panose="020B0300000000000000" charset="-122"/>
                <a:ea typeface=".萍方-简" panose="020B0300000000000000" charset="-122"/>
              </a:rPr>
              <a:t>GPT-3</a:t>
            </a:r>
            <a:r>
              <a:rPr lang="zh-CN" altLang="en-US">
                <a:latin typeface=".萍方-简" panose="020B0300000000000000" charset="-122"/>
                <a:ea typeface=".萍方-简" panose="020B0300000000000000" charset="-122"/>
              </a:rPr>
              <a:t>、</a:t>
            </a:r>
            <a:r>
              <a:rPr lang="en-US" altLang="zh-CN">
                <a:latin typeface=".萍方-简" panose="020B0300000000000000" charset="-122"/>
                <a:ea typeface=".萍方-简" panose="020B0300000000000000" charset="-122"/>
              </a:rPr>
              <a:t>text-davinci-003</a:t>
            </a:r>
            <a:r>
              <a:rPr lang="zh-CN" altLang="en-US">
                <a:latin typeface=".萍方-简" panose="020B0300000000000000" charset="-122"/>
                <a:ea typeface=".萍方-简" panose="020B0300000000000000" charset="-122"/>
              </a:rPr>
              <a:t>）是通用文本生成工具，而聊天模型（如</a:t>
            </a:r>
            <a:r>
              <a:rPr lang="en-US" altLang="zh-CN">
                <a:latin typeface=".萍方-简" panose="020B0300000000000000" charset="-122"/>
                <a:ea typeface=".萍方-简" panose="020B0300000000000000" charset="-122"/>
              </a:rPr>
              <a:t>GPT-3.5 Turbo</a:t>
            </a:r>
            <a:r>
              <a:rPr lang="zh-CN" altLang="en-US">
                <a:latin typeface=".萍方-简" panose="020B0300000000000000" charset="-122"/>
                <a:ea typeface=".萍方-简" panose="020B0300000000000000" charset="-122"/>
              </a:rPr>
              <a:t>）是对话专用模型</a:t>
            </a:r>
            <a:endParaRPr lang="zh-CN" altLang="en-US">
              <a:latin typeface=".萍方-简" panose="020B0300000000000000" charset="-122"/>
              <a:ea typeface=".萍方-简" panose="020B0300000000000000" charset="-122"/>
            </a:endParaRPr>
          </a:p>
          <a:p>
            <a:endParaRPr lang="en-US" altLang="zh-CN">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OpenAI</a:t>
            </a:r>
            <a:r>
              <a:rPr lang="zh-CN" altLang="en-US">
                <a:latin typeface=".萍方-简" panose="020B0300000000000000" charset="-122"/>
                <a:ea typeface=".萍方-简" panose="020B0300000000000000" charset="-122"/>
              </a:rPr>
              <a:t>的文本补全类型</a:t>
            </a:r>
            <a:r>
              <a:rPr lang="en-US" altLang="zh-CN">
                <a:latin typeface=".萍方-简" panose="020B0300000000000000" charset="-122"/>
                <a:ea typeface=".萍方-简" panose="020B0300000000000000" charset="-122"/>
              </a:rPr>
              <a:t>API</a:t>
            </a:r>
            <a:r>
              <a:rPr lang="zh-CN" altLang="en-US">
                <a:latin typeface=".萍方-简" panose="020B0300000000000000" charset="-122"/>
                <a:ea typeface=".萍方-简" panose="020B0300000000000000" charset="-122"/>
              </a:rPr>
              <a:t>在</a:t>
            </a:r>
            <a:r>
              <a:rPr lang="en-US" altLang="zh-CN">
                <a:latin typeface=".萍方-简" panose="020B0300000000000000" charset="-122"/>
                <a:ea typeface=".萍方-简" panose="020B0300000000000000" charset="-122"/>
              </a:rPr>
              <a:t>2023</a:t>
            </a:r>
            <a:r>
              <a:rPr lang="zh-CN" altLang="en-US">
                <a:latin typeface=".萍方-简" panose="020B0300000000000000" charset="-122"/>
                <a:ea typeface=".萍方-简" panose="020B0300000000000000" charset="-122"/>
              </a:rPr>
              <a:t>年</a:t>
            </a:r>
            <a:r>
              <a:rPr lang="en-US" altLang="zh-CN">
                <a:latin typeface=".萍方-简" panose="020B0300000000000000" charset="-122"/>
                <a:ea typeface=".萍方-简" panose="020B0300000000000000" charset="-122"/>
              </a:rPr>
              <a:t>7</a:t>
            </a:r>
            <a:r>
              <a:rPr lang="zh-CN" altLang="en-US">
                <a:latin typeface=".萍方-简" panose="020B0300000000000000" charset="-122"/>
                <a:ea typeface=".萍方-简" panose="020B0300000000000000" charset="-122"/>
              </a:rPr>
              <a:t>月进行了</a:t>
            </a:r>
            <a:r>
              <a:rPr lang="zh-CN" altLang="en-US">
                <a:solidFill>
                  <a:srgbClr val="FF0000"/>
                </a:solidFill>
                <a:latin typeface=".萍方-简" panose="020B0300000000000000" charset="-122"/>
                <a:ea typeface=".萍方-简" panose="020B0300000000000000" charset="-122"/>
              </a:rPr>
              <a:t>最后一次更新</a:t>
            </a:r>
            <a:r>
              <a:rPr lang="zh-CN" altLang="en-US">
                <a:latin typeface=".萍方-简" panose="020B0300000000000000" charset="-122"/>
                <a:ea typeface=".萍方-简" panose="020B0300000000000000" charset="-122"/>
              </a:rPr>
              <a:t>，该</a:t>
            </a:r>
            <a:r>
              <a:rPr lang="en-US" altLang="zh-CN">
                <a:latin typeface=".萍方-简" panose="020B0300000000000000" charset="-122"/>
                <a:ea typeface=".萍方-简" panose="020B0300000000000000" charset="-122"/>
              </a:rPr>
              <a:t>API</a:t>
            </a:r>
            <a:r>
              <a:rPr lang="zh-CN" altLang="en-US">
                <a:latin typeface=".萍方-简" panose="020B0300000000000000" charset="-122"/>
                <a:ea typeface=".萍方-简" panose="020B0300000000000000" charset="-122"/>
              </a:rPr>
              <a:t>现在只能用于访问较旧的历史遗留模型。而且目前国内的大模型厂商普遍对该</a:t>
            </a:r>
            <a:r>
              <a:rPr lang="en-US" altLang="zh-CN">
                <a:latin typeface=".萍方-简" panose="020B0300000000000000" charset="-122"/>
                <a:ea typeface=".萍方-简" panose="020B0300000000000000" charset="-122"/>
              </a:rPr>
              <a:t>API</a:t>
            </a:r>
            <a:r>
              <a:rPr lang="zh-CN" altLang="en-US">
                <a:latin typeface=".萍方-简" panose="020B0300000000000000" charset="-122"/>
                <a:ea typeface=".萍方-简" panose="020B0300000000000000" charset="-122"/>
              </a:rPr>
              <a:t>也未提供支持。所以该包装器我们不予学习和考虑。</a:t>
            </a:r>
            <a:endParaRPr lang="en-US" altLang="zh-CN">
              <a:latin typeface=".萍方-简" panose="020B0300000000000000" charset="-122"/>
              <a:ea typeface=".萍方-简" panose="020B0300000000000000" charset="-122"/>
            </a:endParaRP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normAutofit fontScale="90000"/>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第一个</a:t>
            </a:r>
            <a:r>
              <a:rPr lang="en-US" altLang="zh-CN" b="1">
                <a:latin typeface=".萍方-简" panose="020B0300000000000000" charset="-122"/>
                <a:ea typeface=".萍方-简" panose="020B0300000000000000" charset="-122"/>
                <a:cs typeface=".萍方-简" panose="020B0300000000000000" charset="-122"/>
              </a:rPr>
              <a:t>LangChain</a:t>
            </a:r>
            <a:r>
              <a:rPr lang="zh-CN" altLang="en-US" b="1">
                <a:latin typeface=".萍方-简" panose="020B0300000000000000" charset="-122"/>
                <a:ea typeface=".萍方-简" panose="020B0300000000000000" charset="-122"/>
                <a:cs typeface=".萍方-简" panose="020B0300000000000000" charset="-122"/>
              </a:rPr>
              <a:t>应用程序</a:t>
            </a:r>
            <a:r>
              <a:rPr lang="en-US" altLang="zh-CN" b="1">
                <a:latin typeface=".萍方-简" panose="020B0300000000000000" charset="-122"/>
                <a:ea typeface=".萍方-简" panose="020B0300000000000000" charset="-122"/>
                <a:cs typeface=".萍方-简" panose="020B0300000000000000" charset="-122"/>
                <a:sym typeface="+mn-ea"/>
              </a:rPr>
              <a:t>-</a:t>
            </a:r>
            <a:r>
              <a:rPr lang="zh-CN" altLang="en-US" b="1">
                <a:latin typeface=".萍方-简" panose="020B0300000000000000" charset="-122"/>
                <a:ea typeface=".萍方-简" panose="020B0300000000000000" charset="-122"/>
                <a:cs typeface=".萍方-简" panose="020B0300000000000000" charset="-122"/>
                <a:sym typeface="+mn-ea"/>
              </a:rPr>
              <a:t>模型分类</a:t>
            </a:r>
            <a:endParaRPr lang="en-US" altLang="zh-CN" b="1">
              <a:latin typeface=".萍方-简" panose="020B0300000000000000" charset="-122"/>
              <a:ea typeface=".萍方-简" panose="020B0300000000000000" charset="-122"/>
              <a:cs typeface=".萍方-简" panose="020B0300000000000000" charset="-122"/>
            </a:endParaRPr>
          </a:p>
        </p:txBody>
      </p:sp>
      <p:sp>
        <p:nvSpPr>
          <p:cNvPr id="2" name="文本占位符 1"/>
          <p:cNvSpPr txBox="1"/>
          <p:nvPr/>
        </p:nvSpPr>
        <p:spPr>
          <a:xfrm>
            <a:off x="898523" y="1816947"/>
            <a:ext cx="21961477" cy="96710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zh-CN" altLang="en-US" sz="2000" dirty="0">
              <a:latin typeface="微软雅黑" panose="020B0503020204020204" pitchFamily="34" charset="-122"/>
              <a:ea typeface="微软雅黑" panose="020B0503020204020204" pitchFamily="34" charset="-122"/>
            </a:endParaRPr>
          </a:p>
        </p:txBody>
      </p:sp>
      <p:sp>
        <p:nvSpPr>
          <p:cNvPr id="3" name="文本框 2"/>
          <p:cNvSpPr txBox="1"/>
          <p:nvPr/>
        </p:nvSpPr>
        <p:spPr>
          <a:xfrm>
            <a:off x="898525" y="2033270"/>
            <a:ext cx="22682835" cy="1151763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en-US" altLang="zh-CN" sz="6000">
                <a:latin typeface=".萍方-简" panose="020B0300000000000000" charset="-122"/>
                <a:ea typeface=".萍方-简" panose="020B0300000000000000" charset="-122"/>
              </a:rPr>
              <a:t>2.</a:t>
            </a:r>
            <a:r>
              <a:rPr lang="zh-CN" altLang="en-US" sz="6000">
                <a:latin typeface=".萍方-简" panose="020B0300000000000000" charset="-122"/>
                <a:ea typeface=".萍方-简" panose="020B0300000000000000" charset="-122"/>
              </a:rPr>
              <a:t>聊天模型（</a:t>
            </a:r>
            <a:r>
              <a:rPr lang="en-US" altLang="zh-CN" sz="6000">
                <a:latin typeface=".萍方-简" panose="020B0300000000000000" charset="-122"/>
                <a:ea typeface=".萍方-简" panose="020B0300000000000000" charset="-122"/>
              </a:rPr>
              <a:t>Chat Model</a:t>
            </a:r>
            <a:r>
              <a:rPr lang="zh-CN" altLang="en-US" sz="6000">
                <a:latin typeface=".萍方-简" panose="020B0300000000000000" charset="-122"/>
                <a:ea typeface=".萍方-简" panose="020B0300000000000000" charset="-122"/>
              </a:rPr>
              <a:t>）</a:t>
            </a:r>
            <a:r>
              <a:rPr lang="zh-CN" altLang="en-US">
                <a:latin typeface=".萍方-简" panose="020B0300000000000000" charset="-122"/>
                <a:ea typeface=".萍方-简" panose="020B0300000000000000" charset="-122"/>
              </a:rPr>
              <a:t>，主要代表</a:t>
            </a:r>
            <a:r>
              <a:rPr lang="en-US" altLang="zh-CN">
                <a:latin typeface=".萍方-简" panose="020B0300000000000000" charset="-122"/>
                <a:ea typeface=".萍方-简" panose="020B0300000000000000" charset="-122"/>
              </a:rPr>
              <a:t>Open AI</a:t>
            </a:r>
            <a:r>
              <a:rPr lang="zh-CN" altLang="en-US">
                <a:latin typeface=".萍方-简" panose="020B0300000000000000" charset="-122"/>
                <a:ea typeface=".萍方-简" panose="020B0300000000000000" charset="-122"/>
              </a:rPr>
              <a:t>的</a:t>
            </a:r>
            <a:r>
              <a:rPr lang="en-US" altLang="zh-CN">
                <a:latin typeface=".萍方-简" panose="020B0300000000000000" charset="-122"/>
                <a:ea typeface=".萍方-简" panose="020B0300000000000000" charset="-122"/>
              </a:rPr>
              <a:t>ChatGPT</a:t>
            </a:r>
            <a:r>
              <a:rPr lang="zh-CN" altLang="en-US">
                <a:latin typeface=".萍方-简" panose="020B0300000000000000" charset="-122"/>
                <a:ea typeface=".萍方-简" panose="020B0300000000000000" charset="-122"/>
              </a:rPr>
              <a:t>系列模型。这些</a:t>
            </a:r>
            <a:endParaRPr lang="zh-CN" altLang="en-US">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模型通常由语言模型支持，但它们的</a:t>
            </a:r>
            <a:r>
              <a:rPr lang="en-US" altLang="zh-CN">
                <a:latin typeface=".萍方-简" panose="020B0300000000000000" charset="-122"/>
                <a:ea typeface=".萍方-简" panose="020B0300000000000000" charset="-122"/>
              </a:rPr>
              <a:t>API</a:t>
            </a:r>
            <a:r>
              <a:rPr lang="zh-CN" altLang="en-US">
                <a:latin typeface=".萍方-简" panose="020B0300000000000000" charset="-122"/>
                <a:ea typeface=".萍方-简" panose="020B0300000000000000" charset="-122"/>
              </a:rPr>
              <a:t>更加结构化。</a:t>
            </a:r>
            <a:endParaRPr lang="zh-CN" altLang="en-US">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是专门为多轮对话设计的模型，其核心目标是模拟人与</a:t>
            </a:r>
            <a:r>
              <a:rPr lang="en-US" altLang="zh-CN">
                <a:latin typeface=".萍方-简" panose="020B0300000000000000" charset="-122"/>
                <a:ea typeface=".萍方-简" panose="020B0300000000000000" charset="-122"/>
              </a:rPr>
              <a:t>AI</a:t>
            </a:r>
            <a:r>
              <a:rPr lang="zh-CN" altLang="en-US">
                <a:latin typeface=".萍方-简" panose="020B0300000000000000" charset="-122"/>
                <a:ea typeface=".萍方-简" panose="020B0300000000000000" charset="-122"/>
              </a:rPr>
              <a:t>之间的自然交互。</a:t>
            </a:r>
            <a:endParaRPr lang="zh-CN" altLang="en-US">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它基于</a:t>
            </a:r>
            <a:r>
              <a:rPr lang="en-US" altLang="zh-CN">
                <a:latin typeface=".萍方-简" panose="020B0300000000000000" charset="-122"/>
                <a:ea typeface=".萍方-简" panose="020B0300000000000000" charset="-122"/>
              </a:rPr>
              <a:t>LLM</a:t>
            </a:r>
            <a:r>
              <a:rPr lang="zh-CN" altLang="en-US">
                <a:latin typeface=".萍方-简" panose="020B0300000000000000" charset="-122"/>
                <a:ea typeface=".萍方-简" panose="020B0300000000000000" charset="-122"/>
              </a:rPr>
              <a:t>构建，但通过特定优化（如对话历史管理、角色区分）来提升对话连贯性和上下文理解能力</a:t>
            </a:r>
            <a:endParaRPr lang="zh-CN" altLang="en-US">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sym typeface="+mn-ea"/>
              </a:rPr>
              <a:t>聊天模型包装器为 </a:t>
            </a:r>
            <a:r>
              <a:rPr lang="en-US" altLang="zh-CN" b="1">
                <a:latin typeface=".萍方-简" panose="020B0300000000000000" charset="-122"/>
                <a:ea typeface=".萍方-简" panose="020B0300000000000000" charset="-122"/>
                <a:sym typeface="+mn-ea"/>
              </a:rPr>
              <a:t>ChatOpenAl</a:t>
            </a:r>
            <a:r>
              <a:rPr lang="zh-CN" altLang="en-US" b="1">
                <a:latin typeface=".萍方-简" panose="020B0300000000000000" charset="-122"/>
                <a:ea typeface=".萍方-简" panose="020B0300000000000000" charset="-122"/>
                <a:sym typeface="+mn-ea"/>
              </a:rPr>
              <a:t>，</a:t>
            </a:r>
            <a:r>
              <a:rPr lang="en-US" altLang="zh-CN">
                <a:latin typeface=".萍方-简" panose="020B0300000000000000" charset="-122"/>
                <a:ea typeface=".萍方-简" panose="020B0300000000000000" charset="-122"/>
              </a:rPr>
              <a:t>BaseChatModel</a:t>
            </a:r>
            <a:r>
              <a:rPr lang="zh-CN" altLang="en-US">
                <a:latin typeface=".萍方-简" panose="020B0300000000000000" charset="-122"/>
                <a:ea typeface=".萍方-简" panose="020B0300000000000000" charset="-122"/>
              </a:rPr>
              <a:t>等</a:t>
            </a:r>
            <a:endParaRPr lang="zh-CN" altLang="en-US">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准备工作：</a:t>
            </a:r>
            <a:endParaRPr lang="zh-CN" altLang="en-US">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1.</a:t>
            </a:r>
            <a:r>
              <a:rPr lang="zh-CN" altLang="en-US">
                <a:latin typeface=".萍方-简" panose="020B0300000000000000" charset="-122"/>
                <a:ea typeface=".萍方-简" panose="020B0300000000000000" charset="-122"/>
              </a:rPr>
              <a:t>参数准备：对应模型的</a:t>
            </a:r>
            <a:r>
              <a:rPr lang="en-US" altLang="zh-CN">
                <a:latin typeface=".萍方-简" panose="020B0300000000000000" charset="-122"/>
                <a:ea typeface=".萍方-简" panose="020B0300000000000000" charset="-122"/>
              </a:rPr>
              <a:t>API_KEY</a:t>
            </a:r>
            <a:r>
              <a:rPr lang="zh-CN" altLang="en-US">
                <a:latin typeface=".萍方-简" panose="020B0300000000000000" charset="-122"/>
                <a:ea typeface=".萍方-简" panose="020B0300000000000000" charset="-122"/>
              </a:rPr>
              <a:t>，</a:t>
            </a:r>
            <a:r>
              <a:rPr lang="en-US" altLang="zh-CN">
                <a:latin typeface=".萍方-简" panose="020B0300000000000000" charset="-122"/>
                <a:ea typeface=".萍方-简" panose="020B0300000000000000" charset="-122"/>
              </a:rPr>
              <a:t>base_url</a:t>
            </a:r>
            <a:r>
              <a:rPr lang="zh-CN" altLang="en-US">
                <a:latin typeface=".萍方-简" panose="020B0300000000000000" charset="-122"/>
                <a:ea typeface=".萍方-简" panose="020B0300000000000000" charset="-122"/>
              </a:rPr>
              <a:t>等</a:t>
            </a:r>
            <a:endParaRPr lang="en-US" altLang="zh-CN">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2.</a:t>
            </a:r>
            <a:r>
              <a:rPr lang="zh-CN" altLang="en-US">
                <a:latin typeface=".萍方-简" panose="020B0300000000000000" charset="-122"/>
                <a:ea typeface=".萍方-简" panose="020B0300000000000000" charset="-122"/>
              </a:rPr>
              <a:t>配置好环境变量</a:t>
            </a:r>
            <a:endParaRPr lang="zh-CN" altLang="en-US">
              <a:latin typeface=".萍方-简" panose="020B0300000000000000" charset="-122"/>
              <a:ea typeface=".萍方-简" panose="020B0300000000000000" charset="-122"/>
            </a:endParaRPr>
          </a:p>
          <a:p>
            <a:endParaRPr lang="zh-CN" altLang="en-US">
              <a:latin typeface=".萍方-简" panose="020B0300000000000000" charset="-122"/>
              <a:ea typeface=".萍方-简" panose="020B0300000000000000" charset="-122"/>
            </a:endParaRP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normAutofit fontScale="90000"/>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第一个</a:t>
            </a:r>
            <a:r>
              <a:rPr lang="en-US" altLang="zh-CN" b="1">
                <a:latin typeface=".萍方-简" panose="020B0300000000000000" charset="-122"/>
                <a:ea typeface=".萍方-简" panose="020B0300000000000000" charset="-122"/>
                <a:cs typeface=".萍方-简" panose="020B0300000000000000" charset="-122"/>
              </a:rPr>
              <a:t>LangChain</a:t>
            </a:r>
            <a:r>
              <a:rPr lang="zh-CN" altLang="en-US" b="1">
                <a:latin typeface=".萍方-简" panose="020B0300000000000000" charset="-122"/>
                <a:ea typeface=".萍方-简" panose="020B0300000000000000" charset="-122"/>
                <a:cs typeface=".萍方-简" panose="020B0300000000000000" charset="-122"/>
              </a:rPr>
              <a:t>应用程序</a:t>
            </a:r>
            <a:r>
              <a:rPr lang="en-US" altLang="zh-CN" b="1">
                <a:latin typeface=".萍方-简" panose="020B0300000000000000" charset="-122"/>
                <a:ea typeface=".萍方-简" panose="020B0300000000000000" charset="-122"/>
                <a:cs typeface=".萍方-简" panose="020B0300000000000000" charset="-122"/>
                <a:sym typeface="+mn-ea"/>
              </a:rPr>
              <a:t>-</a:t>
            </a:r>
            <a:r>
              <a:rPr lang="zh-CN" altLang="en-US" b="1">
                <a:latin typeface=".萍方-简" panose="020B0300000000000000" charset="-122"/>
                <a:ea typeface=".萍方-简" panose="020B0300000000000000" charset="-122"/>
                <a:cs typeface=".萍方-简" panose="020B0300000000000000" charset="-122"/>
                <a:sym typeface="+mn-ea"/>
              </a:rPr>
              <a:t>提示词模板</a:t>
            </a:r>
            <a:endParaRPr lang="en-US" altLang="zh-CN" b="1">
              <a:latin typeface=".萍方-简" panose="020B0300000000000000" charset="-122"/>
              <a:ea typeface=".萍方-简" panose="020B0300000000000000" charset="-122"/>
              <a:cs typeface=".萍方-简" panose="020B0300000000000000" charset="-122"/>
            </a:endParaRPr>
          </a:p>
        </p:txBody>
      </p:sp>
      <p:sp>
        <p:nvSpPr>
          <p:cNvPr id="2" name="文本占位符 1"/>
          <p:cNvSpPr txBox="1"/>
          <p:nvPr/>
        </p:nvSpPr>
        <p:spPr>
          <a:xfrm>
            <a:off x="898523" y="2250017"/>
            <a:ext cx="21961477" cy="96710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zh-CN" altLang="en-US" sz="2000" dirty="0">
              <a:latin typeface="微软雅黑" panose="020B0503020204020204" pitchFamily="34" charset="-122"/>
              <a:ea typeface="微软雅黑" panose="020B0503020204020204" pitchFamily="34" charset="-122"/>
            </a:endParaRPr>
          </a:p>
        </p:txBody>
      </p:sp>
      <p:sp>
        <p:nvSpPr>
          <p:cNvPr id="7" name="文本框 6"/>
          <p:cNvSpPr txBox="1"/>
          <p:nvPr/>
        </p:nvSpPr>
        <p:spPr>
          <a:xfrm>
            <a:off x="1243043" y="1864847"/>
            <a:ext cx="21193623" cy="3254096"/>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从代码运行可以看到，虽然我们和大模型能正常的交互，但是有两个问题：</a:t>
            </a:r>
            <a:endParaRPr lang="en-US" altLang="zh-CN">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1</a:t>
            </a:r>
            <a:r>
              <a:rPr lang="zh-CN" altLang="en-US">
                <a:latin typeface=".萍方-简" panose="020B0300000000000000" charset="-122"/>
                <a:ea typeface=".萍方-简" panose="020B0300000000000000" charset="-122"/>
              </a:rPr>
              <a:t>、提示词是固定，无法根据实际情况灵活变动</a:t>
            </a:r>
            <a:endParaRPr lang="en-US" altLang="zh-CN">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2</a:t>
            </a:r>
            <a:r>
              <a:rPr lang="zh-CN" altLang="en-US">
                <a:latin typeface=".萍方-简" panose="020B0300000000000000" charset="-122"/>
                <a:ea typeface=".萍方-简" panose="020B0300000000000000" charset="-122"/>
              </a:rPr>
              <a:t>、大模型原始答复比较复杂，包含了很多额外的信息</a:t>
            </a:r>
            <a:endParaRPr lang="zh-CN" altLang="en-US">
              <a:latin typeface=".萍方-简" panose="020B0300000000000000" charset="-122"/>
              <a:ea typeface=".萍方-简" panose="020B0300000000000000" charset="-122"/>
            </a:endParaRPr>
          </a:p>
        </p:txBody>
      </p:sp>
      <p:sp>
        <p:nvSpPr>
          <p:cNvPr id="3" name="文本框 2"/>
          <p:cNvSpPr txBox="1"/>
          <p:nvPr/>
        </p:nvSpPr>
        <p:spPr>
          <a:xfrm>
            <a:off x="1243043" y="11718535"/>
            <a:ext cx="21616956" cy="770339"/>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要解决这两个问题，就需要分别使用提示词模板、输出解析器</a:t>
            </a:r>
            <a:endParaRPr lang="en-US" altLang="zh-CN">
              <a:latin typeface=".萍方-简" panose="020B0300000000000000" charset="-122"/>
              <a:ea typeface=".萍方-简" panose="020B0300000000000000" charset="-122"/>
            </a:endParaRPr>
          </a:p>
        </p:txBody>
      </p:sp>
      <p:pic>
        <p:nvPicPr>
          <p:cNvPr id="5" name="图片 4"/>
          <p:cNvPicPr>
            <a:picLocks noChangeAspect="1"/>
          </p:cNvPicPr>
          <p:nvPr/>
        </p:nvPicPr>
        <p:blipFill>
          <a:blip r:embed="rId1"/>
          <a:stretch>
            <a:fillRect/>
          </a:stretch>
        </p:blipFill>
        <p:spPr>
          <a:xfrm>
            <a:off x="1243043" y="5504113"/>
            <a:ext cx="9069357" cy="2624779"/>
          </a:xfrm>
          <a:prstGeom prst="rect">
            <a:avLst/>
          </a:prstGeom>
        </p:spPr>
      </p:pic>
      <p:pic>
        <p:nvPicPr>
          <p:cNvPr id="8" name="图片 7"/>
          <p:cNvPicPr>
            <a:picLocks noChangeAspect="1"/>
          </p:cNvPicPr>
          <p:nvPr/>
        </p:nvPicPr>
        <p:blipFill>
          <a:blip r:embed="rId2"/>
          <a:stretch>
            <a:fillRect/>
          </a:stretch>
        </p:blipFill>
        <p:spPr>
          <a:xfrm>
            <a:off x="1226475" y="8597059"/>
            <a:ext cx="22043734" cy="1562942"/>
          </a:xfrm>
          <a:prstGeom prst="rect">
            <a:avLst/>
          </a:prstGeom>
        </p:spPr>
      </p:pic>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normAutofit fontScale="90000"/>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第一个</a:t>
            </a:r>
            <a:r>
              <a:rPr lang="en-US" altLang="zh-CN" b="1">
                <a:latin typeface=".萍方-简" panose="020B0300000000000000" charset="-122"/>
                <a:ea typeface=".萍方-简" panose="020B0300000000000000" charset="-122"/>
                <a:cs typeface=".萍方-简" panose="020B0300000000000000" charset="-122"/>
              </a:rPr>
              <a:t>LangChain</a:t>
            </a:r>
            <a:r>
              <a:rPr lang="zh-CN" altLang="en-US" b="1">
                <a:latin typeface=".萍方-简" panose="020B0300000000000000" charset="-122"/>
                <a:ea typeface=".萍方-简" panose="020B0300000000000000" charset="-122"/>
                <a:cs typeface=".萍方-简" panose="020B0300000000000000" charset="-122"/>
              </a:rPr>
              <a:t>应用程序</a:t>
            </a:r>
            <a:r>
              <a:rPr lang="en-US" altLang="zh-CN" b="1">
                <a:latin typeface=".萍方-简" panose="020B0300000000000000" charset="-122"/>
                <a:ea typeface=".萍方-简" panose="020B0300000000000000" charset="-122"/>
                <a:cs typeface=".萍方-简" panose="020B0300000000000000" charset="-122"/>
                <a:sym typeface="+mn-ea"/>
              </a:rPr>
              <a:t>-</a:t>
            </a:r>
            <a:r>
              <a:rPr lang="zh-CN" altLang="en-US" b="1">
                <a:latin typeface=".萍方-简" panose="020B0300000000000000" charset="-122"/>
                <a:ea typeface=".萍方-简" panose="020B0300000000000000" charset="-122"/>
                <a:cs typeface=".萍方-简" panose="020B0300000000000000" charset="-122"/>
                <a:sym typeface="+mn-ea"/>
              </a:rPr>
              <a:t>提示词模板</a:t>
            </a:r>
            <a:endParaRPr lang="en-US" altLang="zh-CN" b="1">
              <a:latin typeface=".萍方-简" panose="020B0300000000000000" charset="-122"/>
              <a:ea typeface=".萍方-简" panose="020B0300000000000000" charset="-122"/>
              <a:cs typeface=".萍方-简" panose="020B0300000000000000" charset="-122"/>
            </a:endParaRPr>
          </a:p>
        </p:txBody>
      </p:sp>
      <p:sp>
        <p:nvSpPr>
          <p:cNvPr id="2" name="文本占位符 1"/>
          <p:cNvSpPr txBox="1"/>
          <p:nvPr/>
        </p:nvSpPr>
        <p:spPr>
          <a:xfrm>
            <a:off x="898523" y="2250017"/>
            <a:ext cx="21961477" cy="96710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zh-CN" altLang="en-US" sz="2000" dirty="0">
              <a:latin typeface="微软雅黑" panose="020B0503020204020204" pitchFamily="34" charset="-122"/>
              <a:ea typeface="微软雅黑" panose="020B0503020204020204" pitchFamily="34" charset="-122"/>
            </a:endParaRPr>
          </a:p>
        </p:txBody>
      </p:sp>
      <p:sp>
        <p:nvSpPr>
          <p:cNvPr id="3" name="文本框 2"/>
          <p:cNvSpPr txBox="1"/>
          <p:nvPr/>
        </p:nvSpPr>
        <p:spPr>
          <a:xfrm>
            <a:off x="1070783" y="1761066"/>
            <a:ext cx="21616956" cy="7626985"/>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b="1">
                <a:latin typeface=".萍方-简" panose="020B0300000000000000" charset="-122"/>
                <a:ea typeface=".萍方-简" panose="020B0300000000000000" charset="-122"/>
              </a:rPr>
              <a:t>提示词模板</a:t>
            </a:r>
            <a:endParaRPr lang="en-US" altLang="zh-CN" b="1">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通俗点说，</a:t>
            </a:r>
            <a:r>
              <a:rPr lang="en-US" altLang="zh-CN">
                <a:latin typeface=".萍方-简" panose="020B0300000000000000" charset="-122"/>
                <a:ea typeface=".萍方-简" panose="020B0300000000000000" charset="-122"/>
              </a:rPr>
              <a:t>prompt template </a:t>
            </a:r>
            <a:r>
              <a:rPr lang="zh-CN" altLang="en-US">
                <a:latin typeface=".萍方-简" panose="020B0300000000000000" charset="-122"/>
                <a:ea typeface=".萍方-简" panose="020B0300000000000000" charset="-122"/>
              </a:rPr>
              <a:t>是一个模板化的字符串，可以用来生成特定的提示（</a:t>
            </a:r>
            <a:r>
              <a:rPr lang="en-US" altLang="zh-CN">
                <a:latin typeface=".萍方-简" panose="020B0300000000000000" charset="-122"/>
                <a:ea typeface=".萍方-简" panose="020B0300000000000000" charset="-122"/>
              </a:rPr>
              <a:t>prompts</a:t>
            </a:r>
            <a:r>
              <a:rPr lang="zh-CN" altLang="en-US">
                <a:latin typeface=".萍方-简" panose="020B0300000000000000" charset="-122"/>
                <a:ea typeface=".萍方-简" panose="020B0300000000000000" charset="-122"/>
              </a:rPr>
              <a:t>）。你可以将变量插入到模板中，从而创建出不同的提示。</a:t>
            </a:r>
            <a:endParaRPr lang="zh-CN" altLang="en-US">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优势：</a:t>
            </a:r>
            <a:endParaRPr lang="en-US" altLang="zh-CN">
              <a:latin typeface=".萍方-简" panose="020B0300000000000000" charset="-122"/>
              <a:ea typeface=".萍方-简" panose="020B0300000000000000" charset="-122"/>
            </a:endParaRPr>
          </a:p>
          <a:p>
            <a:pPr lvl="3"/>
            <a:r>
              <a:rPr lang="en-US" altLang="zh-CN">
                <a:latin typeface=".萍方-简" panose="020B0300000000000000" charset="-122"/>
                <a:ea typeface=".萍方-简" panose="020B0300000000000000" charset="-122"/>
              </a:rPr>
              <a:t>1. </a:t>
            </a:r>
            <a:r>
              <a:rPr lang="zh-CN" altLang="en-US">
                <a:latin typeface=".萍方-简" panose="020B0300000000000000" charset="-122"/>
                <a:ea typeface=".萍方-简" panose="020B0300000000000000" charset="-122"/>
              </a:rPr>
              <a:t>清晰易懂的提示</a:t>
            </a:r>
            <a:endParaRPr lang="en-US" altLang="zh-CN">
              <a:latin typeface=".萍方-简" panose="020B0300000000000000" charset="-122"/>
              <a:ea typeface=".萍方-简" panose="020B0300000000000000" charset="-122"/>
            </a:endParaRPr>
          </a:p>
          <a:p>
            <a:pPr lvl="3"/>
            <a:r>
              <a:rPr lang="en-US" altLang="zh-CN">
                <a:latin typeface=".萍方-简" panose="020B0300000000000000" charset="-122"/>
                <a:ea typeface=".萍方-简" panose="020B0300000000000000" charset="-122"/>
              </a:rPr>
              <a:t>2. </a:t>
            </a:r>
            <a:r>
              <a:rPr lang="zh-CN" altLang="en-US">
                <a:latin typeface=".萍方-简" panose="020B0300000000000000" charset="-122"/>
                <a:ea typeface=".萍方-简" panose="020B0300000000000000" charset="-122"/>
              </a:rPr>
              <a:t>增强可重用性</a:t>
            </a:r>
            <a:endParaRPr lang="zh-CN" altLang="en-US">
              <a:latin typeface=".萍方-简" panose="020B0300000000000000" charset="-122"/>
              <a:ea typeface=".萍方-简" panose="020B0300000000000000" charset="-122"/>
            </a:endParaRPr>
          </a:p>
          <a:p>
            <a:pPr lvl="3"/>
            <a:r>
              <a:rPr lang="en-US" altLang="zh-CN">
                <a:latin typeface=".萍方-简" panose="020B0300000000000000" charset="-122"/>
                <a:ea typeface=".萍方-简" panose="020B0300000000000000" charset="-122"/>
              </a:rPr>
              <a:t>3. </a:t>
            </a:r>
            <a:r>
              <a:rPr lang="zh-CN" altLang="en-US">
                <a:latin typeface=".萍方-简" panose="020B0300000000000000" charset="-122"/>
                <a:ea typeface=".萍方-简" panose="020B0300000000000000" charset="-122"/>
              </a:rPr>
              <a:t>简化维护</a:t>
            </a:r>
            <a:endParaRPr lang="en-US" altLang="zh-CN">
              <a:latin typeface=".萍方-简" panose="020B0300000000000000" charset="-122"/>
              <a:ea typeface=".萍方-简" panose="020B0300000000000000" charset="-122"/>
            </a:endParaRPr>
          </a:p>
        </p:txBody>
      </p:sp>
      <p:pic>
        <p:nvPicPr>
          <p:cNvPr id="4" name="图片 3"/>
          <p:cNvPicPr>
            <a:picLocks noChangeAspect="1"/>
          </p:cNvPicPr>
          <p:nvPr/>
        </p:nvPicPr>
        <p:blipFill>
          <a:blip r:embed="rId1"/>
          <a:stretch>
            <a:fillRect/>
          </a:stretch>
        </p:blipFill>
        <p:spPr>
          <a:xfrm>
            <a:off x="7986395" y="5882005"/>
            <a:ext cx="15921990" cy="4521835"/>
          </a:xfrm>
          <a:prstGeom prst="rect">
            <a:avLst/>
          </a:prstGeom>
        </p:spPr>
      </p:pic>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normAutofit fontScale="90000"/>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第一个</a:t>
            </a:r>
            <a:r>
              <a:rPr lang="en-US" altLang="zh-CN" b="1">
                <a:latin typeface=".萍方-简" panose="020B0300000000000000" charset="-122"/>
                <a:ea typeface=".萍方-简" panose="020B0300000000000000" charset="-122"/>
                <a:cs typeface=".萍方-简" panose="020B0300000000000000" charset="-122"/>
              </a:rPr>
              <a:t>LangChain</a:t>
            </a:r>
            <a:r>
              <a:rPr lang="zh-CN" altLang="en-US" b="1">
                <a:latin typeface=".萍方-简" panose="020B0300000000000000" charset="-122"/>
                <a:ea typeface=".萍方-简" panose="020B0300000000000000" charset="-122"/>
                <a:cs typeface=".萍方-简" panose="020B0300000000000000" charset="-122"/>
              </a:rPr>
              <a:t>应用程序</a:t>
            </a:r>
            <a:r>
              <a:rPr lang="en-US" altLang="zh-CN" b="1">
                <a:latin typeface=".萍方-简" panose="020B0300000000000000" charset="-122"/>
                <a:ea typeface=".萍方-简" panose="020B0300000000000000" charset="-122"/>
                <a:cs typeface=".萍方-简" panose="020B0300000000000000" charset="-122"/>
                <a:sym typeface="+mn-ea"/>
              </a:rPr>
              <a:t>-</a:t>
            </a:r>
            <a:r>
              <a:rPr lang="zh-CN" altLang="en-US" b="1">
                <a:latin typeface=".萍方-简" panose="020B0300000000000000" charset="-122"/>
                <a:ea typeface=".萍方-简" panose="020B0300000000000000" charset="-122"/>
                <a:cs typeface=".萍方-简" panose="020B0300000000000000" charset="-122"/>
                <a:sym typeface="+mn-ea"/>
              </a:rPr>
              <a:t>提示词模板</a:t>
            </a:r>
            <a:endParaRPr lang="en-US" altLang="zh-CN" b="1">
              <a:latin typeface=".萍方-简" panose="020B0300000000000000" charset="-122"/>
              <a:ea typeface=".萍方-简" panose="020B0300000000000000" charset="-122"/>
              <a:cs typeface=".萍方-简" panose="020B0300000000000000" charset="-122"/>
            </a:endParaRPr>
          </a:p>
        </p:txBody>
      </p:sp>
      <p:sp>
        <p:nvSpPr>
          <p:cNvPr id="2" name="文本占位符 1"/>
          <p:cNvSpPr txBox="1"/>
          <p:nvPr/>
        </p:nvSpPr>
        <p:spPr>
          <a:xfrm>
            <a:off x="898523" y="2250017"/>
            <a:ext cx="21961477" cy="96710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zh-CN" altLang="en-US" sz="2000" dirty="0">
              <a:latin typeface="微软雅黑" panose="020B0503020204020204" pitchFamily="34" charset="-122"/>
              <a:ea typeface="微软雅黑" panose="020B0503020204020204" pitchFamily="34" charset="-122"/>
            </a:endParaRPr>
          </a:p>
        </p:txBody>
      </p:sp>
      <p:sp>
        <p:nvSpPr>
          <p:cNvPr id="3" name="文本框 2"/>
          <p:cNvSpPr txBox="1"/>
          <p:nvPr/>
        </p:nvSpPr>
        <p:spPr>
          <a:xfrm>
            <a:off x="1070783" y="1761066"/>
            <a:ext cx="21616956" cy="8291195"/>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b="1">
                <a:latin typeface=".萍方-简" panose="020B0300000000000000" charset="-122"/>
                <a:ea typeface=".萍方-简" panose="020B0300000000000000" charset="-122"/>
              </a:rPr>
              <a:t>常见提示词模板</a:t>
            </a:r>
            <a:endParaRPr lang="en-US" altLang="zh-CN" b="1">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1. LLM</a:t>
            </a:r>
            <a:r>
              <a:rPr lang="zh-CN" altLang="en-US">
                <a:latin typeface=".萍方-简" panose="020B0300000000000000" charset="-122"/>
                <a:ea typeface=".萍方-简" panose="020B0300000000000000" charset="-122"/>
              </a:rPr>
              <a:t>提示模板 </a:t>
            </a:r>
            <a:r>
              <a:rPr lang="en-US" altLang="zh-CN">
                <a:latin typeface=".萍方-简" panose="020B0300000000000000" charset="-122"/>
                <a:ea typeface=".萍方-简" panose="020B0300000000000000" charset="-122"/>
              </a:rPr>
              <a:t>PromptTemplate</a:t>
            </a:r>
            <a:r>
              <a:rPr lang="zh-CN" altLang="en-US">
                <a:latin typeface=".萍方-简" panose="020B0300000000000000" charset="-122"/>
                <a:ea typeface=".萍方-简" panose="020B0300000000000000" charset="-122"/>
              </a:rPr>
              <a:t>：常用的</a:t>
            </a:r>
            <a:r>
              <a:rPr lang="en-US" altLang="zh-CN">
                <a:latin typeface=".萍方-简" panose="020B0300000000000000" charset="-122"/>
                <a:ea typeface=".萍方-简" panose="020B0300000000000000" charset="-122"/>
              </a:rPr>
              <a:t>String</a:t>
            </a:r>
            <a:r>
              <a:rPr lang="zh-CN" altLang="en-US">
                <a:latin typeface=".萍方-简" panose="020B0300000000000000" charset="-122"/>
                <a:ea typeface=".萍方-简" panose="020B0300000000000000" charset="-122"/>
              </a:rPr>
              <a:t>提示模板</a:t>
            </a:r>
            <a:endParaRPr lang="zh-CN" altLang="en-US">
              <a:latin typeface=".萍方-简" panose="020B0300000000000000" charset="-122"/>
              <a:ea typeface=".萍方-简" panose="020B0300000000000000" charset="-122"/>
            </a:endParaRPr>
          </a:p>
          <a:p>
            <a:endParaRPr lang="en-US" altLang="zh-CN">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2. </a:t>
            </a:r>
            <a:r>
              <a:rPr lang="zh-CN" altLang="en-US">
                <a:latin typeface=".萍方-简" panose="020B0300000000000000" charset="-122"/>
                <a:ea typeface=".萍方-简" panose="020B0300000000000000" charset="-122"/>
              </a:rPr>
              <a:t>聊天提示模板 </a:t>
            </a:r>
            <a:r>
              <a:rPr lang="en-US" altLang="zh-CN">
                <a:latin typeface=".萍方-简" panose="020B0300000000000000" charset="-122"/>
                <a:ea typeface=".萍方-简" panose="020B0300000000000000" charset="-122"/>
              </a:rPr>
              <a:t>ChatPromptTemplate</a:t>
            </a:r>
            <a:r>
              <a:rPr lang="zh-CN" altLang="en-US">
                <a:latin typeface=".萍方-简" panose="020B0300000000000000" charset="-122"/>
                <a:ea typeface=".萍方-简" panose="020B0300000000000000" charset="-122"/>
              </a:rPr>
              <a:t>： 常用的</a:t>
            </a:r>
            <a:r>
              <a:rPr lang="en-US" altLang="zh-CN">
                <a:latin typeface=".萍方-简" panose="020B0300000000000000" charset="-122"/>
                <a:ea typeface=".萍方-简" panose="020B0300000000000000" charset="-122"/>
              </a:rPr>
              <a:t>Chat</a:t>
            </a:r>
            <a:r>
              <a:rPr lang="zh-CN" altLang="en-US">
                <a:latin typeface=".萍方-简" panose="020B0300000000000000" charset="-122"/>
                <a:ea typeface=".萍方-简" panose="020B0300000000000000" charset="-122"/>
              </a:rPr>
              <a:t>提示模板，用于组合各种角色的消息模板，传入聊天模型。</a:t>
            </a:r>
            <a:endParaRPr lang="zh-CN" altLang="en-US">
              <a:latin typeface=".萍方-简" panose="020B0300000000000000" charset="-122"/>
              <a:ea typeface=".萍方-简" panose="020B0300000000000000" charset="-122"/>
            </a:endParaRPr>
          </a:p>
          <a:p>
            <a:endParaRPr lang="en-US" altLang="zh-CN">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3. </a:t>
            </a:r>
            <a:r>
              <a:rPr lang="zh-CN" altLang="en-US">
                <a:latin typeface=".萍方-简" panose="020B0300000000000000" charset="-122"/>
                <a:ea typeface=".萍方-简" panose="020B0300000000000000" charset="-122"/>
              </a:rPr>
              <a:t>少样本提示模板 </a:t>
            </a:r>
            <a:r>
              <a:rPr lang="en-US" altLang="zh-CN">
                <a:latin typeface=".萍方-简" panose="020B0300000000000000" charset="-122"/>
                <a:ea typeface=".萍方-简" panose="020B0300000000000000" charset="-122"/>
              </a:rPr>
              <a:t>FewShotPromptTemplate</a:t>
            </a:r>
            <a:r>
              <a:rPr lang="zh-CN" altLang="en-US">
                <a:latin typeface=".萍方-简" panose="020B0300000000000000" charset="-122"/>
                <a:ea typeface=".萍方-简" panose="020B0300000000000000" charset="-122"/>
              </a:rPr>
              <a:t>、提示模板部分格式化、管道提示模板 </a:t>
            </a:r>
            <a:r>
              <a:rPr lang="en-US" altLang="zh-CN">
                <a:latin typeface=".萍方-简" panose="020B0300000000000000" charset="-122"/>
                <a:ea typeface=".萍方-简" panose="020B0300000000000000" charset="-122"/>
              </a:rPr>
              <a:t>PipelinePrompt</a:t>
            </a:r>
            <a:r>
              <a:rPr lang="zh-CN" altLang="en-US">
                <a:latin typeface=".萍方-简" panose="020B0300000000000000" charset="-122"/>
                <a:ea typeface=".萍方-简" panose="020B0300000000000000" charset="-122"/>
              </a:rPr>
              <a:t>等等。</a:t>
            </a:r>
            <a:endParaRPr lang="en-US" altLang="zh-CN">
              <a:latin typeface=".萍方-简" panose="020B0300000000000000" charset="-122"/>
              <a:ea typeface=".萍方-简" panose="020B0300000000000000" charset="-122"/>
            </a:endParaRP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第一个</a:t>
            </a:r>
            <a:r>
              <a:rPr lang="en-US" altLang="zh-CN" b="1">
                <a:latin typeface=".萍方-简" panose="020B0300000000000000" charset="-122"/>
                <a:ea typeface=".萍方-简" panose="020B0300000000000000" charset="-122"/>
                <a:cs typeface=".萍方-简" panose="020B0300000000000000" charset="-122"/>
              </a:rPr>
              <a:t>LangChain</a:t>
            </a:r>
            <a:r>
              <a:rPr lang="zh-CN" altLang="en-US" b="1">
                <a:latin typeface=".萍方-简" panose="020B0300000000000000" charset="-122"/>
                <a:ea typeface=".萍方-简" panose="020B0300000000000000" charset="-122"/>
                <a:cs typeface=".萍方-简" panose="020B0300000000000000" charset="-122"/>
              </a:rPr>
              <a:t>应用程序</a:t>
            </a:r>
            <a:endParaRPr lang="en-US" altLang="zh-CN" b="1">
              <a:latin typeface=".萍方-简" panose="020B0300000000000000" charset="-122"/>
              <a:ea typeface=".萍方-简" panose="020B0300000000000000" charset="-122"/>
              <a:cs typeface=".萍方-简" panose="020B0300000000000000" charset="-122"/>
            </a:endParaRPr>
          </a:p>
        </p:txBody>
      </p:sp>
      <p:sp>
        <p:nvSpPr>
          <p:cNvPr id="3" name="文本框 2"/>
          <p:cNvSpPr txBox="1"/>
          <p:nvPr/>
        </p:nvSpPr>
        <p:spPr>
          <a:xfrm>
            <a:off x="1070783" y="1761066"/>
            <a:ext cx="21616956" cy="655193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sz="6000" b="1">
                <a:latin typeface=".萍方-简" panose="020B0300000000000000" charset="-122"/>
                <a:ea typeface=".萍方-简" panose="020B0300000000000000" charset="-122"/>
              </a:rPr>
              <a:t>链</a:t>
            </a:r>
            <a:endParaRPr lang="en-US" altLang="zh-CN" sz="6000" b="1">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如何将前面的提示词模版、模型包装器和输出解析器串起来，这时可以使用链。</a:t>
            </a:r>
            <a:endParaRPr lang="en-US" altLang="zh-CN">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链可以将模型输入输出整合在一个链中操作。</a:t>
            </a:r>
            <a:endParaRPr lang="en-US" altLang="zh-CN">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它利用提示模板格式化输入，将格式化后的字符串传递给</a:t>
            </a:r>
            <a:r>
              <a:rPr lang="en-US" altLang="zh-CN">
                <a:latin typeface=".萍方-简" panose="020B0300000000000000" charset="-122"/>
                <a:ea typeface=".萍方-简" panose="020B0300000000000000" charset="-122"/>
              </a:rPr>
              <a:t>LLM</a:t>
            </a:r>
            <a:r>
              <a:rPr lang="zh-CN" altLang="en-US">
                <a:latin typeface=".萍方-简" panose="020B0300000000000000" charset="-122"/>
                <a:ea typeface=".萍方-简" panose="020B0300000000000000" charset="-122"/>
              </a:rPr>
              <a:t>模型，并返回</a:t>
            </a:r>
            <a:r>
              <a:rPr lang="en-US" altLang="zh-CN">
                <a:latin typeface=".萍方-简" panose="020B0300000000000000" charset="-122"/>
                <a:ea typeface=".萍方-简" panose="020B0300000000000000" charset="-122"/>
              </a:rPr>
              <a:t>LLM</a:t>
            </a:r>
            <a:r>
              <a:rPr lang="zh-CN" altLang="en-US">
                <a:latin typeface=".萍方-简" panose="020B0300000000000000" charset="-122"/>
                <a:ea typeface=".萍方-简" panose="020B0300000000000000" charset="-122"/>
              </a:rPr>
              <a:t>的输出。</a:t>
            </a:r>
            <a:endParaRPr lang="en-US" altLang="zh-CN">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这样使得整个处理过程更加高效和便捷。</a:t>
            </a:r>
            <a:endParaRPr lang="en-US" altLang="zh-CN">
              <a:latin typeface=".萍方-简" panose="020B0300000000000000" charset="-122"/>
              <a:ea typeface=".萍方-简" panose="020B0300000000000000" charset="-122"/>
            </a:endParaRPr>
          </a:p>
        </p:txBody>
      </p:sp>
      <p:sp>
        <p:nvSpPr>
          <p:cNvPr id="4" name="矩形: 圆角 3"/>
          <p:cNvSpPr/>
          <p:nvPr/>
        </p:nvSpPr>
        <p:spPr>
          <a:xfrm>
            <a:off x="2804134" y="9695363"/>
            <a:ext cx="4110817" cy="658336"/>
          </a:xfrm>
          <a:prstGeom prst="roundRect">
            <a:avLst/>
          </a:prstGeom>
          <a:solidFill>
            <a:srgbClr val="92D050"/>
          </a:solid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r>
              <a:rPr lang="zh-CN" altLang="en-US" sz="3200">
                <a:solidFill>
                  <a:srgbClr val="FFFFFF"/>
                </a:solidFill>
                <a:latin typeface="Helvetica Neue Medium" panose="02000503000000020004"/>
                <a:ea typeface="Helvetica Neue Medium" panose="02000503000000020004"/>
                <a:cs typeface="Helvetica Neue Medium" panose="02000503000000020004"/>
                <a:sym typeface="Helvetica Neue Medium" panose="02000503000000020004"/>
              </a:rPr>
              <a:t>提示词模版</a:t>
            </a:r>
            <a:endParaRPr kumimoji="0" lang="zh-CN" altLang="en-US" sz="3200" b="0" i="0" u="none" strike="noStrike" cap="none" spc="0" normalizeH="0" baseline="0">
              <a:ln>
                <a:noFill/>
              </a:ln>
              <a:solidFill>
                <a:srgbClr val="FFFFFF"/>
              </a:solidFill>
              <a:effectLst/>
              <a:uFillTx/>
              <a:latin typeface="Helvetica Neue Medium" panose="02000503000000020004"/>
              <a:ea typeface="Helvetica Neue Medium" panose="02000503000000020004"/>
              <a:cs typeface="Helvetica Neue Medium" panose="02000503000000020004"/>
              <a:sym typeface="Helvetica Neue Medium" panose="02000503000000020004"/>
            </a:endParaRPr>
          </a:p>
        </p:txBody>
      </p:sp>
      <p:sp>
        <p:nvSpPr>
          <p:cNvPr id="5" name="矩形: 圆角 4"/>
          <p:cNvSpPr/>
          <p:nvPr/>
        </p:nvSpPr>
        <p:spPr>
          <a:xfrm>
            <a:off x="9420068" y="9703831"/>
            <a:ext cx="4110817" cy="658336"/>
          </a:xfrm>
          <a:prstGeom prst="roundRect">
            <a:avLst/>
          </a:prstGeom>
          <a:solidFill>
            <a:srgbClr val="0070C0"/>
          </a:solid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r>
              <a:rPr kumimoji="0" lang="zh-CN" altLang="en-US" sz="3200" b="0" i="0" u="none" strike="noStrike" cap="none" spc="0" normalizeH="0" baseline="0">
                <a:ln>
                  <a:noFill/>
                </a:ln>
                <a:solidFill>
                  <a:srgbClr val="FFFFFF"/>
                </a:solidFill>
                <a:effectLst/>
                <a:uFillTx/>
                <a:latin typeface="Helvetica Neue Medium" panose="02000503000000020004"/>
                <a:ea typeface="Helvetica Neue Medium" panose="02000503000000020004"/>
                <a:cs typeface="Helvetica Neue Medium" panose="02000503000000020004"/>
                <a:sym typeface="Helvetica Neue Medium" panose="02000503000000020004"/>
              </a:rPr>
              <a:t>大模型处理请求</a:t>
            </a:r>
            <a:endParaRPr kumimoji="0" lang="zh-CN" altLang="en-US" sz="3200" b="0" i="0" u="none" strike="noStrike" cap="none" spc="0" normalizeH="0" baseline="0">
              <a:ln>
                <a:noFill/>
              </a:ln>
              <a:solidFill>
                <a:srgbClr val="FFFFFF"/>
              </a:solidFill>
              <a:effectLst/>
              <a:uFillTx/>
              <a:latin typeface="Helvetica Neue Medium" panose="02000503000000020004"/>
              <a:ea typeface="Helvetica Neue Medium" panose="02000503000000020004"/>
              <a:cs typeface="Helvetica Neue Medium" panose="02000503000000020004"/>
              <a:sym typeface="Helvetica Neue Medium" panose="02000503000000020004"/>
            </a:endParaRPr>
          </a:p>
        </p:txBody>
      </p:sp>
      <p:sp>
        <p:nvSpPr>
          <p:cNvPr id="6" name="矩形: 圆角 5"/>
          <p:cNvSpPr/>
          <p:nvPr/>
        </p:nvSpPr>
        <p:spPr>
          <a:xfrm>
            <a:off x="16432247" y="9695363"/>
            <a:ext cx="4110817" cy="658336"/>
          </a:xfrm>
          <a:prstGeom prst="roundRect">
            <a:avLst/>
          </a:prstGeom>
          <a:solidFill>
            <a:schemeClr val="tx2">
              <a:lumMod val="20000"/>
              <a:lumOff val="80000"/>
            </a:schemeClr>
          </a:solid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r>
              <a:rPr kumimoji="0" lang="zh-CN" altLang="en-US" sz="3200" b="0" i="0" u="none" strike="noStrike" cap="none" spc="0" normalizeH="0" baseline="0">
                <a:ln>
                  <a:noFill/>
                </a:ln>
                <a:solidFill>
                  <a:schemeClr val="tx1"/>
                </a:solidFill>
                <a:effectLst/>
                <a:uFillTx/>
                <a:latin typeface="Helvetica Neue Medium" panose="02000503000000020004"/>
                <a:ea typeface="Helvetica Neue Medium" panose="02000503000000020004"/>
                <a:cs typeface="Helvetica Neue Medium" panose="02000503000000020004"/>
                <a:sym typeface="Helvetica Neue Medium" panose="02000503000000020004"/>
              </a:rPr>
              <a:t>输出解析器解析</a:t>
            </a:r>
            <a:endParaRPr kumimoji="0" lang="zh-CN" altLang="en-US" sz="3200" b="0" i="0" u="none" strike="noStrike" cap="none" spc="0" normalizeH="0" baseline="0">
              <a:ln>
                <a:noFill/>
              </a:ln>
              <a:solidFill>
                <a:schemeClr val="tx1"/>
              </a:solidFill>
              <a:effectLst/>
              <a:uFillTx/>
              <a:latin typeface="Helvetica Neue Medium" panose="02000503000000020004"/>
              <a:ea typeface="Helvetica Neue Medium" panose="02000503000000020004"/>
              <a:cs typeface="Helvetica Neue Medium" panose="02000503000000020004"/>
              <a:sym typeface="Helvetica Neue Medium" panose="02000503000000020004"/>
            </a:endParaRPr>
          </a:p>
        </p:txBody>
      </p:sp>
      <p:cxnSp>
        <p:nvCxnSpPr>
          <p:cNvPr id="8" name="直接箭头连接符 7"/>
          <p:cNvCxnSpPr>
            <a:stCxn id="4" idx="3"/>
            <a:endCxn id="5" idx="1"/>
          </p:cNvCxnSpPr>
          <p:nvPr/>
        </p:nvCxnSpPr>
        <p:spPr>
          <a:xfrm>
            <a:off x="6914951" y="10024531"/>
            <a:ext cx="2505117" cy="8468"/>
          </a:xfrm>
          <a:prstGeom prst="straightConnector1">
            <a:avLst/>
          </a:prstGeom>
          <a:noFill/>
          <a:ln w="25400" cap="flat">
            <a:solidFill>
              <a:srgbClr val="000000"/>
            </a:solidFill>
            <a:prstDash val="solid"/>
            <a:miter lim="400000"/>
            <a:tailEnd type="triangle"/>
          </a:ln>
        </p:spPr>
        <p:style>
          <a:lnRef idx="0">
            <a:srgbClr val="FFFFFF"/>
          </a:lnRef>
          <a:fillRef idx="0">
            <a:srgbClr val="FFFFFF"/>
          </a:fillRef>
          <a:effectRef idx="0">
            <a:srgbClr val="FFFFFF"/>
          </a:effectRef>
          <a:fontRef idx="none"/>
        </p:style>
      </p:cxnSp>
      <p:cxnSp>
        <p:nvCxnSpPr>
          <p:cNvPr id="10" name="直接箭头连接符 9"/>
          <p:cNvCxnSpPr>
            <a:stCxn id="5" idx="3"/>
            <a:endCxn id="6" idx="1"/>
          </p:cNvCxnSpPr>
          <p:nvPr/>
        </p:nvCxnSpPr>
        <p:spPr>
          <a:xfrm flipV="1">
            <a:off x="13530885" y="10024531"/>
            <a:ext cx="2901362" cy="8468"/>
          </a:xfrm>
          <a:prstGeom prst="straightConnector1">
            <a:avLst/>
          </a:prstGeom>
          <a:noFill/>
          <a:ln w="25400" cap="flat">
            <a:solidFill>
              <a:srgbClr val="000000"/>
            </a:solidFill>
            <a:prstDash val="solid"/>
            <a:miter lim="400000"/>
            <a:tailEnd type="triangle"/>
          </a:ln>
        </p:spPr>
        <p:style>
          <a:lnRef idx="0">
            <a:srgbClr val="FFFFFF"/>
          </a:lnRef>
          <a:fillRef idx="0">
            <a:srgbClr val="FFFFFF"/>
          </a:fillRef>
          <a:effectRef idx="0">
            <a:srgbClr val="FFFFFF"/>
          </a:effectRef>
          <a:fontRef idx="none"/>
        </p:style>
      </p:cxnSp>
      <p:sp>
        <p:nvSpPr>
          <p:cNvPr id="13" name="文本框 12"/>
          <p:cNvSpPr txBox="1"/>
          <p:nvPr/>
        </p:nvSpPr>
        <p:spPr>
          <a:xfrm>
            <a:off x="7251266" y="9423398"/>
            <a:ext cx="1496172" cy="770339"/>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输出</a:t>
            </a:r>
            <a:endParaRPr lang="en-US" altLang="zh-CN">
              <a:latin typeface=".萍方-简" panose="020B0300000000000000" charset="-122"/>
              <a:ea typeface=".萍方-简" panose="020B0300000000000000" charset="-122"/>
            </a:endParaRPr>
          </a:p>
        </p:txBody>
      </p:sp>
      <p:sp>
        <p:nvSpPr>
          <p:cNvPr id="14" name="文本框 13"/>
          <p:cNvSpPr txBox="1"/>
          <p:nvPr/>
        </p:nvSpPr>
        <p:spPr>
          <a:xfrm>
            <a:off x="14203515" y="9423398"/>
            <a:ext cx="1496172" cy="770339"/>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答复</a:t>
            </a:r>
            <a:endParaRPr lang="en-US" altLang="zh-CN">
              <a:latin typeface=".萍方-简" panose="020B0300000000000000" charset="-122"/>
              <a:ea typeface=".萍方-简" panose="020B0300000000000000" charset="-122"/>
            </a:endParaRPr>
          </a:p>
        </p:txBody>
      </p:sp>
      <p:cxnSp>
        <p:nvCxnSpPr>
          <p:cNvPr id="17" name="直接箭头连接符 16"/>
          <p:cNvCxnSpPr>
            <a:endCxn id="4" idx="1"/>
          </p:cNvCxnSpPr>
          <p:nvPr/>
        </p:nvCxnSpPr>
        <p:spPr>
          <a:xfrm>
            <a:off x="1036157" y="10024531"/>
            <a:ext cx="1767977" cy="0"/>
          </a:xfrm>
          <a:prstGeom prst="straightConnector1">
            <a:avLst/>
          </a:prstGeom>
          <a:noFill/>
          <a:ln w="25400" cap="flat">
            <a:solidFill>
              <a:srgbClr val="000000"/>
            </a:solidFill>
            <a:prstDash val="solid"/>
            <a:miter lim="400000"/>
            <a:tailEnd type="triangle"/>
          </a:ln>
        </p:spPr>
        <p:style>
          <a:lnRef idx="0">
            <a:srgbClr val="FFFFFF"/>
          </a:lnRef>
          <a:fillRef idx="0">
            <a:srgbClr val="FFFFFF"/>
          </a:fillRef>
          <a:effectRef idx="0">
            <a:srgbClr val="FFFFFF"/>
          </a:effectRef>
          <a:fontRef idx="none"/>
        </p:style>
      </p:cxnSp>
      <p:cxnSp>
        <p:nvCxnSpPr>
          <p:cNvPr id="20" name="直接箭头连接符 19"/>
          <p:cNvCxnSpPr>
            <a:stCxn id="6" idx="3"/>
          </p:cNvCxnSpPr>
          <p:nvPr/>
        </p:nvCxnSpPr>
        <p:spPr>
          <a:xfrm>
            <a:off x="20543064" y="10024531"/>
            <a:ext cx="1721345" cy="0"/>
          </a:xfrm>
          <a:prstGeom prst="straightConnector1">
            <a:avLst/>
          </a:prstGeom>
          <a:noFill/>
          <a:ln w="25400" cap="flat">
            <a:solidFill>
              <a:srgbClr val="000000"/>
            </a:solidFill>
            <a:prstDash val="solid"/>
            <a:miter lim="400000"/>
            <a:tailEnd type="triangle"/>
          </a:ln>
        </p:spPr>
        <p:style>
          <a:lnRef idx="0">
            <a:srgbClr val="FFFFFF"/>
          </a:lnRef>
          <a:fillRef idx="0">
            <a:srgbClr val="FFFFFF"/>
          </a:fillRef>
          <a:effectRef idx="0">
            <a:srgbClr val="FFFFFF"/>
          </a:effectRef>
          <a:fontRef idx="none"/>
        </p:style>
      </p:cxnSp>
      <p:sp>
        <p:nvSpPr>
          <p:cNvPr id="26" name="文本框 25"/>
          <p:cNvSpPr txBox="1"/>
          <p:nvPr/>
        </p:nvSpPr>
        <p:spPr>
          <a:xfrm>
            <a:off x="20791201" y="9414925"/>
            <a:ext cx="1496172" cy="1435136"/>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最终答案</a:t>
            </a:r>
            <a:endParaRPr lang="en-US" altLang="zh-CN">
              <a:latin typeface=".萍方-简" panose="020B0300000000000000" charset="-122"/>
              <a:ea typeface=".萍方-简" panose="020B0300000000000000" charset="-122"/>
            </a:endParaRPr>
          </a:p>
        </p:txBody>
      </p:sp>
      <p:sp>
        <p:nvSpPr>
          <p:cNvPr id="27" name="文本框 26"/>
          <p:cNvSpPr txBox="1"/>
          <p:nvPr/>
        </p:nvSpPr>
        <p:spPr>
          <a:xfrm>
            <a:off x="1139805" y="9414925"/>
            <a:ext cx="1496172" cy="770339"/>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问题</a:t>
            </a:r>
            <a:endParaRPr lang="en-US" altLang="zh-CN">
              <a:latin typeface=".萍方-简" panose="020B0300000000000000" charset="-122"/>
              <a:ea typeface=".萍方-简" panose="020B0300000000000000" charset="-122"/>
            </a:endParaRP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normAutofit fontScale="90000"/>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第一个</a:t>
            </a:r>
            <a:r>
              <a:rPr lang="en-US" altLang="zh-CN" b="1">
                <a:latin typeface=".萍方-简" panose="020B0300000000000000" charset="-122"/>
                <a:ea typeface=".萍方-简" panose="020B0300000000000000" charset="-122"/>
                <a:cs typeface=".萍方-简" panose="020B0300000000000000" charset="-122"/>
              </a:rPr>
              <a:t>LangChain</a:t>
            </a:r>
            <a:r>
              <a:rPr lang="zh-CN" altLang="en-US" b="1">
                <a:latin typeface=".萍方-简" panose="020B0300000000000000" charset="-122"/>
                <a:ea typeface=".萍方-简" panose="020B0300000000000000" charset="-122"/>
                <a:cs typeface=".萍方-简" panose="020B0300000000000000" charset="-122"/>
              </a:rPr>
              <a:t>应用程序</a:t>
            </a:r>
            <a:r>
              <a:rPr lang="en-US" altLang="zh-CN" b="1">
                <a:latin typeface=".萍方-简" panose="020B0300000000000000" charset="-122"/>
                <a:ea typeface=".萍方-简" panose="020B0300000000000000" charset="-122"/>
                <a:cs typeface=".萍方-简" panose="020B0300000000000000" charset="-122"/>
                <a:sym typeface="+mn-ea"/>
              </a:rPr>
              <a:t>-</a:t>
            </a:r>
            <a:r>
              <a:rPr lang="zh-CN" altLang="en-US" b="1">
                <a:latin typeface=".萍方-简" panose="020B0300000000000000" charset="-122"/>
                <a:ea typeface=".萍方-简" panose="020B0300000000000000" charset="-122"/>
                <a:cs typeface=".萍方-简" panose="020B0300000000000000" charset="-122"/>
                <a:sym typeface="+mn-ea"/>
              </a:rPr>
              <a:t>输出解析器</a:t>
            </a:r>
            <a:endParaRPr lang="en-US" altLang="zh-CN" b="1">
              <a:latin typeface=".萍方-简" panose="020B0300000000000000" charset="-122"/>
              <a:ea typeface=".萍方-简" panose="020B0300000000000000" charset="-122"/>
              <a:cs typeface=".萍方-简" panose="020B0300000000000000" charset="-122"/>
            </a:endParaRPr>
          </a:p>
        </p:txBody>
      </p:sp>
      <p:sp>
        <p:nvSpPr>
          <p:cNvPr id="3" name="文本框 2"/>
          <p:cNvSpPr txBox="1"/>
          <p:nvPr/>
        </p:nvSpPr>
        <p:spPr>
          <a:xfrm>
            <a:off x="1070783" y="1761066"/>
            <a:ext cx="21616956" cy="8291195"/>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b="1">
                <a:latin typeface=".萍方-简" panose="020B0300000000000000" charset="-122"/>
                <a:ea typeface=".萍方-简" panose="020B0300000000000000" charset="-122"/>
              </a:rPr>
              <a:t>输出解析器</a:t>
            </a:r>
            <a:endParaRPr lang="en-US" altLang="zh-CN" b="1">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输出解析器负责获取 </a:t>
            </a:r>
            <a:r>
              <a:rPr lang="en-US" altLang="zh-CN">
                <a:latin typeface=".萍方-简" panose="020B0300000000000000" charset="-122"/>
                <a:ea typeface=".萍方-简" panose="020B0300000000000000" charset="-122"/>
              </a:rPr>
              <a:t>LLM </a:t>
            </a:r>
            <a:r>
              <a:rPr lang="zh-CN" altLang="en-US">
                <a:latin typeface=".萍方-简" panose="020B0300000000000000" charset="-122"/>
                <a:ea typeface=".萍方-简" panose="020B0300000000000000" charset="-122"/>
              </a:rPr>
              <a:t>的输出并将其转换为更合适的格式。</a:t>
            </a:r>
            <a:endParaRPr lang="en-US" altLang="zh-CN">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有许多不同类型的输出解析器：</a:t>
            </a:r>
            <a:r>
              <a:rPr lang="en-US" altLang="zh-CN">
                <a:latin typeface=".萍方-简" panose="020B0300000000000000" charset="-122"/>
                <a:ea typeface=".萍方-简" panose="020B0300000000000000" charset="-122"/>
              </a:rPr>
              <a:t>Str</a:t>
            </a:r>
            <a:r>
              <a:rPr lang="en-US" altLang="zh-CN">
                <a:latin typeface=".萍方-简" panose="020B0300000000000000" charset="-122"/>
                <a:ea typeface=".萍方-简" panose="020B0300000000000000" charset="-122"/>
                <a:sym typeface="+mn-ea"/>
              </a:rPr>
              <a:t>OutputParser</a:t>
            </a:r>
            <a:endParaRPr lang="en-US" altLang="zh-CN">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sym typeface="+mn-ea"/>
              </a:rPr>
              <a:t>- CSV</a:t>
            </a:r>
            <a:r>
              <a:rPr lang="zh-CN" altLang="en-US">
                <a:latin typeface=".萍方-简" panose="020B0300000000000000" charset="-122"/>
                <a:ea typeface=".萍方-简" panose="020B0300000000000000" charset="-122"/>
                <a:sym typeface="+mn-ea"/>
              </a:rPr>
              <a:t>解析器</a:t>
            </a:r>
            <a:r>
              <a:rPr lang="en-US" altLang="zh-CN">
                <a:latin typeface=".萍方-简" panose="020B0300000000000000" charset="-122"/>
                <a:ea typeface=".萍方-简" panose="020B0300000000000000" charset="-122"/>
                <a:sym typeface="+mn-ea"/>
              </a:rPr>
              <a:t>:CommaSeparatedListOutputParser,</a:t>
            </a:r>
            <a:r>
              <a:rPr lang="zh-CN" altLang="en-US">
                <a:latin typeface=".萍方-简" panose="020B0300000000000000" charset="-122"/>
                <a:ea typeface=".萍方-简" panose="020B0300000000000000" charset="-122"/>
                <a:sym typeface="+mn-ea"/>
              </a:rPr>
              <a:t>模型的输出以逗号分隔，以列表形式返回输出</a:t>
            </a:r>
            <a:endParaRPr lang="zh-CN" altLang="en-US">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sym typeface="+mn-ea"/>
              </a:rPr>
              <a:t>- </a:t>
            </a:r>
            <a:r>
              <a:rPr lang="zh-CN" altLang="en-US">
                <a:latin typeface=".萍方-简" panose="020B0300000000000000" charset="-122"/>
                <a:ea typeface=".萍方-简" panose="020B0300000000000000" charset="-122"/>
                <a:sym typeface="+mn-ea"/>
              </a:rPr>
              <a:t>日期时间解析器</a:t>
            </a:r>
            <a:r>
              <a:rPr lang="en-US" altLang="zh-CN">
                <a:latin typeface=".萍方-简" panose="020B0300000000000000" charset="-122"/>
                <a:ea typeface=".萍方-简" panose="020B0300000000000000" charset="-122"/>
                <a:sym typeface="+mn-ea"/>
              </a:rPr>
              <a:t>:DatetimeOutputParser,</a:t>
            </a:r>
            <a:r>
              <a:rPr lang="zh-CN" altLang="en-US">
                <a:latin typeface=".萍方-简" panose="020B0300000000000000" charset="-122"/>
                <a:ea typeface=".萍方-简" panose="020B0300000000000000" charset="-122"/>
                <a:sym typeface="+mn-ea"/>
              </a:rPr>
              <a:t>可用于将 </a:t>
            </a:r>
            <a:r>
              <a:rPr lang="en-US" altLang="zh-CN">
                <a:latin typeface=".萍方-简" panose="020B0300000000000000" charset="-122"/>
                <a:ea typeface=".萍方-简" panose="020B0300000000000000" charset="-122"/>
                <a:sym typeface="+mn-ea"/>
              </a:rPr>
              <a:t>LLM </a:t>
            </a:r>
            <a:r>
              <a:rPr lang="zh-CN" altLang="en-US">
                <a:latin typeface=".萍方-简" panose="020B0300000000000000" charset="-122"/>
                <a:ea typeface=".萍方-简" panose="020B0300000000000000" charset="-122"/>
                <a:sym typeface="+mn-ea"/>
              </a:rPr>
              <a:t>输出解析为日期时间格式</a:t>
            </a:r>
            <a:endParaRPr lang="zh-CN" altLang="en-US">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sym typeface="+mn-ea"/>
              </a:rPr>
              <a:t>- JSON</a:t>
            </a:r>
            <a:r>
              <a:rPr lang="zh-CN" altLang="en-US">
                <a:latin typeface=".萍方-简" panose="020B0300000000000000" charset="-122"/>
                <a:ea typeface=".萍方-简" panose="020B0300000000000000" charset="-122"/>
                <a:sym typeface="+mn-ea"/>
              </a:rPr>
              <a:t>解析器</a:t>
            </a:r>
            <a:r>
              <a:rPr lang="en-US" altLang="zh-CN">
                <a:latin typeface=".萍方-简" panose="020B0300000000000000" charset="-122"/>
                <a:ea typeface=".萍方-简" panose="020B0300000000000000" charset="-122"/>
                <a:sym typeface="+mn-ea"/>
              </a:rPr>
              <a:t>:JsonOutputParser,</a:t>
            </a:r>
            <a:r>
              <a:rPr lang="zh-CN" altLang="en-US">
                <a:latin typeface=".萍方-简" panose="020B0300000000000000" charset="-122"/>
                <a:ea typeface=".萍方-简" panose="020B0300000000000000" charset="-122"/>
                <a:sym typeface="+mn-ea"/>
              </a:rPr>
              <a:t>确保输出符合特定</a:t>
            </a:r>
            <a:r>
              <a:rPr lang="en-US" altLang="zh-CN">
                <a:latin typeface=".萍方-简" panose="020B0300000000000000" charset="-122"/>
                <a:ea typeface=".萍方-简" panose="020B0300000000000000" charset="-122"/>
                <a:sym typeface="+mn-ea"/>
              </a:rPr>
              <a:t>JSON</a:t>
            </a:r>
            <a:r>
              <a:rPr lang="zh-CN" altLang="en-US">
                <a:latin typeface=".萍方-简" panose="020B0300000000000000" charset="-122"/>
                <a:ea typeface=".萍方-简" panose="020B0300000000000000" charset="-122"/>
                <a:sym typeface="+mn-ea"/>
              </a:rPr>
              <a:t>对象格式。</a:t>
            </a:r>
            <a:endParaRPr lang="en-US" altLang="zh-CN">
              <a:latin typeface=".萍方-简" panose="020B0300000000000000" charset="-122"/>
              <a:ea typeface=".萍方-简" panose="020B0300000000000000" charset="-122"/>
            </a:endParaRPr>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部署阶段：</a:t>
            </a:r>
            <a:endParaRPr lang="zh-CN" altLang="en-US" b="1">
              <a:latin typeface=".萍方-简" panose="020B0300000000000000" charset="-122"/>
              <a:ea typeface=".萍方-简" panose="020B0300000000000000" charset="-122"/>
              <a:cs typeface=".萍方-简" panose="020B0300000000000000" charset="-122"/>
            </a:endParaRPr>
          </a:p>
        </p:txBody>
      </p:sp>
      <p:sp>
        <p:nvSpPr>
          <p:cNvPr id="3" name="文本框 2"/>
          <p:cNvSpPr txBox="1"/>
          <p:nvPr/>
        </p:nvSpPr>
        <p:spPr>
          <a:xfrm>
            <a:off x="919829" y="1610782"/>
            <a:ext cx="22543278" cy="12289155"/>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sz="4600" b="1">
                <a:latin typeface=".萍方-简" panose="020B0300000000000000" charset="-122"/>
                <a:ea typeface=".萍方-简" panose="020B0300000000000000" charset="-122"/>
              </a:rPr>
              <a:t>开发完一个大模型应用程序，如何让这个程序和其他的应用程序一起协同工作，完成企业的复杂业务？</a:t>
            </a:r>
            <a:endParaRPr lang="zh-CN" altLang="en-US" sz="4600" b="1">
              <a:latin typeface=".萍方-简" panose="020B0300000000000000" charset="-122"/>
              <a:ea typeface=".萍方-简" panose="020B0300000000000000" charset="-122"/>
            </a:endParaRPr>
          </a:p>
          <a:p>
            <a:endParaRPr lang="zh-CN" altLang="en-US" sz="4600" b="1">
              <a:latin typeface=".萍方-简" panose="020B0300000000000000" charset="-122"/>
              <a:ea typeface=".萍方-简" panose="020B0300000000000000" charset="-122"/>
            </a:endParaRPr>
          </a:p>
          <a:p>
            <a:endParaRPr lang="en-US" altLang="zh-CN" sz="4600" b="1">
              <a:latin typeface=".萍方-简" panose="020B0300000000000000" charset="-122"/>
              <a:ea typeface=".萍方-简" panose="020B0300000000000000" charset="-122"/>
            </a:endParaRPr>
          </a:p>
          <a:p>
            <a:r>
              <a:rPr lang="en-US" altLang="zh-CN" sz="4600" b="1">
                <a:latin typeface=".萍方-简" panose="020B0300000000000000" charset="-122"/>
                <a:ea typeface=".萍方-简" panose="020B0300000000000000" charset="-122"/>
              </a:rPr>
              <a:t>	1.</a:t>
            </a:r>
            <a:r>
              <a:rPr lang="zh-CN" altLang="en-US" sz="4600">
                <a:latin typeface=".萍方-简" panose="020B0300000000000000" charset="-122"/>
                <a:ea typeface=".萍方-简" panose="020B0300000000000000" charset="-122"/>
              </a:rPr>
              <a:t>发布我们的应用程序</a:t>
            </a:r>
            <a:endParaRPr lang="zh-CN" altLang="en-US" sz="4600">
              <a:latin typeface=".萍方-简" panose="020B0300000000000000" charset="-122"/>
              <a:ea typeface=".萍方-简" panose="020B0300000000000000" charset="-122"/>
            </a:endParaRPr>
          </a:p>
          <a:p>
            <a:endParaRPr lang="zh-CN" altLang="en-US" sz="4600">
              <a:latin typeface=".萍方-简" panose="020B0300000000000000" charset="-122"/>
              <a:ea typeface=".萍方-简" panose="020B0300000000000000" charset="-122"/>
            </a:endParaRPr>
          </a:p>
          <a:p>
            <a:endParaRPr lang="zh-CN" altLang="en-US" sz="4600">
              <a:latin typeface=".萍方-简" panose="020B0300000000000000" charset="-122"/>
              <a:ea typeface=".萍方-简" panose="020B0300000000000000" charset="-122"/>
            </a:endParaRPr>
          </a:p>
          <a:p>
            <a:endParaRPr lang="zh-CN" altLang="en-US" sz="4600">
              <a:latin typeface=".萍方-简" panose="020B0300000000000000" charset="-122"/>
              <a:ea typeface=".萍方-简" panose="020B0300000000000000" charset="-122"/>
            </a:endParaRPr>
          </a:p>
          <a:p>
            <a:endParaRPr lang="zh-CN" altLang="en-US" sz="4600">
              <a:latin typeface=".萍方-简" panose="020B0300000000000000" charset="-122"/>
              <a:ea typeface=".萍方-简" panose="020B0300000000000000" charset="-122"/>
            </a:endParaRPr>
          </a:p>
          <a:p>
            <a:r>
              <a:rPr lang="en-US" altLang="zh-CN" sz="4600">
                <a:latin typeface=".萍方-简" panose="020B0300000000000000" charset="-122"/>
                <a:ea typeface=".萍方-简" panose="020B0300000000000000" charset="-122"/>
              </a:rPr>
              <a:t>	2.</a:t>
            </a:r>
            <a:r>
              <a:rPr lang="zh-CN" altLang="en-US" sz="4600">
                <a:latin typeface=".萍方-简" panose="020B0300000000000000" charset="-122"/>
                <a:ea typeface=".萍方-简" panose="020B0300000000000000" charset="-122"/>
              </a:rPr>
              <a:t>访问我们的应用程序：通过</a:t>
            </a:r>
            <a:r>
              <a:rPr lang="en-US" altLang="zh-CN" sz="4600">
                <a:latin typeface=".萍方-简" panose="020B0300000000000000" charset="-122"/>
                <a:ea typeface=".萍方-简" panose="020B0300000000000000" charset="-122"/>
              </a:rPr>
              <a:t>HTTP</a:t>
            </a:r>
            <a:r>
              <a:rPr lang="zh-CN" altLang="en-US" sz="4600">
                <a:latin typeface=".萍方-简" panose="020B0300000000000000" charset="-122"/>
                <a:ea typeface=".萍方-简" panose="020B0300000000000000" charset="-122"/>
              </a:rPr>
              <a:t>访问、客户端访问</a:t>
            </a:r>
            <a:endParaRPr lang="zh-CN" altLang="en-US" sz="4600">
              <a:latin typeface=".萍方-简" panose="020B0300000000000000" charset="-122"/>
              <a:ea typeface=".萍方-简" panose="020B0300000000000000" charset="-122"/>
            </a:endParaRPr>
          </a:p>
          <a:p>
            <a:pPr marL="2743200" lvl="6" indent="457200"/>
            <a:endParaRPr lang="en-US" altLang="zh-CN" sz="4600" b="1">
              <a:latin typeface=".萍方-简" panose="020B0300000000000000" charset="-122"/>
              <a:ea typeface=".萍方-简" panose="020B0300000000000000" charset="-122"/>
            </a:endParaRPr>
          </a:p>
        </p:txBody>
      </p:sp>
      <p:sp>
        <p:nvSpPr>
          <p:cNvPr id="2" name="Rectangle 1"/>
          <p:cNvSpPr>
            <a:spLocks noChangeArrowheads="1"/>
          </p:cNvSpPr>
          <p:nvPr/>
        </p:nvSpPr>
        <p:spPr bwMode="auto">
          <a:xfrm>
            <a:off x="0" y="0"/>
            <a:ext cx="24384000" cy="4572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300" b="0" i="1" u="none" strike="noStrike" cap="none" normalizeH="0" baseline="0">
                <a:ln>
                  <a:noFill/>
                </a:ln>
                <a:solidFill>
                  <a:srgbClr val="8C8C8C"/>
                </a:solidFill>
                <a:effectLst/>
                <a:latin typeface="Arial Unicode MS"/>
                <a:ea typeface="JetBrains Mono"/>
              </a:rPr>
              <a:t>grandalf</a:t>
            </a:r>
            <a:endParaRPr kumimoji="0" lang="zh-CN" altLang="zh-CN" sz="1800" b="0" i="0" u="none" strike="noStrike" cap="none" normalizeH="0" baseline="0">
              <a:ln>
                <a:noFill/>
              </a:ln>
              <a:solidFill>
                <a:schemeClr val="tx1"/>
              </a:solidFill>
              <a:effectLst/>
              <a:latin typeface="Arial" panose="020B0604020202020204" pitchFamily="34" charset="0"/>
            </a:endParaRPr>
          </a:p>
        </p:txBody>
      </p:sp>
      <p:pic>
        <p:nvPicPr>
          <p:cNvPr id="4" name="图片 3"/>
          <p:cNvPicPr>
            <a:picLocks noChangeAspect="1"/>
          </p:cNvPicPr>
          <p:nvPr/>
        </p:nvPicPr>
        <p:blipFill>
          <a:blip r:embed="rId1"/>
          <a:stretch>
            <a:fillRect/>
          </a:stretch>
        </p:blipFill>
        <p:spPr>
          <a:xfrm>
            <a:off x="3868420" y="6858000"/>
            <a:ext cx="14335760" cy="4125595"/>
          </a:xfrm>
          <a:prstGeom prst="rect">
            <a:avLst/>
          </a:prstGeom>
        </p:spPr>
      </p:pic>
      <p:sp>
        <p:nvSpPr>
          <p:cNvPr id="5" name="文本框 4"/>
          <p:cNvSpPr txBox="1"/>
          <p:nvPr/>
        </p:nvSpPr>
        <p:spPr>
          <a:xfrm>
            <a:off x="3868420" y="2945130"/>
            <a:ext cx="12192000" cy="73787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t" forceAA="0">
            <a:spAutoFit/>
          </a:bodyPr>
          <a:p>
            <a:pPr marL="0" marR="0" indent="0" algn="l" defTabSz="2438400" rtl="0" fontAlgn="auto" latinLnBrk="0" hangingPunct="0">
              <a:lnSpc>
                <a:spcPct val="90000"/>
              </a:lnSpc>
              <a:spcBef>
                <a:spcPts val="4500"/>
              </a:spcBef>
              <a:spcAft>
                <a:spcPts val="0"/>
              </a:spcAft>
              <a:buClrTx/>
              <a:buSzTx/>
              <a:buFontTx/>
              <a:buNone/>
            </a:pPr>
            <a:r>
              <a:rPr lang="zh-CN" altLang="en-US" sz="4600">
                <a:latin typeface=".萍方-简" panose="020B0300000000000000" charset="-122"/>
                <a:ea typeface=".萍方-简" panose="020B0300000000000000" charset="-122"/>
                <a:sym typeface="+mn-ea"/>
              </a:rPr>
              <a:t>开启</a:t>
            </a:r>
            <a:r>
              <a:rPr lang="en-US" altLang="zh-CN" sz="4600">
                <a:latin typeface=".萍方-简" panose="020B0300000000000000" charset="-122"/>
                <a:ea typeface=".萍方-简" panose="020B0300000000000000" charset="-122"/>
                <a:sym typeface="+mn-ea"/>
              </a:rPr>
              <a:t>LangChain</a:t>
            </a:r>
            <a:r>
              <a:rPr lang="zh-CN" altLang="en-US" sz="4600">
                <a:latin typeface=".萍方-简" panose="020B0300000000000000" charset="-122"/>
                <a:ea typeface=".萍方-简" panose="020B0300000000000000" charset="-122"/>
                <a:sym typeface="+mn-ea"/>
              </a:rPr>
              <a:t>应用程序的调试功能</a:t>
            </a:r>
            <a:endParaRPr kumimoji="0" lang="zh-CN" altLang="en-US" sz="4600" b="0" i="0" u="none" strike="noStrike" cap="none" spc="0" normalizeH="0" baseline="0">
              <a:ln>
                <a:noFill/>
              </a:ln>
              <a:solidFill>
                <a:srgbClr val="000000"/>
              </a:solidFill>
              <a:effectLst/>
              <a:uFillTx/>
              <a:latin typeface=".萍方-简" panose="020B0300000000000000" charset="-122"/>
              <a:ea typeface=".萍方-简" panose="020B0300000000000000" charset="-122"/>
              <a:cs typeface="+mn-cs"/>
              <a:sym typeface="+mn-ea"/>
            </a:endParaRPr>
          </a:p>
        </p:txBody>
      </p:sp>
      <p:pic>
        <p:nvPicPr>
          <p:cNvPr id="6" name="图片 5"/>
          <p:cNvPicPr>
            <a:picLocks noChangeAspect="1"/>
          </p:cNvPicPr>
          <p:nvPr/>
        </p:nvPicPr>
        <p:blipFill>
          <a:blip r:embed="rId2"/>
          <a:stretch>
            <a:fillRect/>
          </a:stretch>
        </p:blipFill>
        <p:spPr>
          <a:xfrm>
            <a:off x="4025900" y="3683000"/>
            <a:ext cx="8938260" cy="1739265"/>
          </a:xfrm>
          <a:prstGeom prst="rect">
            <a:avLst/>
          </a:prstGeom>
        </p:spPr>
      </p:pic>
    </p:spTree>
  </p:cSld>
  <p:clrMapOvr>
    <a:masterClrMapping/>
  </p:clrMapOvr>
  <p:transition spd="med"/>
</p:sld>
</file>

<file path=ppt/theme/theme1.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FFFFFF"/>
            </a:solidFill>
            <a:effectLst/>
            <a:uFillTx/>
            <a:latin typeface="Helvetica Neue Medium" panose="02000503000000020004"/>
            <a:ea typeface="Helvetica Neue Medium" panose="02000503000000020004"/>
            <a:cs typeface="Helvetica Neue Medium" panose="02000503000000020004"/>
            <a:sym typeface="Helvetica Neue Medium" panose="020005030000000200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25400" cap="flat">
          <a:solidFill>
            <a:srgbClr val="000000"/>
          </a:solidFill>
          <a:prstDash val="solid"/>
          <a:miter lim="4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FFFFFF"/>
            </a:solidFill>
            <a:effectLst/>
            <a:uFillTx/>
            <a:latin typeface="Helvetica Neue Medium" panose="02000503000000020004"/>
            <a:ea typeface="Helvetica Neue Medium" panose="02000503000000020004"/>
            <a:cs typeface="Helvetica Neue Medium" panose="02000503000000020004"/>
            <a:sym typeface="Helvetica Neue Medium" panose="020005030000000200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25400" cap="flat">
          <a:solidFill>
            <a:srgbClr val="000000"/>
          </a:solidFill>
          <a:prstDash val="solid"/>
          <a:miter lim="4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3975</Words>
  <Application>WPS 演示</Application>
  <PresentationFormat>自定义</PresentationFormat>
  <Paragraphs>253</Paragraphs>
  <Slides>27</Slides>
  <Notes>62</Notes>
  <HiddenSlides>0</HiddenSlides>
  <MMClips>1</MMClips>
  <ScaleCrop>false</ScaleCrop>
  <HeadingPairs>
    <vt:vector size="6" baseType="variant">
      <vt:variant>
        <vt:lpstr>已用的字体</vt:lpstr>
      </vt:variant>
      <vt:variant>
        <vt:i4>35</vt:i4>
      </vt:variant>
      <vt:variant>
        <vt:lpstr>主题</vt:lpstr>
      </vt:variant>
      <vt:variant>
        <vt:i4>1</vt:i4>
      </vt:variant>
      <vt:variant>
        <vt:lpstr>幻灯片标题</vt:lpstr>
      </vt:variant>
      <vt:variant>
        <vt:i4>27</vt:i4>
      </vt:variant>
    </vt:vector>
  </HeadingPairs>
  <TitlesOfParts>
    <vt:vector size="63" baseType="lpstr">
      <vt:lpstr>Arial</vt:lpstr>
      <vt:lpstr>宋体</vt:lpstr>
      <vt:lpstr>Wingdings</vt:lpstr>
      <vt:lpstr>Helvetica Neue</vt:lpstr>
      <vt:lpstr>Helvetica Neue Medium</vt:lpstr>
      <vt:lpstr>PingFang SC Semibold</vt:lpstr>
      <vt:lpstr>PingFang SC Light</vt:lpstr>
      <vt:lpstr>.萍方-简</vt:lpstr>
      <vt:lpstr>微软雅黑</vt:lpstr>
      <vt:lpstr>更纱黑体 SC Light</vt:lpstr>
      <vt:lpstr>黑体</vt:lpstr>
      <vt:lpstr>微软雅黑</vt:lpstr>
      <vt:lpstr>微软雅黑 Light</vt:lpstr>
      <vt:lpstr>Wingdings</vt:lpstr>
      <vt:lpstr>Arial Unicode MS</vt:lpstr>
      <vt:lpstr>Helvetica Neue Bold</vt:lpstr>
      <vt:lpstr>Arial Unicode MS</vt:lpstr>
      <vt:lpstr>JetBrains Mono</vt:lpstr>
      <vt:lpstr>DejaVu Math TeX Gyre</vt:lpstr>
      <vt:lpstr>Segoe Print</vt:lpstr>
      <vt:lpstr>Calibri</vt:lpstr>
      <vt:lpstr>Helvetica Neue</vt:lpstr>
      <vt:lpstr>Helvetica Neue Medium</vt:lpstr>
      <vt:lpstr>JetBrains Mono</vt:lpstr>
      <vt:lpstr>PingFang SC Light</vt:lpstr>
      <vt:lpstr>PingFang SC Semibold</vt:lpstr>
      <vt:lpstr>更纱黑体 SC Light</vt:lpstr>
      <vt:lpstr>Sweetie</vt:lpstr>
      <vt:lpstr>Retro Cute Medium</vt:lpstr>
      <vt:lpstr>Crunch SemiBold</vt:lpstr>
      <vt:lpstr>Windsor Std Light</vt:lpstr>
      <vt:lpstr>方正宝黑体 简 Light</vt:lpstr>
      <vt:lpstr>Wonder Arial</vt:lpstr>
      <vt:lpstr>Retro Cute Bold</vt:lpstr>
      <vt:lpstr>Jetter</vt:lpstr>
      <vt:lpstr>21_BasicWhite</vt:lpstr>
      <vt:lpstr>PowerPoint 演示文稿</vt:lpstr>
      <vt:lpstr>本阶段课程安排</vt:lpstr>
      <vt:lpstr>本阶段环境</vt:lpstr>
      <vt:lpstr>本阶段环境</vt:lpstr>
      <vt:lpstr>本阶段环境方式一</vt:lpstr>
      <vt:lpstr>本阶段环境方式二</vt:lpstr>
      <vt:lpstr>本阶段环境</vt:lpstr>
      <vt:lpstr>PowerPoint 演示文稿</vt:lpstr>
      <vt:lpstr>PowerPoint 演示文稿</vt:lpstr>
      <vt:lpstr>什么是LangChain 1.0？</vt:lpstr>
      <vt:lpstr>什么是LangChain？</vt:lpstr>
      <vt:lpstr>什么是LangChain？</vt:lpstr>
      <vt:lpstr>LangChain体系</vt:lpstr>
      <vt:lpstr>LangChain的核心组件</vt:lpstr>
      <vt:lpstr>LangChain的核心组件早期分类</vt:lpstr>
      <vt:lpstr>LangChain的核心组件分类</vt:lpstr>
      <vt:lpstr>开发第一个LangChain应用程序 </vt:lpstr>
      <vt:lpstr>第一个LangChain应用程序</vt:lpstr>
      <vt:lpstr>第一个LangChain应用程序-模型分类</vt:lpstr>
      <vt:lpstr>第一个LangChain应用程序-模型分类</vt:lpstr>
      <vt:lpstr>第一个LangChain应用程序-模型分类</vt:lpstr>
      <vt:lpstr>第一个LangChain应用程序-提示词模板</vt:lpstr>
      <vt:lpstr>第一个LangChain应用程序-提示词模板</vt:lpstr>
      <vt:lpstr>第一个LangChain应用程序-提示词模板</vt:lpstr>
      <vt:lpstr>第一个LangChain应用程序</vt:lpstr>
      <vt:lpstr>第一个LangChain应用程序-输出解析器</vt:lpstr>
      <vt:lpstr>部署阶段：</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郭培</cp:lastModifiedBy>
  <cp:revision>350</cp:revision>
  <dcterms:created xsi:type="dcterms:W3CDTF">2025-03-08T12:13:00Z</dcterms:created>
  <dcterms:modified xsi:type="dcterms:W3CDTF">2025-12-03T06:58:04Z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788BC8F5AE1B41898161E6F2DDF15955_13</vt:lpwstr>
  </property>
  <property fmtid="{D5CDD505-2E9C-101B-9397-08002B2CF9AE}" pid="3" name="KSOProductBuildVer">
    <vt:lpwstr>2052-12.1.0.24034</vt:lpwstr>
  </property>
</Properties>
</file>